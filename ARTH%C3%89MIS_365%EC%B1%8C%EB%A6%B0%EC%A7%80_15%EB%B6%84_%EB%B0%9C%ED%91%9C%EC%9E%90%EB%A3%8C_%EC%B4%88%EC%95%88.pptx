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e75be023494b5e" /><Relationship Type="http://schemas.openxmlformats.org/officeDocument/2006/relationships/extended-properties" Target="/docProps/app.xml" Id="Recff020c99784ab5" /><Relationship Type="http://schemas.openxmlformats.org/officeDocument/2006/relationships/officeDocument" Target="/ppt/presentation.xml" Id="R7b2c60c7f5524db6" /></Relationships>
</file>

<file path=ppt/presentation.xml><?xml version="1.0" encoding="utf-8"?>
<p:presentation xmlns:p="http://schemas.openxmlformats.org/presentationml/2006/main">
  <p:sldMasterIdLst>
    <p:sldMasterId xmlns:r="http://schemas.openxmlformats.org/officeDocument/2006/relationships" id="2147483648" r:id="R8e127c7015d143c9"/>
  </p:sldMasterIdLst>
  <p:notesMasterIdLst>
    <p:notesMasterId xmlns:r="http://schemas.openxmlformats.org/officeDocument/2006/relationships" r:id="Rf86dbd6df3f14374"/>
  </p:notesMasterIdLst>
  <p:sldIdLst>
    <p:sldId xmlns:r="http://schemas.openxmlformats.org/officeDocument/2006/relationships" id="256" r:id="R3747d9a953414d37"/>
    <p:sldId xmlns:r="http://schemas.openxmlformats.org/officeDocument/2006/relationships" id="257" r:id="R60498f6c6f8143bf"/>
    <p:sldId xmlns:r="http://schemas.openxmlformats.org/officeDocument/2006/relationships" id="258" r:id="R7034a75325f24e12"/>
    <p:sldId xmlns:r="http://schemas.openxmlformats.org/officeDocument/2006/relationships" id="259" r:id="Rc39626ef152649b3"/>
    <p:sldId xmlns:r="http://schemas.openxmlformats.org/officeDocument/2006/relationships" id="260" r:id="R346f87ce9b6740f7"/>
    <p:sldId xmlns:r="http://schemas.openxmlformats.org/officeDocument/2006/relationships" id="261" r:id="R18683ab42bf64e3c"/>
    <p:sldId xmlns:r="http://schemas.openxmlformats.org/officeDocument/2006/relationships" id="262" r:id="R21d3192898264904"/>
    <p:sldId xmlns:r="http://schemas.openxmlformats.org/officeDocument/2006/relationships" id="263" r:id="R363766583d7843b9"/>
    <p:sldId xmlns:r="http://schemas.openxmlformats.org/officeDocument/2006/relationships" id="264" r:id="R1e825eb82cc54f80"/>
    <p:sldId xmlns:r="http://schemas.openxmlformats.org/officeDocument/2006/relationships" id="265" r:id="Rb7286a3911414db1"/>
    <p:sldId xmlns:r="http://schemas.openxmlformats.org/officeDocument/2006/relationships" id="266" r:id="Rbbddaf9c96ee4437"/>
    <p:sldId xmlns:r="http://schemas.openxmlformats.org/officeDocument/2006/relationships" id="267" r:id="R91082aa7c93c4b9e"/>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844706c296d4b77" /><Relationship Type="http://schemas.openxmlformats.org/officeDocument/2006/relationships/slideMaster" Target="/ppt/slideMasters/slideMaster1.xml" Id="R8e127c7015d143c9" /><Relationship Type="http://schemas.openxmlformats.org/officeDocument/2006/relationships/notesMaster" Target="/ppt/notesMasters/notesMaster1.xml" Id="Rf86dbd6df3f14374" /><Relationship Type="http://schemas.openxmlformats.org/officeDocument/2006/relationships/presProps" Target="/ppt/presProps.xml" Id="R64123dd355b447de" /><Relationship Type="http://schemas.openxmlformats.org/officeDocument/2006/relationships/viewProps" Target="/ppt/viewProps.xml" Id="R14d1fb7e5ea04f72" /><Relationship Type="http://schemas.openxmlformats.org/officeDocument/2006/relationships/tableStyles" Target="/ppt/tableStyles.xml" Id="Ra8ac748ec8154e86" /><Relationship Type="http://schemas.openxmlformats.org/officeDocument/2006/relationships/slide" Target="/ppt/slides/slide1.xml" Id="R3747d9a953414d37" /><Relationship Type="http://schemas.openxmlformats.org/officeDocument/2006/relationships/slide" Target="/ppt/slides/slide2.xml" Id="R60498f6c6f8143bf" /><Relationship Type="http://schemas.openxmlformats.org/officeDocument/2006/relationships/slide" Target="/ppt/slides/slide3.xml" Id="R7034a75325f24e12" /><Relationship Type="http://schemas.openxmlformats.org/officeDocument/2006/relationships/slide" Target="/ppt/slides/slide4.xml" Id="Rc39626ef152649b3" /><Relationship Type="http://schemas.openxmlformats.org/officeDocument/2006/relationships/slide" Target="/ppt/slides/slide5.xml" Id="R346f87ce9b6740f7" /><Relationship Type="http://schemas.openxmlformats.org/officeDocument/2006/relationships/slide" Target="/ppt/slides/slide6.xml" Id="R18683ab42bf64e3c" /><Relationship Type="http://schemas.openxmlformats.org/officeDocument/2006/relationships/slide" Target="/ppt/slides/slide7.xml" Id="R21d3192898264904" /><Relationship Type="http://schemas.openxmlformats.org/officeDocument/2006/relationships/slide" Target="/ppt/slides/slide8.xml" Id="R363766583d7843b9" /><Relationship Type="http://schemas.openxmlformats.org/officeDocument/2006/relationships/slide" Target="/ppt/slides/slide9.xml" Id="R1e825eb82cc54f80" /><Relationship Type="http://schemas.openxmlformats.org/officeDocument/2006/relationships/slide" Target="/ppt/slides/slide10.xml" Id="Rb7286a3911414db1" /><Relationship Type="http://schemas.openxmlformats.org/officeDocument/2006/relationships/slide" Target="/ppt/slides/slide11.xml" Id="Rbbddaf9c96ee4437" /><Relationship Type="http://schemas.openxmlformats.org/officeDocument/2006/relationships/slide" Target="/ppt/slides/slide12.xml" Id="R91082aa7c93c4b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28e5e4ab4047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20f572c1bc49af" /><Relationship Type="http://schemas.openxmlformats.org/officeDocument/2006/relationships/notesMaster" Target="/ppt/notesMasters/notesMaster1.xml" Id="R2fec473555df41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569c5e05e143e2" /><Relationship Type="http://schemas.openxmlformats.org/officeDocument/2006/relationships/notesMaster" Target="/ppt/notesMasters/notesMaster1.xml" Id="R08ec7b1edd3644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95c8ba503d431f" /><Relationship Type="http://schemas.openxmlformats.org/officeDocument/2006/relationships/notesMaster" Target="/ppt/notesMasters/notesMaster1.xml" Id="Re01c9cb848334d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d5f0c7f6324c8a" /><Relationship Type="http://schemas.openxmlformats.org/officeDocument/2006/relationships/notesMaster" Target="/ppt/notesMasters/notesMaster1.xml" Id="Rdc622b78368948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80e6591054451" /><Relationship Type="http://schemas.openxmlformats.org/officeDocument/2006/relationships/notesMaster" Target="/ppt/notesMasters/notesMaster1.xml" Id="R19c4bd24ed5141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a51af9620a457c" /><Relationship Type="http://schemas.openxmlformats.org/officeDocument/2006/relationships/notesMaster" Target="/ppt/notesMasters/notesMaster1.xml" Id="Rd3ca01f7eabd48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b2644d30e54e6a" /><Relationship Type="http://schemas.openxmlformats.org/officeDocument/2006/relationships/notesMaster" Target="/ppt/notesMasters/notesMaster1.xml" Id="R45421868d0ab40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91206a9fc84e3e" /><Relationship Type="http://schemas.openxmlformats.org/officeDocument/2006/relationships/notesMaster" Target="/ppt/notesMasters/notesMaster1.xml" Id="R76907fef8a5f4c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4c8a233c5041df" /><Relationship Type="http://schemas.openxmlformats.org/officeDocument/2006/relationships/notesMaster" Target="/ppt/notesMasters/notesMaster1.xml" Id="Rdeb40c65a16e4a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d2358c8dfb4ecc" /><Relationship Type="http://schemas.openxmlformats.org/officeDocument/2006/relationships/notesMaster" Target="/ppt/notesMasters/notesMaster1.xml" Id="Rc2b0eb7d08d344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06378a10a14930" /><Relationship Type="http://schemas.openxmlformats.org/officeDocument/2006/relationships/notesMaster" Target="/ppt/notesMasters/notesMaster1.xml" Id="R08f1313b8d1b47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f82150c1554f5b" /><Relationship Type="http://schemas.openxmlformats.org/officeDocument/2006/relationships/notesMaster" Target="/ppt/notesMasters/notesMaster1.xml" Id="Rb3cb844380f945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0:45</a:t>
            </a:r>
          </a:p>
          <a:p xmlns:a="http://schemas.openxmlformats.org/drawingml/2006/main">
            <a:r>
              <a:t>발표자 노트:</a:t>
            </a:r>
          </a:p>
          <a:p xmlns:a="http://schemas.openxmlformats.org/drawingml/2006/main">
            <a:r>
              <a:t>안녕하십니까. ARTHÉMIS는 관람객이 미술 전문용어 대신 감각과 상황으로 표현한 선호를 구조화하고, 서로 다른 관람 맥락의 취향이 섞이지 않도록 선택적으로 활성화하는 대화형 아트 큐레이션 에이전트입니다. 오늘은 설계 원리와 검증 계획을 중심으로 설명하고, 아직 실측되지 않은 결과는 완료 성과로 주장하지 않겠습니다.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발표자 노트:</a:t>
            </a:r>
          </a:p>
          <a:p xmlns:a="http://schemas.openxmlformats.org/drawingml/2006/main">
            <a:r>
              <a:t>첫 번째 문제는 의미 단절입니다. 관람객은 감각적 언어로 이야기하지만 아카이브는 작가, 연도, 재료와 같은 구조화된 필드 중심입니다. 두 번째는 기억 단절입니다. 평일 혼자 감상하는 취향과 주말 가족 관람의 목적이 하나의 프로필에 섞일 수 있습니다. 세 번째는 실행 단절로, 전시 일정이나 장소 같은 정보는 오류가 실제 방문에 영향을 줍니다. 다만 문제의 빈도와 규모는 별도 사용자 조사로 검증해야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1:10</a:t>
            </a:r>
          </a:p>
          <a:p xmlns:a="http://schemas.openxmlformats.org/drawingml/2006/main">
            <a:r>
              <a:t>발표자 노트:</a:t>
            </a:r>
          </a:p>
          <a:p xmlns:a="http://schemas.openxmlformats.org/drawingml/2006/main">
            <a:r>
              <a:t>본 연구는 두 개의 확증 가설을 제안합니다. H1은 구조화 메모리 B4가 전체 대화 이력 B2보다 맥락 오염률을 낮추는지, H2는 B4가 무기억 B1보다 개인화 순위 품질을 높이는지 확인합니다. 이들은 아직 검증 결과가 아니라 연구 질문입니다. 확증적 해석은 표본 수, 분할, 사전등록과 재현성 조건을 충족했는지에 달려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1:30</a:t>
            </a:r>
          </a:p>
          <a:p xmlns:a="http://schemas.openxmlformats.org/drawingml/2006/main">
            <a:r>
              <a:t>발표자 노트:</a:t>
            </a:r>
          </a:p>
          <a:p xmlns:a="http://schemas.openxmlformats.org/drawingml/2006/main">
            <a:r>
              <a:t>이 도식은 논문에서 제안한 논리적 아키텍처입니다. 오케스트레이터가 대화 턴을 관리하고, 취향 에이전트가 미학 신호와 메모리를 관리합니다. 작품·전시 에이전트는 선택된 프로필을 이용해 검색하고, 동결된 전시 스냅샷에서 확인된 필드만 안내하도록 설계했습니다. 현재 슬라이드의 구조는 구현 완료를 의미하지 않으며, 각 연결부와 실패 경로를 통합 테스트로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발표자 노트:</a:t>
            </a:r>
          </a:p>
          <a:p xmlns:a="http://schemas.openxmlformats.org/drawingml/2006/main">
            <a:r>
              <a:t>Agent A는 감각적 표현을 조형적 신호로 추출하고 근거 구간과 함께 저장하는 역할입니다. 새 관찰은 유사도에 따라 기존 클러스터에 합치거나 임시 클러스터로 시작합니다. 명시적 거부는 단순 삭제와 구분해 억제 상태로 관리합니다. 임계값과 활성화 조건은 평가 전에 고정해야 하며, 실제 추출 정확도와 메모리 쓰기 오류율을 측정해야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1:15</a:t>
            </a:r>
          </a:p>
          <a:p xmlns:a="http://schemas.openxmlformats.org/drawingml/2006/main">
            <a:r>
              <a:t>발표자 노트:</a:t>
            </a:r>
          </a:p>
          <a:p xmlns:a="http://schemas.openxmlformats.org/drawingml/2006/main">
            <a:r>
              <a:t>Agent B는 의미 기반 Dense 검색과 키워드 기반 Sparse 검색을 결합합니다. 두 결과는 RRF로 융합하며, 논문 명세에는 κ=60이 제시되어 있습니다. 검색 관련성과 방문 정보의 사실성은 별도 문제이므로, 실제 전시 정보는 스냅샷의 확인된 필드에 제한해 안내합니다. 스냅샷 기준일, 체크섬, 필드 누락과 API 변경 대응은 운영 증거로 남겨야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1:20</a:t>
            </a:r>
          </a:p>
          <a:p xmlns:a="http://schemas.openxmlformats.org/drawingml/2006/main">
            <a:r>
              <a:t>발표자 노트:</a:t>
            </a:r>
          </a:p>
          <a:p xmlns:a="http://schemas.openxmlformats.org/drawingml/2006/main">
            <a:r>
              <a:t>통제 비교의 목적은 결과 차이를 메모리 구조에 귀속할 수 있도록 다른 조건을 고정하는 것입니다. 분석 단위는 개별 추천 항목이 아니라 시뮬레이션 사용자로 설정합니다. 논문은 사용자 단위 짝지은 부트스트랩과 Holm 보정을 계획합니다. 평가 사용자 20명 이상, 사용자 단위 개발·평가 분할, 사전등록과 재현성 기록 중 하나라도 충족하지 못하면 결과를 확증이 아닌 탐색적으로 해석해야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1:00</a:t>
            </a:r>
          </a:p>
          <a:p xmlns:a="http://schemas.openxmlformats.org/drawingml/2006/main">
            <a:r>
              <a:t>발표자 노트:</a:t>
            </a:r>
          </a:p>
          <a:p xmlns:a="http://schemas.openxmlformats.org/drawingml/2006/main">
            <a:r>
              <a:t>이 슬라이드는 현재 결과를 과장하지 않기 위해 측정 상태를 명시합니다. 원문 표 7의 조건별 결과와 H1·H2 통계량은 공란이며 TO-MEASURE로 표시되어 있습니다. 따라서 현재는 성능 향상이나 통계적 유의성을 주장할 수 없습니다. 실험이 완료되면 조건별 평균, 사용자 단위 95% 신뢰구간, 효과크기와 Holm 보정 p값을 함께 제시하고 비열등성 가드도 보고해야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1:10</a:t>
            </a:r>
          </a:p>
          <a:p xmlns:a="http://schemas.openxmlformats.org/drawingml/2006/main">
            <a:r>
              <a:t>발표자 노트:</a:t>
            </a:r>
          </a:p>
          <a:p xmlns:a="http://schemas.openxmlformats.org/drawingml/2006/main">
            <a:r>
              <a:t>감사 로그는 응답 결과뿐 아니라 왜 특정 취향이 선택되었고 어떤 문장이 제거되었는지 추적하기 위한 장치입니다. 오류는 여섯 범주로 분리해 집계합니다. UCR을 낮추기 위해 아무 주장도 하지 않는 회피가 발생하지 않도록 VCC를 함께 측정합니다. 현재 UCR 0% 달성은 확인된 결과가 아니며, 개인정보를 최소화하고 사용자의 열람·수정·삭제 권한을 보장하는 운영 정책도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1:20</a:t>
            </a:r>
          </a:p>
          <a:p xmlns:a="http://schemas.openxmlformats.org/drawingml/2006/main">
            <a:r>
              <a:t>발표자 노트:</a:t>
            </a:r>
          </a:p>
          <a:p xmlns:a="http://schemas.openxmlformats.org/drawingml/2006/main">
            <a:r>
              <a:t>심사에서는 설계도만으로 핵심 기능 구현을 입증하기 어렵습니다. 시연은 동일 사용자의 혼자 사유형과 가족 동반형 맥락을 바꿔 추천이 달라지는지 보여주고, 전시 방문정보는 검증된 필드만 노출하는 장면을 포함해야 합니다. 이 파일에는 실제 실행 캡처나 테스트 로그가 없으므로, 제출 전에는 동작 화면과 오류 처리, 응답 지연과 비용을 확보해야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1:10</a:t>
            </a:r>
          </a:p>
          <a:p xmlns:a="http://schemas.openxmlformats.org/drawingml/2006/main">
            <a:r>
              <a:t>발표자 노트:</a:t>
            </a:r>
          </a:p>
          <a:p xmlns:a="http://schemas.openxmlformats.org/drawingml/2006/main">
            <a:r>
              <a:t>사업적 가능성은 미술관 웹과 키오스크, 관람 전후 큐레이션으로 생각할 수 있습니다. 하지만 이는 적용 시나리오이지 검증된 시장 수요가 아닙니다. 사용자 테스트, 큐레이터 검토, 데이터 연계 비용, 기관의 지불 의사와 반복 사용률을 확인해야 합니다. 연구적으로도 시뮬레이션 평가와 단일 코퍼스의 한계, 1차 평가자의 주관성을 투명하게 보고해야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0:50</a:t>
            </a:r>
          </a:p>
          <a:p xmlns:a="http://schemas.openxmlformats.org/drawingml/2006/main">
            <a:r>
              <a:t>발표자 노트:</a:t>
            </a:r>
          </a:p>
          <a:p xmlns:a="http://schemas.openxmlformats.org/drawingml/2006/main">
            <a:r>
              <a:t>정리하면 ARTHÉMIS의 기여는 더 많은 정보를 기억하는 것이 아니라 현재 맥락에 맞는 취향만 선택하고 방문정보의 근거를 추적하도록 설계했다는 점입니다. 또한 메모리 구조의 효과를 다른 요소와 분리해 검증하는 통제 프로토콜을 제안합니다. 다만 실측 성능과 사용자 파일럿, 재현성 실행은 완료 증거가 확인되기 전까지 성과로 단정하지 않겠습니다.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c0d3ec37a49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8eb23bb85645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c5656e1a704c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58e3bb6aed45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9f649d2f4341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815570655d4aa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4cf60841db549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1313f6f68514b7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378a2fa2214af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cc0c8798e24f3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3086bc52875480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5835D2-AD75-47B1-976E-2FD156DBB1D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21C2EA93-0DEA-48B8-A080-1B6F5D011C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E0E8B67-4A1D-4334-9CBD-0A2939A8F2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6781899-0F86-457F-9257-94F9F47C63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E7635F-C89A-45CC-9F0F-00219C3100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3ACCBD-8A37-4BDC-BBFE-6F224422873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9AC728C-8C81-45E5-9B25-72DA9736F04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556537D-048F-46E5-80A7-F96BDEA8AA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6822CE9-5FCB-4A01-B769-6B09BA675A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64928C1-D649-4A2C-A152-48C19B5E86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DFF276-CF4F-4FAA-BF2F-E401C2830A6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9D1CEF0-148C-40D8-974A-E2C901A54CA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BB17086-8C8A-4795-824B-DAD5EFADCA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942843E-FEE2-4AB0-A706-8648A5D2A2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ACF8BE-5FC1-4EE4-9B71-3C23190EF7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14FEC6-3764-40A4-A6FE-D7BB8C2526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902603B-8589-4C61-8C73-38A72D3D361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E600D15-2443-468C-B3BC-698011E4575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481B692C-ACDA-4A10-8CF9-3447FCFB31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3120F48-9155-434A-BFCF-026B93E5F8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1E042BE-18EC-40AA-A4A3-2AC43A7591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0A03D7-344D-4A22-A632-03B75E7D2D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B58F37A-2BA1-452A-96FB-308CFE2FAC5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8E163F3-ABD1-4E87-9931-711E8C3926C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6A3A91D-436C-4BFB-8BA4-A6060461CA0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A2FCC91-511C-43B1-B9A5-0D07365F775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13054BC-06C4-4D05-81AC-CCC0C79731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9F2DFE60-98E9-4912-B02F-888E96E546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B440A91-28B8-4182-97F4-23E202D67C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6B5D70-79B4-4018-9523-25007DE005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D3895C5A-38E6-4639-A67E-1FC07EB085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FED28FF3-DFBE-490A-98DB-977E1B62F9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B985D6A-D125-4ABB-848B-20FFCCECF4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E7922A0-910B-4B9B-9696-DE6B2B265E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9B5741B-3830-4342-813D-3F5FF8655C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F904A21-4B75-4FF1-987F-E0070B9708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2D8C9C-FC76-40F2-B431-E0D2B57EDD2C}"/>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48DEC9C-5067-4F99-81EE-E29E545B261E}"/>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3AA464FA-FB43-42EF-AA0E-3D59AAE2F85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2DF6381-EEC8-4034-8DE5-EBE940EC3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FC94E03-8F48-47BF-9CA9-48D9A4C1C4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B660E3-DC5A-414E-85FC-446216B459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23E24B-82EC-46AF-B980-2583B452D03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B3099A3-C993-4368-B6E7-42F3545A132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D4BF343-6D60-4721-9BFE-1FAAE7E958D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08C130E-AFF2-440D-B969-5C6475AF36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3BD10B6-64B1-4D24-8D9E-7DDF40ABA9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E0511A5-64F0-42DD-A528-FC872564F5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8D5495-93F3-432B-B8AD-E35A8F77A0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19221D9-4664-45B3-88EC-3280C9AB00A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541D221-17C6-454C-BC0D-2483AF98AA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F6F73C8-C006-473C-A8C2-D83FF38D11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08E454F-37BD-4801-AF14-0734E32985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636252B-903E-405C-89B0-EC0187D1945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10F60AC2-E34D-4FDF-9B42-2A038013769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BCF48B9-2AD3-45F5-854C-BB27261FB8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0D6ABC4-5913-4051-A86D-869E071C80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BAC365-3504-48A1-973D-C65D942871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7ac98fe0664eb3" /><Relationship Type="http://schemas.openxmlformats.org/officeDocument/2006/relationships/slideLayout" Target="/ppt/slideLayouts/slideLayout1.xml" Id="R015bdadd162e4523" /><Relationship Type="http://schemas.openxmlformats.org/officeDocument/2006/relationships/slideLayout" Target="/ppt/slideLayouts/slideLayout2.xml" Id="R2e7ba55c3ef5491c" /><Relationship Type="http://schemas.openxmlformats.org/officeDocument/2006/relationships/slideLayout" Target="/ppt/slideLayouts/slideLayout3.xml" Id="Rcb15b77cd39f4fcc" /><Relationship Type="http://schemas.openxmlformats.org/officeDocument/2006/relationships/slideLayout" Target="/ppt/slideLayouts/slideLayout4.xml" Id="R01942bf667174b20" /><Relationship Type="http://schemas.openxmlformats.org/officeDocument/2006/relationships/slideLayout" Target="/ppt/slideLayouts/slideLayout5.xml" Id="R8c46ac5b4bda474a" /><Relationship Type="http://schemas.openxmlformats.org/officeDocument/2006/relationships/slideLayout" Target="/ppt/slideLayouts/slideLayout6.xml" Id="R184cae8500bb4db1" /><Relationship Type="http://schemas.openxmlformats.org/officeDocument/2006/relationships/slideLayout" Target="/ppt/slideLayouts/slideLayout7.xml" Id="R28eb0605134143ba" /><Relationship Type="http://schemas.openxmlformats.org/officeDocument/2006/relationships/slideLayout" Target="/ppt/slideLayouts/slideLayout8.xml" Id="Rf2708165043346fa" /><Relationship Type="http://schemas.openxmlformats.org/officeDocument/2006/relationships/slideLayout" Target="/ppt/slideLayouts/slideLayout9.xml" Id="Rcf353f7bb77a42f1" /><Relationship Type="http://schemas.openxmlformats.org/officeDocument/2006/relationships/slideLayout" Target="/ppt/slideLayouts/slideLayout10.xml" Id="R9b7f6c8272424481" /><Relationship Type="http://schemas.openxmlformats.org/officeDocument/2006/relationships/slideLayout" Target="/ppt/slideLayouts/slideLayout11.xml" Id="R5ee3bf26f06249b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1168AD2-FF6B-4EF7-BBA7-A69F1F6E745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C6461E3-6FD8-4319-93AE-3D97C75B3C5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82A4632-59A4-4153-BE98-62AC2A78AF1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03C334F-757E-4B2F-8EBC-07167E95FA6D}"/>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A97484-A06F-4EC1-AC18-835AA51F332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5bdadd162e4523"/>
    <p:sldLayoutId xmlns:r="http://schemas.openxmlformats.org/officeDocument/2006/relationships" id="2147483650" r:id="R2e7ba55c3ef5491c"/>
    <p:sldLayoutId xmlns:r="http://schemas.openxmlformats.org/officeDocument/2006/relationships" id="2147483651" r:id="Rcb15b77cd39f4fcc"/>
    <p:sldLayoutId xmlns:r="http://schemas.openxmlformats.org/officeDocument/2006/relationships" id="2147483652" r:id="R01942bf667174b20"/>
    <p:sldLayoutId xmlns:r="http://schemas.openxmlformats.org/officeDocument/2006/relationships" id="2147483653" r:id="R8c46ac5b4bda474a"/>
    <p:sldLayoutId xmlns:r="http://schemas.openxmlformats.org/officeDocument/2006/relationships" id="2147483654" r:id="R184cae8500bb4db1"/>
    <p:sldLayoutId xmlns:r="http://schemas.openxmlformats.org/officeDocument/2006/relationships" id="2147483655" r:id="R28eb0605134143ba"/>
    <p:sldLayoutId xmlns:r="http://schemas.openxmlformats.org/officeDocument/2006/relationships" id="2147483656" r:id="Rf2708165043346fa"/>
    <p:sldLayoutId xmlns:r="http://schemas.openxmlformats.org/officeDocument/2006/relationships" id="2147483657" r:id="Rcf353f7bb77a42f1"/>
    <p:sldLayoutId xmlns:r="http://schemas.openxmlformats.org/officeDocument/2006/relationships" id="2147483658" r:id="R9b7f6c8272424481"/>
    <p:sldLayoutId xmlns:r="http://schemas.openxmlformats.org/officeDocument/2006/relationships" id="2147483659" r:id="R5ee3bf26f06249b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6e9ddc8c6494800" /><Relationship Type="http://schemas.openxmlformats.org/officeDocument/2006/relationships/notesSlide" Target="/ppt/notesSlides/notesSlide1.xml" Id="Rf089eea7fcfe44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4aab1be1c8b43ec" /><Relationship Type="http://schemas.openxmlformats.org/officeDocument/2006/relationships/notesSlide" Target="/ppt/notesSlides/notesSlide2.xml" Id="R6fdd6769ca1e40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81b2635babe49d4" /><Relationship Type="http://schemas.openxmlformats.org/officeDocument/2006/relationships/notesSlide" Target="/ppt/notesSlides/notesSlide3.xml" Id="R97aa5f0fe11349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f3e6bbb66284ef0" /><Relationship Type="http://schemas.openxmlformats.org/officeDocument/2006/relationships/notesSlide" Target="/ppt/notesSlides/notesSlide4.xml" Id="Rb9822874d2504c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d584e1e8769423e" /><Relationship Type="http://schemas.openxmlformats.org/officeDocument/2006/relationships/notesSlide" Target="/ppt/notesSlides/notesSlide5.xml" Id="R75d416f13d7a41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16aa08020024324" /><Relationship Type="http://schemas.openxmlformats.org/officeDocument/2006/relationships/notesSlide" Target="/ppt/notesSlides/notesSlide6.xml" Id="R0d84ec7aaba34d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13522d2c7944989" /><Relationship Type="http://schemas.openxmlformats.org/officeDocument/2006/relationships/notesSlide" Target="/ppt/notesSlides/notesSlide7.xml" Id="R004d758a5f2249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52ed27f9a474835" /><Relationship Type="http://schemas.openxmlformats.org/officeDocument/2006/relationships/notesSlide" Target="/ppt/notesSlides/notesSlide8.xml" Id="R862b02a7c33040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f47a5c5873946c4" /><Relationship Type="http://schemas.openxmlformats.org/officeDocument/2006/relationships/notesSlide" Target="/ppt/notesSlides/notesSlide9.xml" Id="R3276b0d9a7dd48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05eae96dbe440b8" /><Relationship Type="http://schemas.openxmlformats.org/officeDocument/2006/relationships/notesSlide" Target="/ppt/notesSlides/notesSlide10.xml" Id="R74d80fd1a04b49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b121ee388694f1a" /><Relationship Type="http://schemas.openxmlformats.org/officeDocument/2006/relationships/notesSlide" Target="/ppt/notesSlides/notesSlide11.xml" Id="R8f1187d714fb45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3f87ac0dfeb49a7" /><Relationship Type="http://schemas.openxmlformats.org/officeDocument/2006/relationships/notesSlide" Target="/ppt/notesSlides/notesSlide12.xml" Id="R1662e4f4b1e744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2EAFFB9-624E-4D1D-A9B1-D5C3A481EC30}"/>
              </a:ext>
            </a:extLst>
          </p:cNvPr>
          <p:cNvSpPr>
            <a:spLocks xmlns:a="http://schemas.openxmlformats.org/drawingml/2006/main" noGrp="1"/>
          </p:cNvSpPr>
          <p:nvPr/>
        </p:nvSpPr>
        <p:spPr>
          <a:xfrm xmlns:a="http://schemas.openxmlformats.org/drawingml/2006/main">
            <a:off x="0" y="0"/>
            <a:ext cx="12191695" cy="1828800"/>
          </a:xfrm>
          <a:prstGeom xmlns:a="http://schemas.openxmlformats.org/drawingml/2006/main" prst="rect">
            <a:avLst/>
          </a:prstGeom>
          <a:solidFill xmlns:a="http://schemas.openxmlformats.org/drawingml/2006/main">
            <a:srgbClr val="1923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9B8EDF5-57B3-4E50-B4BA-44CE097BA40B}"/>
              </a:ext>
            </a:extLst>
          </p:cNvPr>
          <p:cNvSpPr>
            <a:spLocks xmlns:a="http://schemas.openxmlformats.org/drawingml/2006/main" noGrp="1"/>
          </p:cNvSpPr>
          <p:nvPr/>
        </p:nvSpPr>
        <p:spPr>
          <a:xfrm xmlns:a="http://schemas.openxmlformats.org/drawingml/2006/main">
            <a:off x="731520" y="502920"/>
            <a:ext cx="1069848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800" b="1">
                <a:solidFill>
                  <a:srgbClr val="FFFFFF"/>
                </a:solidFill>
                <a:latin typeface="Aptos"/>
                <a:ea typeface="Aptos"/>
                <a:cs typeface="Aptos"/>
              </a:defRPr>
            </a:pPr>
            <a:r>
              <a:t>ARTHÉMIS</a:t>
            </a:r>
          </a:p>
        </p:txBody>
      </p:sp>
      <p:sp>
        <p:nvSpPr>
          <p:cNvPr id="4" name="TextBox 3">
            <a:extLst xmlns:a="http://schemas.openxmlformats.org/drawingml/2006/main">
              <a:ext uri="{FF2B5EF4-FFF2-40B4-BE49-F238E27FC236}">
                <a16:creationId xmlns:a16="http://schemas.microsoft.com/office/drawing/2014/main" id="{733DA86E-6B3F-4EEC-B35D-42E2474F501A}"/>
              </a:ext>
            </a:extLst>
          </p:cNvPr>
          <p:cNvSpPr>
            <a:spLocks xmlns:a="http://schemas.openxmlformats.org/drawingml/2006/main" noGrp="1"/>
          </p:cNvSpPr>
          <p:nvPr/>
        </p:nvSpPr>
        <p:spPr>
          <a:xfrm xmlns:a="http://schemas.openxmlformats.org/drawingml/2006/main">
            <a:off x="777240" y="1234440"/>
            <a:ext cx="106984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FFFFFF"/>
                </a:solidFill>
                <a:latin typeface="Aptos"/>
                <a:ea typeface="Aptos"/>
                <a:cs typeface="Aptos"/>
              </a:defRPr>
            </a:pPr>
            <a:r>
              <a:t>맥락 분리형 장기 취향 메모리를 갖춘 대화형 아트 큐레이션 에이전트</a:t>
            </a:r>
          </a:p>
        </p:txBody>
      </p:sp>
      <p:sp>
        <p:nvSpPr>
          <p:cNvPr id="5" name="TextBox 4">
            <a:extLst xmlns:a="http://schemas.openxmlformats.org/drawingml/2006/main">
              <a:ext uri="{FF2B5EF4-FFF2-40B4-BE49-F238E27FC236}">
                <a16:creationId xmlns:a16="http://schemas.microsoft.com/office/drawing/2014/main" id="{83AC392B-EBEC-4148-8818-87621EECA5B2}"/>
              </a:ext>
            </a:extLst>
          </p:cNvPr>
          <p:cNvSpPr>
            <a:spLocks xmlns:a="http://schemas.openxmlformats.org/drawingml/2006/main" noGrp="1"/>
          </p:cNvSpPr>
          <p:nvPr/>
        </p:nvSpPr>
        <p:spPr>
          <a:xfrm xmlns:a="http://schemas.openxmlformats.org/drawingml/2006/main">
            <a:off x="822960" y="2377440"/>
            <a:ext cx="104241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900" b="1">
                <a:solidFill>
                  <a:srgbClr val="217D81"/>
                </a:solidFill>
                <a:latin typeface="Aptos"/>
                <a:ea typeface="Aptos"/>
                <a:cs typeface="Aptos"/>
              </a:defRPr>
            </a:pPr>
            <a:r>
              <a:t>365 Challenge | 발표자 추병곤</a:t>
            </a:r>
          </a:p>
        </p:txBody>
      </p:sp>
      <p:sp>
        <p:nvSpPr>
          <p:cNvPr id="6" name="TextBox 5">
            <a:extLst xmlns:a="http://schemas.openxmlformats.org/drawingml/2006/main">
              <a:ext uri="{FF2B5EF4-FFF2-40B4-BE49-F238E27FC236}">
                <a16:creationId xmlns:a16="http://schemas.microsoft.com/office/drawing/2014/main" id="{A67266FB-EA65-4E04-935D-EC4D9C0DEFC3}"/>
              </a:ext>
            </a:extLst>
          </p:cNvPr>
          <p:cNvSpPr>
            <a:spLocks xmlns:a="http://schemas.openxmlformats.org/drawingml/2006/main" noGrp="1"/>
          </p:cNvSpPr>
          <p:nvPr/>
        </p:nvSpPr>
        <p:spPr>
          <a:xfrm xmlns:a="http://schemas.openxmlformats.org/drawingml/2006/main">
            <a:off x="822960" y="3108960"/>
            <a:ext cx="10241280" cy="1188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기억은 맥락에 맞게 선택하고,</a:t>
            </a:r>
          </a:p>
          <a:p xmlns:a="http://schemas.openxmlformats.org/drawingml/2006/main">
            <a:pPr>
              <a:buNone/>
              <a:defRPr sz="2500" b="1">
                <a:solidFill>
                  <a:srgbClr val="19233A"/>
                </a:solidFill>
                <a:latin typeface="Aptos"/>
                <a:ea typeface="Aptos"/>
                <a:cs typeface="Aptos"/>
              </a:defRPr>
            </a:pPr>
            <a:r>
              <a:t>방문정보는 근거가 확인된 필드만 안내한다.</a:t>
            </a:r>
          </a:p>
        </p:txBody>
      </p:sp>
      <p:sp>
        <p:nvSpPr>
          <p:cNvPr id="7" name="TextBox 6">
            <a:extLst xmlns:a="http://schemas.openxmlformats.org/drawingml/2006/main">
              <a:ext uri="{FF2B5EF4-FFF2-40B4-BE49-F238E27FC236}">
                <a16:creationId xmlns:a16="http://schemas.microsoft.com/office/drawing/2014/main" id="{F1E050F0-1D1B-4A40-BD4C-5546C1D8EA83}"/>
              </a:ext>
            </a:extLst>
          </p:cNvPr>
          <p:cNvSpPr>
            <a:spLocks xmlns:a="http://schemas.openxmlformats.org/drawingml/2006/main" noGrp="1"/>
          </p:cNvSpPr>
          <p:nvPr/>
        </p:nvSpPr>
        <p:spPr>
          <a:xfrm xmlns:a="http://schemas.openxmlformats.org/drawingml/2006/main">
            <a:off x="822960" y="5029200"/>
            <a:ext cx="1042416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0">
                <a:solidFill>
                  <a:srgbClr val="5F6C7D"/>
                </a:solidFill>
                <a:latin typeface="Aptos"/>
                <a:ea typeface="Aptos"/>
                <a:cs typeface="Aptos"/>
              </a:defRPr>
            </a:pPr>
            <a:r>
              <a:t>15분 발표 · 설계 및 통제 평가 프로토콜 중심</a:t>
            </a:r>
          </a:p>
        </p:txBody>
      </p:sp>
      <p:sp>
        <p:nvSpPr>
          <p:cNvPr id="8" name="TextBox 7">
            <a:extLst xmlns:a="http://schemas.openxmlformats.org/drawingml/2006/main">
              <a:ext uri="{FF2B5EF4-FFF2-40B4-BE49-F238E27FC236}">
                <a16:creationId xmlns:a16="http://schemas.microsoft.com/office/drawing/2014/main" id="{03BD27FA-3F54-464D-80B7-5877BA3AE8C9}"/>
              </a:ext>
            </a:extLst>
          </p:cNvPr>
          <p:cNvSpPr>
            <a:spLocks xmlns:a="http://schemas.openxmlformats.org/drawingml/2006/main" noGrp="1"/>
          </p:cNvSpPr>
          <p:nvPr/>
        </p:nvSpPr>
        <p:spPr>
          <a:xfrm xmlns:a="http://schemas.openxmlformats.org/drawingml/2006/main">
            <a:off x="822960" y="5715000"/>
            <a:ext cx="1042416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1">
                <a:solidFill>
                  <a:srgbClr val="AD3F3F"/>
                </a:solidFill>
                <a:latin typeface="Aptos"/>
                <a:ea typeface="Aptos"/>
                <a:cs typeface="Aptos"/>
              </a:defRPr>
            </a:pPr>
            <a:r>
              <a:t>주의: 실험 결과·구현 완료 여부는 별도 증거 확보 전까지 미확정</a:t>
            </a:r>
          </a:p>
        </p:txBody>
      </p:sp>
    </p:spTree>
    <p:extLst>
      <p:ext uri="{BB962C8B-B14F-4D97-AF65-F5344CB8AC3E}">
        <p14:creationId xmlns:p14="http://schemas.microsoft.com/office/powerpoint/2010/main" val="7393898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BEFC9D7-A8B2-45CA-8FDA-C99D66847A79}"/>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문제 정의: 세 가지 단절</a:t>
            </a:r>
          </a:p>
        </p:txBody>
      </p:sp>
      <p:sp>
        <p:nvSpPr>
          <p:cNvPr id="3" name="TextBox 2">
            <a:extLst xmlns:a="http://schemas.openxmlformats.org/drawingml/2006/main">
              <a:ext uri="{FF2B5EF4-FFF2-40B4-BE49-F238E27FC236}">
                <a16:creationId xmlns:a16="http://schemas.microsoft.com/office/drawing/2014/main" id="{F722860E-7A96-4B5D-9470-3E5909D1A214}"/>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감각 언어 · 장기 기억 · 방문 정보의 신뢰성</a:t>
            </a:r>
          </a:p>
        </p:txBody>
      </p:sp>
      <p:sp>
        <p:nvSpPr>
          <p:cNvPr id="4" name="Rectangle 3">
            <a:extLst xmlns:a="http://schemas.openxmlformats.org/drawingml/2006/main">
              <a:ext uri="{FF2B5EF4-FFF2-40B4-BE49-F238E27FC236}">
                <a16:creationId xmlns:a16="http://schemas.microsoft.com/office/drawing/2014/main" id="{5C9B0CC8-C901-40C4-964F-12F29492F494}"/>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444CCD1-A713-4F77-92F6-CCDA5A1B2D6D}"/>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02</a:t>
            </a:r>
          </a:p>
        </p:txBody>
      </p:sp>
      <p:sp>
        <p:nvSpPr>
          <p:cNvPr id="6" name="TextBox 5">
            <a:extLst xmlns:a="http://schemas.openxmlformats.org/drawingml/2006/main">
              <a:ext uri="{FF2B5EF4-FFF2-40B4-BE49-F238E27FC236}">
                <a16:creationId xmlns:a16="http://schemas.microsoft.com/office/drawing/2014/main" id="{14FD080A-3EDE-4EB0-8BF8-B21E3D3C4FC1}"/>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700">
                <a:solidFill>
                  <a:srgbClr val="19233A"/>
                </a:solidFill>
                <a:latin typeface="Aptos"/>
                <a:ea typeface="Aptos"/>
                <a:cs typeface="Aptos"/>
              </a:defRPr>
            </a:pPr>
            <a:r>
              <a:t>• 의미 단절: “묵직한 질감” 같은 관람객 표현과 기관 메타데이터의 간극</a:t>
            </a:r>
          </a:p>
          <a:p xmlns:a="http://schemas.openxmlformats.org/drawingml/2006/main">
            <a:pPr>
              <a:spcAft>
                <a:spcPts val="1400"/>
              </a:spcAft>
              <a:buNone/>
              <a:defRPr sz="1700">
                <a:solidFill>
                  <a:srgbClr val="19233A"/>
                </a:solidFill>
                <a:latin typeface="Aptos"/>
                <a:ea typeface="Aptos"/>
                <a:cs typeface="Aptos"/>
              </a:defRPr>
            </a:pPr>
            <a:r>
              <a:t>• 기억 단절: 혼자 사유형 관람과 가족 동반 체험형 관람의 취향이 섞일 위험</a:t>
            </a:r>
          </a:p>
          <a:p xmlns:a="http://schemas.openxmlformats.org/drawingml/2006/main">
            <a:pPr>
              <a:spcAft>
                <a:spcPts val="1400"/>
              </a:spcAft>
              <a:buNone/>
              <a:defRPr sz="1700">
                <a:solidFill>
                  <a:srgbClr val="19233A"/>
                </a:solidFill>
                <a:latin typeface="Aptos"/>
                <a:ea typeface="Aptos"/>
                <a:cs typeface="Aptos"/>
              </a:defRPr>
            </a:pPr>
            <a:r>
              <a:t>• 실행 단절: 전시 기간·장소·요금 등 방문 주장의 근거 부족</a:t>
            </a:r>
          </a:p>
          <a:p xmlns:a="http://schemas.openxmlformats.org/drawingml/2006/main">
            <a:pPr>
              <a:spcAft>
                <a:spcPts val="1400"/>
              </a:spcAft>
              <a:buNone/>
              <a:defRPr sz="1700">
                <a:solidFill>
                  <a:srgbClr val="19233A"/>
                </a:solidFill>
                <a:latin typeface="Aptos"/>
                <a:ea typeface="Aptos"/>
                <a:cs typeface="Aptos"/>
              </a:defRPr>
            </a:pPr>
            <a:r>
              <a:t>• 사용자 테스트로 문제 규모를 실측한 결과는 현재 미제공</a:t>
            </a:r>
          </a:p>
        </p:txBody>
      </p:sp>
      <p:sp>
        <p:nvSpPr>
          <p:cNvPr id="7" name="TextBox 6">
            <a:extLst xmlns:a="http://schemas.openxmlformats.org/drawingml/2006/main">
              <a:ext uri="{FF2B5EF4-FFF2-40B4-BE49-F238E27FC236}">
                <a16:creationId xmlns:a16="http://schemas.microsoft.com/office/drawing/2014/main" id="{C25E0412-A091-4BDD-B354-586E27946B12}"/>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1:15   |   심사 연계: 문제 정의 20점 · 사업 가치 20점</a:t>
            </a:r>
          </a:p>
        </p:txBody>
      </p:sp>
    </p:spTree>
    <p:extLst>
      <p:ext uri="{BB962C8B-B14F-4D97-AF65-F5344CB8AC3E}">
        <p14:creationId xmlns:p14="http://schemas.microsoft.com/office/powerpoint/2010/main" val="260055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994E605-011E-47B1-8528-73B10E44EDE5}"/>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연구 질문과 핵심 가설</a:t>
            </a:r>
          </a:p>
        </p:txBody>
      </p:sp>
      <p:sp>
        <p:nvSpPr>
          <p:cNvPr id="3" name="TextBox 2">
            <a:extLst xmlns:a="http://schemas.openxmlformats.org/drawingml/2006/main">
              <a:ext uri="{FF2B5EF4-FFF2-40B4-BE49-F238E27FC236}">
                <a16:creationId xmlns:a16="http://schemas.microsoft.com/office/drawing/2014/main" id="{037F4EF9-0EFB-4AC8-A806-CE2766A880A1}"/>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기억의 양이 아니라, 맥락에 맞는 기억의 선택</a:t>
            </a:r>
          </a:p>
        </p:txBody>
      </p:sp>
      <p:sp>
        <p:nvSpPr>
          <p:cNvPr id="4" name="Rectangle 3">
            <a:extLst xmlns:a="http://schemas.openxmlformats.org/drawingml/2006/main">
              <a:ext uri="{FF2B5EF4-FFF2-40B4-BE49-F238E27FC236}">
                <a16:creationId xmlns:a16="http://schemas.microsoft.com/office/drawing/2014/main" id="{31FA9054-642B-4727-87D8-D5902381647A}"/>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114A0164-7906-4D5C-8AEF-F1FA890C46CE}"/>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03</a:t>
            </a:r>
          </a:p>
        </p:txBody>
      </p:sp>
      <p:sp>
        <p:nvSpPr>
          <p:cNvPr id="6" name="TextBox 5">
            <a:extLst xmlns:a="http://schemas.openxmlformats.org/drawingml/2006/main">
              <a:ext uri="{FF2B5EF4-FFF2-40B4-BE49-F238E27FC236}">
                <a16:creationId xmlns:a16="http://schemas.microsoft.com/office/drawing/2014/main" id="{59FD76AE-F304-46CD-A561-421D5C0DECCA}"/>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700">
                <a:solidFill>
                  <a:srgbClr val="19233A"/>
                </a:solidFill>
                <a:latin typeface="Aptos"/>
                <a:ea typeface="Aptos"/>
                <a:cs typeface="Aptos"/>
              </a:defRPr>
            </a:pPr>
            <a:r>
              <a:t>• H1: B4가 B2보다 맥락 오염률 CR@10을 낮추는가?</a:t>
            </a:r>
          </a:p>
          <a:p xmlns:a="http://schemas.openxmlformats.org/drawingml/2006/main">
            <a:pPr>
              <a:spcAft>
                <a:spcPts val="1400"/>
              </a:spcAft>
              <a:buNone/>
              <a:defRPr sz="1700">
                <a:solidFill>
                  <a:srgbClr val="19233A"/>
                </a:solidFill>
                <a:latin typeface="Aptos"/>
                <a:ea typeface="Aptos"/>
                <a:cs typeface="Aptos"/>
              </a:defRPr>
            </a:pPr>
            <a:r>
              <a:t>• H2: B4가 B1보다 개인화 순위 품질 NDCG@10을 높이는가?</a:t>
            </a:r>
          </a:p>
          <a:p xmlns:a="http://schemas.openxmlformats.org/drawingml/2006/main">
            <a:pPr>
              <a:spcAft>
                <a:spcPts val="1400"/>
              </a:spcAft>
              <a:buNone/>
              <a:defRPr sz="1700">
                <a:solidFill>
                  <a:srgbClr val="19233A"/>
                </a:solidFill>
                <a:latin typeface="Aptos"/>
                <a:ea typeface="Aptos"/>
                <a:cs typeface="Aptos"/>
              </a:defRPr>
            </a:pPr>
            <a:r>
              <a:t>• B1 무기억 / B2 전체 이력 / B4 계층형 메모리 + Context Router</a:t>
            </a:r>
          </a:p>
          <a:p xmlns:a="http://schemas.openxmlformats.org/drawingml/2006/main">
            <a:pPr>
              <a:spcAft>
                <a:spcPts val="1400"/>
              </a:spcAft>
              <a:buNone/>
              <a:defRPr sz="1700">
                <a:solidFill>
                  <a:srgbClr val="19233A"/>
                </a:solidFill>
                <a:latin typeface="Aptos"/>
                <a:ea typeface="Aptos"/>
                <a:cs typeface="Aptos"/>
              </a:defRPr>
            </a:pPr>
            <a:r>
              <a:t>• 가설은 사전 정의된 검증 질문이며, 현재 수치 결과는 미확정</a:t>
            </a:r>
          </a:p>
        </p:txBody>
      </p:sp>
      <p:sp>
        <p:nvSpPr>
          <p:cNvPr id="7" name="TextBox 6">
            <a:extLst xmlns:a="http://schemas.openxmlformats.org/drawingml/2006/main">
              <a:ext uri="{FF2B5EF4-FFF2-40B4-BE49-F238E27FC236}">
                <a16:creationId xmlns:a16="http://schemas.microsoft.com/office/drawing/2014/main" id="{3A320439-230A-414F-BFD0-5B2769F4840A}"/>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1:10   |   심사 연계: 창의성 20점 · 문제 해결 20점</a:t>
            </a:r>
          </a:p>
        </p:txBody>
      </p:sp>
    </p:spTree>
    <p:extLst>
      <p:ext uri="{BB962C8B-B14F-4D97-AF65-F5344CB8AC3E}">
        <p14:creationId xmlns:p14="http://schemas.microsoft.com/office/powerpoint/2010/main" val="2348643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DBD51BB-7B4A-4BAB-A86E-D1A43AD52E09}"/>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시스템 아키텍처</a:t>
            </a:r>
          </a:p>
        </p:txBody>
      </p:sp>
      <p:sp>
        <p:nvSpPr>
          <p:cNvPr id="3" name="TextBox 2">
            <a:extLst xmlns:a="http://schemas.openxmlformats.org/drawingml/2006/main">
              <a:ext uri="{FF2B5EF4-FFF2-40B4-BE49-F238E27FC236}">
                <a16:creationId xmlns:a16="http://schemas.microsoft.com/office/drawing/2014/main" id="{D4AB8126-0679-459A-AE71-0120CD092919}"/>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ReAct 오케스트레이션 + 역할이 분리된 두 에이전트</a:t>
            </a:r>
          </a:p>
        </p:txBody>
      </p:sp>
      <p:sp>
        <p:nvSpPr>
          <p:cNvPr id="4" name="Rectangle 3">
            <a:extLst xmlns:a="http://schemas.openxmlformats.org/drawingml/2006/main">
              <a:ext uri="{FF2B5EF4-FFF2-40B4-BE49-F238E27FC236}">
                <a16:creationId xmlns:a16="http://schemas.microsoft.com/office/drawing/2014/main" id="{EDC6EA84-65CD-45BF-884D-B263A1AD5304}"/>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2B44C51-4798-4079-8ACC-5CC2AE869774}"/>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04</a:t>
            </a:r>
          </a:p>
        </p:txBody>
      </p:sp>
      <p:sp>
        <p:nvSpPr>
          <p:cNvPr id="6" name="Rounded Rectangle 5">
            <a:extLst xmlns:a="http://schemas.openxmlformats.org/drawingml/2006/main">
              <a:ext uri="{FF2B5EF4-FFF2-40B4-BE49-F238E27FC236}">
                <a16:creationId xmlns:a16="http://schemas.microsoft.com/office/drawing/2014/main" id="{196CCC80-7AAB-4147-9931-9EE321604FD1}"/>
              </a:ext>
            </a:extLst>
          </p:cNvPr>
          <p:cNvSpPr>
            <a:spLocks xmlns:a="http://schemas.openxmlformats.org/drawingml/2006/main" noGrp="1"/>
          </p:cNvSpPr>
          <p:nvPr/>
        </p:nvSpPr>
        <p:spPr>
          <a:xfrm xmlns:a="http://schemas.openxmlformats.org/drawingml/2006/main">
            <a:off x="502920" y="1417320"/>
            <a:ext cx="1828800" cy="777240"/>
          </a:xfrm>
          <a:prstGeom xmlns:a="http://schemas.openxmlformats.org/drawingml/2006/main" prst="roundRect">
            <a:avLst/>
          </a:prstGeom>
          <a:solidFill xmlns:a="http://schemas.openxmlformats.org/drawingml/2006/main">
            <a:srgbClr val="E8F1F4"/>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관람객 발화</a:t>
            </a:r>
          </a:p>
          <a:p xmlns:a="http://schemas.openxmlformats.org/drawingml/2006/main">
            <a:pPr>
              <a:buNone/>
              <a:defRPr sz="1000">
                <a:solidFill>
                  <a:srgbClr val="19233A"/>
                </a:solidFill>
                <a:latin typeface="Aptos"/>
                <a:ea typeface="Aptos"/>
                <a:cs typeface="Aptos"/>
              </a:defRPr>
            </a:pPr>
            <a:r>
              <a:t>감각·상황·목적</a:t>
            </a:r>
          </a:p>
        </p:txBody>
      </p:sp>
      <p:sp>
        <p:nvSpPr>
          <p:cNvPr id="7" name="Rounded Rectangle 6">
            <a:extLst xmlns:a="http://schemas.openxmlformats.org/drawingml/2006/main">
              <a:ext uri="{FF2B5EF4-FFF2-40B4-BE49-F238E27FC236}">
                <a16:creationId xmlns:a16="http://schemas.microsoft.com/office/drawing/2014/main" id="{1571B87B-BC63-4F4D-9060-24044F47C3FF}"/>
              </a:ext>
            </a:extLst>
          </p:cNvPr>
          <p:cNvSpPr>
            <a:spLocks xmlns:a="http://schemas.openxmlformats.org/drawingml/2006/main" noGrp="1"/>
          </p:cNvSpPr>
          <p:nvPr/>
        </p:nvSpPr>
        <p:spPr>
          <a:xfrm xmlns:a="http://schemas.openxmlformats.org/drawingml/2006/main">
            <a:off x="2606040" y="1417320"/>
            <a:ext cx="1920240" cy="777240"/>
          </a:xfrm>
          <a:prstGeom xmlns:a="http://schemas.openxmlformats.org/drawingml/2006/main" prst="roundRect">
            <a:avLst/>
          </a:prstGeom>
          <a:solidFill xmlns:a="http://schemas.openxmlformats.org/drawingml/2006/main">
            <a:srgbClr val="F2F5F8"/>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오케스트레이터</a:t>
            </a:r>
          </a:p>
          <a:p xmlns:a="http://schemas.openxmlformats.org/drawingml/2006/main">
            <a:pPr>
              <a:buNone/>
              <a:defRPr sz="1000">
                <a:solidFill>
                  <a:srgbClr val="19233A"/>
                </a:solidFill>
                <a:latin typeface="Aptos"/>
                <a:ea typeface="Aptos"/>
                <a:cs typeface="Aptos"/>
              </a:defRPr>
            </a:pPr>
            <a:r>
              <a:t>턴 관리 · 확인 질문</a:t>
            </a:r>
          </a:p>
        </p:txBody>
      </p:sp>
      <p:sp>
        <p:nvSpPr>
          <p:cNvPr id="8" name="Rounded Rectangle 7">
            <a:extLst xmlns:a="http://schemas.openxmlformats.org/drawingml/2006/main">
              <a:ext uri="{FF2B5EF4-FFF2-40B4-BE49-F238E27FC236}">
                <a16:creationId xmlns:a16="http://schemas.microsoft.com/office/drawing/2014/main" id="{6CB53BF8-7DB7-4ED6-878A-4A75D81F3A6E}"/>
              </a:ext>
            </a:extLst>
          </p:cNvPr>
          <p:cNvSpPr>
            <a:spLocks xmlns:a="http://schemas.openxmlformats.org/drawingml/2006/main" noGrp="1"/>
          </p:cNvSpPr>
          <p:nvPr/>
        </p:nvSpPr>
        <p:spPr>
          <a:xfrm xmlns:a="http://schemas.openxmlformats.org/drawingml/2006/main">
            <a:off x="4800600" y="1417320"/>
            <a:ext cx="2286000" cy="777240"/>
          </a:xfrm>
          <a:prstGeom xmlns:a="http://schemas.openxmlformats.org/drawingml/2006/main" prst="roundRect">
            <a:avLst/>
          </a:prstGeom>
          <a:solidFill xmlns:a="http://schemas.openxmlformats.org/drawingml/2006/main">
            <a:srgbClr val="E0F0EC"/>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Agent A</a:t>
            </a:r>
          </a:p>
          <a:p xmlns:a="http://schemas.openxmlformats.org/drawingml/2006/main">
            <a:pPr>
              <a:buNone/>
              <a:defRPr sz="1000">
                <a:solidFill>
                  <a:srgbClr val="19233A"/>
                </a:solidFill>
                <a:latin typeface="Aptos"/>
                <a:ea typeface="Aptos"/>
                <a:cs typeface="Aptos"/>
              </a:defRPr>
            </a:pPr>
            <a:r>
              <a:t>신호 추출 · 계층형 메모리</a:t>
            </a:r>
          </a:p>
        </p:txBody>
      </p:sp>
      <p:sp>
        <p:nvSpPr>
          <p:cNvPr id="9" name="Rounded Rectangle 8">
            <a:extLst xmlns:a="http://schemas.openxmlformats.org/drawingml/2006/main">
              <a:ext uri="{FF2B5EF4-FFF2-40B4-BE49-F238E27FC236}">
                <a16:creationId xmlns:a16="http://schemas.microsoft.com/office/drawing/2014/main" id="{D71910A4-2D33-4178-9358-F220FB76B5F4}"/>
              </a:ext>
            </a:extLst>
          </p:cNvPr>
          <p:cNvSpPr>
            <a:spLocks xmlns:a="http://schemas.openxmlformats.org/drawingml/2006/main" noGrp="1"/>
          </p:cNvSpPr>
          <p:nvPr/>
        </p:nvSpPr>
        <p:spPr>
          <a:xfrm xmlns:a="http://schemas.openxmlformats.org/drawingml/2006/main">
            <a:off x="7360920" y="1417320"/>
            <a:ext cx="1920240" cy="777240"/>
          </a:xfrm>
          <a:prstGeom xmlns:a="http://schemas.openxmlformats.org/drawingml/2006/main" prst="roundRect">
            <a:avLst/>
          </a:prstGeom>
          <a:solidFill xmlns:a="http://schemas.openxmlformats.org/drawingml/2006/main">
            <a:srgbClr val="E0F0EC"/>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Context Router</a:t>
            </a:r>
          </a:p>
          <a:p xmlns:a="http://schemas.openxmlformats.org/drawingml/2006/main">
            <a:pPr>
              <a:buNone/>
              <a:defRPr sz="1000">
                <a:solidFill>
                  <a:srgbClr val="19233A"/>
                </a:solidFill>
                <a:latin typeface="Aptos"/>
                <a:ea typeface="Aptos"/>
                <a:cs typeface="Aptos"/>
              </a:defRPr>
            </a:pPr>
            <a:r>
              <a:t>프로필 Φ 선택</a:t>
            </a:r>
          </a:p>
        </p:txBody>
      </p:sp>
      <p:sp>
        <p:nvSpPr>
          <p:cNvPr id="10" name="Rounded Rectangle 9">
            <a:extLst xmlns:a="http://schemas.openxmlformats.org/drawingml/2006/main">
              <a:ext uri="{FF2B5EF4-FFF2-40B4-BE49-F238E27FC236}">
                <a16:creationId xmlns:a16="http://schemas.microsoft.com/office/drawing/2014/main" id="{7BF4FF16-1F5A-4437-AA28-C5E1FC4CD127}"/>
              </a:ext>
            </a:extLst>
          </p:cNvPr>
          <p:cNvSpPr>
            <a:spLocks xmlns:a="http://schemas.openxmlformats.org/drawingml/2006/main" noGrp="1"/>
          </p:cNvSpPr>
          <p:nvPr/>
        </p:nvSpPr>
        <p:spPr>
          <a:xfrm xmlns:a="http://schemas.openxmlformats.org/drawingml/2006/main">
            <a:off x="9555480" y="1417320"/>
            <a:ext cx="2057400" cy="777240"/>
          </a:xfrm>
          <a:prstGeom xmlns:a="http://schemas.openxmlformats.org/drawingml/2006/main" prst="roundRect">
            <a:avLst/>
          </a:prstGeom>
          <a:solidFill xmlns:a="http://schemas.openxmlformats.org/drawingml/2006/main">
            <a:srgbClr val="FAF0DC"/>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Agent B</a:t>
            </a:r>
          </a:p>
          <a:p xmlns:a="http://schemas.openxmlformats.org/drawingml/2006/main">
            <a:pPr>
              <a:buNone/>
              <a:defRPr sz="1000">
                <a:solidFill>
                  <a:srgbClr val="19233A"/>
                </a:solidFill>
                <a:latin typeface="Aptos"/>
                <a:ea typeface="Aptos"/>
                <a:cs typeface="Aptos"/>
              </a:defRPr>
            </a:pPr>
            <a:r>
              <a:t>검색 · 그라운딩</a:t>
            </a:r>
          </a:p>
        </p:txBody>
      </p:sp>
      <p:sp>
        <p:nvSpPr>
          <p:cNvPr id="11" name="Connector 10">
            <a:extLst xmlns:a="http://schemas.openxmlformats.org/drawingml/2006/main">
              <a:ext uri="{FF2B5EF4-FFF2-40B4-BE49-F238E27FC236}">
                <a16:creationId xmlns:a16="http://schemas.microsoft.com/office/drawing/2014/main" id="{D376133A-0D4B-4D09-8EDC-40E5C1C19ABE}"/>
              </a:ext>
            </a:extLst>
          </p:cNvPr>
          <p:cNvSpPr>
            <a:spLocks xmlns:a="http://schemas.openxmlformats.org/drawingml/2006/main" noGrp="1"/>
          </p:cNvSpPr>
          <p:nvPr/>
        </p:nvSpPr>
        <p:spPr>
          <a:xfrm xmlns:a="http://schemas.openxmlformats.org/drawingml/2006/main">
            <a:off x="2331720" y="1810512"/>
            <a:ext cx="274320" cy="0"/>
          </a:xfrm>
          <a:prstGeom xmlns:a="http://schemas.openxmlformats.org/drawingml/2006/main" prst="line">
            <a:avLst/>
          </a:prstGeom>
          <a:ln xmlns:a="http://schemas.openxmlformats.org/drawingml/2006/main" w="25400">
            <a:solidFill>
              <a:srgbClr val="217D8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028C52-FDD6-4F50-8140-D5CE7B5A3FA0}"/>
              </a:ext>
            </a:extLst>
          </p:cNvPr>
          <p:cNvSpPr>
            <a:spLocks xmlns:a="http://schemas.openxmlformats.org/drawingml/2006/main" noGrp="1"/>
          </p:cNvSpPr>
          <p:nvPr/>
        </p:nvSpPr>
        <p:spPr>
          <a:xfrm xmlns:a="http://schemas.openxmlformats.org/drawingml/2006/main">
            <a:off x="4526280" y="1810512"/>
            <a:ext cx="274320" cy="0"/>
          </a:xfrm>
          <a:prstGeom xmlns:a="http://schemas.openxmlformats.org/drawingml/2006/main" prst="line">
            <a:avLst/>
          </a:prstGeom>
          <a:ln xmlns:a="http://schemas.openxmlformats.org/drawingml/2006/main" w="25400">
            <a:solidFill>
              <a:srgbClr val="217D8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B436DE29-4A42-400A-8DEB-060E6F8FE422}"/>
              </a:ext>
            </a:extLst>
          </p:cNvPr>
          <p:cNvSpPr>
            <a:spLocks xmlns:a="http://schemas.openxmlformats.org/drawingml/2006/main" noGrp="1"/>
          </p:cNvSpPr>
          <p:nvPr/>
        </p:nvSpPr>
        <p:spPr>
          <a:xfrm xmlns:a="http://schemas.openxmlformats.org/drawingml/2006/main">
            <a:off x="7086600" y="1810512"/>
            <a:ext cx="274320" cy="0"/>
          </a:xfrm>
          <a:prstGeom xmlns:a="http://schemas.openxmlformats.org/drawingml/2006/main" prst="line">
            <a:avLst/>
          </a:prstGeom>
          <a:ln xmlns:a="http://schemas.openxmlformats.org/drawingml/2006/main" w="25400">
            <a:solidFill>
              <a:srgbClr val="217D8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31A9F80B-F101-44B0-BC9D-EB3E1B53F0F4}"/>
              </a:ext>
            </a:extLst>
          </p:cNvPr>
          <p:cNvSpPr>
            <a:spLocks xmlns:a="http://schemas.openxmlformats.org/drawingml/2006/main" noGrp="1"/>
          </p:cNvSpPr>
          <p:nvPr/>
        </p:nvSpPr>
        <p:spPr>
          <a:xfrm xmlns:a="http://schemas.openxmlformats.org/drawingml/2006/main">
            <a:off x="9281160" y="1810512"/>
            <a:ext cx="274320" cy="0"/>
          </a:xfrm>
          <a:prstGeom xmlns:a="http://schemas.openxmlformats.org/drawingml/2006/main" prst="line">
            <a:avLst/>
          </a:prstGeom>
          <a:ln xmlns:a="http://schemas.openxmlformats.org/drawingml/2006/main" w="25400">
            <a:solidFill>
              <a:srgbClr val="217D8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Rounded Rectangle 14">
            <a:extLst xmlns:a="http://schemas.openxmlformats.org/drawingml/2006/main">
              <a:ext uri="{FF2B5EF4-FFF2-40B4-BE49-F238E27FC236}">
                <a16:creationId xmlns:a16="http://schemas.microsoft.com/office/drawing/2014/main" id="{F3E14D07-F299-4783-BCB9-1F26794170DD}"/>
              </a:ext>
            </a:extLst>
          </p:cNvPr>
          <p:cNvSpPr>
            <a:spLocks xmlns:a="http://schemas.openxmlformats.org/drawingml/2006/main" noGrp="1"/>
          </p:cNvSpPr>
          <p:nvPr/>
        </p:nvSpPr>
        <p:spPr>
          <a:xfrm xmlns:a="http://schemas.openxmlformats.org/drawingml/2006/main">
            <a:off x="7589520" y="2743200"/>
            <a:ext cx="3291840" cy="777240"/>
          </a:xfrm>
          <a:prstGeom xmlns:a="http://schemas.openxmlformats.org/drawingml/2006/main" prst="roundRect">
            <a:avLst/>
          </a:prstGeom>
          <a:solidFill xmlns:a="http://schemas.openxmlformats.org/drawingml/2006/main">
            <a:srgbClr val="FAF0DC"/>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동결 전시 스냅샷</a:t>
            </a:r>
          </a:p>
          <a:p xmlns:a="http://schemas.openxmlformats.org/drawingml/2006/main">
            <a:pPr>
              <a:buNone/>
              <a:defRPr sz="1000">
                <a:solidFill>
                  <a:srgbClr val="19233A"/>
                </a:solidFill>
                <a:latin typeface="Aptos"/>
                <a:ea typeface="Aptos"/>
                <a:cs typeface="Aptos"/>
              </a:defRPr>
            </a:pPr>
            <a:r>
              <a:t>확인된 필드만 응답에 허용</a:t>
            </a:r>
          </a:p>
        </p:txBody>
      </p:sp>
      <p:sp>
        <p:nvSpPr>
          <p:cNvPr id="16" name="Connector 15">
            <a:extLst xmlns:a="http://schemas.openxmlformats.org/drawingml/2006/main">
              <a:ext uri="{FF2B5EF4-FFF2-40B4-BE49-F238E27FC236}">
                <a16:creationId xmlns:a16="http://schemas.microsoft.com/office/drawing/2014/main" id="{1C16DE9E-C241-46E2-AB20-BEB6AE7F4AC5}"/>
              </a:ext>
            </a:extLst>
          </p:cNvPr>
          <p:cNvSpPr>
            <a:spLocks xmlns:a="http://schemas.openxmlformats.org/drawingml/2006/main" noGrp="1"/>
          </p:cNvSpPr>
          <p:nvPr/>
        </p:nvSpPr>
        <p:spPr>
          <a:xfrm xmlns:a="http://schemas.openxmlformats.org/drawingml/2006/main" flipH="1">
            <a:off x="9326880" y="2194560"/>
            <a:ext cx="1234440" cy="548640"/>
          </a:xfrm>
          <a:prstGeom xmlns:a="http://schemas.openxmlformats.org/drawingml/2006/main" prst="line">
            <a:avLst/>
          </a:prstGeom>
          <a:ln xmlns:a="http://schemas.openxmlformats.org/drawingml/2006/main" w="25400">
            <a:solidFill>
              <a:srgbClr val="E0AF4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Rounded Rectangle 16">
            <a:extLst xmlns:a="http://schemas.openxmlformats.org/drawingml/2006/main">
              <a:ext uri="{FF2B5EF4-FFF2-40B4-BE49-F238E27FC236}">
                <a16:creationId xmlns:a16="http://schemas.microsoft.com/office/drawing/2014/main" id="{7C66BACC-35AB-4500-8469-71899C3E8797}"/>
              </a:ext>
            </a:extLst>
          </p:cNvPr>
          <p:cNvSpPr>
            <a:spLocks xmlns:a="http://schemas.openxmlformats.org/drawingml/2006/main" noGrp="1"/>
          </p:cNvSpPr>
          <p:nvPr/>
        </p:nvSpPr>
        <p:spPr>
          <a:xfrm xmlns:a="http://schemas.openxmlformats.org/drawingml/2006/main">
            <a:off x="3749039" y="2743200"/>
            <a:ext cx="3108960" cy="777240"/>
          </a:xfrm>
          <a:prstGeom xmlns:a="http://schemas.openxmlformats.org/drawingml/2006/main" prst="roundRect">
            <a:avLst/>
          </a:prstGeom>
          <a:solidFill xmlns:a="http://schemas.openxmlformats.org/drawingml/2006/main">
            <a:srgbClr val="F2F5F8"/>
          </a:solidFill>
          <a:ln xmlns:a="http://schemas.openxmlformats.org/drawingml/2006/main">
            <a:solidFill>
              <a:srgbClr val="DAE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09728" tIns="91440" rIns="109728" anchor="ctr"/>
          <a:lstStyle xmlns:a="http://schemas.openxmlformats.org/drawingml/2006/main"/>
          <a:p xmlns:a="http://schemas.openxmlformats.org/drawingml/2006/main">
            <a:pPr algn="ctr">
              <a:buNone/>
              <a:defRPr sz="1400" b="1">
                <a:solidFill>
                  <a:srgbClr val="19233A"/>
                </a:solidFill>
                <a:latin typeface="Aptos"/>
                <a:ea typeface="Aptos"/>
                <a:cs typeface="Aptos"/>
              </a:defRPr>
            </a:pPr>
            <a:r>
              <a:t>감사 로그</a:t>
            </a:r>
          </a:p>
          <a:p xmlns:a="http://schemas.openxmlformats.org/drawingml/2006/main">
            <a:pPr>
              <a:buNone/>
              <a:defRPr sz="1000">
                <a:solidFill>
                  <a:srgbClr val="19233A"/>
                </a:solidFill>
                <a:latin typeface="Aptos"/>
                <a:ea typeface="Aptos"/>
                <a:cs typeface="Aptos"/>
              </a:defRPr>
            </a:pPr>
            <a:r>
              <a:t>라우팅·검색·제거 문장·오류 분류</a:t>
            </a:r>
          </a:p>
        </p:txBody>
      </p:sp>
      <p:sp>
        <p:nvSpPr>
          <p:cNvPr id="18" name="Connector 17">
            <a:extLst xmlns:a="http://schemas.openxmlformats.org/drawingml/2006/main">
              <a:ext uri="{FF2B5EF4-FFF2-40B4-BE49-F238E27FC236}">
                <a16:creationId xmlns:a16="http://schemas.microsoft.com/office/drawing/2014/main" id="{69DB48F6-AAB5-44F1-BADF-A30528226549}"/>
              </a:ext>
            </a:extLst>
          </p:cNvPr>
          <p:cNvSpPr>
            <a:spLocks xmlns:a="http://schemas.openxmlformats.org/drawingml/2006/main" noGrp="1"/>
          </p:cNvSpPr>
          <p:nvPr/>
        </p:nvSpPr>
        <p:spPr>
          <a:xfrm xmlns:a="http://schemas.openxmlformats.org/drawingml/2006/main" flipH="1">
            <a:off x="5303520" y="2194560"/>
            <a:ext cx="640080" cy="548640"/>
          </a:xfrm>
          <a:prstGeom xmlns:a="http://schemas.openxmlformats.org/drawingml/2006/main" prst="line">
            <a:avLst/>
          </a:prstGeom>
          <a:ln xmlns:a="http://schemas.openxmlformats.org/drawingml/2006/main" w="25400">
            <a:solidFill>
              <a:srgbClr val="217D8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TextBox 18">
            <a:extLst xmlns:a="http://schemas.openxmlformats.org/drawingml/2006/main">
              <a:ext uri="{FF2B5EF4-FFF2-40B4-BE49-F238E27FC236}">
                <a16:creationId xmlns:a16="http://schemas.microsoft.com/office/drawing/2014/main" id="{06D3823E-9BD9-4EF7-97D5-2174C3456612}"/>
              </a:ext>
            </a:extLst>
          </p:cNvPr>
          <p:cNvSpPr>
            <a:spLocks xmlns:a="http://schemas.openxmlformats.org/drawingml/2006/main" noGrp="1"/>
          </p:cNvSpPr>
          <p:nvPr/>
        </p:nvSpPr>
        <p:spPr>
          <a:xfrm xmlns:a="http://schemas.openxmlformats.org/drawingml/2006/main">
            <a:off x="731520" y="3886200"/>
            <a:ext cx="1069848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1">
                <a:solidFill>
                  <a:srgbClr val="AD3F3F"/>
                </a:solidFill>
                <a:latin typeface="Aptos"/>
                <a:ea typeface="Aptos"/>
                <a:cs typeface="Aptos"/>
              </a:defRPr>
            </a:pPr>
            <a:r>
              <a:t>설계 명세도 — 실제 통합 동작·장애 복구·부하 성능은 테스트 증거로 별도 입증 필요</a:t>
            </a:r>
          </a:p>
        </p:txBody>
      </p:sp>
      <p:sp>
        <p:nvSpPr>
          <p:cNvPr id="20" name="TextBox 19">
            <a:extLst xmlns:a="http://schemas.openxmlformats.org/drawingml/2006/main">
              <a:ext uri="{FF2B5EF4-FFF2-40B4-BE49-F238E27FC236}">
                <a16:creationId xmlns:a16="http://schemas.microsoft.com/office/drawing/2014/main" id="{82D49000-FAAA-412B-A8D6-DF3E52AAC5A4}"/>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1:30   |   심사 연계: 기술적 완성도 25점</a:t>
            </a:r>
          </a:p>
        </p:txBody>
      </p:sp>
    </p:spTree>
    <p:extLst>
      <p:ext uri="{BB962C8B-B14F-4D97-AF65-F5344CB8AC3E}">
        <p14:creationId xmlns:p14="http://schemas.microsoft.com/office/powerpoint/2010/main" val="301628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23BB6A7-5874-4076-B8F7-29AFEF2915CF}"/>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Agent A: 계층형 취향 메모리</a:t>
            </a:r>
          </a:p>
        </p:txBody>
      </p:sp>
      <p:sp>
        <p:nvSpPr>
          <p:cNvPr id="3" name="TextBox 2">
            <a:extLst xmlns:a="http://schemas.openxmlformats.org/drawingml/2006/main">
              <a:ext uri="{FF2B5EF4-FFF2-40B4-BE49-F238E27FC236}">
                <a16:creationId xmlns:a16="http://schemas.microsoft.com/office/drawing/2014/main" id="{CDF1A290-22E5-4428-84A0-DCAE22C66488}"/>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Session Node → Taste Cluster → Context Router</a:t>
            </a:r>
          </a:p>
        </p:txBody>
      </p:sp>
      <p:sp>
        <p:nvSpPr>
          <p:cNvPr id="4" name="Rectangle 3">
            <a:extLst xmlns:a="http://schemas.openxmlformats.org/drawingml/2006/main">
              <a:ext uri="{FF2B5EF4-FFF2-40B4-BE49-F238E27FC236}">
                <a16:creationId xmlns:a16="http://schemas.microsoft.com/office/drawing/2014/main" id="{B8AD78AB-1308-40DC-A9EB-A74F9792C5C9}"/>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6887C7B-8378-4362-8F94-E29E99FE7A5D}"/>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05</a:t>
            </a:r>
          </a:p>
        </p:txBody>
      </p:sp>
      <p:sp>
        <p:nvSpPr>
          <p:cNvPr id="6" name="TextBox 5">
            <a:extLst xmlns:a="http://schemas.openxmlformats.org/drawingml/2006/main">
              <a:ext uri="{FF2B5EF4-FFF2-40B4-BE49-F238E27FC236}">
                <a16:creationId xmlns:a16="http://schemas.microsoft.com/office/drawing/2014/main" id="{A1F71888-A843-4F15-BBB3-A2BACE58A787}"/>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감각어-조형어 사전 v1: 200항목으로 명세됨</a:t>
            </a:r>
          </a:p>
          <a:p xmlns:a="http://schemas.openxmlformats.org/drawingml/2006/main">
            <a:pPr>
              <a:spcAft>
                <a:spcPts val="1400"/>
              </a:spcAft>
              <a:buNone/>
              <a:defRPr sz="1600">
                <a:solidFill>
                  <a:srgbClr val="19233A"/>
                </a:solidFill>
                <a:latin typeface="Aptos"/>
                <a:ea typeface="Aptos"/>
                <a:cs typeface="Aptos"/>
              </a:defRPr>
            </a:pPr>
            <a:r>
              <a:t>• MERGE: 유사도 임계값 이상이면 기존 클러스터에 통합</a:t>
            </a:r>
          </a:p>
          <a:p xmlns:a="http://schemas.openxmlformats.org/drawingml/2006/main">
            <a:pPr>
              <a:spcAft>
                <a:spcPts val="1400"/>
              </a:spcAft>
              <a:buNone/>
              <a:defRPr sz="1600">
                <a:solidFill>
                  <a:srgbClr val="19233A"/>
                </a:solidFill>
                <a:latin typeface="Aptos"/>
                <a:ea typeface="Aptos"/>
                <a:cs typeface="Aptos"/>
              </a:defRPr>
            </a:pPr>
            <a:r>
              <a:t>• GENESIS: 새 관찰은 tentative 클러스터로 시작</a:t>
            </a:r>
          </a:p>
          <a:p xmlns:a="http://schemas.openxmlformats.org/drawingml/2006/main">
            <a:pPr>
              <a:spcAft>
                <a:spcPts val="1400"/>
              </a:spcAft>
              <a:buNone/>
              <a:defRPr sz="1600">
                <a:solidFill>
                  <a:srgbClr val="19233A"/>
                </a:solidFill>
                <a:latin typeface="Aptos"/>
                <a:ea typeface="Aptos"/>
                <a:cs typeface="Aptos"/>
              </a:defRPr>
            </a:pPr>
            <a:r>
              <a:t>• SUPPRESS: 명시적 거부·부정 선호를 삭제와 구분해 억제 상태로 기록</a:t>
            </a:r>
          </a:p>
          <a:p xmlns:a="http://schemas.openxmlformats.org/drawingml/2006/main">
            <a:pPr>
              <a:spcAft>
                <a:spcPts val="1400"/>
              </a:spcAft>
              <a:buNone/>
              <a:defRPr sz="1600">
                <a:solidFill>
                  <a:srgbClr val="19233A"/>
                </a:solidFill>
                <a:latin typeface="Aptos"/>
                <a:ea typeface="Aptos"/>
                <a:cs typeface="Aptos"/>
              </a:defRPr>
            </a:pPr>
            <a:r>
              <a:t>• 클러스터 승격·임계값은 평가 전 확정 및 민감도 분석 필요</a:t>
            </a:r>
          </a:p>
        </p:txBody>
      </p:sp>
      <p:sp>
        <p:nvSpPr>
          <p:cNvPr id="7" name="TextBox 6">
            <a:extLst xmlns:a="http://schemas.openxmlformats.org/drawingml/2006/main">
              <a:ext uri="{FF2B5EF4-FFF2-40B4-BE49-F238E27FC236}">
                <a16:creationId xmlns:a16="http://schemas.microsoft.com/office/drawing/2014/main" id="{0C97C0A2-8F1E-4119-BFBE-84234F33B0D7}"/>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1:15   |   심사 연계: 기술적 완성도 25점 · 혁신성 20점</a:t>
            </a:r>
          </a:p>
        </p:txBody>
      </p:sp>
    </p:spTree>
    <p:extLst>
      <p:ext uri="{BB962C8B-B14F-4D97-AF65-F5344CB8AC3E}">
        <p14:creationId xmlns:p14="http://schemas.microsoft.com/office/powerpoint/2010/main" val="7069710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3BEF83-7877-4D00-8DED-526FEABA68D5}"/>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Agent B: 검색과 그라운딩</a:t>
            </a:r>
          </a:p>
        </p:txBody>
      </p:sp>
      <p:sp>
        <p:nvSpPr>
          <p:cNvPr id="3" name="TextBox 2">
            <a:extLst xmlns:a="http://schemas.openxmlformats.org/drawingml/2006/main">
              <a:ext uri="{FF2B5EF4-FFF2-40B4-BE49-F238E27FC236}">
                <a16:creationId xmlns:a16="http://schemas.microsoft.com/office/drawing/2014/main" id="{0719DCED-2FAD-4D64-8FA8-8356FDC0EFE4}"/>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검색 후보의 관련성과 방문정보의 사실성을 분리</a:t>
            </a:r>
          </a:p>
        </p:txBody>
      </p:sp>
      <p:sp>
        <p:nvSpPr>
          <p:cNvPr id="4" name="Rectangle 3">
            <a:extLst xmlns:a="http://schemas.openxmlformats.org/drawingml/2006/main">
              <a:ext uri="{FF2B5EF4-FFF2-40B4-BE49-F238E27FC236}">
                <a16:creationId xmlns:a16="http://schemas.microsoft.com/office/drawing/2014/main" id="{9389D84B-E98F-4F92-8A6C-FDF012149B78}"/>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B6072AC-3E07-422F-B240-E709E7775B91}"/>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06</a:t>
            </a:r>
          </a:p>
        </p:txBody>
      </p:sp>
      <p:sp>
        <p:nvSpPr>
          <p:cNvPr id="6" name="TextBox 5">
            <a:extLst xmlns:a="http://schemas.openxmlformats.org/drawingml/2006/main">
              <a:ext uri="{FF2B5EF4-FFF2-40B4-BE49-F238E27FC236}">
                <a16:creationId xmlns:a16="http://schemas.microsoft.com/office/drawing/2014/main" id="{D03A5F1C-6DFE-46A1-A605-D4ED4265DFE4}"/>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Dense 검색: FAISS 임베딩 인덱스 T</a:t>
            </a:r>
          </a:p>
          <a:p xmlns:a="http://schemas.openxmlformats.org/drawingml/2006/main">
            <a:pPr>
              <a:spcAft>
                <a:spcPts val="1400"/>
              </a:spcAft>
              <a:buNone/>
              <a:defRPr sz="1600">
                <a:solidFill>
                  <a:srgbClr val="19233A"/>
                </a:solidFill>
                <a:latin typeface="Aptos"/>
                <a:ea typeface="Aptos"/>
                <a:cs typeface="Aptos"/>
              </a:defRPr>
            </a:pPr>
            <a:r>
              <a:t>• Sparse 검색: BM25 형태소 인덱스 L</a:t>
            </a:r>
          </a:p>
          <a:p xmlns:a="http://schemas.openxmlformats.org/drawingml/2006/main">
            <a:pPr>
              <a:spcAft>
                <a:spcPts val="1400"/>
              </a:spcAft>
              <a:buNone/>
              <a:defRPr sz="1600">
                <a:solidFill>
                  <a:srgbClr val="19233A"/>
                </a:solidFill>
                <a:latin typeface="Aptos"/>
                <a:ea typeface="Aptos"/>
                <a:cs typeface="Aptos"/>
              </a:defRPr>
            </a:pPr>
            <a:r>
              <a:t>• RRF 융합: κ=60으로 명세</a:t>
            </a:r>
          </a:p>
          <a:p xmlns:a="http://schemas.openxmlformats.org/drawingml/2006/main">
            <a:pPr>
              <a:spcAft>
                <a:spcPts val="1400"/>
              </a:spcAft>
              <a:buNone/>
              <a:defRPr sz="1600">
                <a:solidFill>
                  <a:srgbClr val="19233A"/>
                </a:solidFill>
                <a:latin typeface="Aptos"/>
                <a:ea typeface="Aptos"/>
                <a:cs typeface="Aptos"/>
              </a:defRPr>
            </a:pPr>
            <a:r>
              <a:t>• 전시 스냅샷에서 검증된 필드만 슬롯 템플릿에 삽입</a:t>
            </a:r>
          </a:p>
          <a:p xmlns:a="http://schemas.openxmlformats.org/drawingml/2006/main">
            <a:pPr>
              <a:spcAft>
                <a:spcPts val="1400"/>
              </a:spcAft>
              <a:buNone/>
              <a:defRPr sz="1600">
                <a:solidFill>
                  <a:srgbClr val="19233A"/>
                </a:solidFill>
                <a:latin typeface="Aptos"/>
                <a:ea typeface="Aptos"/>
                <a:cs typeface="Aptos"/>
              </a:defRPr>
            </a:pPr>
            <a:r>
              <a:t>• API 스냅샷 기준일·체크섬·필드 커버리지는 배포 전 확인</a:t>
            </a:r>
          </a:p>
        </p:txBody>
      </p:sp>
      <p:sp>
        <p:nvSpPr>
          <p:cNvPr id="7" name="TextBox 6">
            <a:extLst xmlns:a="http://schemas.openxmlformats.org/drawingml/2006/main">
              <a:ext uri="{FF2B5EF4-FFF2-40B4-BE49-F238E27FC236}">
                <a16:creationId xmlns:a16="http://schemas.microsoft.com/office/drawing/2014/main" id="{68E68AE6-6A04-4CB9-B7C1-EC3D397202D8}"/>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1:15   |   심사 연계: 기술적 완성도 25점</a:t>
            </a:r>
          </a:p>
        </p:txBody>
      </p:sp>
    </p:spTree>
    <p:extLst>
      <p:ext uri="{BB962C8B-B14F-4D97-AF65-F5344CB8AC3E}">
        <p14:creationId xmlns:p14="http://schemas.microsoft.com/office/powerpoint/2010/main" val="17033373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59EE593-7659-4C15-9923-23E2FCFB9A01}"/>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통제 비교 평가 설계</a:t>
            </a:r>
          </a:p>
        </p:txBody>
      </p:sp>
      <p:sp>
        <p:nvSpPr>
          <p:cNvPr id="3" name="TextBox 2">
            <a:extLst xmlns:a="http://schemas.openxmlformats.org/drawingml/2006/main">
              <a:ext uri="{FF2B5EF4-FFF2-40B4-BE49-F238E27FC236}">
                <a16:creationId xmlns:a16="http://schemas.microsoft.com/office/drawing/2014/main" id="{36D8AB81-6805-4CEE-94C5-456877652607}"/>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메모리 구조 외의 변수를 고정해 귀속 가능성을 높인다</a:t>
            </a:r>
          </a:p>
        </p:txBody>
      </p:sp>
      <p:sp>
        <p:nvSpPr>
          <p:cNvPr id="4" name="Rectangle 3">
            <a:extLst xmlns:a="http://schemas.openxmlformats.org/drawingml/2006/main">
              <a:ext uri="{FF2B5EF4-FFF2-40B4-BE49-F238E27FC236}">
                <a16:creationId xmlns:a16="http://schemas.microsoft.com/office/drawing/2014/main" id="{AF9C4159-10E0-49B9-A634-B091542DA46C}"/>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5BEBAC6B-9D21-4479-B3BD-5222D39134AE}"/>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07</a:t>
            </a:r>
          </a:p>
        </p:txBody>
      </p:sp>
      <p:sp>
        <p:nvSpPr>
          <p:cNvPr id="6" name="TextBox 5">
            <a:extLst xmlns:a="http://schemas.openxmlformats.org/drawingml/2006/main">
              <a:ext uri="{FF2B5EF4-FFF2-40B4-BE49-F238E27FC236}">
                <a16:creationId xmlns:a16="http://schemas.microsoft.com/office/drawing/2014/main" id="{B02F6C4B-6AB3-48A3-97FE-3CF69B508DC1}"/>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고정: 검색기·생성기·코퍼스·대화 스크립트</a:t>
            </a:r>
          </a:p>
          <a:p xmlns:a="http://schemas.openxmlformats.org/drawingml/2006/main">
            <a:pPr>
              <a:spcAft>
                <a:spcPts val="1400"/>
              </a:spcAft>
              <a:buNone/>
              <a:defRPr sz="1600">
                <a:solidFill>
                  <a:srgbClr val="19233A"/>
                </a:solidFill>
                <a:latin typeface="Aptos"/>
                <a:ea typeface="Aptos"/>
                <a:cs typeface="Aptos"/>
              </a:defRPr>
            </a:pPr>
            <a:r>
              <a:t>• 변경: 공유 질의 재작성 프롬프트의 메모리 프로필 슬롯 Φ</a:t>
            </a:r>
          </a:p>
          <a:p xmlns:a="http://schemas.openxmlformats.org/drawingml/2006/main">
            <a:pPr>
              <a:spcAft>
                <a:spcPts val="1400"/>
              </a:spcAft>
              <a:buNone/>
              <a:defRPr sz="1600">
                <a:solidFill>
                  <a:srgbClr val="19233A"/>
                </a:solidFill>
                <a:latin typeface="Aptos"/>
                <a:ea typeface="Aptos"/>
                <a:cs typeface="Aptos"/>
              </a:defRPr>
            </a:pPr>
            <a:r>
              <a:t>• B1 무기억 / B2 전체 이력 / B4 구조화 메모리</a:t>
            </a:r>
          </a:p>
          <a:p xmlns:a="http://schemas.openxmlformats.org/drawingml/2006/main">
            <a:pPr>
              <a:spcAft>
                <a:spcPts val="1400"/>
              </a:spcAft>
              <a:buNone/>
              <a:defRPr sz="1600">
                <a:solidFill>
                  <a:srgbClr val="19233A"/>
                </a:solidFill>
                <a:latin typeface="Aptos"/>
                <a:ea typeface="Aptos"/>
                <a:cs typeface="Aptos"/>
              </a:defRPr>
            </a:pPr>
            <a:r>
              <a:t>• 분석 단위: 시뮬레이션 사용자; 사용자 단위 paired bootstrap 10,000회 계획</a:t>
            </a:r>
          </a:p>
          <a:p xmlns:a="http://schemas.openxmlformats.org/drawingml/2006/main">
            <a:pPr>
              <a:spcAft>
                <a:spcPts val="1400"/>
              </a:spcAft>
              <a:buNone/>
              <a:defRPr sz="1600">
                <a:solidFill>
                  <a:srgbClr val="19233A"/>
                </a:solidFill>
                <a:latin typeface="Aptos"/>
                <a:ea typeface="Aptos"/>
                <a:cs typeface="Aptos"/>
              </a:defRPr>
            </a:pPr>
            <a:r>
              <a:t>• 확증 전제: 평가 사용자 ≥20, 사용자 단위 분할, prereg-v1, 재현성 기록 완비</a:t>
            </a:r>
          </a:p>
        </p:txBody>
      </p:sp>
      <p:sp>
        <p:nvSpPr>
          <p:cNvPr id="7" name="TextBox 6">
            <a:extLst xmlns:a="http://schemas.openxmlformats.org/drawingml/2006/main">
              <a:ext uri="{FF2B5EF4-FFF2-40B4-BE49-F238E27FC236}">
                <a16:creationId xmlns:a16="http://schemas.microsoft.com/office/drawing/2014/main" id="{7A37FD19-C09C-41EB-A7A5-B862DE498B0E}"/>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1:20   |   심사 연계: 문제 해결 20점 · 기술적 완성도 25점</a:t>
            </a:r>
          </a:p>
        </p:txBody>
      </p:sp>
    </p:spTree>
    <p:extLst>
      <p:ext uri="{BB962C8B-B14F-4D97-AF65-F5344CB8AC3E}">
        <p14:creationId xmlns:p14="http://schemas.microsoft.com/office/powerpoint/2010/main" val="5605366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E61B61E-F9D0-404C-9734-790AC35A1727}"/>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실험 결과: 측정 전 상태</a:t>
            </a:r>
          </a:p>
        </p:txBody>
      </p:sp>
      <p:sp>
        <p:nvSpPr>
          <p:cNvPr id="3" name="TextBox 2">
            <a:extLst xmlns:a="http://schemas.openxmlformats.org/drawingml/2006/main">
              <a:ext uri="{FF2B5EF4-FFF2-40B4-BE49-F238E27FC236}">
                <a16:creationId xmlns:a16="http://schemas.microsoft.com/office/drawing/2014/main" id="{172B81E0-4C07-4758-A599-5B9026B1F744}"/>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실측 수치가 입력되기 전에는 성과 그래프를 제시하지 않는다</a:t>
            </a:r>
          </a:p>
        </p:txBody>
      </p:sp>
      <p:sp>
        <p:nvSpPr>
          <p:cNvPr id="4" name="Rectangle 3">
            <a:extLst xmlns:a="http://schemas.openxmlformats.org/drawingml/2006/main">
              <a:ext uri="{FF2B5EF4-FFF2-40B4-BE49-F238E27FC236}">
                <a16:creationId xmlns:a16="http://schemas.microsoft.com/office/drawing/2014/main" id="{3AAF1954-37EA-40CB-A7B8-4CAB3B5F1C89}"/>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394582A-F3E6-4D05-A0E2-57919014408E}"/>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08</a:t>
            </a:r>
          </a:p>
        </p:txBody>
      </p:sp>
      <p:sp>
        <p:nvSpPr>
          <p:cNvPr id="6" name="TextBox 5">
            <a:extLst xmlns:a="http://schemas.openxmlformats.org/drawingml/2006/main">
              <a:ext uri="{FF2B5EF4-FFF2-40B4-BE49-F238E27FC236}">
                <a16:creationId xmlns:a16="http://schemas.microsoft.com/office/drawing/2014/main" id="{51D77B20-6B77-4CCB-925E-5F4F62016228}"/>
              </a:ext>
            </a:extLst>
          </p:cNvPr>
          <p:cNvSpPr>
            <a:spLocks xmlns:a="http://schemas.openxmlformats.org/drawingml/2006/main" noGrp="1"/>
          </p:cNvSpPr>
          <p:nvPr/>
        </p:nvSpPr>
        <p:spPr>
          <a:xfrm xmlns:a="http://schemas.openxmlformats.org/drawingml/2006/main">
            <a:off x="685800" y="1463040"/>
            <a:ext cx="1078992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1">
                <a:solidFill>
                  <a:srgbClr val="19233A"/>
                </a:solidFill>
                <a:latin typeface="Aptos"/>
                <a:ea typeface="Aptos"/>
                <a:cs typeface="Aptos"/>
              </a:defRPr>
            </a:pPr>
            <a:r>
              <a:t>결과 보고 표 (현재 원문 표 7의 값은 공란 / TO-MEASURE)</a:t>
            </a:r>
          </a:p>
        </p:txBody>
      </p:sp>
      <p:graphicFrame>
        <p:nvGraphicFramePr>
          <p:cNvPr id="16" name="Table 6"/>
          <p:cNvGraphicFramePr/>
          <p:nvPr/>
        </p:nvGraphicFramePr>
        <p:xfrm>
          <a:off xmlns:a="http://schemas.openxmlformats.org/drawingml/2006/main" x="594360" y="2057400"/>
          <a:ext xmlns:a="http://schemas.openxmlformats.org/drawingml/2006/main" cx="9875520" cy="2240280"/>
        </p:xfrm>
        <a:graphic xmlns:a="http://schemas.openxmlformats.org/drawingml/2006/main">
          <a:graphicData uri="http://schemas.openxmlformats.org/drawingml/2006/table">
            <a:tbl>
              <a:tblPr firstRow="1" bandRow="1">
                <a:tableStyleId>{5C22544A-7EE6-4342-B048-85BDC9FD1C3A}</a:tableStyleId>
              </a:tblPr>
              <a:tblGrid>
                <a:gridCol w="2103120"/>
                <a:gridCol w="1508760"/>
                <a:gridCol w="1325880"/>
                <a:gridCol w="1143000"/>
                <a:gridCol w="1234440"/>
                <a:gridCol w="1143000"/>
                <a:gridCol w="1417320"/>
              </a:tblGrid>
              <a:tr h="448056">
                <a:tc>
                  <a:txBody>
                    <a:bodyPr/>
                    <a:lstStyle/>
                    <a:p>
                      <a:pPr algn="ctr">
                        <a:buNone/>
                      </a:pPr>
                      <a:r>
                        <a:rPr sz="1100" b="1">
                          <a:solidFill>
                            <a:srgbClr val="FFFFFF"/>
                          </a:solidFill>
                          <a:latin typeface="Aptos"/>
                          <a:ea typeface="Aptos"/>
                          <a:cs typeface="Aptos"/>
                        </a:rPr>
                        <a:t>조건</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NDCG@10 ↑</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CR@10 ↓</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Srec</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UCR ↓</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VCC ↑</a:t>
                      </a:r>
                    </a:p>
                  </a:txBody>
                  <a:tcPr marL="91440" marR="91440" marT="45720" marB="45720" anchor="ctr">
                    <a:solidFill>
                      <a:srgbClr val="19233A"/>
                    </a:solidFill>
                  </a:tcPr>
                </a:tc>
                <a:tc>
                  <a:txBody>
                    <a:bodyPr/>
                    <a:lstStyle/>
                    <a:p>
                      <a:pPr algn="ctr">
                        <a:buNone/>
                      </a:pPr>
                      <a:r>
                        <a:rPr sz="1100" b="1">
                          <a:solidFill>
                            <a:srgbClr val="FFFFFF"/>
                          </a:solidFill>
                          <a:latin typeface="Aptos"/>
                          <a:ea typeface="Aptos"/>
                          <a:cs typeface="Aptos"/>
                        </a:rPr>
                        <a:t>상태</a:t>
                      </a:r>
                    </a:p>
                  </a:txBody>
                  <a:tcPr marL="91440" marR="91440" marT="45720" marB="45720" anchor="ctr">
                    <a:solidFill>
                      <a:srgbClr val="19233A"/>
                    </a:solidFill>
                  </a:tcPr>
                </a:tc>
              </a:tr>
              <a:tr h="448056">
                <a:tc>
                  <a:txBody>
                    <a:bodyPr/>
                    <a:lstStyle/>
                    <a:p>
                      <a:pPr algn="ctr">
                        <a:buNone/>
                      </a:pPr>
                      <a:r>
                        <a:rPr sz="1000" b="0">
                          <a:solidFill>
                            <a:srgbClr val="19233A"/>
                          </a:solidFill>
                          <a:latin typeface="Aptos"/>
                          <a:ea typeface="Aptos"/>
                          <a:cs typeface="Aptos"/>
                        </a:rPr>
                        <a:t>B1 무기억</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미측정</a:t>
                      </a:r>
                    </a:p>
                  </a:txBody>
                  <a:tcPr marL="91440" marR="91440" marT="45720" marB="45720" anchor="ctr">
                    <a:solidFill>
                      <a:srgbClr val="F2F5F8"/>
                    </a:solidFill>
                  </a:tcPr>
                </a:tc>
              </a:tr>
              <a:tr h="448056">
                <a:tc>
                  <a:txBody>
                    <a:bodyPr/>
                    <a:lstStyle/>
                    <a:p>
                      <a:pPr algn="ctr">
                        <a:buNone/>
                      </a:pPr>
                      <a:r>
                        <a:rPr sz="1000" b="0">
                          <a:solidFill>
                            <a:srgbClr val="19233A"/>
                          </a:solidFill>
                          <a:latin typeface="Aptos"/>
                          <a:ea typeface="Aptos"/>
                          <a:cs typeface="Aptos"/>
                        </a:rPr>
                        <a:t>B2 전체 이력</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미측정</a:t>
                      </a:r>
                    </a:p>
                  </a:txBody>
                  <a:tcPr marL="91440" marR="91440" marT="45720" marB="45720" anchor="ctr">
                    <a:solidFill>
                      <a:srgbClr val="FFFFFF"/>
                    </a:solidFill>
                  </a:tcPr>
                </a:tc>
              </a:tr>
              <a:tr h="448056">
                <a:tc>
                  <a:txBody>
                    <a:bodyPr/>
                    <a:lstStyle/>
                    <a:p>
                      <a:pPr algn="ctr">
                        <a:buNone/>
                      </a:pPr>
                      <a:r>
                        <a:rPr sz="1000" b="0">
                          <a:solidFill>
                            <a:srgbClr val="19233A"/>
                          </a:solidFill>
                          <a:latin typeface="Aptos"/>
                          <a:ea typeface="Aptos"/>
                          <a:cs typeface="Aptos"/>
                        </a:rPr>
                        <a:t>B4 구조화 메모리</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2F5F8"/>
                    </a:solidFill>
                  </a:tcPr>
                </a:tc>
                <a:tc>
                  <a:txBody>
                    <a:bodyPr/>
                    <a:lstStyle/>
                    <a:p>
                      <a:pPr algn="ctr">
                        <a:buNone/>
                      </a:pPr>
                      <a:r>
                        <a:rPr sz="1000" b="0">
                          <a:solidFill>
                            <a:srgbClr val="19233A"/>
                          </a:solidFill>
                          <a:latin typeface="Aptos"/>
                          <a:ea typeface="Aptos"/>
                          <a:cs typeface="Aptos"/>
                        </a:rPr>
                        <a:t>미측정</a:t>
                      </a:r>
                    </a:p>
                  </a:txBody>
                  <a:tcPr marL="91440" marR="91440" marT="45720" marB="45720" anchor="ctr">
                    <a:solidFill>
                      <a:srgbClr val="F2F5F8"/>
                    </a:solidFill>
                  </a:tcPr>
                </a:tc>
              </a:tr>
              <a:tr h="448056">
                <a:tc>
                  <a:txBody>
                    <a:bodyPr/>
                    <a:lstStyle/>
                    <a:p>
                      <a:pPr algn="ctr">
                        <a:buNone/>
                      </a:pPr>
                      <a:r>
                        <a:rPr sz="1000" b="0">
                          <a:solidFill>
                            <a:srgbClr val="19233A"/>
                          </a:solidFill>
                          <a:latin typeface="Aptos"/>
                          <a:ea typeface="Aptos"/>
                          <a:cs typeface="Aptos"/>
                        </a:rPr>
                        <a:t>B4-U 감사 조건</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=B4</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=B4</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a:t>
                      </a:r>
                    </a:p>
                  </a:txBody>
                  <a:tcPr marL="91440" marR="91440" marT="45720" marB="45720" anchor="ctr">
                    <a:solidFill>
                      <a:srgbClr val="FFFFFF"/>
                    </a:solidFill>
                  </a:tcPr>
                </a:tc>
                <a:tc>
                  <a:txBody>
                    <a:bodyPr/>
                    <a:lstStyle/>
                    <a:p>
                      <a:pPr algn="ctr">
                        <a:buNone/>
                      </a:pPr>
                      <a:r>
                        <a:rPr sz="1000" b="0">
                          <a:solidFill>
                            <a:srgbClr val="19233A"/>
                          </a:solidFill>
                          <a:latin typeface="Aptos"/>
                          <a:ea typeface="Aptos"/>
                          <a:cs typeface="Aptos"/>
                        </a:rPr>
                        <a:t>미측정</a:t>
                      </a:r>
                    </a:p>
                  </a:txBody>
                  <a:tcPr marL="91440" marR="91440" marT="45720" marB="45720" anchor="ctr">
                    <a:solidFill>
                      <a:srgbClr val="FFFFFF"/>
                    </a:solidFill>
                  </a:tcPr>
                </a:tc>
              </a:tr>
            </a:tbl>
          </a:graphicData>
        </a:graphic>
      </p:graphicFrame>
      <p:sp>
        <p:nvSpPr>
          <p:cNvPr id="8" name="TextBox 7">
            <a:extLst xmlns:a="http://schemas.openxmlformats.org/drawingml/2006/main">
              <a:ext uri="{FF2B5EF4-FFF2-40B4-BE49-F238E27FC236}">
                <a16:creationId xmlns:a16="http://schemas.microsoft.com/office/drawing/2014/main" id="{27A81F11-FC82-4895-AAF6-DA67A61A144F}"/>
              </a:ext>
            </a:extLst>
          </p:cNvPr>
          <p:cNvSpPr>
            <a:spLocks xmlns:a="http://schemas.openxmlformats.org/drawingml/2006/main" noGrp="1"/>
          </p:cNvSpPr>
          <p:nvPr/>
        </p:nvSpPr>
        <p:spPr>
          <a:xfrm xmlns:a="http://schemas.openxmlformats.org/drawingml/2006/main">
            <a:off x="731520" y="4617720"/>
            <a:ext cx="10698480" cy="1005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AD3F3F"/>
                </a:solidFill>
                <a:latin typeface="Aptos"/>
                <a:ea typeface="Aptos"/>
                <a:cs typeface="Aptos"/>
              </a:defRPr>
            </a:pPr>
            <a:r>
              <a:t>H1: ΔCR@10 / 95% CI / dz / pHolm — 미측정</a:t>
            </a:r>
          </a:p>
          <a:p xmlns:a="http://schemas.openxmlformats.org/drawingml/2006/main">
            <a:pPr>
              <a:buNone/>
              <a:defRPr sz="1400" b="1">
                <a:solidFill>
                  <a:srgbClr val="AD3F3F"/>
                </a:solidFill>
                <a:latin typeface="Aptos"/>
                <a:ea typeface="Aptos"/>
                <a:cs typeface="Aptos"/>
              </a:defRPr>
            </a:pPr>
            <a:r>
              <a:t>H2: ΔNDCG@10 / 95% CI / dz / pHolm — 미측정</a:t>
            </a:r>
          </a:p>
          <a:p xmlns:a="http://schemas.openxmlformats.org/drawingml/2006/main">
            <a:pPr>
              <a:buNone/>
              <a:defRPr sz="1400" b="1">
                <a:solidFill>
                  <a:srgbClr val="AD3F3F"/>
                </a:solidFill>
                <a:latin typeface="Aptos"/>
                <a:ea typeface="Aptos"/>
                <a:cs typeface="Aptos"/>
              </a:defRPr>
            </a:pPr>
            <a:r>
              <a:t>Guard G: 비열등성 판정 — 미측정</a:t>
            </a:r>
          </a:p>
        </p:txBody>
      </p:sp>
      <p:sp>
        <p:nvSpPr>
          <p:cNvPr id="9" name="TextBox 8">
            <a:extLst xmlns:a="http://schemas.openxmlformats.org/drawingml/2006/main">
              <a:ext uri="{FF2B5EF4-FFF2-40B4-BE49-F238E27FC236}">
                <a16:creationId xmlns:a16="http://schemas.microsoft.com/office/drawing/2014/main" id="{F642A3DA-9DC2-4208-860E-680F00C7A63A}"/>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1:00   |   심사 연계: 문제 해결 20점 · 결과 미측정</a:t>
            </a:r>
          </a:p>
        </p:txBody>
      </p:sp>
    </p:spTree>
    <p:extLst>
      <p:ext uri="{BB962C8B-B14F-4D97-AF65-F5344CB8AC3E}">
        <p14:creationId xmlns:p14="http://schemas.microsoft.com/office/powerpoint/2010/main" val="20345137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FD33E81-DA67-4127-926B-25075526850C}"/>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감사 로그와 실패 처리</a:t>
            </a:r>
          </a:p>
        </p:txBody>
      </p:sp>
      <p:sp>
        <p:nvSpPr>
          <p:cNvPr id="3" name="TextBox 2">
            <a:extLst xmlns:a="http://schemas.openxmlformats.org/drawingml/2006/main">
              <a:ext uri="{FF2B5EF4-FFF2-40B4-BE49-F238E27FC236}">
                <a16:creationId xmlns:a16="http://schemas.microsoft.com/office/drawing/2014/main" id="{5FA4481A-2FA6-4ECA-81D7-11317F68EC95}"/>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성공률뿐 아니라 실패 유형과 제거된 주장도 기록</a:t>
            </a:r>
          </a:p>
        </p:txBody>
      </p:sp>
      <p:sp>
        <p:nvSpPr>
          <p:cNvPr id="4" name="Rectangle 3">
            <a:extLst xmlns:a="http://schemas.openxmlformats.org/drawingml/2006/main">
              <a:ext uri="{FF2B5EF4-FFF2-40B4-BE49-F238E27FC236}">
                <a16:creationId xmlns:a16="http://schemas.microsoft.com/office/drawing/2014/main" id="{95973B71-9AC7-4D46-9AB5-39F4E03CC42C}"/>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E1A8491-0745-454D-A145-584A3401162C}"/>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09</a:t>
            </a:r>
          </a:p>
        </p:txBody>
      </p:sp>
      <p:sp>
        <p:nvSpPr>
          <p:cNvPr id="6" name="TextBox 5">
            <a:extLst xmlns:a="http://schemas.openxmlformats.org/drawingml/2006/main">
              <a:ext uri="{FF2B5EF4-FFF2-40B4-BE49-F238E27FC236}">
                <a16:creationId xmlns:a16="http://schemas.microsoft.com/office/drawing/2014/main" id="{00AF8A60-99F9-4126-970C-95E2F5ED8D9D}"/>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턴별 JSONL: query_id, prompt_hash, router_probs, removed_sentences 등</a:t>
            </a:r>
          </a:p>
          <a:p xmlns:a="http://schemas.openxmlformats.org/drawingml/2006/main">
            <a:pPr>
              <a:spcAft>
                <a:spcPts val="1400"/>
              </a:spcAft>
              <a:buNone/>
              <a:defRPr sz="1600">
                <a:solidFill>
                  <a:srgbClr val="19233A"/>
                </a:solidFill>
                <a:latin typeface="Aptos"/>
                <a:ea typeface="Aptos"/>
                <a:cs typeface="Aptos"/>
              </a:defRPr>
            </a:pPr>
            <a:r>
              <a:t>• 오류 분류: 추출 / 메모리 쓰기 / 라우팅 / 검색 / 그라운딩 / 평가 인공물</a:t>
            </a:r>
          </a:p>
          <a:p xmlns:a="http://schemas.openxmlformats.org/drawingml/2006/main">
            <a:pPr>
              <a:spcAft>
                <a:spcPts val="1400"/>
              </a:spcAft>
              <a:buNone/>
              <a:defRPr sz="1600">
                <a:solidFill>
                  <a:srgbClr val="19233A"/>
                </a:solidFill>
                <a:latin typeface="Aptos"/>
                <a:ea typeface="Aptos"/>
                <a:cs typeface="Aptos"/>
              </a:defRPr>
            </a:pPr>
            <a:r>
              <a:t>• UCR은 미검증 방문 주장률, VCC는 검증 가능한 필드의 주장 포괄률</a:t>
            </a:r>
          </a:p>
          <a:p xmlns:a="http://schemas.openxmlformats.org/drawingml/2006/main">
            <a:pPr>
              <a:spcAft>
                <a:spcPts val="1400"/>
              </a:spcAft>
              <a:buNone/>
              <a:defRPr sz="1600">
                <a:solidFill>
                  <a:srgbClr val="19233A"/>
                </a:solidFill>
                <a:latin typeface="Aptos"/>
                <a:ea typeface="Aptos"/>
                <a:cs typeface="Aptos"/>
              </a:defRPr>
            </a:pPr>
            <a:r>
              <a:t>• UCR=0%는 아직 확인된 실측 성과가 아님</a:t>
            </a:r>
          </a:p>
          <a:p xmlns:a="http://schemas.openxmlformats.org/drawingml/2006/main">
            <a:pPr>
              <a:spcAft>
                <a:spcPts val="1400"/>
              </a:spcAft>
              <a:buNone/>
              <a:defRPr sz="1600">
                <a:solidFill>
                  <a:srgbClr val="19233A"/>
                </a:solidFill>
                <a:latin typeface="Aptos"/>
                <a:ea typeface="Aptos"/>
                <a:cs typeface="Aptos"/>
              </a:defRPr>
            </a:pPr>
            <a:r>
              <a:t>• 개인정보 최소화·보존기간·열람/수정/삭제 정책 필요</a:t>
            </a:r>
          </a:p>
        </p:txBody>
      </p:sp>
      <p:sp>
        <p:nvSpPr>
          <p:cNvPr id="7" name="TextBox 6">
            <a:extLst xmlns:a="http://schemas.openxmlformats.org/drawingml/2006/main">
              <a:ext uri="{FF2B5EF4-FFF2-40B4-BE49-F238E27FC236}">
                <a16:creationId xmlns:a16="http://schemas.microsoft.com/office/drawing/2014/main" id="{A54D69D0-363C-4E43-ABA4-C02BB02495C9}"/>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1:10   |   심사 연계: 기술적 완성도 25점</a:t>
            </a:r>
          </a:p>
        </p:txBody>
      </p:sp>
    </p:spTree>
    <p:extLst>
      <p:ext uri="{BB962C8B-B14F-4D97-AF65-F5344CB8AC3E}">
        <p14:creationId xmlns:p14="http://schemas.microsoft.com/office/powerpoint/2010/main" val="11859254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C9C32F7-6D52-4408-B634-A183819BB84D}"/>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데모와 기술 검증 계획</a:t>
            </a:r>
          </a:p>
        </p:txBody>
      </p:sp>
      <p:sp>
        <p:nvSpPr>
          <p:cNvPr id="3" name="TextBox 2">
            <a:extLst xmlns:a="http://schemas.openxmlformats.org/drawingml/2006/main">
              <a:ext uri="{FF2B5EF4-FFF2-40B4-BE49-F238E27FC236}">
                <a16:creationId xmlns:a16="http://schemas.microsoft.com/office/drawing/2014/main" id="{04622DBE-92E6-4016-B886-625810C37A1F}"/>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실제 동작 증거로 기술적 완성도 평가에 대응</a:t>
            </a:r>
          </a:p>
        </p:txBody>
      </p:sp>
      <p:sp>
        <p:nvSpPr>
          <p:cNvPr id="4" name="Rectangle 3">
            <a:extLst xmlns:a="http://schemas.openxmlformats.org/drawingml/2006/main">
              <a:ext uri="{FF2B5EF4-FFF2-40B4-BE49-F238E27FC236}">
                <a16:creationId xmlns:a16="http://schemas.microsoft.com/office/drawing/2014/main" id="{6AFBDFB4-08C9-4390-9ABD-59CF3E872E63}"/>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61B71E4-7294-45C2-AC21-CA780950872B}"/>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10</a:t>
            </a:r>
          </a:p>
        </p:txBody>
      </p:sp>
      <p:sp>
        <p:nvSpPr>
          <p:cNvPr id="6" name="TextBox 5">
            <a:extLst xmlns:a="http://schemas.openxmlformats.org/drawingml/2006/main">
              <a:ext uri="{FF2B5EF4-FFF2-40B4-BE49-F238E27FC236}">
                <a16:creationId xmlns:a16="http://schemas.microsoft.com/office/drawing/2014/main" id="{CB8EAD66-4BA9-40E5-9923-233D3A02A82F}"/>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데모 시나리오: 혼자 사유형 → 가족 동반형 → 맥락별 추천 비교</a:t>
            </a:r>
          </a:p>
          <a:p xmlns:a="http://schemas.openxmlformats.org/drawingml/2006/main">
            <a:pPr>
              <a:spcAft>
                <a:spcPts val="1400"/>
              </a:spcAft>
              <a:buNone/>
              <a:defRPr sz="1600">
                <a:solidFill>
                  <a:srgbClr val="19233A"/>
                </a:solidFill>
                <a:latin typeface="Aptos"/>
                <a:ea typeface="Aptos"/>
                <a:cs typeface="Aptos"/>
              </a:defRPr>
            </a:pPr>
            <a:r>
              <a:t>• 방문정보는 스냅샷의 확인 필드만 표시</a:t>
            </a:r>
          </a:p>
          <a:p xmlns:a="http://schemas.openxmlformats.org/drawingml/2006/main">
            <a:pPr>
              <a:spcAft>
                <a:spcPts val="1400"/>
              </a:spcAft>
              <a:buNone/>
              <a:defRPr sz="1600">
                <a:solidFill>
                  <a:srgbClr val="19233A"/>
                </a:solidFill>
                <a:latin typeface="Aptos"/>
                <a:ea typeface="Aptos"/>
                <a:cs typeface="Aptos"/>
              </a:defRPr>
            </a:pPr>
            <a:r>
              <a:t>• 필수 증거: 실행 화면, 테스트 로그, 오류 케이스, 응답 지연·비용</a:t>
            </a:r>
          </a:p>
          <a:p xmlns:a="http://schemas.openxmlformats.org/drawingml/2006/main">
            <a:pPr>
              <a:spcAft>
                <a:spcPts val="1400"/>
              </a:spcAft>
              <a:buNone/>
              <a:defRPr sz="1600">
                <a:solidFill>
                  <a:srgbClr val="19233A"/>
                </a:solidFill>
                <a:latin typeface="Aptos"/>
                <a:ea typeface="Aptos"/>
                <a:cs typeface="Aptos"/>
              </a:defRPr>
            </a:pPr>
            <a:r>
              <a:t>• 현재 파일에는 실제 실행 캡처·성능 로그가 포함되지 않음</a:t>
            </a:r>
          </a:p>
          <a:p xmlns:a="http://schemas.openxmlformats.org/drawingml/2006/main">
            <a:pPr>
              <a:spcAft>
                <a:spcPts val="1400"/>
              </a:spcAft>
              <a:buNone/>
              <a:defRPr sz="1600">
                <a:solidFill>
                  <a:srgbClr val="19233A"/>
                </a:solidFill>
                <a:latin typeface="Aptos"/>
                <a:ea typeface="Aptos"/>
                <a:cs typeface="Aptos"/>
              </a:defRPr>
            </a:pPr>
            <a:r>
              <a:t>• 시연 실패 대비: 녹화 영상 + 정적 결과 캡처 준비</a:t>
            </a:r>
          </a:p>
        </p:txBody>
      </p:sp>
      <p:sp>
        <p:nvSpPr>
          <p:cNvPr id="7" name="TextBox 6">
            <a:extLst xmlns:a="http://schemas.openxmlformats.org/drawingml/2006/main">
              <a:ext uri="{FF2B5EF4-FFF2-40B4-BE49-F238E27FC236}">
                <a16:creationId xmlns:a16="http://schemas.microsoft.com/office/drawing/2014/main" id="{6AED25C1-5D06-47CE-AD9A-B93A328E23B6}"/>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1:20   |   심사 연계: 시연 5점 · 기술적 완성도 25점</a:t>
            </a:r>
          </a:p>
        </p:txBody>
      </p:sp>
    </p:spTree>
    <p:extLst>
      <p:ext uri="{BB962C8B-B14F-4D97-AF65-F5344CB8AC3E}">
        <p14:creationId xmlns:p14="http://schemas.microsoft.com/office/powerpoint/2010/main" val="3980173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1E3179C-D8E2-4928-9FD4-B8BF47EE6469}"/>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사업 가치와 한계</a:t>
            </a:r>
          </a:p>
        </p:txBody>
      </p:sp>
      <p:sp>
        <p:nvSpPr>
          <p:cNvPr id="3" name="TextBox 2">
            <a:extLst xmlns:a="http://schemas.openxmlformats.org/drawingml/2006/main">
              <a:ext uri="{FF2B5EF4-FFF2-40B4-BE49-F238E27FC236}">
                <a16:creationId xmlns:a16="http://schemas.microsoft.com/office/drawing/2014/main" id="{E4884898-986E-4546-805B-E729690CA722}"/>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기관 도입 가능성은 가설로 두고 파일럿으로 검증</a:t>
            </a:r>
          </a:p>
        </p:txBody>
      </p:sp>
      <p:sp>
        <p:nvSpPr>
          <p:cNvPr id="4" name="Rectangle 3">
            <a:extLst xmlns:a="http://schemas.openxmlformats.org/drawingml/2006/main">
              <a:ext uri="{FF2B5EF4-FFF2-40B4-BE49-F238E27FC236}">
                <a16:creationId xmlns:a16="http://schemas.microsoft.com/office/drawing/2014/main" id="{D921F7B4-875B-4A1A-9A5E-DC66DDB4F030}"/>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6812674E-59E2-4339-9B4B-B1C0B656A8D6}"/>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11</a:t>
            </a:r>
          </a:p>
        </p:txBody>
      </p:sp>
      <p:sp>
        <p:nvSpPr>
          <p:cNvPr id="6" name="TextBox 5">
            <a:extLst xmlns:a="http://schemas.openxmlformats.org/drawingml/2006/main">
              <a:ext uri="{FF2B5EF4-FFF2-40B4-BE49-F238E27FC236}">
                <a16:creationId xmlns:a16="http://schemas.microsoft.com/office/drawing/2014/main" id="{9B45F0BE-5668-4185-8EC2-24B37751CA6B}"/>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600">
                <a:solidFill>
                  <a:srgbClr val="19233A"/>
                </a:solidFill>
                <a:latin typeface="Aptos"/>
                <a:ea typeface="Aptos"/>
                <a:cs typeface="Aptos"/>
              </a:defRPr>
            </a:pPr>
            <a:r>
              <a:t>• 잠재 적용: 미술관 웹·키오스크·관람 전후 개인 큐레이션</a:t>
            </a:r>
          </a:p>
          <a:p xmlns:a="http://schemas.openxmlformats.org/drawingml/2006/main">
            <a:pPr>
              <a:spcAft>
                <a:spcPts val="1400"/>
              </a:spcAft>
              <a:buNone/>
              <a:defRPr sz="1600">
                <a:solidFill>
                  <a:srgbClr val="19233A"/>
                </a:solidFill>
                <a:latin typeface="Aptos"/>
                <a:ea typeface="Aptos"/>
                <a:cs typeface="Aptos"/>
              </a:defRPr>
            </a:pPr>
            <a:r>
              <a:t>• 차별점: 맥락 분리 기억 + 근거가 추적되는 방문정보</a:t>
            </a:r>
          </a:p>
          <a:p xmlns:a="http://schemas.openxmlformats.org/drawingml/2006/main">
            <a:pPr>
              <a:spcAft>
                <a:spcPts val="1400"/>
              </a:spcAft>
              <a:buNone/>
              <a:defRPr sz="1600">
                <a:solidFill>
                  <a:srgbClr val="19233A"/>
                </a:solidFill>
                <a:latin typeface="Aptos"/>
                <a:ea typeface="Aptos"/>
                <a:cs typeface="Aptos"/>
              </a:defRPr>
            </a:pPr>
            <a:r>
              <a:t>• 필수 검증: 관람객 사용성, 큐레이터 검토, 기관 데이터 연계 비용</a:t>
            </a:r>
          </a:p>
          <a:p xmlns:a="http://schemas.openxmlformats.org/drawingml/2006/main">
            <a:pPr>
              <a:spcAft>
                <a:spcPts val="1400"/>
              </a:spcAft>
              <a:buNone/>
              <a:defRPr sz="1600">
                <a:solidFill>
                  <a:srgbClr val="19233A"/>
                </a:solidFill>
                <a:latin typeface="Aptos"/>
                <a:ea typeface="Aptos"/>
                <a:cs typeface="Aptos"/>
              </a:defRPr>
            </a:pPr>
            <a:r>
              <a:t>• 시장 규모·지불 의사·반복 사용률·운영 비용은 아직 검증 필요</a:t>
            </a:r>
          </a:p>
          <a:p xmlns:a="http://schemas.openxmlformats.org/drawingml/2006/main">
            <a:pPr>
              <a:spcAft>
                <a:spcPts val="1400"/>
              </a:spcAft>
              <a:buNone/>
              <a:defRPr sz="1600">
                <a:solidFill>
                  <a:srgbClr val="19233A"/>
                </a:solidFill>
                <a:latin typeface="Aptos"/>
                <a:ea typeface="Aptos"/>
                <a:cs typeface="Aptos"/>
              </a:defRPr>
            </a:pPr>
            <a:r>
              <a:t>• 한계: 시뮬레이션 평가, 단일 코퍼스/API 스냅샷, 평가자 편향 가능성</a:t>
            </a:r>
          </a:p>
        </p:txBody>
      </p:sp>
      <p:sp>
        <p:nvSpPr>
          <p:cNvPr id="7" name="TextBox 6">
            <a:extLst xmlns:a="http://schemas.openxmlformats.org/drawingml/2006/main">
              <a:ext uri="{FF2B5EF4-FFF2-40B4-BE49-F238E27FC236}">
                <a16:creationId xmlns:a16="http://schemas.microsoft.com/office/drawing/2014/main" id="{E0EBEC02-34B3-4F0C-A096-1C8A4BC6103A}"/>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1:10   |   심사 연계: 비즈니스 가치 20점</a:t>
            </a:r>
          </a:p>
        </p:txBody>
      </p:sp>
    </p:spTree>
    <p:extLst>
      <p:ext uri="{BB962C8B-B14F-4D97-AF65-F5344CB8AC3E}">
        <p14:creationId xmlns:p14="http://schemas.microsoft.com/office/powerpoint/2010/main" val="9346033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D1BED54-11C6-4A06-AD12-DACABB7FEFED}"/>
              </a:ext>
            </a:extLst>
          </p:cNvPr>
          <p:cNvSpPr>
            <a:spLocks xmlns:a="http://schemas.openxmlformats.org/drawingml/2006/main" noGrp="1"/>
          </p:cNvSpPr>
          <p:nvPr/>
        </p:nvSpPr>
        <p:spPr>
          <a:xfrm xmlns:a="http://schemas.openxmlformats.org/drawingml/2006/main">
            <a:off x="502920" y="256032"/>
            <a:ext cx="11155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500" b="1">
                <a:solidFill>
                  <a:srgbClr val="19233A"/>
                </a:solidFill>
                <a:latin typeface="Aptos"/>
                <a:ea typeface="Aptos"/>
                <a:cs typeface="Aptos"/>
              </a:defRPr>
            </a:pPr>
            <a:r>
              <a:t>결론 및 질의응답</a:t>
            </a:r>
          </a:p>
        </p:txBody>
      </p:sp>
      <p:sp>
        <p:nvSpPr>
          <p:cNvPr id="3" name="TextBox 2">
            <a:extLst xmlns:a="http://schemas.openxmlformats.org/drawingml/2006/main">
              <a:ext uri="{FF2B5EF4-FFF2-40B4-BE49-F238E27FC236}">
                <a16:creationId xmlns:a16="http://schemas.microsoft.com/office/drawing/2014/main" id="{0DC1FD78-68AF-4CFC-8BE4-8BA646585D32}"/>
              </a:ext>
            </a:extLst>
          </p:cNvPr>
          <p:cNvSpPr>
            <a:spLocks xmlns:a="http://schemas.openxmlformats.org/drawingml/2006/main" noGrp="1"/>
          </p:cNvSpPr>
          <p:nvPr/>
        </p:nvSpPr>
        <p:spPr>
          <a:xfrm xmlns:a="http://schemas.openxmlformats.org/drawingml/2006/main">
            <a:off x="530352" y="7498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217D81"/>
                </a:solidFill>
                <a:latin typeface="Aptos"/>
                <a:ea typeface="Aptos"/>
                <a:cs typeface="Aptos"/>
              </a:defRPr>
            </a:pPr>
            <a:r>
              <a:t>설계 기여는 명확히, 실험 성과는 증거 확보 후 주장</a:t>
            </a:r>
          </a:p>
        </p:txBody>
      </p:sp>
      <p:sp>
        <p:nvSpPr>
          <p:cNvPr id="4" name="Rectangle 3">
            <a:extLst xmlns:a="http://schemas.openxmlformats.org/drawingml/2006/main">
              <a:ext uri="{FF2B5EF4-FFF2-40B4-BE49-F238E27FC236}">
                <a16:creationId xmlns:a16="http://schemas.microsoft.com/office/drawing/2014/main" id="{3BB57FD7-68F1-418D-AB93-E95864F3D6D7}"/>
              </a:ext>
            </a:extLst>
          </p:cNvPr>
          <p:cNvSpPr>
            <a:spLocks xmlns:a="http://schemas.openxmlformats.org/drawingml/2006/main" noGrp="1"/>
          </p:cNvSpPr>
          <p:nvPr/>
        </p:nvSpPr>
        <p:spPr>
          <a:xfrm xmlns:a="http://schemas.openxmlformats.org/drawingml/2006/main">
            <a:off x="530352" y="1115568"/>
            <a:ext cx="11109960" cy="32004"/>
          </a:xfrm>
          <a:prstGeom xmlns:a="http://schemas.openxmlformats.org/drawingml/2006/main" prst="rect">
            <a:avLst/>
          </a:prstGeom>
          <a:solidFill xmlns:a="http://schemas.openxmlformats.org/drawingml/2006/main">
            <a:srgbClr val="E0AF4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7BD06F8A-5C0D-4E82-826E-1BBBEC381633}"/>
              </a:ext>
            </a:extLst>
          </p:cNvPr>
          <p:cNvSpPr>
            <a:spLocks xmlns:a="http://schemas.openxmlformats.org/drawingml/2006/main" noGrp="1"/>
          </p:cNvSpPr>
          <p:nvPr/>
        </p:nvSpPr>
        <p:spPr>
          <a:xfrm xmlns:a="http://schemas.openxmlformats.org/drawingml/2006/main">
            <a:off x="11247120" y="6519672"/>
            <a:ext cx="457200" cy="182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900" b="0">
                <a:solidFill>
                  <a:srgbClr val="5F6C7D"/>
                </a:solidFill>
                <a:latin typeface="Aptos"/>
                <a:ea typeface="Aptos"/>
                <a:cs typeface="Aptos"/>
              </a:defRPr>
            </a:pPr>
            <a:r>
              <a:t>12</a:t>
            </a:r>
          </a:p>
        </p:txBody>
      </p:sp>
      <p:sp>
        <p:nvSpPr>
          <p:cNvPr id="6" name="TextBox 5">
            <a:extLst xmlns:a="http://schemas.openxmlformats.org/drawingml/2006/main">
              <a:ext uri="{FF2B5EF4-FFF2-40B4-BE49-F238E27FC236}">
                <a16:creationId xmlns:a16="http://schemas.microsoft.com/office/drawing/2014/main" id="{1F679C09-7B89-46EC-8E64-1AE7637A90B3}"/>
              </a:ext>
            </a:extLst>
          </p:cNvPr>
          <p:cNvSpPr>
            <a:spLocks xmlns:a="http://schemas.openxmlformats.org/drawingml/2006/main" noGrp="1"/>
          </p:cNvSpPr>
          <p:nvPr/>
        </p:nvSpPr>
        <p:spPr>
          <a:xfrm xmlns:a="http://schemas.openxmlformats.org/drawingml/2006/main">
            <a:off x="685800" y="1508760"/>
            <a:ext cx="10789920" cy="4480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1700">
                <a:solidFill>
                  <a:srgbClr val="19233A"/>
                </a:solidFill>
                <a:latin typeface="Aptos"/>
                <a:ea typeface="Aptos"/>
                <a:cs typeface="Aptos"/>
              </a:defRPr>
            </a:pPr>
            <a:r>
              <a:t>• 기여 1: 감각어 기반 취향 추출과 계층형 맥락 메모리 설계</a:t>
            </a:r>
          </a:p>
          <a:p xmlns:a="http://schemas.openxmlformats.org/drawingml/2006/main">
            <a:pPr>
              <a:spcAft>
                <a:spcPts val="1400"/>
              </a:spcAft>
              <a:buNone/>
              <a:defRPr sz="1700">
                <a:solidFill>
                  <a:srgbClr val="19233A"/>
                </a:solidFill>
                <a:latin typeface="Aptos"/>
                <a:ea typeface="Aptos"/>
                <a:cs typeface="Aptos"/>
              </a:defRPr>
            </a:pPr>
            <a:r>
              <a:t>• 기여 2: 메모리 효과를 분리해 평가하는 통제 프로토콜</a:t>
            </a:r>
          </a:p>
          <a:p xmlns:a="http://schemas.openxmlformats.org/drawingml/2006/main">
            <a:pPr>
              <a:spcAft>
                <a:spcPts val="1400"/>
              </a:spcAft>
              <a:buNone/>
              <a:defRPr sz="1700">
                <a:solidFill>
                  <a:srgbClr val="19233A"/>
                </a:solidFill>
                <a:latin typeface="Aptos"/>
                <a:ea typeface="Aptos"/>
                <a:cs typeface="Aptos"/>
              </a:defRPr>
            </a:pPr>
            <a:r>
              <a:t>• 기여 3: 방문정보를 근거 필드에 제한하는 감사 가능한 출력 설계</a:t>
            </a:r>
          </a:p>
          <a:p xmlns:a="http://schemas.openxmlformats.org/drawingml/2006/main">
            <a:pPr>
              <a:spcAft>
                <a:spcPts val="1400"/>
              </a:spcAft>
              <a:buNone/>
              <a:defRPr sz="1700">
                <a:solidFill>
                  <a:srgbClr val="19233A"/>
                </a:solidFill>
                <a:latin typeface="Aptos"/>
                <a:ea typeface="Aptos"/>
                <a:cs typeface="Aptos"/>
              </a:defRPr>
            </a:pPr>
            <a:r>
              <a:t>• 미완료: 실측 성능, 사용자 파일럿, 재현성 실행 및 운영 부하 검증</a:t>
            </a:r>
          </a:p>
          <a:p xmlns:a="http://schemas.openxmlformats.org/drawingml/2006/main">
            <a:pPr>
              <a:spcAft>
                <a:spcPts val="1400"/>
              </a:spcAft>
              <a:buNone/>
              <a:defRPr sz="1700">
                <a:solidFill>
                  <a:srgbClr val="19233A"/>
                </a:solidFill>
                <a:latin typeface="Aptos"/>
                <a:ea typeface="Aptos"/>
                <a:cs typeface="Aptos"/>
              </a:defRPr>
            </a:pPr>
            <a:r>
              <a:t>• 감사합니다. 질문을 받겠습니다.</a:t>
            </a:r>
          </a:p>
        </p:txBody>
      </p:sp>
      <p:sp>
        <p:nvSpPr>
          <p:cNvPr id="7" name="TextBox 6">
            <a:extLst xmlns:a="http://schemas.openxmlformats.org/drawingml/2006/main">
              <a:ext uri="{FF2B5EF4-FFF2-40B4-BE49-F238E27FC236}">
                <a16:creationId xmlns:a16="http://schemas.microsoft.com/office/drawing/2014/main" id="{49E58225-2928-45B6-969D-74E953D5387B}"/>
              </a:ext>
            </a:extLst>
          </p:cNvPr>
          <p:cNvSpPr>
            <a:spLocks xmlns:a="http://schemas.openxmlformats.org/drawingml/2006/main" noGrp="1"/>
          </p:cNvSpPr>
          <p:nvPr/>
        </p:nvSpPr>
        <p:spPr>
          <a:xfrm xmlns:a="http://schemas.openxmlformats.org/drawingml/2006/main">
            <a:off x="594360" y="6144768"/>
            <a:ext cx="1078992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5F6C7D"/>
                </a:solidFill>
                <a:latin typeface="Aptos"/>
                <a:ea typeface="Aptos"/>
                <a:cs typeface="Aptos"/>
              </a:defRPr>
            </a:pPr>
            <a:r>
              <a:t>발표 시간 0:50   |   심사 연계: 발표 및 질의응답 15점</a:t>
            </a:r>
          </a:p>
        </p:txBody>
      </p:sp>
    </p:spTree>
    <p:extLst>
      <p:ext uri="{BB962C8B-B14F-4D97-AF65-F5344CB8AC3E}">
        <p14:creationId xmlns:p14="http://schemas.microsoft.com/office/powerpoint/2010/main" val="84629481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2026-10-19T07:22:19.6040000Z</dcterms:created>
  <dcterms:modified xsi:type="dcterms:W3CDTF">2026-10-19T07:22:19.6040000Z</dcterms:modified>
</coreProperties>
</file>