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e21f1c99244e9b" /><Relationship Type="http://schemas.openxmlformats.org/officeDocument/2006/relationships/extended-properties" Target="/docProps/app.xml" Id="Rfea06378b53843c6" /><Relationship Type="http://schemas.openxmlformats.org/officeDocument/2006/relationships/officeDocument" Target="/ppt/presentation.xml" Id="Rbb952232dfb340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84356183424042"/>
  </p:sldMasterIdLst>
  <p:notesMasterIdLst>
    <p:notesMasterId xmlns:r="http://schemas.openxmlformats.org/officeDocument/2006/relationships" r:id="R3ae8dfd032da4239"/>
  </p:notesMasterIdLst>
  <p:sldIdLst>
    <p:sldId xmlns:r="http://schemas.openxmlformats.org/officeDocument/2006/relationships" id="256" r:id="Re0fd561736514446"/>
    <p:sldId xmlns:r="http://schemas.openxmlformats.org/officeDocument/2006/relationships" id="257" r:id="Rfab130fffd524dbd"/>
    <p:sldId xmlns:r="http://schemas.openxmlformats.org/officeDocument/2006/relationships" id="258" r:id="Rfdbc10a66a5c4a71"/>
    <p:sldId xmlns:r="http://schemas.openxmlformats.org/officeDocument/2006/relationships" id="259" r:id="R460ed7bcdee448e0"/>
    <p:sldId xmlns:r="http://schemas.openxmlformats.org/officeDocument/2006/relationships" id="260" r:id="R7bc7643a321a4dc4"/>
    <p:sldId xmlns:r="http://schemas.openxmlformats.org/officeDocument/2006/relationships" id="261" r:id="R2d7e441ec8904d44"/>
    <p:sldId xmlns:r="http://schemas.openxmlformats.org/officeDocument/2006/relationships" id="262" r:id="R25243441ed6f432d"/>
    <p:sldId xmlns:r="http://schemas.openxmlformats.org/officeDocument/2006/relationships" id="263" r:id="R1b61a9d132564ecf"/>
    <p:sldId xmlns:r="http://schemas.openxmlformats.org/officeDocument/2006/relationships" id="264" r:id="Racb93f6c9e6d4efa"/>
    <p:sldId xmlns:r="http://schemas.openxmlformats.org/officeDocument/2006/relationships" id="265" r:id="R26a833208a6c4176"/>
    <p:sldId xmlns:r="http://schemas.openxmlformats.org/officeDocument/2006/relationships" id="266" r:id="R1e3df6c35f9f4161"/>
    <p:sldId xmlns:r="http://schemas.openxmlformats.org/officeDocument/2006/relationships" id="267" r:id="Rbff10d0762a94ce6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714943755f49cf" /><Relationship Type="http://schemas.openxmlformats.org/officeDocument/2006/relationships/slideMaster" Target="/ppt/slideMasters/slideMaster1.xml" Id="Re584356183424042" /><Relationship Type="http://schemas.openxmlformats.org/officeDocument/2006/relationships/notesMaster" Target="/ppt/notesMasters/notesMaster1.xml" Id="R3ae8dfd032da4239" /><Relationship Type="http://schemas.openxmlformats.org/officeDocument/2006/relationships/presProps" Target="/ppt/presProps.xml" Id="R4fad0a83f42245a9" /><Relationship Type="http://schemas.openxmlformats.org/officeDocument/2006/relationships/viewProps" Target="/ppt/viewProps.xml" Id="R0fc32eb453c04ee1" /><Relationship Type="http://schemas.openxmlformats.org/officeDocument/2006/relationships/tableStyles" Target="/ppt/tableStyles.xml" Id="Rf5a0f7e841f14e99" /><Relationship Type="http://schemas.openxmlformats.org/officeDocument/2006/relationships/slide" Target="/ppt/slides/slide1.xml" Id="Re0fd561736514446" /><Relationship Type="http://schemas.openxmlformats.org/officeDocument/2006/relationships/slide" Target="/ppt/slides/slide2.xml" Id="Rfab130fffd524dbd" /><Relationship Type="http://schemas.openxmlformats.org/officeDocument/2006/relationships/slide" Target="/ppt/slides/slide3.xml" Id="Rfdbc10a66a5c4a71" /><Relationship Type="http://schemas.openxmlformats.org/officeDocument/2006/relationships/slide" Target="/ppt/slides/slide4.xml" Id="R460ed7bcdee448e0" /><Relationship Type="http://schemas.openxmlformats.org/officeDocument/2006/relationships/slide" Target="/ppt/slides/slide5.xml" Id="R7bc7643a321a4dc4" /><Relationship Type="http://schemas.openxmlformats.org/officeDocument/2006/relationships/slide" Target="/ppt/slides/slide6.xml" Id="R2d7e441ec8904d44" /><Relationship Type="http://schemas.openxmlformats.org/officeDocument/2006/relationships/slide" Target="/ppt/slides/slide7.xml" Id="R25243441ed6f432d" /><Relationship Type="http://schemas.openxmlformats.org/officeDocument/2006/relationships/slide" Target="/ppt/slides/slide8.xml" Id="R1b61a9d132564ecf" /><Relationship Type="http://schemas.openxmlformats.org/officeDocument/2006/relationships/slide" Target="/ppt/slides/slide9.xml" Id="Racb93f6c9e6d4efa" /><Relationship Type="http://schemas.openxmlformats.org/officeDocument/2006/relationships/slide" Target="/ppt/slides/slide10.xml" Id="R26a833208a6c4176" /><Relationship Type="http://schemas.openxmlformats.org/officeDocument/2006/relationships/slide" Target="/ppt/slides/slide11.xml" Id="R1e3df6c35f9f4161" /><Relationship Type="http://schemas.openxmlformats.org/officeDocument/2006/relationships/slide" Target="/ppt/slides/slide12.xml" Id="Rbff10d0762a94c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45ca8b1cde44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cccd44193c4e13" /><Relationship Type="http://schemas.openxmlformats.org/officeDocument/2006/relationships/notesMaster" Target="/ppt/notesMasters/notesMaster1.xml" Id="R17076c2cebe948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0c0dff26ec4baa" /><Relationship Type="http://schemas.openxmlformats.org/officeDocument/2006/relationships/notesMaster" Target="/ppt/notesMasters/notesMaster1.xml" Id="R3aa0975898974f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c84611b1dc4d30" /><Relationship Type="http://schemas.openxmlformats.org/officeDocument/2006/relationships/notesMaster" Target="/ppt/notesMasters/notesMaster1.xml" Id="R151ce2f2865d44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a01b38841b433b" /><Relationship Type="http://schemas.openxmlformats.org/officeDocument/2006/relationships/notesMaster" Target="/ppt/notesMasters/notesMaster1.xml" Id="Rb90d595ac3a24e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e7e6fbba0840a5" /><Relationship Type="http://schemas.openxmlformats.org/officeDocument/2006/relationships/notesMaster" Target="/ppt/notesMasters/notesMaster1.xml" Id="R42a1660f01d94d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eb4f114cc74611" /><Relationship Type="http://schemas.openxmlformats.org/officeDocument/2006/relationships/notesMaster" Target="/ppt/notesMasters/notesMaster1.xml" Id="Rb9b7148184da4f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e5695d5df84d39" /><Relationship Type="http://schemas.openxmlformats.org/officeDocument/2006/relationships/notesMaster" Target="/ppt/notesMasters/notesMaster1.xml" Id="R073506c5489342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428aa261234aa5" /><Relationship Type="http://schemas.openxmlformats.org/officeDocument/2006/relationships/notesMaster" Target="/ppt/notesMasters/notesMaster1.xml" Id="R99f67e89a51347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4c483d623c4ac4" /><Relationship Type="http://schemas.openxmlformats.org/officeDocument/2006/relationships/notesMaster" Target="/ppt/notesMasters/notesMaster1.xml" Id="Ra5dca8a820854c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748fe95f37437d" /><Relationship Type="http://schemas.openxmlformats.org/officeDocument/2006/relationships/notesMaster" Target="/ppt/notesMasters/notesMaster1.xml" Id="R55a9d90fba7f43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e8cd56d7d547b0" /><Relationship Type="http://schemas.openxmlformats.org/officeDocument/2006/relationships/notesMaster" Target="/ppt/notesMasters/notesMaster1.xml" Id="Rb14da54024d441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958df10e794a21" /><Relationship Type="http://schemas.openxmlformats.org/officeDocument/2006/relationships/notesMaster" Target="/ppt/notesMasters/notesMaster1.xml" Id="R49af1ad4d9e243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9e32269774f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097090ea144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95ff0543940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354abfc6545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aa0a3b3e048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52dfd6423411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6d7708fd54fb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05b8855a2485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9d89b891f431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fe2537b3f41f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bc723532447d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076FBF-E12C-49ED-83B2-4424485BE6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351BDA5-C40B-4BF6-99C6-3054CEB553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F7DB1D-AF3C-4815-B966-350D75F714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CBDCCCA-B213-4398-99C3-CEC916F522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076E6C-2AD4-4DE7-B7EC-D1EC11CC5D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B7E3E5-6548-46A9-A4BA-D8854150B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42D886-E287-4D60-B892-1F0FAF04857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5B40C26-E2F5-4DC6-845E-A82A994201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17BD49-36DB-4300-8260-D5EF24E2BA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11CD18-2D11-4C14-B7D5-B374193D52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8AAF2B-D671-4B33-8775-38E5CC564F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33EC80-1ACE-4108-B3F0-AAE31AF1D5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D49A46-5E79-4034-8E7A-846C8AC1E2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9A911D-301B-4A18-A18F-5C4FDAA59C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E600AA-8803-4B8D-B12B-9AC53963CF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D89ACA-86ED-4EDC-81D2-320BF2DE10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B7273E0-7A2E-4386-818B-BB61048E313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36EA0CB-FA56-49FC-A28C-1D0E6494CF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D018DCD-4F39-420E-A362-97BCEF735B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171BB06-DD7E-4676-B766-29AA98D031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218E0D8-25B3-4861-AF6A-D6B293FA64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19CA9E-C489-4D0C-88DE-5B9ECA148A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3B271A-8F14-4F20-847F-12762B4A71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14E346F-212B-47B4-8043-EDFECC1BF21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6B2376E-88BD-48CA-A20D-A2762ED8C2C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2D30E2F-C77F-4D9B-BFCC-1DF7841B184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5203D46-DFE6-46B3-A2DF-A7A2AC0E35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DB61567-5694-459C-8F70-B50651138A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622CFD9-DDE1-4720-BBFC-80B9DD1A4E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421D2A-8D54-4D4D-BE06-E473FABE0A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670D756-723B-45F0-9651-4AE83AAB2D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9C006F4-7642-4507-9E5F-E6DC963434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C2D692C-2EF1-432C-B8B9-3DAD0EAC18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10BF860-BE23-4E85-B509-D5380551F8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00BB73F-C6D8-40D0-88A5-6125AB416D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1EDA434-2822-4C37-B546-79A7945C86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338EFB-AE99-4AF1-B322-A20888A99F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626FD5-E7C3-47D0-8383-BA6E17C1913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9DD5914-1D23-4A26-BA4E-BB365A4FFC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EF6B1E3-DE6F-4D04-B897-2F904C35BE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5EF0A74-7849-4754-9F5A-0F99F96FE4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8C5F833-6796-44FB-B298-888061C5D7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0C39C2-1A69-4E66-855A-8ACCB60F3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0BD32BC-E9A0-49B6-B2E2-0656F6C0391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300DDB-D9FB-400F-8551-D1D27D7B70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9313A5C-441C-4170-82C8-4288809272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069A1C7-C463-46E2-B7BB-83AB378E64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A97591B-E953-4A24-A4C7-F1AE5E9C1F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804ACF-5A69-4AFF-B367-5B49F5A1F3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67B49A3-C908-4603-BD62-630D218596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649344-B504-4E17-84A2-DECEED15B3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84058DF-5BD9-44B4-94F8-D4C617A278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936A2F-7AF6-4CA3-B737-3EEB1CA5CD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B8873C5-75FE-48E5-BF01-F0439FE090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ED245F6-943C-4CC0-AF59-70E4B1830B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58F2D0-A854-4942-9EED-7CDFEB7395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D01777-9561-4ECA-8DC0-10C2059861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ECFB68-8E91-472D-80A4-8B08DAF1C8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62747b57154ccf" /><Relationship Type="http://schemas.openxmlformats.org/officeDocument/2006/relationships/slideLayout" Target="/ppt/slideLayouts/slideLayout1.xml" Id="Rab663dd2850a4f26" /><Relationship Type="http://schemas.openxmlformats.org/officeDocument/2006/relationships/slideLayout" Target="/ppt/slideLayouts/slideLayout2.xml" Id="R217987e9c7124cde" /><Relationship Type="http://schemas.openxmlformats.org/officeDocument/2006/relationships/slideLayout" Target="/ppt/slideLayouts/slideLayout3.xml" Id="R3853f4132eca44b5" /><Relationship Type="http://schemas.openxmlformats.org/officeDocument/2006/relationships/slideLayout" Target="/ppt/slideLayouts/slideLayout4.xml" Id="Rde028ac16477413b" /><Relationship Type="http://schemas.openxmlformats.org/officeDocument/2006/relationships/slideLayout" Target="/ppt/slideLayouts/slideLayout5.xml" Id="R667dfc89ee2447df" /><Relationship Type="http://schemas.openxmlformats.org/officeDocument/2006/relationships/slideLayout" Target="/ppt/slideLayouts/slideLayout6.xml" Id="Rc5db610aa726467a" /><Relationship Type="http://schemas.openxmlformats.org/officeDocument/2006/relationships/slideLayout" Target="/ppt/slideLayouts/slideLayout7.xml" Id="Rb2d96244c38947e2" /><Relationship Type="http://schemas.openxmlformats.org/officeDocument/2006/relationships/slideLayout" Target="/ppt/slideLayouts/slideLayout8.xml" Id="R7f6c55ef3e4441a1" /><Relationship Type="http://schemas.openxmlformats.org/officeDocument/2006/relationships/slideLayout" Target="/ppt/slideLayouts/slideLayout9.xml" Id="R1343f8f70e4a4a0a" /><Relationship Type="http://schemas.openxmlformats.org/officeDocument/2006/relationships/slideLayout" Target="/ppt/slideLayouts/slideLayout10.xml" Id="R77a6f8ef68624e4f" /><Relationship Type="http://schemas.openxmlformats.org/officeDocument/2006/relationships/slideLayout" Target="/ppt/slideLayouts/slideLayout11.xml" Id="Rd6417684c83544c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C077E97-491E-4646-A374-67405EE727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8096006-D6D9-475A-9FF0-8DE825132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93AEE04-AAB1-41BE-B714-AF49F31F486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FC83CF2-814E-4333-A505-125ACF93B28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82055E-B71A-4640-8D57-8A6B0C5B0B3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663dd2850a4f26"/>
    <p:sldLayoutId xmlns:r="http://schemas.openxmlformats.org/officeDocument/2006/relationships" id="2147483650" r:id="R217987e9c7124cde"/>
    <p:sldLayoutId xmlns:r="http://schemas.openxmlformats.org/officeDocument/2006/relationships" id="2147483651" r:id="R3853f4132eca44b5"/>
    <p:sldLayoutId xmlns:r="http://schemas.openxmlformats.org/officeDocument/2006/relationships" id="2147483652" r:id="Rde028ac16477413b"/>
    <p:sldLayoutId xmlns:r="http://schemas.openxmlformats.org/officeDocument/2006/relationships" id="2147483653" r:id="R667dfc89ee2447df"/>
    <p:sldLayoutId xmlns:r="http://schemas.openxmlformats.org/officeDocument/2006/relationships" id="2147483654" r:id="Rc5db610aa726467a"/>
    <p:sldLayoutId xmlns:r="http://schemas.openxmlformats.org/officeDocument/2006/relationships" id="2147483655" r:id="Rb2d96244c38947e2"/>
    <p:sldLayoutId xmlns:r="http://schemas.openxmlformats.org/officeDocument/2006/relationships" id="2147483656" r:id="R7f6c55ef3e4441a1"/>
    <p:sldLayoutId xmlns:r="http://schemas.openxmlformats.org/officeDocument/2006/relationships" id="2147483657" r:id="R1343f8f70e4a4a0a"/>
    <p:sldLayoutId xmlns:r="http://schemas.openxmlformats.org/officeDocument/2006/relationships" id="2147483658" r:id="R77a6f8ef68624e4f"/>
    <p:sldLayoutId xmlns:r="http://schemas.openxmlformats.org/officeDocument/2006/relationships" id="2147483659" r:id="Rd6417684c83544c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926d14a1194dd7" /><Relationship Type="http://schemas.openxmlformats.org/officeDocument/2006/relationships/notesSlide" Target="/ppt/notesSlides/notesSlide1.xml" Id="R9b94bed8fba346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5b4d1d3f4242a9" /><Relationship Type="http://schemas.openxmlformats.org/officeDocument/2006/relationships/notesSlide" Target="/ppt/notesSlides/notesSlide2.xml" Id="R2d425f22d4404c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0d618b12a24703" /><Relationship Type="http://schemas.openxmlformats.org/officeDocument/2006/relationships/notesSlide" Target="/ppt/notesSlides/notesSlide3.xml" Id="Re776077000e44c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fa5aa310e9424c" /><Relationship Type="http://schemas.openxmlformats.org/officeDocument/2006/relationships/notesSlide" Target="/ppt/notesSlides/notesSlide4.xml" Id="R2172526055c944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da617d08144187" /><Relationship Type="http://schemas.openxmlformats.org/officeDocument/2006/relationships/notesSlide" Target="/ppt/notesSlides/notesSlide5.xml" Id="Rc3aeef0459af40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2344a53b1f4377" /><Relationship Type="http://schemas.openxmlformats.org/officeDocument/2006/relationships/notesSlide" Target="/ppt/notesSlides/notesSlide6.xml" Id="Rbda1f1c5ecc64f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cc3deace2040c4" /><Relationship Type="http://schemas.openxmlformats.org/officeDocument/2006/relationships/notesSlide" Target="/ppt/notesSlides/notesSlide7.xml" Id="R43180c57c0d341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0caf26aa6d4244" /><Relationship Type="http://schemas.openxmlformats.org/officeDocument/2006/relationships/notesSlide" Target="/ppt/notesSlides/notesSlide8.xml" Id="R72bae513b04f43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7f3b0e9726409c" /><Relationship Type="http://schemas.openxmlformats.org/officeDocument/2006/relationships/notesSlide" Target="/ppt/notesSlides/notesSlide9.xml" Id="Ra1681298db044d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693701417747cb" /><Relationship Type="http://schemas.openxmlformats.org/officeDocument/2006/relationships/notesSlide" Target="/ppt/notesSlides/notesSlide10.xml" Id="Re4c4c87da1174f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1a814faaaa4b8b" /><Relationship Type="http://schemas.openxmlformats.org/officeDocument/2006/relationships/notesSlide" Target="/ppt/notesSlides/notesSlide11.xml" Id="Rb19137cf72f545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ca4bd7cc2a43d2" /><Relationship Type="http://schemas.openxmlformats.org/officeDocument/2006/relationships/notesSlide" Target="/ppt/notesSlides/notesSlide12.xml" Id="Reca375040d344b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3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5FCC9F11-757B-41DD-ABFD-4315B118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9436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5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4F816BF-393C-40C6-8B5C-399A0E56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965960"/>
            <a:ext cx="1554480" cy="1554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B1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AAF70FE3-F3CF-4F9E-A591-9B0E0CC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971800"/>
            <a:ext cx="128016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7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6F96CC3-BDB0-467F-92DC-4D483CD4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58368"/>
            <a:ext cx="5029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E2B14A"/>
                </a:solidFill>
                <a:latin typeface="Aptos"/>
                <a:ea typeface="Aptos"/>
                <a:cs typeface="Aptos"/>
              </a:defRPr>
            </a:pPr>
            <a:r>
              <a:t>365 CHALLENGE · PROJECT PRESENTATION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0FBAD98-FF56-446E-ABC6-68111B67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234440"/>
            <a:ext cx="6766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ARTHÉMIS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563D3A7-5A88-49EE-9B2F-349550B2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331720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2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맥락 분리형 장기 취향 메모리를 갖춘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2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대화형 아트 큐레이션 에이전트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5D64508-1632-425F-A3F0-09B30507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429000"/>
            <a:ext cx="6217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CAD5E0"/>
                </a:solidFill>
                <a:latin typeface="Aptos"/>
                <a:ea typeface="Aptos"/>
                <a:cs typeface="Aptos"/>
              </a:defRPr>
            </a:pPr>
            <a:r>
              <a:t>설계와 통제 평가 프로토콜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CAD5E0"/>
                </a:solidFill>
                <a:latin typeface="Aptos"/>
                <a:ea typeface="Aptos"/>
                <a:cs typeface="Aptos"/>
              </a:defRPr>
            </a:pPr>
            <a:r>
              <a:t>Context-Separated Long-Term Taste Memory for Conversational Art Curation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A445F5DC-C448-4F29-A119-7ABEC159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617720"/>
            <a:ext cx="6071616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F617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EE1A74F-75BE-4724-8935-187C5F68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892040"/>
            <a:ext cx="576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발표자: [팀명·팀원 정보 미제공]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425CBBE-D1A1-48BC-968F-A7B284B2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86400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D3E0E7"/>
                </a:solidFill>
                <a:latin typeface="Aptos"/>
                <a:ea typeface="Aptos"/>
                <a:cs typeface="Aptos"/>
              </a:defRPr>
            </a:pPr>
            <a:r>
              <a:t>핵심 원칙  기억은 맥락에 맞게 선택하고, 방문 정보는 근거가 확인된 필드만 안내한다.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89FC13-664B-477C-B83C-895B82BE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6355080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800" b="0">
                <a:solidFill>
                  <a:srgbClr val="BECAD8"/>
                </a:solidFill>
                <a:latin typeface="Aptos"/>
                <a:ea typeface="Aptos"/>
                <a:cs typeface="Aptos"/>
              </a:defRPr>
            </a:pPr>
            <a:r>
              <a:t>발표자료는 설계 논문 기반이며, 미측정 실험·미검증 구현은 성과로 주장하지 않음</a:t>
            </a:r>
          </a:p>
        </p:txBody>
      </p:sp>
    </p:spTree>
    <p:extLst>
      <p:ext uri="{BB962C8B-B14F-4D97-AF65-F5344CB8AC3E}">
        <p14:creationId xmlns:p14="http://schemas.microsoft.com/office/powerpoint/2010/main" val="1240376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E9BC3B-263E-4B98-B6DB-8BC392F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248580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EE5F38-216F-4604-A882-86756893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10312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2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프로젝트 배경: 큐레이션에서 끊기는 세 가지 연결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C4BFC72-946E-45B6-8F0B-03844240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676656"/>
            <a:ext cx="1046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전문 메타데이터와 감각 언어, 세션 간 기억, 실제 방문정보의 신뢰성을 함께 다룹니다.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4C424C8A-821D-4F66-8216-B1971E12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51560"/>
            <a:ext cx="1112824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AE0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170B559-AE24-4C8F-9A1A-E9C89309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46888"/>
            <a:ext cx="1627632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2CF211B-7E3B-45ED-87D2-C2A6A24F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256032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4D77A6"/>
                </a:solidFill>
                <a:latin typeface="Aptos"/>
                <a:ea typeface="Aptos"/>
                <a:cs typeface="Aptos"/>
              </a:defRPr>
            </a:pPr>
            <a:r>
              <a:t>문제 정의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D881B60-3575-403E-B48D-1CFA1CA1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520440" cy="1874519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1F3EF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D7C57EC-5288-4012-B35A-794BD554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187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580"/>
          </a:solidFill>
          <a:ln xmlns:a="http://schemas.openxmlformats.org/drawingml/2006/main">
            <a:solidFill>
              <a:srgbClr val="2485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F89A04C-8095-4EBE-AE0F-B470C74E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554480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6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01  의미 단절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A5379D5-DA90-424D-8297-0C4AF35E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38528"/>
            <a:ext cx="3200400" cy="1252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관람객: “거친 질감, 묵직한 표면”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기관 데이터: 재료·기법·조형 태그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→ 감각 표현을 검색 가능한 어휘로 연결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0DE3BD4-DA2D-48ED-92EE-9DF20BD3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520440" cy="1874519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7E9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08E0C3-210F-42C1-B27D-04E1E04F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73152" cy="187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14A"/>
          </a:solidFill>
          <a:ln xmlns:a="http://schemas.openxmlformats.org/drawingml/2006/main">
            <a:solidFill>
              <a:srgbClr val="E2B1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E194B2D-F968-44C3-A8BA-E866CEEF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54480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6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02  기억 단절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E1182EE-924A-440B-A265-31DE84C4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38528"/>
            <a:ext cx="3200400" cy="1252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평일 혼자 사유하는 관람과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주말 자녀 동반 체험 관람은 다를 수 있음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→ 한 프로필에 합치면 맥락 오염 위험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FBA9CE3-2EDC-420C-B54D-FC2B43F3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520440" cy="1874519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AEBE9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ED51657-63BC-45DB-9995-D30428A3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73152" cy="187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4843"/>
          </a:solidFill>
          <a:ln xmlns:a="http://schemas.openxmlformats.org/drawingml/2006/main">
            <a:solidFill>
              <a:srgbClr val="AE48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208A38C-3858-4AE8-8477-138B3383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54480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6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03  실행 단절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A04729F-1103-4E91-8491-051A93EB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38528"/>
            <a:ext cx="3200400" cy="1252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전시 기간·장소·요금 등은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틀리면 실제 방문에 영향을 줌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→ 근거가 확인된 필드만 안내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37E91B1-3F50-4F1B-8C9E-0FE3E849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10881360" cy="15087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A80347E-E469-4216-BB40-99205F3C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4487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프로젝트 목표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03C19EC-0072-4CCA-96B4-EAFE4B89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40480"/>
            <a:ext cx="83210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700" b="1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감각 신호를 취향 메모리로 구조화하고, 현재 맥락에 맞는 기억만 선택해 작품을 검색하며, 전시 정보는 검증된 필드에 제한해 안내하는 시스템을 설계한다.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DAED1C55-4AA3-4B8C-88A5-924C58F1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23560"/>
            <a:ext cx="1828800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C20D29C-B8E8-475A-A173-8D8A4230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632704"/>
            <a:ext cx="17556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1">
                <a:solidFill>
                  <a:srgbClr val="4D77A6"/>
                </a:solidFill>
                <a:latin typeface="Aptos"/>
                <a:ea typeface="Aptos"/>
                <a:cs typeface="Aptos"/>
              </a:defRPr>
            </a:pPr>
            <a:r>
              <a:t>근거 수준: 문제 가설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0EF53A6-150C-418C-BC7E-27E098D9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596128"/>
            <a:ext cx="8503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실제 관람객 인터뷰·사용자 테스트 결과는 논문 자료에서 확인되지 않음.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3BD2882-FA36-4D36-8B97-6616E6EE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37960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8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ARTHÉMIS · 365 Challenge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DB1EF3C-B555-431F-A042-38FC841F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9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2072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9F6C6D4-8547-4154-9ABB-440CF1F2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248580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4A1AD2F-A00F-497F-9395-1EE19DAC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10312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2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핵심 아이디어와 연구 가설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5B8BF32-231F-4112-A09B-0001547D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676656"/>
            <a:ext cx="1046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기억의 총량보다 ‘어떤 맥락의 기억을 현재 질의에 투입하는가’를 검증합니다.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91930836-6536-454A-A1DA-8E1F663F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51560"/>
            <a:ext cx="1112824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AE0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7B58055-A41A-4591-9995-4D62EA49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46888"/>
            <a:ext cx="1627632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7BAEEDD-73FC-4086-BA45-46B6176D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256032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4D77A6"/>
                </a:solidFill>
                <a:latin typeface="Aptos"/>
                <a:ea typeface="Aptos"/>
                <a:cs typeface="Aptos"/>
              </a:defRPr>
            </a:pPr>
            <a:r>
              <a:t>혁신성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A924328-382E-4607-8E0E-2DCEB882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120640" cy="13258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1F3EF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3F7FA5-C221-4FC3-8797-52C0B28D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731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580"/>
          </a:solidFill>
          <a:ln xmlns:a="http://schemas.openxmlformats.org/drawingml/2006/main">
            <a:solidFill>
              <a:srgbClr val="2485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FA96D51-D1F2-489F-B0B0-2CF8D89E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08760"/>
            <a:ext cx="4800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6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핵심 아이디어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A3AFA37-8842-47E8-8D10-DCA80448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92807"/>
            <a:ext cx="4800600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4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Session Node → Taste Cluster → Context Router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4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현재 상황에 적합한 클러스터를 선택해 프로필 슬롯 Φ로 전달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6A00A48-734C-4CB8-B517-C3938380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371600"/>
            <a:ext cx="5394960" cy="13258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7E9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2ECF31B-834E-405E-9DDB-31530CA1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371600"/>
            <a:ext cx="731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14A"/>
          </a:solidFill>
          <a:ln xmlns:a="http://schemas.openxmlformats.org/drawingml/2006/main">
            <a:solidFill>
              <a:srgbClr val="E2B1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DAAEFB9-578C-4D6F-9858-E4B12336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08760"/>
            <a:ext cx="5074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6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H1 · 확증 가설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7DD0E2C-0C5E-41FD-B00D-58483F9D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92807"/>
            <a:ext cx="5074920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4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B4(계층형 메모리)가 B2(전체 과거 이력)보다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4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맥락 오염률 CR@10을 낮추는가?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C01C81E-4BB4-4BA7-A68D-91030FA9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971800"/>
            <a:ext cx="5394960" cy="13258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26A3A22-5B51-4AA5-A161-762A26C3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971800"/>
            <a:ext cx="731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6"/>
          </a:solidFill>
          <a:ln xmlns:a="http://schemas.openxmlformats.org/drawingml/2006/main">
            <a:solidFill>
              <a:srgbClr val="4D77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8475C80-17FD-4B5C-BB1A-FB4429C0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08960"/>
            <a:ext cx="5074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6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H2 · 확증 가설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6F36673-6D41-4AED-995A-DC1E8E7A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493008"/>
            <a:ext cx="5074920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4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B4가 B1(무기억)보다 개인화 순위 품질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4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NDCG@10을 높이는가?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1FB1359-B197-464A-85CC-ED4CE38A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120640" cy="13258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ED1325D-D526-4D8E-919A-BE02130E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2968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6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비교 조건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484C3F1-AA1A-4C62-92D1-25D9A5D2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6160"/>
            <a:ext cx="45262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B1 무기억  ·  B2 전체 이력  ·  B4 구조화 메모리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B4-U는 그라운딩 제약 해제 감사 조건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A73F8BFF-6A71-45AB-9D26-B23D2DB6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789920" cy="822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AEBE9"/>
          </a:solidFill>
          <a:ln xmlns:a="http://schemas.openxmlformats.org/drawingml/2006/main">
            <a:solidFill>
              <a:srgbClr val="FAE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6055101-6E8D-48B1-9F88-90C880F7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1768"/>
            <a:ext cx="10241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400" b="1">
                <a:solidFill>
                  <a:srgbClr val="AE4843"/>
                </a:solidFill>
                <a:latin typeface="Aptos"/>
                <a:ea typeface="Aptos"/>
                <a:cs typeface="Aptos"/>
              </a:defRPr>
            </a:pPr>
            <a:r>
              <a:t>상태: 가설·평가 프로토콜은 문서화됨. H1/H2의 수치 결과와 통계적 유의성은 아직 미기입.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BD68D82-FE04-49DA-9DE9-0A328E99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37960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8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ARTHÉMIS · 365 Challenge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0FB48F6-D0EC-41B9-9CBA-FAFDAE1B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9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5832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1400E49-C2C9-4BFA-9C54-70AC142E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248580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F60C81D-0A98-4B71-A4E9-3F30DFAA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10312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2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시스템 아키텍처: 두 에이전트와 공통 오케스트레이터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27997C-C4F3-48E1-B065-62B91EC3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676656"/>
            <a:ext cx="1046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논문 그림 1의 구조를 발표용으로 단순화한 설계도입니다. 실제 통합 동작 증거와는 구분합니다.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AE9C1DF2-E684-43BE-A103-53541FDC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51560"/>
            <a:ext cx="1112824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AE0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B71F224-E1A6-4BA0-A4A0-9B0A9D56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46888"/>
            <a:ext cx="1627632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CF88140-6B1F-47A8-80D7-B731999C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256032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4D77A6"/>
                </a:solidFill>
                <a:latin typeface="Aptos"/>
                <a:ea typeface="Aptos"/>
                <a:cs typeface="Aptos"/>
              </a:defRPr>
            </a:pPr>
            <a:r>
              <a:t>기술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B17BAEE-EB1D-4495-BCCC-9D64BD89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150876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2C2101A-9BD0-46D9-8A03-805DB4D4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011680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2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관람객 발화</a:t>
            </a:r>
          </a:p>
          <a:p xmlns:a="http://schemas.openxmlformats.org/drawingml/2006/main">
            <a:pPr algn="ctr">
              <a:spcAft>
                <a:spcPts val="500"/>
              </a:spcAft>
              <a:buNone/>
              <a:defRPr sz="12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감각·상황 언어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FCAC496-E5ED-47D1-849B-31ABF24E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828800"/>
            <a:ext cx="169164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87DBE57-B281-487B-8710-775B0431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92" y="1993392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2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오케스트레이터</a:t>
            </a:r>
          </a:p>
          <a:p xmlns:a="http://schemas.openxmlformats.org/drawingml/2006/main">
            <a:pPr algn="ctr">
              <a:spcAft>
                <a:spcPts val="500"/>
              </a:spcAft>
              <a:buNone/>
              <a:defRPr sz="12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ReAct · 질문/추천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C1A2ABE-5100-4BC0-B795-AFA12E97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325880"/>
            <a:ext cx="2331720" cy="1143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1F3EF"/>
          </a:solidFill>
          <a:ln xmlns:a="http://schemas.openxmlformats.org/drawingml/2006/main">
            <a:solidFill>
              <a:srgbClr val="2485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1520DBB-044A-4ADB-9AC1-C01B6F34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1508760"/>
            <a:ext cx="20116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2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Agent A · 취향</a:t>
            </a:r>
          </a:p>
          <a:p xmlns:a="http://schemas.openxmlformats.org/drawingml/2006/main">
            <a:pPr algn="ctr">
              <a:spcAft>
                <a:spcPts val="500"/>
              </a:spcAft>
              <a:buNone/>
              <a:defRPr sz="12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신호 추출 → JSON</a:t>
            </a:r>
          </a:p>
          <a:p xmlns:a="http://schemas.openxmlformats.org/drawingml/2006/main">
            <a:pPr algn="ctr">
              <a:spcAft>
                <a:spcPts val="500"/>
              </a:spcAft>
              <a:buNone/>
              <a:defRPr sz="12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메모리 읽기/쓰기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CEC990F-7034-4B99-89EA-4F4EE5F3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26080"/>
            <a:ext cx="2331720" cy="10515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7E9"/>
          </a:solidFill>
          <a:ln xmlns:a="http://schemas.openxmlformats.org/drawingml/2006/main">
            <a:solidFill>
              <a:srgbClr val="E2B1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0292B1D-1426-4950-AF93-9DF1EAD7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108960"/>
            <a:ext cx="2011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2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Context Router</a:t>
            </a:r>
          </a:p>
          <a:p xmlns:a="http://schemas.openxmlformats.org/drawingml/2006/main">
            <a:pPr algn="ctr">
              <a:spcAft>
                <a:spcPts val="500"/>
              </a:spcAft>
              <a:buNone/>
              <a:defRPr sz="12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활성 클러스터 → Φ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765A7DB-1A94-4620-AA3B-5B5DB5FC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28800"/>
            <a:ext cx="205740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4D77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0206D65-52E3-4F6E-993D-B1F4A140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011680"/>
            <a:ext cx="1737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2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Agent B · 작품/전시</a:t>
            </a:r>
          </a:p>
          <a:p xmlns:a="http://schemas.openxmlformats.org/drawingml/2006/main">
            <a:pPr algn="ctr">
              <a:spcAft>
                <a:spcPts val="500"/>
              </a:spcAft>
              <a:buNone/>
              <a:defRPr sz="12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검색 · RRF · 연결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448F4E80-EE6C-4FFD-AE8D-E4A8A89D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1325880"/>
            <a:ext cx="1691640" cy="10515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3E920B4-C2EB-456F-B9A2-6E67C105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1508760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1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작품 코퍼스</a:t>
            </a:r>
          </a:p>
          <a:p xmlns:a="http://schemas.openxmlformats.org/drawingml/2006/main">
            <a:pPr algn="ctr">
              <a:spcAft>
                <a:spcPts val="500"/>
              </a:spcAft>
              <a:buNone/>
              <a:defRPr sz="11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Dense T + Sparse L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58636510-FB4E-45EB-AB80-97E44712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788920"/>
            <a:ext cx="1691640" cy="10515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AEBE9"/>
          </a:solidFill>
          <a:ln xmlns:a="http://schemas.openxmlformats.org/drawingml/2006/main">
            <a:solidFill>
              <a:srgbClr val="AE48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E924119-CD95-432C-BABA-6E6708DA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971800"/>
            <a:ext cx="1463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1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동결 전시 스냅샷</a:t>
            </a:r>
          </a:p>
          <a:p xmlns:a="http://schemas.openxmlformats.org/drawingml/2006/main">
            <a:pPr algn="ctr">
              <a:spcAft>
                <a:spcPts val="500"/>
              </a:spcAft>
              <a:buNone/>
              <a:defRPr sz="11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확인 필드만 출력</a:t>
            </a:r>
          </a:p>
        </p:txBody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2A33E006-D71E-44DB-8352-1296DAE5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2860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485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94F6812D-0E53-499E-9C23-4EE292EB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023360" y="1874519"/>
            <a:ext cx="365760" cy="41148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485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8A934706-C79E-405E-8B25-84AED74E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468880"/>
            <a:ext cx="0" cy="4572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B14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B378EF15-3F93-4C7B-874B-828CDABA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20840" y="2423160"/>
            <a:ext cx="594360" cy="100584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B14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5549720B-AC64-45C6-80AE-AA7A3FE0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372600" y="1828800"/>
            <a:ext cx="548640" cy="27432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4D77A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5EEADB23-72D4-418D-BCE1-21E54AE8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14600"/>
            <a:ext cx="548640" cy="73152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E484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04EB3714-C3C4-4807-975F-078C692E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617720"/>
            <a:ext cx="6537960" cy="7772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1259860-552D-4C52-8041-75C49DC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791456"/>
            <a:ext cx="6080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100" b="1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감사 로그(JSONL): query_id · router_probs · R10 · grounding_record · removed_sentences · prompt_hash</a:t>
            </a:r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73033522-1D69-48AC-9556-20631DB2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977639"/>
            <a:ext cx="0" cy="64008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AE0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C371C54-B0A5-4113-9071-7EB0C673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설계 명세에 기재된 구성요소. end-to-end 실행, 복구 동작, 부하·지연 성능은 별도 테스트가 필요합니다.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E2ADE87-69EA-42CB-95FC-F05702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37960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8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ARTHÉMIS · 365 Challenge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67524DE-6A8E-4143-86A4-5AD06697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9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7030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9599FFF-903C-4C89-BCCF-9705D79E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248580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965EC20-5AF8-4FF7-B774-73A4B9E5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10312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2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Agent A: 감각 신호를 맥락별 취향 메모리로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A00C192-3BC9-4291-B675-BD042A5A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676656"/>
            <a:ext cx="1046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원문 근거가 있는 신호만 저장하고, 서로 다른 관람 맥락을 한 프로필로 평균내지 않는 설계입니다.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63C57FDB-C861-49B2-BD9D-54E83A83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51560"/>
            <a:ext cx="1112824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AE0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817B6EE-FA57-4B76-AEFD-CDF3BAEE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46888"/>
            <a:ext cx="1627632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F07EBAE-FC81-45D9-826D-AD283058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256032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4D77A6"/>
                </a:solidFill>
                <a:latin typeface="Aptos"/>
                <a:ea typeface="Aptos"/>
                <a:cs typeface="Aptos"/>
              </a:defRPr>
            </a:pPr>
            <a:r>
              <a:t>기술·혁신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D84613A-C375-4B27-AD42-91E42417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2240280" cy="19202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1F3EF"/>
          </a:solidFill>
          <a:ln xmlns:a="http://schemas.openxmlformats.org/drawingml/2006/main">
            <a:solidFill>
              <a:srgbClr val="2485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9E6AE7B-130C-4363-9313-FA81AA3A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1719072"/>
            <a:ext cx="384048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48580"/>
          </a:solidFill>
          <a:ln xmlns:a="http://schemas.openxmlformats.org/drawingml/2006/main">
            <a:solidFill>
              <a:srgbClr val="2485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6187E96-5224-4C5F-B05C-9973FDD1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72821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3ACD98-B772-4945-BA87-E9AB6454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2148840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신호 추출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0FF1618-9509-4354-92B0-844B8DB4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2560320"/>
            <a:ext cx="1920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발화 + 최근 세션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감각어-조형어 사전 v1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200항목 명세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C0588773-1E80-4FCD-98C9-408A2869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514600"/>
            <a:ext cx="64008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485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5FDEB87-F66B-43AB-B996-0329F955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554480"/>
            <a:ext cx="2240280" cy="19202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F07C0CC-F074-4E53-AC81-16253908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719072"/>
            <a:ext cx="384048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646F80"/>
          </a:solidFill>
          <a:ln xmlns:a="http://schemas.openxmlformats.org/drawingml/2006/main">
            <a:solidFill>
              <a:srgbClr val="646F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E34B091-4AB5-4BC6-8A08-0F921A04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172821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6DCEB17-62B7-436A-ACF4-D6730C34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2148840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Session Node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A3CDC45-D375-47B9-851A-C87ADB38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2560320"/>
            <a:ext cx="1920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요약 · 목적 · 방문 맥락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근거 발화 span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임베딩·시간 가중치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854BDE25-2EA2-4700-B926-504D9614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514600"/>
            <a:ext cx="64008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485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6F330CE9-389D-4D14-B5B4-B85613AF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2240280" cy="19202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7E9"/>
          </a:solidFill>
          <a:ln xmlns:a="http://schemas.openxmlformats.org/drawingml/2006/main">
            <a:solidFill>
              <a:srgbClr val="E2B1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F6E1847-91C2-44A3-9A04-83620472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719072"/>
            <a:ext cx="384048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2B14A"/>
          </a:solidFill>
          <a:ln xmlns:a="http://schemas.openxmlformats.org/drawingml/2006/main">
            <a:solidFill>
              <a:srgbClr val="E2B1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BECEA9A-1870-481A-AFB5-4E8F43CD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72821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20AA62E-3523-417B-A3DD-C4EC4FD5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148840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Taste Cluster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5D22286-1C3A-4C23-9CC6-F26E7FDE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560320"/>
            <a:ext cx="1920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MERGE: σ ≥ τm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GENESIS: tentative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SUPPRESS: 부정 선호</a:t>
            </a:r>
          </a:p>
        </p:txBody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744E9627-00D0-4070-ACAF-066F0229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514600"/>
            <a:ext cx="64008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B14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F2E92B52-F84D-47FD-BE67-A9AC66AA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554480"/>
            <a:ext cx="2240280" cy="19202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4D77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55CE043F-58D2-433D-83A3-27818E19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719072"/>
            <a:ext cx="384048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D77A6"/>
          </a:solidFill>
          <a:ln xmlns:a="http://schemas.openxmlformats.org/drawingml/2006/main">
            <a:solidFill>
              <a:srgbClr val="4D77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DF3AC35-02ED-40FF-BE90-6280D27B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1728216"/>
            <a:ext cx="310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67CB2D2-90F0-43FE-82ED-CEB74627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2148840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Context Router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D8AEDB5-9F8D-4D1F-8993-0F70C8D6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2560320"/>
            <a:ext cx="1920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현재 질의 맥락에 맞는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클러스터 선택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불확실하면 확인 질문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FFD7DB6F-EB69-42AE-B00F-6679B589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7639"/>
            <a:ext cx="5257800" cy="10972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06379CDC-6B48-41FB-8E44-8B80D3A7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05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4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논문에 적힌 초기 규칙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5CA4C20-E995-4157-B0AD-88B316E1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6280"/>
            <a:ext cx="4754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τm 초기값 0.78(개발 세트 보정 필요) · nact=2 세션 재관찰 시 active · 반감기 h=30일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B5EF9B32-4AFA-46BC-974A-7936374C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977639"/>
            <a:ext cx="5257800" cy="10972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AEBE9"/>
          </a:solidFill>
          <a:ln xmlns:a="http://schemas.openxmlformats.org/drawingml/2006/main">
            <a:solidFill>
              <a:srgbClr val="FAE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7814E73-9239-4A83-9EBF-BA62CF57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1605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400" b="1">
                <a:solidFill>
                  <a:srgbClr val="AE4843"/>
                </a:solidFill>
                <a:latin typeface="Aptos"/>
                <a:ea typeface="Aptos"/>
                <a:cs typeface="Aptos"/>
              </a:defRPr>
            </a:pPr>
            <a:r>
              <a:t>검증 상태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9B10493-5FA4-4556-B204-7AF33983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26280"/>
            <a:ext cx="4754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알고리즘 명세와 실제 메모리 동작·임계값 보정 성능은 별개. 실행 로그 미제공.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83ED9AF-1117-4854-891B-B7D1560D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37960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8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ARTHÉMIS · 365 Challenge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99B46C1-1044-4937-9616-9C5BEEE7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9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55825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2CD9C7A-CB55-4B3F-8DE1-104C9FE3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248580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F0F6832-3F35-4B22-92B4-5B952A78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10312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2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Agent B: 하이브리드 검색과 근거 제한형 안내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F701E8C-8686-4B6B-95EC-64C86548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676656"/>
            <a:ext cx="1046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검색 관련성과 방문정보의 사실성을 분리해 다룹니다.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031B80E1-E20A-4D5B-87FD-5304589D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51560"/>
            <a:ext cx="1112824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AE0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1C9676-545C-4332-8645-3EC9F3F8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46888"/>
            <a:ext cx="1627632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C53F59A-B389-4404-8358-54459110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256032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4D77A6"/>
                </a:solidFill>
                <a:latin typeface="Aptos"/>
                <a:ea typeface="Aptos"/>
                <a:cs typeface="Aptos"/>
              </a:defRPr>
            </a:pPr>
            <a:r>
              <a:t>기술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08D677A-5D37-46CA-B799-D80583DF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834640" cy="12801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1F3EF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270322B-9FAA-4C9F-B7BB-C863EEFF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580"/>
          </a:solidFill>
          <a:ln xmlns:a="http://schemas.openxmlformats.org/drawingml/2006/main">
            <a:solidFill>
              <a:srgbClr val="2485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8C84FA-D685-418C-BC55-AC361374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554480"/>
            <a:ext cx="2514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Dense 검색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A04DC92-BFF2-4CF4-B79B-9A722F39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38528"/>
            <a:ext cx="2514600" cy="6583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텍스트 임베딩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FAISS 인덱스 T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906F4F4-5BBD-442C-ABAB-9238D9C3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2834640" cy="12801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BD4B3B0-0034-4822-8B4C-36B04401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73152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6"/>
          </a:solidFill>
          <a:ln xmlns:a="http://schemas.openxmlformats.org/drawingml/2006/main">
            <a:solidFill>
              <a:srgbClr val="4D77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C9A83F3-2907-4CEA-8360-3D8CD77D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063240"/>
            <a:ext cx="2514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Sparse 검색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0DDA7EF-6E93-4129-9596-A393D71C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447288"/>
            <a:ext cx="2514600" cy="6583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BM25 형태소 인덱스 L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정확한 용어·명칭 보완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7EEE901-8076-4C92-A8A4-1C99C940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57400"/>
            <a:ext cx="2103120" cy="13258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3802665-42A0-4371-ACC1-0379EA2F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286000"/>
            <a:ext cx="1691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6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RRF 융합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971C784-E574-4E68-BBEF-F05F1A7B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69748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κ = 60</a:t>
            </a:r>
          </a:p>
          <a:p xmlns:a="http://schemas.openxmlformats.org/drawingml/2006/main">
            <a:pPr algn="ctr"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Top-10 후보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6CC0B0DA-B5BE-49D0-857D-52828A3D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057400"/>
            <a:ext cx="411480" cy="4114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485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BFFCCBAC-48AE-4EE5-A2CD-A9541A95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4720" y="2971800"/>
            <a:ext cx="411480" cy="594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4D77A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FA3FBD0-A845-4809-86F7-F2459A75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2148840" cy="2286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7E9"/>
          </a:solidFill>
          <a:ln xmlns:a="http://schemas.openxmlformats.org/drawingml/2006/main">
            <a:solidFill>
              <a:srgbClr val="E2B1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484D661-F2AD-4B10-9D1F-82FFDADF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810512"/>
            <a:ext cx="1737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전시 연결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60C889C-0AA6-4EC5-89B2-36EFE4F6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395728"/>
            <a:ext cx="17373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작가 일치</a:t>
            </a:r>
          </a:p>
          <a:p xmlns:a="http://schemas.openxmlformats.org/drawingml/2006/main">
            <a:pPr algn="ctr"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또는 태그 Jaccard</a:t>
            </a:r>
          </a:p>
          <a:p xmlns:a="http://schemas.openxmlformats.org/drawingml/2006/main">
            <a:pPr algn="ctr"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≥ τg</a:t>
            </a: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904D6B9D-6685-488C-889F-3D223FCD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724912"/>
            <a:ext cx="41148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2B14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8644F9F-BE34-4B1A-90B8-F01B52AA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554480"/>
            <a:ext cx="2377440" cy="2286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1F3EF"/>
          </a:solidFill>
          <a:ln xmlns:a="http://schemas.openxmlformats.org/drawingml/2006/main">
            <a:solidFill>
              <a:srgbClr val="2485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A7A524E-0F0D-45D6-84B5-987C9DD1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1810512"/>
            <a:ext cx="1965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그라운딩 출력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3524014-D9F2-4ACB-B148-6C044B5C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395728"/>
            <a:ext cx="19659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동결 스냅샷의</a:t>
            </a:r>
          </a:p>
          <a:p xmlns:a="http://schemas.openxmlformats.org/drawingml/2006/main">
            <a:pPr algn="ctr"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확인 필드만 슬롯에 삽입</a:t>
            </a:r>
          </a:p>
          <a:p xmlns:a="http://schemas.openxmlformats.org/drawingml/2006/main">
            <a:pPr algn="ctr"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미지지 주장 제거·기록</a:t>
            </a:r>
          </a:p>
        </p:txBody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9DF6A0E5-8192-492B-B829-B8871458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24912"/>
            <a:ext cx="50292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4858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4D8640E4-F7AD-4580-8A17-0088E464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44200" cy="868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AEBE9"/>
          </a:solidFill>
          <a:ln xmlns:a="http://schemas.openxmlformats.org/drawingml/2006/main">
            <a:solidFill>
              <a:srgbClr val="FAE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42C34950-1801-4903-B365-2235E5B1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3168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AE4843"/>
                </a:solidFill>
                <a:latin typeface="Aptos"/>
                <a:ea typeface="Aptos"/>
                <a:cs typeface="Aptos"/>
              </a:defRPr>
            </a:pPr>
            <a:r>
              <a:t>스냅샷 기준일·체크섬·필드 커버리지·검증기 실측 결과는 자료에서 확인되지 않음. UCR=0%를 달성했다고 주장하지 않습니다.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34FCBBC-17F2-4A1B-B025-F5B8EAEA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37960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8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ARTHÉMIS · 365 Challenge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2561665-272C-48D9-B434-550D88AE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9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95821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72BAC1E-5D4A-42A9-B1C8-5D71199F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248580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57D2C21-7EE2-445D-95ED-E75AB96D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10312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2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통제 비교 평가: 메모리 슬롯 외 조건을 고정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586656A-3F52-4FF9-B4FC-5FF0DB9F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676656"/>
            <a:ext cx="1046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조건 간 차이를 메모리 구조에 귀속하기 위한 사전 지정 프로토콜입니다.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18304745-FEBB-4975-A66B-4FA01CD2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51560"/>
            <a:ext cx="1112824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AE0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A792902-98C5-46B4-B260-2FF9AD32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46888"/>
            <a:ext cx="1627632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7B82C4-8AE4-4455-B38B-A21F04F0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256032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4D77A6"/>
                </a:solidFill>
                <a:latin typeface="Aptos"/>
                <a:ea typeface="Aptos"/>
                <a:cs typeface="Aptos"/>
              </a:defRPr>
            </a:pPr>
            <a:r>
              <a:t>검증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E3B1866-8217-4D28-9D63-6727BC20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5166360" cy="2011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0A6EFD9-7192-4CAB-A205-9311E53B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600200"/>
            <a:ext cx="4572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6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고정 요소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936BD4C-AD72-4B71-90B4-E83E19E8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1168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20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•  검색기·생성기·프롬프트·temperature·seed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20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•  코퍼스·전시 스냅샷·대화 스크립트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20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•  추출기 동결본 및 그라운딩 제약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8C5864F-F071-4F11-85E0-4A0505A2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166360" cy="2011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1F3EF"/>
          </a:solidFill>
          <a:ln xmlns:a="http://schemas.openxmlformats.org/drawingml/2006/main">
            <a:solidFill>
              <a:srgbClr val="2485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EF7C486-D7B9-4293-A254-52554486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600200"/>
            <a:ext cx="4572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6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조건 간 변경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79D65E9-107F-4370-958F-D5DE28B7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011680"/>
            <a:ext cx="45262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공유 질의 재작성 프롬프트 안의 프로필 슬롯 Φ만 변경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B1: 현재 세션만 · B2: 과거 전체 이력 · B4: Router가 선택한 취향 클러스터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3819973-3EF4-4992-887A-02B4A54F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4760"/>
            <a:ext cx="3337560" cy="1143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FB1FE1D-507A-43A9-8C7A-A8F74738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476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14A"/>
          </a:solidFill>
          <a:ln xmlns:a="http://schemas.openxmlformats.org/drawingml/2006/main">
            <a:solidFill>
              <a:srgbClr val="E2B1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774802D-644B-435F-9E9F-019B5BEC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31920"/>
            <a:ext cx="3017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4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H1 · CR@10 ↓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010DFA6-353C-4245-92DC-01B3CE57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15968"/>
            <a:ext cx="3017520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B2 대비 B4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맥락 오염 감소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3C4DC87-1E56-4597-9DA9-EFD2243E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4760"/>
            <a:ext cx="3337560" cy="1143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DE0BAC7-FE34-41A2-AD05-5E49645E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476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580"/>
          </a:solidFill>
          <a:ln xmlns:a="http://schemas.openxmlformats.org/drawingml/2006/main">
            <a:solidFill>
              <a:srgbClr val="2485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6AACBF1-2562-4A26-98A8-57DFB1F2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931920"/>
            <a:ext cx="3017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4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H2 · NDCG@10 ↑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C4F883D-F7C8-41C7-AB89-64964D77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315968"/>
            <a:ext cx="3017520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B1 대비 B4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순위 품질 향상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D22B585D-8259-4FF1-A93A-E9773167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4760"/>
            <a:ext cx="3337560" cy="1143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8A39762-8D16-4C33-8348-39F412D3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476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6"/>
          </a:solidFill>
          <a:ln xmlns:a="http://schemas.openxmlformats.org/drawingml/2006/main">
            <a:solidFill>
              <a:srgbClr val="4D77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BA5FABE-07CD-4CAD-B57E-BD1E9318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931920"/>
            <a:ext cx="3017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4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Guard G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EB7E40F-6367-4008-AF61-044F3DF4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315968"/>
            <a:ext cx="3017520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B4의 NDCG가 B2 대비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비열등한지 확인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367306DC-AA89-4E66-9358-5A4BD5CB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10744200" cy="56692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AEBE9"/>
          </a:solidFill>
          <a:ln xmlns:a="http://schemas.openxmlformats.org/drawingml/2006/main">
            <a:solidFill>
              <a:srgbClr val="FAE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1A9E7A2-166F-434C-892C-4863F312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7256"/>
            <a:ext cx="10241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1">
                <a:solidFill>
                  <a:srgbClr val="AE4843"/>
                </a:solidFill>
                <a:latin typeface="Aptos"/>
                <a:ea typeface="Aptos"/>
                <a:cs typeface="Aptos"/>
              </a:defRPr>
            </a:pPr>
            <a:r>
              <a:t>계획: 사용자 단위 paired bootstrap 10,000회, 95% CI, H1/H2 Holm 보정. 평가 세트 사용자 ≥20명은 성공 게이트이지 달성 증거가 아님.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C3DC8A14-F889-4365-8452-DBF0443C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37960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8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ARTHÉMIS · 365 Challenge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2547AFC-DDE2-446F-A2E4-5174F7AE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9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95828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7E5B785-AA5A-4BCF-BCA3-A2376364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248580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58BB282-32BB-45C7-8830-1087DCC5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10312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2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실험 결과 현황: 수치 기입 전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64BB32-3F7D-44E6-9935-0EC8C7C8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676656"/>
            <a:ext cx="1046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결과를 임의로 그리지 않고, 논문 표 7의 미입력 상태와 필요한 보고값을 그대로 드러냅니다.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CAEF26C7-1A67-4393-98AE-935A2522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51560"/>
            <a:ext cx="1112824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AE0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2F1C3A8-68D5-4EA7-8CFF-32C500B6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46888"/>
            <a:ext cx="1627632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7907685-D940-4159-A6C2-A6DF60EA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256032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4D77A6"/>
                </a:solidFill>
                <a:latin typeface="Aptos"/>
                <a:ea typeface="Aptos"/>
                <a:cs typeface="Aptos"/>
              </a:defRPr>
            </a:pPr>
            <a:r>
              <a:t>실험 상태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0F9592D-5943-4A75-8D7A-13165490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3337560" cy="22402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F404C73-7F97-4F4E-AFD8-2E43E849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19072"/>
            <a:ext cx="777240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68EB771-E273-4E9D-B2C0-E70B7A36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1728216"/>
            <a:ext cx="70408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1">
                <a:solidFill>
                  <a:srgbClr val="4D77A6"/>
                </a:solidFill>
                <a:latin typeface="Aptos"/>
                <a:ea typeface="Aptos"/>
                <a:cs typeface="Aptos"/>
              </a:defRPr>
            </a:pPr>
            <a:r>
              <a:t>H1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AB0393A-7D81-4141-9534-5677C4EC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21284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20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ΔCR@10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14414C9-32A9-4A08-91DA-FBD3E322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43200"/>
            <a:ext cx="251460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>
            <a:solidFill>
              <a:srgbClr val="EDF0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325C38F-9955-4DD5-928E-E8E1239E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70632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100" b="1">
                <a:solidFill>
                  <a:srgbClr val="AE4843"/>
                </a:solidFill>
                <a:latin typeface="Aptos"/>
                <a:ea typeface="Aptos"/>
                <a:cs typeface="Aptos"/>
              </a:defRPr>
            </a:pPr>
            <a:r>
              <a:t>미측정 · 값 미기입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3AC8E3F-7D0B-4673-8CF2-497241A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355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95% CI · dz · pHolm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1804F91-A498-4EC1-B685-A9682D3B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08760"/>
            <a:ext cx="3337560" cy="22402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998962C-E514-4235-A45F-511920C7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719072"/>
            <a:ext cx="777240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6F6013-9BCD-4928-BDE5-3058E9D2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1728216"/>
            <a:ext cx="70408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1">
                <a:solidFill>
                  <a:srgbClr val="4D77A6"/>
                </a:solidFill>
                <a:latin typeface="Aptos"/>
                <a:ea typeface="Aptos"/>
                <a:cs typeface="Aptos"/>
              </a:defRPr>
            </a:pPr>
            <a:r>
              <a:t>H2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3799B12-1871-4FA9-9511-20771B80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21284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20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ΔNDCG@10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0A2E18A-0636-431D-9EC5-3FA58622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43200"/>
            <a:ext cx="251460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>
            <a:solidFill>
              <a:srgbClr val="EDF0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8631B57-0C91-420F-A8BD-52EDC399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100" b="1">
                <a:solidFill>
                  <a:srgbClr val="AE4843"/>
                </a:solidFill>
                <a:latin typeface="Aptos"/>
                <a:ea typeface="Aptos"/>
                <a:cs typeface="Aptos"/>
              </a:defRPr>
            </a:pPr>
            <a:r>
              <a:t>미측정 · 값 미기입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250E6D1-2283-4332-9457-BE4F043F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355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95% CI · dz · pHolm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1B8CA9F7-5152-4E5E-8F96-DE95F4EB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8760"/>
            <a:ext cx="3337560" cy="22402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392430E9-5F63-4935-A4FF-13966CEC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719072"/>
            <a:ext cx="777240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3B4D380-F9F4-41F6-9A41-A0A9F859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5" y="1728216"/>
            <a:ext cx="70408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1">
                <a:solidFill>
                  <a:srgbClr val="4D77A6"/>
                </a:solidFill>
                <a:latin typeface="Aptos"/>
                <a:ea typeface="Aptos"/>
                <a:cs typeface="Aptos"/>
              </a:defRPr>
            </a:pPr>
            <a:r>
              <a:t>Guard G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0BDB1B7-0148-4A36-8439-515EF693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221284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20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비열등성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3496883-4493-4360-879E-694E250D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743200"/>
            <a:ext cx="251460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>
            <a:solidFill>
              <a:srgbClr val="EDF0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770E691A-9528-458A-807A-B5D2E3CE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770632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100" b="1">
                <a:solidFill>
                  <a:srgbClr val="AE4843"/>
                </a:solidFill>
                <a:latin typeface="Aptos"/>
                <a:ea typeface="Aptos"/>
                <a:cs typeface="Aptos"/>
              </a:defRPr>
            </a:pPr>
            <a:r>
              <a:t>미측정 · 값 미기입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EA0198C-99FF-4B64-BE98-5915D667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355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95% CI 하한 vs −δ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3CF73B90-2CF0-4FBF-84E2-552A910A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10744200" cy="10515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AEBE9"/>
          </a:solidFill>
          <a:ln xmlns:a="http://schemas.openxmlformats.org/drawingml/2006/main">
            <a:solidFill>
              <a:srgbClr val="FAE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8BDD70A-852E-4E5D-A9B4-67A4D470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0832"/>
            <a:ext cx="10241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1">
                <a:solidFill>
                  <a:srgbClr val="AE4843"/>
                </a:solidFill>
                <a:latin typeface="Aptos"/>
                <a:ea typeface="Aptos"/>
                <a:cs typeface="Aptos"/>
              </a:defRPr>
            </a:pPr>
            <a:r>
              <a:t>해석 원칙: 가설·분석 계획은 결과가 아닙니다. 실측값, 신뢰구간, 효과크기, 보정 p값, Guard G 판정이 채워지기 전에는 “개선 입증” 또는 “통계적으로 유의”라고 말하지 않습니다.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353A22E-65BF-4358-8531-9AC6C391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77840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표 7의 결과 셀은 공란이며 원문은 실측 후 기입을 요구합니다.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65B54EC-A280-4772-8359-41BBC045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37960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8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ARTHÉMIS · 365 Challenge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E11D67C-F88F-4AA1-80B6-6F2EF6C3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9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88280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6547C50-86D7-48D3-8E59-70C097F0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248580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8C0A35-96A3-408D-A153-59F051AB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10312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2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감사 로그와 오류 분석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4FA9505-3CF8-4AEC-B33E-F679191C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676656"/>
            <a:ext cx="1046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무엇을 추천했는지뿐 아니라 어떤 기억을 선택했고, 어떤 근거 없는 문장을 제거했는지 기록하도록 설계합니다.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F3A26737-D5A1-41A6-9955-542810EC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51560"/>
            <a:ext cx="1112824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AE0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64D85EB-5295-47EF-9672-5968C5F0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46888"/>
            <a:ext cx="1627632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A523D6A-2E5C-4E44-9FE8-7F602251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256032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4D77A6"/>
                </a:solidFill>
                <a:latin typeface="Aptos"/>
                <a:ea typeface="Aptos"/>
                <a:cs typeface="Aptos"/>
              </a:defRPr>
            </a:pPr>
            <a:r>
              <a:t>기술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A633FD7-F141-437D-9019-95877165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5486400" cy="32918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82337"/>
          </a:solidFill>
          <a:ln xmlns:a="http://schemas.openxmlformats.org/drawingml/2006/main">
            <a:solidFill>
              <a:srgbClr val="1823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4E16BE5-7D18-412E-A6FB-F8E3E07D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27632"/>
            <a:ext cx="4892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JSONL 감사 레코드 필드 예시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D4D189D-2EA1-441C-AB9C-98C4BB0A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1"/>
            <a:ext cx="484632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DFE9F1"/>
                </a:solidFill>
                <a:latin typeface="Aptos"/>
                <a:ea typeface="Aptos"/>
                <a:cs typeface="Aptos"/>
              </a:defRPr>
            </a:pPr>
            <a:r>
              <a:t>query_id · user_id · session_id · condition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DFE9F1"/>
                </a:solidFill>
                <a:latin typeface="Aptos"/>
                <a:ea typeface="Aptos"/>
                <a:cs typeface="Aptos"/>
              </a:defRPr>
            </a:pPr>
            <a:r>
              <a:t>extracted_profile · active_cluster_id · router_probs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DFE9F1"/>
                </a:solidFill>
                <a:latin typeface="Aptos"/>
                <a:ea typeface="Aptos"/>
                <a:cs typeface="Aptos"/>
              </a:defRPr>
            </a:pPr>
            <a:r>
              <a:t>retrieval_scores · R10 · grounding_record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DFE9F1"/>
                </a:solidFill>
                <a:latin typeface="Aptos"/>
                <a:ea typeface="Aptos"/>
                <a:cs typeface="Aptos"/>
              </a:defRPr>
            </a:pPr>
            <a:r>
              <a:t>final_claims · removed_sentences · snapshot_id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300" b="0">
                <a:solidFill>
                  <a:srgbClr val="DFE9F1"/>
                </a:solidFill>
                <a:latin typeface="Aptos"/>
                <a:ea typeface="Aptos"/>
                <a:cs typeface="Aptos"/>
              </a:defRPr>
            </a:pPr>
            <a:r>
              <a:t>prompt_hash · model_id · seed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0C9C8EB-1502-40DB-B9DF-18FB925D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371600"/>
            <a:ext cx="4983480" cy="32918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A193168-E7D7-479A-8262-72BD7F1B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627632"/>
            <a:ext cx="4389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오류 분류 체계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2BA7E57-FE19-4DB6-9709-D4256A48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057400"/>
            <a:ext cx="4389120" cy="2331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20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•  신호 추출 오류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20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•  메모리 쓰기·갱신 오류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20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•  맥락 라우팅 오류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20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•  검색·순위 오류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20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•  그라운딩·주장 검증 오류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20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•  평가 인공물 / 라벨 오류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21EE224-7B24-448E-B3B8-03CE1DF0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4920"/>
            <a:ext cx="10744200" cy="685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AEBE9"/>
          </a:solidFill>
          <a:ln xmlns:a="http://schemas.openxmlformats.org/drawingml/2006/main">
            <a:solidFill>
              <a:srgbClr val="FAE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FA94626-73CF-424C-B900-A17036AD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03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AE4843"/>
                </a:solidFill>
                <a:latin typeface="Aptos"/>
                <a:ea typeface="Aptos"/>
                <a:cs typeface="Aptos"/>
              </a:defRPr>
            </a:pPr>
            <a:r>
              <a:t>UCR(미검증 방문 주장률)·VCC(검증 필드 주장 포괄률)는 정의되어 있으나, 실측값·실행 로그는 아직 확인되지 않음.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649B8E2-DC42-4EF8-BAA7-3E95A3F7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37960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8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ARTHÉMIS · 365 Challenge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F09AC7F-AA3A-4DA6-9554-577A3143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9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639787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A07A03E-412B-4AA3-8B82-DEF7E3B2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248580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9CB4C9E-15E2-470A-8745-777A7542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10312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2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데모와 기술적 완성도: 설계와 구현 증거를 분리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F86CC3C-50E6-4F82-BDE0-B70D47D9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676656"/>
            <a:ext cx="1046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심사 항목은 작동 화면·예외 처리·속도·재현성 증거를 요구합니다.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EF27185D-F04C-4E33-8E9E-51CD5905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51560"/>
            <a:ext cx="1112824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AE0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5206E52-2022-4E0C-9E98-E3E5B619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46888"/>
            <a:ext cx="1627632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A791689-4E74-4C70-A24D-C00032B5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256032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4D77A6"/>
                </a:solidFill>
                <a:latin typeface="Aptos"/>
                <a:ea typeface="Aptos"/>
                <a:cs typeface="Aptos"/>
              </a:defRPr>
            </a:pPr>
            <a:r>
              <a:t>기술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60E0C1E-02E0-4617-BA4B-C234F1A7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3337560" cy="1234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1F3EF"/>
          </a:solidFill>
          <a:ln xmlns:a="http://schemas.openxmlformats.org/drawingml/2006/main">
            <a:solidFill>
              <a:srgbClr val="E1F3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E468B8D-AF81-473D-9815-C20F958B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545336"/>
            <a:ext cx="2971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시스템 아키텍처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26A84DB-9519-4903-A4EB-4A3A3BD2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892808"/>
            <a:ext cx="2971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0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논문에 설계 명세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5F81A88-B63A-4F84-8AEC-0EB22409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49424"/>
            <a:ext cx="1234440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48580"/>
          </a:solidFill>
          <a:ln xmlns:a="http://schemas.openxmlformats.org/drawingml/2006/main">
            <a:solidFill>
              <a:srgbClr val="2485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F803629-42CA-479E-B520-4A07FF4F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258568"/>
            <a:ext cx="116128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설계 근거 있음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E2561C6-5BBF-420B-BACD-EE31E55C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337560" cy="1234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AEBE9"/>
          </a:solidFill>
          <a:ln xmlns:a="http://schemas.openxmlformats.org/drawingml/2006/main">
            <a:solidFill>
              <a:srgbClr val="FAE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FEA380E-A8A6-498B-88D2-3165E849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545336"/>
            <a:ext cx="2971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실제 end-to-end 데모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B7B9E10-9708-4D37-A9F8-127E2077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892808"/>
            <a:ext cx="2971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0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실행 캡처 미제공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3D5788B-1E9C-4607-8691-F215F57C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249424"/>
            <a:ext cx="1234440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AE4843"/>
          </a:solidFill>
          <a:ln xmlns:a="http://schemas.openxmlformats.org/drawingml/2006/main">
            <a:solidFill>
              <a:srgbClr val="AE48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031B386-927B-4CBE-805A-BA7A9DA5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258568"/>
            <a:ext cx="116128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검증 필요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87A3269-B226-447D-87E8-A42D43E9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17320"/>
            <a:ext cx="3337560" cy="1234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AEBE9"/>
          </a:solidFill>
          <a:ln xmlns:a="http://schemas.openxmlformats.org/drawingml/2006/main">
            <a:solidFill>
              <a:srgbClr val="FAE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1B1E34B-DE51-452E-8201-A3113BBB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1545336"/>
            <a:ext cx="2971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오류·예외 테스트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6E2E529-34F8-4B80-A9FD-69F8C12D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1892808"/>
            <a:ext cx="2971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0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테스트 로그 미제공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4F4B607-54CE-4210-B778-24BB81E6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2249424"/>
            <a:ext cx="1234440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AE4843"/>
          </a:solidFill>
          <a:ln xmlns:a="http://schemas.openxmlformats.org/drawingml/2006/main">
            <a:solidFill>
              <a:srgbClr val="AE48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2491D0D-DA45-4DC4-BE42-23FDA3FE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7" y="2258568"/>
            <a:ext cx="116128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검증 필요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A88D6F34-6D68-4FCD-8CEE-0205196E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088"/>
            <a:ext cx="3337560" cy="1234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7E9"/>
          </a:solidFill>
          <a:ln xmlns:a="http://schemas.openxmlformats.org/drawingml/2006/main">
            <a:solidFill>
              <a:srgbClr val="FCF7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15D6B86-8169-4E29-A3E0-63382324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118104"/>
            <a:ext cx="2971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지연시간·비용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B008013-5537-4A2C-B50C-7C44F292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65576"/>
            <a:ext cx="2971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0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실측값 미제공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B3A09351-8E24-4D46-8FBC-FAC2D40B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822191"/>
            <a:ext cx="1234440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2B14A"/>
          </a:solidFill>
          <a:ln xmlns:a="http://schemas.openxmlformats.org/drawingml/2006/main">
            <a:solidFill>
              <a:srgbClr val="E2B1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EBEFF58-9878-4C3C-B2A0-57914617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831335"/>
            <a:ext cx="116128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측정 필요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A6503836-7064-4679-B645-5AAF55E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90088"/>
            <a:ext cx="3337560" cy="1234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AEBE9"/>
          </a:solidFill>
          <a:ln xmlns:a="http://schemas.openxmlformats.org/drawingml/2006/main">
            <a:solidFill>
              <a:srgbClr val="FAE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36BFA53-4AAE-4787-B35B-9DFC8645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118104"/>
            <a:ext cx="2971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Fresh clone 재현성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2A78D69-BF9B-4ADA-AA19-DF6BDD37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465576"/>
            <a:ext cx="2971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0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실행 결과 미제공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DE2D8E73-0ECB-4C7B-84AE-098D455D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822191"/>
            <a:ext cx="1234440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AE4843"/>
          </a:solidFill>
          <a:ln xmlns:a="http://schemas.openxmlformats.org/drawingml/2006/main">
            <a:solidFill>
              <a:srgbClr val="AE48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05540CC4-0065-4B09-8366-1605AAB4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831335"/>
            <a:ext cx="116128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검증 필요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5BD66582-7B66-4B13-A5F1-1E763117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0088"/>
            <a:ext cx="3337560" cy="1234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7E9"/>
          </a:solidFill>
          <a:ln xmlns:a="http://schemas.openxmlformats.org/drawingml/2006/main">
            <a:solidFill>
              <a:srgbClr val="FCF7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28D36C1-8E2B-4B0A-97C6-FC493C60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3118104"/>
            <a:ext cx="2971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UI/UX 사용성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F542EAF-DF2F-4DD8-824B-2C878CA0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3465576"/>
            <a:ext cx="2971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0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사용자 테스트 미제공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D457D118-5C49-4AB3-A973-9151D8D9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3822191"/>
            <a:ext cx="1234440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2B14A"/>
          </a:solidFill>
          <a:ln xmlns:a="http://schemas.openxmlformats.org/drawingml/2006/main">
            <a:solidFill>
              <a:srgbClr val="E2B1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00BAB1C5-E85A-4B78-A067-B1A9BED4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7" y="3831335"/>
            <a:ext cx="116128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검증 필요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FB81F909-A8EC-4A40-B52C-D7A504F8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744200" cy="7772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055303EB-2E91-4C57-ACB1-E1E5943D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2624"/>
            <a:ext cx="10241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권장 시연 순서: 맥락 A 질의 → 맥락 B 질의 → 선택된 클러스터 확인 → 작품 검색 → 근거 필드 확인 → 감사 로그 확인. 미구현 단계는 시연하지 말고 상태를 설명합니다.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C93CCBC1-3949-4382-8D51-90DC831A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37960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8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ARTHÉMIS · 365 Challenge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289E7CBF-2020-4FE9-9451-9A50CC5F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9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54363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91D3602-13DC-4A3F-ABE8-230234E9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248580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DBA9F0-F358-44AF-9560-D85CFE32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10312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2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사업 가치와 다음 검증 단계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D1A5E58-D6B3-41A2-AD36-1E6695BC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676656"/>
            <a:ext cx="10469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기관 도입 가능성은 현재 입증된 성과가 아니라, 파일럿에서 확인할 사업 가설입니다.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E2C9B5B1-A8BF-49C9-B8BD-7B02ADE0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51560"/>
            <a:ext cx="1112824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AE0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C2A1DE9-CB94-4E08-8B15-896A1815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46888"/>
            <a:ext cx="1627632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E7EF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0B0DBED-A760-49A2-A806-CEEEA310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256032"/>
            <a:ext cx="1554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900" b="1">
                <a:solidFill>
                  <a:srgbClr val="4D77A6"/>
                </a:solidFill>
                <a:latin typeface="Aptos"/>
                <a:ea typeface="Aptos"/>
                <a:cs typeface="Aptos"/>
              </a:defRPr>
            </a:pPr>
            <a:r>
              <a:t>사업성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3A5B9FD-D7CC-46B1-B3B9-720E0934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3291840" cy="15087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1F3EF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0FCE320-58FD-4C33-A45D-7EBC9A40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73152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580"/>
          </a:solidFill>
          <a:ln xmlns:a="http://schemas.openxmlformats.org/drawingml/2006/main">
            <a:solidFill>
              <a:srgbClr val="2485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FD50840-7C81-4D97-A9D4-5083AECE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087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잠재 적용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C781830-17B3-4216-A280-B5B2AF16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92807"/>
            <a:ext cx="2971800" cy="886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미술관 웹·키오스크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관람 전후 개인 큐레이션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소장품·전시 데이터 연계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04D14D9-514A-4C31-9416-7C899A4D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371600"/>
            <a:ext cx="3291840" cy="15087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7E9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23B541F-A0F2-444B-8BFD-1527DB6B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371600"/>
            <a:ext cx="73152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14A"/>
          </a:solidFill>
          <a:ln xmlns:a="http://schemas.openxmlformats.org/drawingml/2006/main">
            <a:solidFill>
              <a:srgbClr val="E2B1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776F3CF-A37B-4B22-B303-A573CBB2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087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검증할 가치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B107AE7-ECC9-460B-AB0B-9CB310A7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92807"/>
            <a:ext cx="2971800" cy="886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추천 적합성·재방문 의향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큐레이터 검토 부담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접근성·설명 가능성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7D98B90-79F8-40CE-B4E3-8676262C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371600"/>
            <a:ext cx="3291840" cy="15087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>
            <a:solidFill>
              <a:srgbClr val="DAE0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A9FF968-1565-4FBA-A532-B68A9D35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371600"/>
            <a:ext cx="73152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6"/>
          </a:solidFill>
          <a:ln xmlns:a="http://schemas.openxmlformats.org/drawingml/2006/main">
            <a:solidFill>
              <a:srgbClr val="4D77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84061EE-D7DB-4A79-A5AA-C7999B93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15087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사업 가설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5F55C7D-3DFD-40E0-9DF3-18410BB2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1892807"/>
            <a:ext cx="2971800" cy="886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기관 연계·운영 비용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사용자 지불 의사·반복 사용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데이터 갱신 책임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24FFF05C-B266-4396-90D7-ADBBF7BC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03320"/>
            <a:ext cx="411480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48580"/>
          </a:solidFill>
          <a:ln xmlns:a="http://schemas.openxmlformats.org/drawingml/2006/main">
            <a:solidFill>
              <a:srgbClr val="2485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FEAE7B4-F772-4019-9DA8-1D0C8AE0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712463"/>
            <a:ext cx="33832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EB1D7DD-72D3-4DE6-BC83-24ECADF5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3694176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기능 게이트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EEBC09F-4575-49E2-A8AF-7D7D20A1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4041648"/>
            <a:ext cx="2011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0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end-to-end·로그·예외 처리</a:t>
            </a: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36368F12-7807-4002-A243-B294CDAB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86791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DAE0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B766C80-682D-4EC4-AF3C-0FC62FB9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703320"/>
            <a:ext cx="411480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48580"/>
          </a:solidFill>
          <a:ln xmlns:a="http://schemas.openxmlformats.org/drawingml/2006/main">
            <a:solidFill>
              <a:srgbClr val="2485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1A6377F-33BF-41AF-9B6E-F4257C47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3712463"/>
            <a:ext cx="33832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0C5B8B2-CC73-4627-A290-0CD2EA51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1" y="3694176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통제 평가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83EC657-F7B0-4017-A25E-2EB273D6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1" y="4041648"/>
            <a:ext cx="2011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0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H1/H2·Guard G·오류 분석</a:t>
            </a:r>
          </a:p>
        </p:txBody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C043720C-477C-41E5-B949-5BC66EC9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86791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DAE0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4D778C7A-F572-4C3C-B9F4-0BC81EEF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3703320"/>
            <a:ext cx="411480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D77A6"/>
          </a:solidFill>
          <a:ln xmlns:a="http://schemas.openxmlformats.org/drawingml/2006/main">
            <a:solidFill>
              <a:srgbClr val="4D77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72B1619-E759-4F8B-A020-125C0D90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5" y="3712463"/>
            <a:ext cx="33832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033423A-E969-4F58-9F01-C4D3FE14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1" y="3694176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사용자 파일럿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7A622E8-7DBD-4079-95EF-2B2E583C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1" y="4041648"/>
            <a:ext cx="2011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0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동의·사용성·큐레이터 평가</a:t>
            </a:r>
          </a:p>
        </p:txBody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8E0ED774-DA79-4CBC-822C-9EF9AE3A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86791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DAE0E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AE5C1082-1209-47CC-B030-2571CDC2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3703320"/>
            <a:ext cx="411480" cy="274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D77A6"/>
          </a:solidFill>
          <a:ln xmlns:a="http://schemas.openxmlformats.org/drawingml/2006/main">
            <a:solidFill>
              <a:srgbClr val="4D77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3E26B59B-F7C9-49BD-9F29-79299286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5" y="3712463"/>
            <a:ext cx="33832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76B4940D-30D7-4F00-8F9D-00FDC7FE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1" y="3694176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1">
                <a:solidFill>
                  <a:srgbClr val="182337"/>
                </a:solidFill>
                <a:latin typeface="Aptos"/>
                <a:ea typeface="Aptos"/>
                <a:cs typeface="Aptos"/>
              </a:defRPr>
            </a:pPr>
            <a:r>
              <a:t>기관 실증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3E4753DB-24C5-47EE-AA31-77C7253F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1" y="4041648"/>
            <a:ext cx="2011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000" b="0">
                <a:solidFill>
                  <a:srgbClr val="27303E"/>
                </a:solidFill>
                <a:latin typeface="Aptos"/>
                <a:ea typeface="Aptos"/>
                <a:cs typeface="Aptos"/>
              </a:defRPr>
            </a:pPr>
            <a:r>
              <a:t>운영비·연계·지속 가능성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503ADFFE-68C5-4A52-A202-20EDF94B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10744200" cy="5943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AEBE9"/>
          </a:solidFill>
          <a:ln xmlns:a="http://schemas.openxmlformats.org/drawingml/2006/main">
            <a:solidFill>
              <a:srgbClr val="FAE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F37D8817-EA7B-4A65-B45F-F1AA2C09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AE4843"/>
                </a:solidFill>
                <a:latin typeface="Aptos"/>
                <a:ea typeface="Aptos"/>
                <a:cs typeface="Aptos"/>
              </a:defRPr>
            </a:pPr>
            <a:r>
              <a:t>시장 규모·기관 지불 의사·실사용률·운영 지속 가능성은 현재 자료만으로 판단할 수 없습니다.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72941A2C-A851-40E7-B588-544D77B6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37960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8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ARTHÉMIS · 365 Challenge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B829B843-108D-444D-B4C5-9CA48A18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9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95258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823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CECBC9-3914-4465-9990-527EE385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"/>
            <a:ext cx="685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1">
                <a:solidFill>
                  <a:srgbClr val="E2B14A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F20A6E3-6B82-40BD-9DFB-DEA2D4BB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6984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2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결론: 설계 기여는 명확히, 성과 주장은 증거 이후에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B39DD8BB-4C73-43B7-86CB-CE7A29A9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37360"/>
            <a:ext cx="105156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F617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7700343-71A4-4109-B1C9-28A6DF90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0312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E2B14A"/>
                </a:solidFill>
                <a:latin typeface="Aptos"/>
                <a:ea typeface="Aptos"/>
                <a:cs typeface="Aptos"/>
              </a:defRPr>
            </a:pPr>
            <a:r>
              <a:t>01 · 기억 구조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8BED994-655B-4274-BD1E-21061DE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103120"/>
            <a:ext cx="7680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Session Node와 Taste Cluster를 구분하고, Context Router로 맥락별 선택을 설계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63C964E-8F10-49EC-901D-DC2A4161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63239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E2B14A"/>
                </a:solidFill>
                <a:latin typeface="Aptos"/>
                <a:ea typeface="Aptos"/>
                <a:cs typeface="Aptos"/>
              </a:defRPr>
            </a:pPr>
            <a:r>
              <a:t>02 · 통제 평가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B5E2DF1-B095-40D2-86C0-9C3773FB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063239"/>
            <a:ext cx="7680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공유 프로필 슬롯 Φ 외의 변수를 고정해 메모리 구조의 효과를 분리하도록 계획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CC14662-5E61-47D2-B1A9-C038FBB5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2336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500" b="1">
                <a:solidFill>
                  <a:srgbClr val="E2B14A"/>
                </a:solidFill>
                <a:latin typeface="Aptos"/>
                <a:ea typeface="Aptos"/>
                <a:cs typeface="Aptos"/>
              </a:defRPr>
            </a:pPr>
            <a:r>
              <a:t>03 · 근거 제한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00F0B61-B537-404E-A602-85FD4E60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023360"/>
            <a:ext cx="7680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동결 전시 스냅샷에서 확인된 필드만 안내하고, 미지지 주장을 감사하도록 설계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49B5068-D8A7-4DB8-8D68-D23E18C7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4068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300" b="1">
                <a:solidFill>
                  <a:srgbClr val="F0BEB7"/>
                </a:solidFill>
                <a:latin typeface="Aptos"/>
                <a:ea typeface="Aptos"/>
                <a:cs typeface="Aptos"/>
              </a:defRPr>
            </a:pPr>
            <a:r>
              <a:t>현재 미확정: 실측 성능 · 사용자 검증 · 운영 부하 · 재현성 실행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1C838A6-C1E6-4CEA-A484-22FC797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080760"/>
            <a:ext cx="10332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200" b="0">
                <a:solidFill>
                  <a:srgbClr val="CAD5E0"/>
                </a:solidFill>
                <a:latin typeface="Aptos"/>
                <a:ea typeface="Aptos"/>
                <a:cs typeface="Aptos"/>
              </a:defRPr>
            </a:pPr>
            <a:r>
              <a:t>감사합니다. 질문을 받겠습니다.  |  팀명·팀원 정보는 제공되지 않아 임의 기재하지 않았습니다.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CB37579-82C0-47C1-B525-D9845302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37960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8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ARTHÉMIS · 365 Challenge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0385C50-6BDE-4ED6-9A26-D993A96E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900" b="0">
                <a:solidFill>
                  <a:srgbClr val="646F80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931207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2026-10-19T07:19:54.5590000Z</dcterms:created>
  <dcterms:modified xsi:type="dcterms:W3CDTF">2026-10-19T07:19:54.5590000Z</dcterms:modified>
</coreProperties>
</file>