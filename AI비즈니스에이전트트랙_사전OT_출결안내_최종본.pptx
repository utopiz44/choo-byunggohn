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DDA32-8420-42BD-9AB0-99EE6425847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D4F86-0426-4483-8EE8-ABBF55BE8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728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온라인 교육 기간에 인정되는 출석 조건입니다. 오프라인 교육 기간에는 QR 체크인/아웃과 일일 회고 두 가지만 진행하면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0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A36ED"/>
              </a:gs>
              <a:gs pos="100000">
                <a:srgbClr val="6700E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AI 비즈니스 에이전트 트랙 레이서를 위한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사전 오리엔테이션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337560"/>
            <a:ext cx="82296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출결 안내와 서약서, 동의서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개강 2026. 10. 21 (수)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14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10:00 ~ 18:00  |  온라인 실시간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오늘의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진행 순서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676656"/>
          </a:xfrm>
          <a:prstGeom prst="roundRect">
            <a:avLst>
              <a:gd name="adj" fmla="val 18918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1800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01      </a:t>
            </a:r>
            <a:r>
              <a:rPr sz="19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출석 방법    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온라인 출석 인정 4가지 조건, 고용24 QR, 자리이탈감지, 웹캠과 회고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98064"/>
            <a:ext cx="10820095" cy="676656"/>
          </a:xfrm>
          <a:prstGeom prst="roundRect">
            <a:avLst>
              <a:gd name="adj" fmla="val 18918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907792"/>
            <a:ext cx="101800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02      </a:t>
            </a:r>
            <a:r>
              <a:rPr sz="19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출결 규정    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지각, 조퇴, 외출, 결석 기준과 결석 인정 사유, 출결 정정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84448"/>
            <a:ext cx="10820095" cy="676656"/>
          </a:xfrm>
          <a:prstGeom prst="roundRect">
            <a:avLst>
              <a:gd name="adj" fmla="val 18918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694176"/>
            <a:ext cx="101800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03      </a:t>
            </a:r>
            <a:r>
              <a:rPr sz="19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제적 기준과 부정출결    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출결에 따른 제적 기준, 부정출결 안내와 확인된 사례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70832"/>
            <a:ext cx="10820095" cy="676656"/>
          </a:xfrm>
          <a:prstGeom prst="roundRect">
            <a:avLst>
              <a:gd name="adj" fmla="val 18918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101800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04      </a:t>
            </a:r>
            <a:r>
              <a:rPr sz="19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서약서와 동의서    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사전 OT 종료 후 카카오톡 발송, 확인 후 서명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157216"/>
            <a:ext cx="10820095" cy="676656"/>
          </a:xfrm>
          <a:prstGeom prst="roundRect">
            <a:avLst>
              <a:gd name="adj" fmla="val 18918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266944"/>
            <a:ext cx="101800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05      </a:t>
            </a:r>
            <a:r>
              <a:rPr sz="19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개강일 안내    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10/21 개강일 출결 흐름과 오늘 마쳐야 할 체크리스트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02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0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A36ED"/>
              </a:gs>
              <a:gs pos="100000">
                <a:srgbClr val="6700E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01  출석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온라인 교육 출석 인정 4가지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온라인 교육 기간(10/21 ~ 12/22)에 매일 진행하는 출석 인정 조건입니다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5272887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4632807" cy="1472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21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고용24 QR 체크인/아웃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✔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고용24 직업훈련 출결관리 앱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✔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입실, 퇴실 QR을 매일 스캔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011680"/>
            <a:ext cx="5272887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3047" y="2121408"/>
            <a:ext cx="4632807" cy="1472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21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자리이탈감지 활성화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✔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얼굴 인식 기반 좌석 출결 시스템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✔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LXP 출석부에서 등록 후 창 유지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40"/>
            <a:ext cx="5272887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087368"/>
            <a:ext cx="4632807" cy="1472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21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강의실 입실 + 웹캠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✔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LXP 온라인 강의실 접속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✔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웹캠 ON, 마이크는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3977640"/>
            <a:ext cx="5272887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3047" y="4087368"/>
            <a:ext cx="4632807" cy="1472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21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일일 회고 작성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✔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매일 학습 종료 후 작성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✔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LXP 학습 과목에 제출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06440"/>
            <a:ext cx="10820095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806440"/>
            <a:ext cx="102714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dirty="0" err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오프라인</a:t>
            </a:r>
            <a:r>
              <a:rPr sz="1500" b="0" dirty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교육</a:t>
            </a:r>
            <a:r>
              <a:rPr sz="1500" b="0" dirty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기간에는</a:t>
            </a:r>
            <a:r>
              <a:rPr sz="1500" b="0" dirty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QR </a:t>
            </a:r>
            <a:r>
              <a:rPr sz="1500" b="1" dirty="0" err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체크인</a:t>
            </a:r>
            <a:r>
              <a:rPr sz="1500" b="1" dirty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500" b="1" dirty="0" err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아웃과</a:t>
            </a:r>
            <a:r>
              <a:rPr sz="1500" b="1" dirty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일일</a:t>
            </a:r>
            <a:r>
              <a:rPr sz="1500" b="1" dirty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회고</a:t>
            </a:r>
            <a:r>
              <a:rPr sz="1500" b="0" dirty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 두 </a:t>
            </a:r>
            <a:r>
              <a:rPr sz="1500" b="0" dirty="0" err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가지로</a:t>
            </a:r>
            <a:r>
              <a:rPr sz="1500" b="0" dirty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출석이</a:t>
            </a:r>
            <a:r>
              <a:rPr sz="1500" b="0" dirty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인정됩니다</a:t>
            </a:r>
            <a:endParaRPr sz="1500" b="0" dirty="0">
              <a:solidFill>
                <a:srgbClr val="11111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03</a:t>
            </a: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01  출석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조건 1. 고용24 QR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체크인/아웃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고용24 직업훈련 출결관리 앱으로 매일 아침, 저녁 QR 스캔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72887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21408"/>
            <a:ext cx="4632807" cy="1197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체크인 (입실)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30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09:50 ~ 10:10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매일 아침 10시 수업 시작 전 QR 스캔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011680"/>
            <a:ext cx="5272887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3047" y="2121408"/>
            <a:ext cx="4632807" cy="1197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체크아웃 (퇴실)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30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17:50 ~ 19:00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수업 종료 후 퇴실 체크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57600"/>
            <a:ext cx="10820095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767328"/>
            <a:ext cx="1018001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QR이 안 찍힐 때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5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 오류, 스캔 실패  →  스크린샷 저장  →  당일 디스코드 #운영 채널에 공유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5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서버 전체 장애  →  운영진이 공지로 대안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66360"/>
            <a:ext cx="108200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•  수업이 19시에 끝나는 날은 체크아웃이 </a:t>
            </a: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18:50 ~ 20:00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으로 바뀝니다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•  10/21 개강일도 </a:t>
            </a: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동일 시간 적용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, 개강 전에 알람을 맞춰 두면 편리합니다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760720"/>
            <a:ext cx="10820095" cy="475488"/>
          </a:xfrm>
          <a:prstGeom prst="roundRect">
            <a:avLst>
              <a:gd name="adj" fmla="val 19230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760720"/>
            <a:ext cx="1027145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TIP 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스캔 후 "출석 완료" 알림이 떴는지 함께 확인해 주십시오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04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01  출석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고용24 앱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설치 &amp;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지금 직접 설치하고, 로그인과 참여 과정 확인까지 진행합니다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396413" cy="2743200"/>
          </a:xfrm>
          <a:prstGeom prst="roundRect">
            <a:avLst>
              <a:gd name="adj" fmla="val 5341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2030653" cy="252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20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앱 설치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스토어에서 검색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고용24 직업훈련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출결관리 앱 설치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5365" y="3300984"/>
            <a:ext cx="274320" cy="164592"/>
          </a:xfrm>
          <a:prstGeom prst="rightArrow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93693" y="2011680"/>
            <a:ext cx="2396413" cy="2743200"/>
          </a:xfrm>
          <a:prstGeom prst="roundRect">
            <a:avLst>
              <a:gd name="adj" fmla="val 5341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6573" y="2121408"/>
            <a:ext cx="2030653" cy="252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20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HRD-Net 계정이나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간편인증으로 로그인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63259" y="3300984"/>
            <a:ext cx="274320" cy="164592"/>
          </a:xfrm>
          <a:prstGeom prst="rightArrow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1587" y="2011680"/>
            <a:ext cx="2396413" cy="2743200"/>
          </a:xfrm>
          <a:prstGeom prst="roundRect">
            <a:avLst>
              <a:gd name="adj" fmla="val 5341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4467" y="2121408"/>
            <a:ext cx="2030653" cy="252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20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과정 확인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훈련중인 과정에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본 과정이 보이는지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71153" y="3300984"/>
            <a:ext cx="274320" cy="164592"/>
          </a:xfrm>
          <a:prstGeom prst="rightArrow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09481" y="2011680"/>
            <a:ext cx="2396413" cy="2743200"/>
          </a:xfrm>
          <a:prstGeom prst="roundRect">
            <a:avLst>
              <a:gd name="adj" fmla="val 5341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2361" y="2121408"/>
            <a:ext cx="2030653" cy="252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20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QR 스캔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체크인, 체크아웃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QR 스캔 후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출석 완료 알림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20640"/>
            <a:ext cx="10820095" cy="475488"/>
          </a:xfrm>
          <a:prstGeom prst="roundRect">
            <a:avLst>
              <a:gd name="adj" fmla="val 19230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120640"/>
            <a:ext cx="1027145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도움이 필요하면 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설치나 과정 확인이 안 될 때는 디스코드 #운영 채널로 말씀해 주십시오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05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0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A36ED"/>
              </a:gs>
              <a:gs pos="100000">
                <a:srgbClr val="6700E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01  출석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 2. 자리이탈감지 얼굴인식 출석부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얼굴인식 기반 좌석 출결 시스템, 개강 전에 미리 얼굴 등록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103120"/>
            <a:ext cx="457200" cy="457200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6791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45920" y="2249424"/>
            <a:ext cx="1607743" cy="164592"/>
          </a:xfrm>
          <a:prstGeom prst="rightArrow">
            <a:avLst/>
          </a:prstGeom>
          <a:solidFill>
            <a:srgbClr val="E9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36543" y="2103120"/>
            <a:ext cx="457200" cy="457200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36543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7863" y="26791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출석부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76623" y="2249424"/>
            <a:ext cx="1607743" cy="164592"/>
          </a:xfrm>
          <a:prstGeom prst="rightArrow">
            <a:avLst/>
          </a:prstGeom>
          <a:solidFill>
            <a:srgbClr val="E9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67247" y="2103120"/>
            <a:ext cx="457200" cy="457200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67247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26791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출석하기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07327" y="2249424"/>
            <a:ext cx="1607743" cy="164592"/>
          </a:xfrm>
          <a:prstGeom prst="rightArrow">
            <a:avLst/>
          </a:prstGeom>
          <a:solidFill>
            <a:srgbClr val="E9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97951" y="2103120"/>
            <a:ext cx="457200" cy="457200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7951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271" y="26791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자리 체류 감지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38031" y="2249424"/>
            <a:ext cx="1607743" cy="164592"/>
          </a:xfrm>
          <a:prstGeom prst="rightArrow">
            <a:avLst/>
          </a:prstGeom>
          <a:solidFill>
            <a:srgbClr val="E9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28655" y="2103120"/>
            <a:ext cx="457200" cy="457200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28655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9975" y="26791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카메라 설정, 얼굴 인식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15468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얼굴 인식 시간이 뜨면 등록 완료입니다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11880"/>
            <a:ext cx="10820095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3721608"/>
            <a:ext cx="10180015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이용 안내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•  출석 중에는 출석부 창을 켜 둔 채로 수업에 참여해 주십시오 (창을 닫으면 인증이 끊길 수 있습니다)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•  퇴실할 때는 대시보드  →  출석부  →  퇴실 버튼.  웹캠 인식이 안 되면 운영진이 바로 도와드립니다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66360"/>
            <a:ext cx="10820095" cy="566928"/>
          </a:xfrm>
          <a:prstGeom prst="roundRect">
            <a:avLst>
              <a:gd name="adj" fmla="val 16129"/>
            </a:avLst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16636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실습 시간  </a:t>
            </a: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함께 자리이탈감지 세팅(얼굴 등록)을 진행합니다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06</a:t>
            </a: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01  출석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조건 3, 4.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강의실 + 웹캠, 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온라인 교육 기간(10/21 ~ 12/22) 매일 지켜야 할 두 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72887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21408"/>
            <a:ext cx="4632807" cy="2615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조건 3. 강의실 입실 + 웹캠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매일 LXP 강의실 접속 후 웹캠 ON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마이크는 OFF (질문할 때만 ON)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웹캠이 없으면 디스코드 #운영 채널로 대여 요청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011680"/>
            <a:ext cx="5272887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3047" y="2121408"/>
            <a:ext cx="4632807" cy="2615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조건 4. 일일 회고 제출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매일 학습 종료 후 회고 작성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제출 위치: LXP 학습 과목의 회고 템플릿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5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회고 제출까지 마치면 당일 출석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120640"/>
            <a:ext cx="10820095" cy="512064"/>
          </a:xfrm>
          <a:prstGeom prst="roundRect">
            <a:avLst>
              <a:gd name="adj" fmla="val 17857"/>
            </a:avLst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120640"/>
            <a:ext cx="102714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함께 챙길 것  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체크아웃 QR,  출석 완료 알림 확인,  퇴실 버튼 클릭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07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01  출석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휴강일 </a:t>
            </a: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수업과 출결 체크가 없는 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1981139" cy="2011680"/>
          </a:xfrm>
          <a:prstGeom prst="roundRect">
            <a:avLst>
              <a:gd name="adj" fmla="val 6461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1706819" cy="17922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11/4 (수)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엘리스 전사행사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539" y="2286000"/>
            <a:ext cx="1981139" cy="2011680"/>
          </a:xfrm>
          <a:prstGeom prst="roundRect">
            <a:avLst>
              <a:gd name="adj" fmla="val 6461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32699" y="2395728"/>
            <a:ext cx="1706819" cy="17922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12/25 (금)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성탄절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5278" y="2286000"/>
            <a:ext cx="1981139" cy="2011680"/>
          </a:xfrm>
          <a:prstGeom prst="roundRect">
            <a:avLst>
              <a:gd name="adj" fmla="val 6461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42438" y="2395728"/>
            <a:ext cx="1706819" cy="17922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1/1 (금)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017" y="2286000"/>
            <a:ext cx="1981139" cy="2011680"/>
          </a:xfrm>
          <a:prstGeom prst="roundRect">
            <a:avLst>
              <a:gd name="adj" fmla="val 6461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177" y="2395728"/>
            <a:ext cx="1706819" cy="17922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2/8 ~ 2/9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설 연휴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4756" y="2286000"/>
            <a:ext cx="1981139" cy="2011680"/>
          </a:xfrm>
          <a:prstGeom prst="roundRect">
            <a:avLst>
              <a:gd name="adj" fmla="val 6461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61916" y="2395728"/>
            <a:ext cx="1706819" cy="17922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3/1 (월)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삼일절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1772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상세 일정은 노션 공지사항의 확정본을 확인해 주십시오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08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02  출결 규정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단위기간 &amp;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지각, 조퇴, 외출, 결석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출석 인정 기준에 따라 지각, 조퇴, 외출, 결석이 구분됩니다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0820095" cy="777240"/>
          </a:xfrm>
          <a:prstGeom prst="roundRect">
            <a:avLst>
              <a:gd name="adj" fmla="val 16470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10271455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단위기간이란?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개강일(10/21)부터 수업 일자를 한 달 단위로 끊은 기간. 결석률은 단위기간별로 관리됩니다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1082009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0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081528"/>
            <a:ext cx="1027145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01      </a:t>
            </a:r>
            <a:r>
              <a:rPr sz="17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지각    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체크인 시간 이후 접속하면서 수업 시간의 </a:t>
            </a:r>
            <a:r>
              <a:rPr sz="15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1/2 이상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을 수강한 경우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11880"/>
            <a:ext cx="1082009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0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721608"/>
            <a:ext cx="1027145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02      </a:t>
            </a:r>
            <a:r>
              <a:rPr sz="17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조퇴    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수업 시간의 </a:t>
            </a:r>
            <a:r>
              <a:rPr sz="15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1/2 이상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수강 후 퇴실, 고용24 앱에서 </a:t>
            </a:r>
            <a:r>
              <a:rPr sz="15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퇴실 체크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51960"/>
            <a:ext cx="1082009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0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361688"/>
            <a:ext cx="1027145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03      </a:t>
            </a:r>
            <a:r>
              <a:rPr sz="17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외출    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수업 시간의 </a:t>
            </a:r>
            <a:r>
              <a:rPr sz="15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1/2 이하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로 외출, 외출과 복귀 시 </a:t>
            </a:r>
            <a:r>
              <a:rPr sz="15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QR 스캔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92040"/>
            <a:ext cx="10820095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0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001768"/>
            <a:ext cx="1027145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04      </a:t>
            </a:r>
            <a:r>
              <a:rPr sz="17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결석      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수업 시간의 </a:t>
            </a:r>
            <a:r>
              <a:rPr sz="15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1/2 미만</a:t>
            </a: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수강한 경우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577840"/>
            <a:ext cx="10820095" cy="512064"/>
          </a:xfrm>
          <a:prstGeom prst="roundRect">
            <a:avLst>
              <a:gd name="adj" fmla="val 17857"/>
            </a:avLst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577840"/>
            <a:ext cx="102714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지각, 조퇴, 외출 </a:t>
            </a:r>
            <a:r>
              <a:rPr sz="16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3회 = 결석 1일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1주 차부터 누적되니 시간을 미리 챙겨 주십시오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09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02  출결 규정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결석 인정 사유 &amp;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증빙 서류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아래 사유에 해당하면 증빙 서류 제출로 결석을 인정받을 수 있습니다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011680"/>
          <a:ext cx="10820094" cy="3474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06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사유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670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인정 일수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670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인정 서류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670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예비군, 민방위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소요일수 인정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소집통지서, 복무확인서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면접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인정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면접 확인증 (이메일 등)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결혼 (본인)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5일 인정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청첩장, 혼인신고서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결혼 (자녀)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인정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관계증명서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사망 (배우자, 직계)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5일 인정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사망진단서, 관계증명서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사망 (조부모, 형제자매)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 인정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사망진단서, 관계증명서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출산 (본인, 배우자)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5일 인정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출산증명서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질병 (본인, 만19세 미만 자녀)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요양기간 (전체 10% 이내)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진단서, 의료기관 영수증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디바이스, 장비 고장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소요일 인정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스크린샷 등 증빙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5623560"/>
            <a:ext cx="10820095" cy="475488"/>
          </a:xfrm>
          <a:prstGeom prst="roundRect">
            <a:avLst>
              <a:gd name="adj" fmla="val 19230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5623560"/>
            <a:ext cx="1027145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제출 기한 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발생일 다음 날까지 디스코드 개인 전용 채널로 제출해 주십시오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02  출결 규정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출결 정정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결석 인정 사유에 해당하면 아래 순서로 출결 정정을 요청합니다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929932" cy="2560320"/>
          </a:xfrm>
          <a:prstGeom prst="roundRect">
            <a:avLst>
              <a:gd name="adj" fmla="val 6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1655612" cy="2340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7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증빙 준비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결석 인정 사유에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맞는 증빙 서류 준비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43164" y="3209544"/>
            <a:ext cx="237744" cy="164592"/>
          </a:xfrm>
          <a:prstGeom prst="rightArrow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08340" y="2011680"/>
            <a:ext cx="1929932" cy="2560320"/>
          </a:xfrm>
          <a:prstGeom prst="roundRect">
            <a:avLst>
              <a:gd name="adj" fmla="val 6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5500" y="2121408"/>
            <a:ext cx="1655612" cy="2340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7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채널로 제출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디스코드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개인 전용 채널로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증빙 제출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65705" y="3209544"/>
            <a:ext cx="237744" cy="164592"/>
          </a:xfrm>
          <a:prstGeom prst="rightArrow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30881" y="2011680"/>
            <a:ext cx="1929932" cy="2560320"/>
          </a:xfrm>
          <a:prstGeom prst="roundRect">
            <a:avLst>
              <a:gd name="adj" fmla="val 6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68041" y="2121408"/>
            <a:ext cx="1655612" cy="2340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dirty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700" b="1" dirty="0" err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대장</a:t>
            </a:r>
            <a:r>
              <a:rPr sz="1700" b="1" dirty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서명</a:t>
            </a:r>
            <a:endParaRPr sz="1700" b="1" dirty="0">
              <a:solidFill>
                <a:srgbClr val="111118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매니저</a:t>
            </a:r>
            <a:r>
              <a:rPr sz="14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4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후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모두싸인으로</a:t>
            </a:r>
            <a:r>
              <a:rPr sz="140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받은</a:t>
            </a:r>
            <a:endParaRPr sz="1400" b="0" dirty="0">
              <a:solidFill>
                <a:srgbClr val="6B728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출석입력요청대장에</a:t>
            </a:r>
            <a:endParaRPr sz="1400" b="0" dirty="0">
              <a:solidFill>
                <a:srgbClr val="6B728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1" dirty="0" err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sz="1400" b="1" dirty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정자</a:t>
            </a:r>
            <a:r>
              <a:rPr sz="1400" b="1" dirty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서명</a:t>
            </a:r>
            <a:endParaRPr sz="1400" b="1" dirty="0">
              <a:solidFill>
                <a:srgbClr val="6700E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088245" y="3209544"/>
            <a:ext cx="237744" cy="164592"/>
          </a:xfrm>
          <a:prstGeom prst="rightArrow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53421" y="2011680"/>
            <a:ext cx="1929932" cy="2560320"/>
          </a:xfrm>
          <a:prstGeom prst="roundRect">
            <a:avLst>
              <a:gd name="adj" fmla="val 6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0581" y="2121408"/>
            <a:ext cx="1655612" cy="2340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7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정정 완료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영업일 3~5일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이내 정정 처리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10786" y="3209544"/>
            <a:ext cx="237744" cy="164592"/>
          </a:xfrm>
          <a:prstGeom prst="rightArrow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75962" y="2011680"/>
            <a:ext cx="1929932" cy="2560320"/>
          </a:xfrm>
          <a:prstGeom prst="roundRect">
            <a:avLst>
              <a:gd name="adj" fmla="val 6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13122" y="2121408"/>
            <a:ext cx="1655612" cy="2340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5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7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제출 기한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발생일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다음 날까지 제출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92040"/>
            <a:ext cx="10820095" cy="475488"/>
          </a:xfrm>
          <a:prstGeom prst="roundRect">
            <a:avLst>
              <a:gd name="adj" fmla="val 19230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892040"/>
            <a:ext cx="1027145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제출 채널 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개인 DM, 문자, 전화 대신 디스코드 개인 전용 채널로 보내 주십시오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11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03  제적 기준과 부정출결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출결에 따른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제적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아래 기준 중 하나에 해당하면 제적 처리됩니다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423818" cy="2651760"/>
          </a:xfrm>
          <a:prstGeom prst="roundRect">
            <a:avLst>
              <a:gd name="adj" fmla="val 4827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21408"/>
            <a:ext cx="2783738" cy="2432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단위기간 결석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34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50% 이상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단위기간(1개월) 결석일수가 소정훈련일수의 50% 이상 (14일 이상 과정)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2011680"/>
            <a:ext cx="3423818" cy="2651760"/>
          </a:xfrm>
          <a:prstGeom prst="roundRect">
            <a:avLst>
              <a:gd name="adj" fmla="val 4827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3978" y="2121408"/>
            <a:ext cx="2783738" cy="2432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총 결석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34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20% 초과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총 결석일수가 전체 소정훈련일수의 20%를 초과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2076" y="2011680"/>
            <a:ext cx="3423818" cy="2651760"/>
          </a:xfrm>
          <a:prstGeom prst="roundRect">
            <a:avLst>
              <a:gd name="adj" fmla="val 4827"/>
            </a:avLst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02116" y="2121408"/>
            <a:ext cx="2783738" cy="2432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부정출결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34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제적 대상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거짓 또는 부정한 방법으로 출석을 확인하거나 대리 출석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83480"/>
            <a:ext cx="10820095" cy="512064"/>
          </a:xfrm>
          <a:prstGeom prst="roundRect">
            <a:avLst>
              <a:gd name="adj" fmla="val 17857"/>
            </a:avLst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102714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수료하려면 </a:t>
            </a:r>
            <a:r>
              <a:rPr sz="16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출석률 80% 이상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필요합니다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03  제적 기준과 부정출결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부정출결 </a:t>
            </a: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정부지원금으로 운영되는 과정이므로, 출석은 정해진 방법으로만 확인할 수 있습니다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72887" cy="3108960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21408"/>
            <a:ext cx="4541367" cy="2889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부정출결에 해당하는 행위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수업에 참여하지 않고 출석만 확인 (허위출결)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다른 훈련생 대신 출석 확인 (대리출석)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외출 처리 없이 자리 비움 (무단외출)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내일배움카드 등 출결 수단 대여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011680"/>
            <a:ext cx="5272887" cy="3108960"/>
          </a:xfrm>
          <a:prstGeom prst="roundRect">
            <a:avLst>
              <a:gd name="adj" fmla="val 4117"/>
            </a:avLst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98767" y="2121408"/>
            <a:ext cx="4541367" cy="2889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부정출결로 확인될 경우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제적 처리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계좌잔액 소멸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유효기간 종료일까지 카드 사용 중지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부정출결 이후 지원받은 금액의 2배 상당 반환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최대 3년 범위에서 정부지원 훈련 제한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820095" cy="475488"/>
          </a:xfrm>
          <a:prstGeom prst="roundRect">
            <a:avLst>
              <a:gd name="adj" fmla="val 19230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349240"/>
            <a:ext cx="1027145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참고   </a:t>
            </a: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같은 내용이 서약서 "2. 부정출결 금지" 항목에도 안내되어 있습니다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03  제적 기준과 부정출결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부정출결로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확인된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그동안 부정출결로 확인된 사례입니다. 같은 상황이 생기지 않도록 미리 살펴봐 주십시오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0820095" cy="467487"/>
          </a:xfrm>
          <a:prstGeom prst="roundRect">
            <a:avLst>
              <a:gd name="adj" fmla="val 15647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05256" y="2099119"/>
            <a:ext cx="292608" cy="292608"/>
          </a:xfrm>
          <a:prstGeom prst="ellipse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09911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11680"/>
            <a:ext cx="9905695" cy="4674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수업 장소가 업무 환경으로 파악된 경우 (예: 인턴과 교육 병행)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52319"/>
            <a:ext cx="10820095" cy="467487"/>
          </a:xfrm>
          <a:prstGeom prst="roundRect">
            <a:avLst>
              <a:gd name="adj" fmla="val 15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5256" y="2639758"/>
            <a:ext cx="292608" cy="292608"/>
          </a:xfrm>
          <a:prstGeom prst="ellipse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263975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52319"/>
            <a:ext cx="9905695" cy="4674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정상 입/퇴실 시간 외에 QR 요청 없이 출결 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92958"/>
            <a:ext cx="10820095" cy="467487"/>
          </a:xfrm>
          <a:prstGeom prst="roundRect">
            <a:avLst>
              <a:gd name="adj" fmla="val 15647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05256" y="3180397"/>
            <a:ext cx="292608" cy="292608"/>
          </a:xfrm>
          <a:prstGeom prst="ellipse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" y="3180397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92958"/>
            <a:ext cx="9905695" cy="4674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수업 중 침대 위에서 수면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33597"/>
            <a:ext cx="10820095" cy="467487"/>
          </a:xfrm>
          <a:prstGeom prst="roundRect">
            <a:avLst>
              <a:gd name="adj" fmla="val 15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05256" y="3721036"/>
            <a:ext cx="292608" cy="292608"/>
          </a:xfrm>
          <a:prstGeom prst="ellipse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" y="37210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33597"/>
            <a:ext cx="9905695" cy="4674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본인 얼굴이 아닌 물건으로 인식 시도 (예: 주민등록증, 피규어)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74236"/>
            <a:ext cx="10820095" cy="467487"/>
          </a:xfrm>
          <a:prstGeom prst="roundRect">
            <a:avLst>
              <a:gd name="adj" fmla="val 15647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05256" y="4261675"/>
            <a:ext cx="292608" cy="292608"/>
          </a:xfrm>
          <a:prstGeom prst="ellipse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4261675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74236"/>
            <a:ext cx="9905695" cy="4674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HRD-Net 외출/조퇴 처리 없이 장시간 자리 비움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14875"/>
            <a:ext cx="10820095" cy="467487"/>
          </a:xfrm>
          <a:prstGeom prst="roundRect">
            <a:avLst>
              <a:gd name="adj" fmla="val 15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05256" y="4802314"/>
            <a:ext cx="292608" cy="292608"/>
          </a:xfrm>
          <a:prstGeom prst="ellipse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" y="480231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714875"/>
            <a:ext cx="9905695" cy="4674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HRD-Net 외출/조퇴 처리 없이 이동하면서 수업 참여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55514"/>
            <a:ext cx="10820095" cy="467487"/>
          </a:xfrm>
          <a:prstGeom prst="roundRect">
            <a:avLst>
              <a:gd name="adj" fmla="val 15647"/>
            </a:avLst>
          </a:prstGeom>
          <a:solidFill>
            <a:srgbClr val="F2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05256" y="5342953"/>
            <a:ext cx="292608" cy="292608"/>
          </a:xfrm>
          <a:prstGeom prst="ellipse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" y="5342953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255514"/>
            <a:ext cx="9905695" cy="4674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불을 켜지 않거나 카메라를 가려 본인 식별이 어려움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796153"/>
            <a:ext cx="10820095" cy="467487"/>
          </a:xfrm>
          <a:prstGeom prst="roundRect">
            <a:avLst>
              <a:gd name="adj" fmla="val 15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05256" y="5883592"/>
            <a:ext cx="292608" cy="292608"/>
          </a:xfrm>
          <a:prstGeom prst="ellipse">
            <a:avLst/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6" y="58835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796153"/>
            <a:ext cx="9905695" cy="4674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수업 시작과 끝에만 자리이탈감지 출석부 활성화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14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0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A36ED"/>
              </a:gs>
              <a:gs pos="100000">
                <a:srgbClr val="6700E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04  서약서와 동의서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서약서 및 동의서, 카카오톡을 꼭 확인해 주십시오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사전 OT 종료 후 [엘리스트랙] 레이서 서약서 및 동의서가 카카오톡으로 발송됩니다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301898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2753258" cy="1883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21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카카오톡 수신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사전 OT 종료 후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서약서 및 동의서 링크 발송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79138" y="3072384"/>
            <a:ext cx="274320" cy="164592"/>
          </a:xfrm>
          <a:prstGeom prst="rightArrow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44898" y="2103120"/>
            <a:ext cx="3301898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9218" y="2212848"/>
            <a:ext cx="2753258" cy="1883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21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내용 확인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서약 사항과 동의 항목을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꼼꼼히 확인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38236" y="3072384"/>
            <a:ext cx="274320" cy="164592"/>
          </a:xfrm>
          <a:prstGeom prst="rightArrow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03996" y="2103120"/>
            <a:ext cx="3301898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8316" y="2212848"/>
            <a:ext cx="2753258" cy="1883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2100" b="1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전자서명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모두싸인으로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서명 후 제출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26280"/>
            <a:ext cx="1082009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636008"/>
            <a:ext cx="10180015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필수 항목은 훈련 인정을 위해 꼭 필요한 동의입니다. 내용을 확인하신 뒤 서명해 주십시오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서약서 첫 장에서 오늘 오리엔테이션 자료 확인 여부도 함께 체크합니다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04  서약서와 동의서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서약서 및 동의서 </a:t>
            </a:r>
            <a:r>
              <a:rPr sz="3200" b="0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하나의 문서에 4개 양식이 포함되어 있습니다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011680"/>
          <a:ext cx="10820094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1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0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양식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670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670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670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 참여자 서약서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사실 신고, 부정출결 금지, 출결 기준과 제적 안내, 성실 참여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 개인정보 동의서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훈련 운영, 정부기관 제공, 출결 확인용 웹캠 촬영, ACS 문자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+ 선택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 초상권, 저작권 서약서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수업 영상 녹화와 유포 금지, 콘텐츠 무단 이용 금지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6700E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 장비 대여 확인서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웹캠, 노트북을 대여하는 경우에만 작성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대여자만</a:t>
                      </a:r>
                    </a:p>
                  </a:txBody>
                  <a:tcPr marL="137160" marR="137160" marT="18288" marB="18288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DA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5120640"/>
            <a:ext cx="10820095" cy="512064"/>
          </a:xfrm>
          <a:prstGeom prst="roundRect">
            <a:avLst>
              <a:gd name="adj" fmla="val 17857"/>
            </a:avLst>
          </a:prstGeom>
          <a:solidFill>
            <a:srgbClr val="67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5120640"/>
            <a:ext cx="102714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카카오톡으로 받은 링크에서 </a:t>
            </a:r>
            <a:r>
              <a:rPr sz="16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모두싸인 전자서명</a:t>
            </a: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까지 완료하면 제출됩니다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0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A36ED"/>
              </a:gs>
              <a:gs pos="100000">
                <a:srgbClr val="6700E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05  개강일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개강일 (10/21 수)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10/21 개강일은 비대면(온라인)으로 시작합니다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34440" y="2423160"/>
            <a:ext cx="9722815" cy="0"/>
          </a:xfrm>
          <a:prstGeom prst="line">
            <a:avLst/>
          </a:prstGeom>
          <a:ln w="25400">
            <a:solidFill>
              <a:srgbClr val="E9D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24128" y="2212848"/>
            <a:ext cx="420624" cy="420624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212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063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09:45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8152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LXP, 고용24 앱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로그인 확인</a:t>
            </a:r>
          </a:p>
        </p:txBody>
      </p:sp>
      <p:sp>
        <p:nvSpPr>
          <p:cNvPr id="11" name="Oval 10"/>
          <p:cNvSpPr/>
          <p:nvPr/>
        </p:nvSpPr>
        <p:spPr>
          <a:xfrm>
            <a:off x="2644597" y="2212848"/>
            <a:ext cx="420624" cy="420624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44597" y="2212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7669" y="277063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09:50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7669" y="308152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QR 체크인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(09:50~10:10)</a:t>
            </a:r>
          </a:p>
        </p:txBody>
      </p:sp>
      <p:sp>
        <p:nvSpPr>
          <p:cNvPr id="15" name="Oval 14"/>
          <p:cNvSpPr/>
          <p:nvPr/>
        </p:nvSpPr>
        <p:spPr>
          <a:xfrm>
            <a:off x="4265066" y="2212848"/>
            <a:ext cx="420624" cy="420624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65066" y="2212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8138" y="277063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8138" y="308152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LXP 강의실 입실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웹캠 ON, 얼굴 등록</a:t>
            </a:r>
          </a:p>
        </p:txBody>
      </p:sp>
      <p:sp>
        <p:nvSpPr>
          <p:cNvPr id="19" name="Oval 18"/>
          <p:cNvSpPr/>
          <p:nvPr/>
        </p:nvSpPr>
        <p:spPr>
          <a:xfrm>
            <a:off x="5885535" y="2212848"/>
            <a:ext cx="420624" cy="420624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85535" y="2212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8607" y="277063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607" y="308152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오리엔테이션</a:t>
            </a:r>
          </a:p>
        </p:txBody>
      </p:sp>
      <p:sp>
        <p:nvSpPr>
          <p:cNvPr id="23" name="Oval 22"/>
          <p:cNvSpPr/>
          <p:nvPr/>
        </p:nvSpPr>
        <p:spPr>
          <a:xfrm>
            <a:off x="7506004" y="2212848"/>
            <a:ext cx="420624" cy="420624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06004" y="2212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9076" y="277063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9076" y="308152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오후 수업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(웹캠 유지)</a:t>
            </a:r>
          </a:p>
        </p:txBody>
      </p:sp>
      <p:sp>
        <p:nvSpPr>
          <p:cNvPr id="27" name="Oval 26"/>
          <p:cNvSpPr/>
          <p:nvPr/>
        </p:nvSpPr>
        <p:spPr>
          <a:xfrm>
            <a:off x="9126473" y="2212848"/>
            <a:ext cx="420624" cy="420624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26473" y="2212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9545" y="277063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17:50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9545" y="308152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QR 체크아웃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(17:50~19:00)</a:t>
            </a:r>
          </a:p>
        </p:txBody>
      </p:sp>
      <p:sp>
        <p:nvSpPr>
          <p:cNvPr id="31" name="Oval 30"/>
          <p:cNvSpPr/>
          <p:nvPr/>
        </p:nvSpPr>
        <p:spPr>
          <a:xfrm>
            <a:off x="10746943" y="2212848"/>
            <a:ext cx="420624" cy="420624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46943" y="2212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277063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18:00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15" y="308152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회고 제출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206240"/>
            <a:ext cx="10820095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4315968"/>
            <a:ext cx="10180015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개강일 아침 체크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•  체크인 알람 09:50 설정, 웹캠과 카메라, 고용24 앱과 LXP 로그인 미리 점검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•  첫 수업은 오리엔테이션, 오후부터 정규교과 시작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0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A36ED"/>
              </a:gs>
              <a:gs pos="100000">
                <a:srgbClr val="6700E6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05  개강일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마쳐야 할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사전 OT 종료 전에 함께 확인해 주십시오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667512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354580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체크리스트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39796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>
            <a:solidFill>
              <a:srgbClr val="670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2811780"/>
            <a:ext cx="5577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고용24 출결관리 앱 설치와 로그인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470148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>
            <a:solidFill>
              <a:srgbClr val="670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342132"/>
            <a:ext cx="5577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자리이탈감지 얼굴 등록 (실습)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000500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>
            <a:solidFill>
              <a:srgbClr val="670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3872484"/>
            <a:ext cx="5577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웹캠, 카메라 작동 확인 (없으면 대여 요청)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530852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>
            <a:solidFill>
              <a:srgbClr val="670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4402836"/>
            <a:ext cx="5577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카카오톡 서약서 확인 후 전자서명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061204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>
            <a:solidFill>
              <a:srgbClr val="670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4933188"/>
            <a:ext cx="5577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10/21 체크인 알람 설정: 09:50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011680"/>
            <a:ext cx="3870655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0" y="2121408"/>
            <a:ext cx="3230575" cy="156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오늘 체크리스트만 끝내면,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10/21 개강일 준비 완료입니다.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023360"/>
            <a:ext cx="3870655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4133088"/>
            <a:ext cx="3230575" cy="156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6700E6"/>
                </a:solidFill>
                <a:latin typeface="맑은 고딕"/>
                <a:ea typeface="맑은 고딕"/>
                <a:cs typeface="맑은 고딕"/>
              </a:rPr>
              <a:t>문의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디스코드 #운영 채널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111118"/>
                </a:solidFill>
                <a:latin typeface="맑은 고딕"/>
                <a:ea typeface="맑은 고딕"/>
                <a:cs typeface="맑은 고딕"/>
              </a:rPr>
              <a:t>개인 전용 채널 (출결 정정)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E9A8"/>
                </a:solidFill>
                <a:latin typeface="맑은 고딕"/>
                <a:ea typeface="맑은 고딕"/>
                <a:cs typeface="맑은 고딕"/>
              </a:rPr>
              <a:t>18</a:t>
            </a:r>
            <a:r>
              <a:rPr sz="1200" b="0">
                <a:solidFill>
                  <a:srgbClr val="E9DDFF"/>
                </a:solidFill>
                <a:latin typeface="맑은 고딕"/>
                <a:ea typeface="맑은 고딕"/>
                <a:cs typeface="맑은 고딕"/>
              </a:rPr>
              <a:t>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1637</Words>
  <Application>Microsoft Office PowerPoint</Application>
  <PresentationFormat>와이드스크린</PresentationFormat>
  <Paragraphs>333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Soohyun LEE 이수현</cp:lastModifiedBy>
  <cp:revision>1</cp:revision>
  <dcterms:created xsi:type="dcterms:W3CDTF">2013-01-27T09:14:16Z</dcterms:created>
  <dcterms:modified xsi:type="dcterms:W3CDTF">2026-10-13T15:48:46Z</dcterms:modified>
  <cp:category/>
</cp:coreProperties>
</file>