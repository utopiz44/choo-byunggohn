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81" r:id="rId2"/>
    <p:sldId id="338" r:id="rId3"/>
    <p:sldId id="341" r:id="rId8"/>
    <p:sldId id="359" r:id="rId41"/>
    <p:sldId id="358" r:id="rId40"/>
    <p:sldId id="357" r:id="rId39"/>
    <p:sldId id="356" r:id="rId38"/>
    <p:sldId id="355" r:id="rId37"/>
    <p:sldId id="354" r:id="rId36"/>
    <p:sldId id="353" r:id="rId35"/>
    <p:sldId id="352" r:id="rId34"/>
    <p:sldId id="351" r:id="rId33"/>
    <p:sldId id="350" r:id="rId32"/>
    <p:sldId id="349" r:id="rId12"/>
  </p:sldIdLst>
  <p:sldSz cx="12192000" cy="6858000"/>
  <p:notesSz cx="6858000" cy="9144000"/>
  <p:embeddedFontLst>
    <p:embeddedFont>
      <p:font typeface="Arial Black" panose="020B0A04020102020204" pitchFamily="34" charset="0"/>
      <p:bold r:id="rId14"/>
    </p:embeddedFont>
    <p:embeddedFont>
      <p:font typeface="Calibri" panose="020F0502020204030204" pitchFamily="34" charset="0"/>
      <p:regular r:id="rId15"/>
      <p:bold r:id="rId16"/>
      <p:italic r:id="rId17"/>
      <p:boldItalic r:id="rId18"/>
    </p:embeddedFont>
    <p:embeddedFont>
      <p:font typeface="Lato" panose="020F0502020204030203" pitchFamily="34" charset="0"/>
      <p:regular r:id="rId19"/>
      <p:bold r:id="rId20"/>
      <p:italic r:id="rId21"/>
      <p:boldItalic r:id="rId22"/>
    </p:embeddedFont>
    <p:embeddedFont>
      <p:font typeface="Lato Black" panose="020F0502020204030203" pitchFamily="34" charset="0"/>
      <p:bold r:id="rId23"/>
      <p:boldItalic r:id="rId24"/>
    </p:embeddedFont>
    <p:embeddedFont>
      <p:font typeface="맑은 고딕" panose="020B0503020000020004" pitchFamily="50" charset="-127"/>
      <p:regular r:id="rId25"/>
      <p:bold r:id="rId26"/>
    </p:embeddedFont>
    <p:embeddedFont>
      <p:font typeface="맑은 고딕" panose="020B0503020000020004" pitchFamily="50" charset="-127"/>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2273">
          <p15:clr>
            <a:srgbClr val="A4A3A4"/>
          </p15:clr>
        </p15:guide>
        <p15:guide id="4" orient="horz" pos="23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i+ersv8PcazWWcze3mvvXb8hE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BD1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A5E9372-258E-4909-98E1-6046A5434DE0}">
  <a:tblStyle styleId="{8A5E9372-258E-4909-98E1-6046A5434DE0}"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25400" cap="flat" cmpd="sng">
              <a:solidFill>
                <a:schemeClr val="dk1"/>
              </a:solidFill>
              <a:prstDash val="solid"/>
              <a:round/>
              <a:headEnd type="none" w="sm" len="sm"/>
              <a:tailEnd type="none" w="sm" len="sm"/>
            </a:ln>
          </a:top>
          <a:bottom>
            <a:ln w="254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chemeClr val="lt1"/>
          </a:solidFill>
        </a:fill>
      </a:tcStyle>
    </a:wholeTbl>
    <a:band1H>
      <a:tcTxStyle/>
      <a:tcStyle>
        <a:tcBdr/>
        <a:fill>
          <a:solidFill>
            <a:srgbClr val="E6E6E6"/>
          </a:solidFill>
        </a:fill>
      </a:tcStyle>
    </a:band1H>
    <a:band2H>
      <a:tcTxStyle/>
      <a:tcStyle>
        <a:tcBdr/>
      </a:tcStyle>
    </a:band2H>
    <a:band1V>
      <a:tcTxStyle/>
      <a:tcStyle>
        <a:tcBdr/>
        <a:fill>
          <a:solidFill>
            <a:srgbClr val="E6E6E6"/>
          </a:solidFill>
        </a:fill>
      </a:tcStyle>
    </a:band1V>
    <a:band2V>
      <a:tcTxStyle/>
      <a:tcStyle>
        <a:tcBdr/>
      </a:tcStyle>
    </a:band2V>
    <a:lastCol>
      <a:tcTxStyle b="on" i="off">
        <a:font>
          <a:latin typeface="Calibri"/>
          <a:ea typeface="Calibri"/>
          <a:cs typeface="Calibri"/>
        </a:font>
        <a:schemeClr val="lt1"/>
      </a:tcTxStyle>
      <a:tcStyle>
        <a:tcBdr/>
        <a:fill>
          <a:solidFill>
            <a:schemeClr val="dk1"/>
          </a:solidFill>
        </a:fill>
      </a:tcStyle>
    </a:lastCol>
    <a:firstCol>
      <a:tcTxStyle b="on" i="off">
        <a:font>
          <a:latin typeface="Calibri"/>
          <a:ea typeface="Calibri"/>
          <a:cs typeface="Calibri"/>
        </a:font>
        <a:schemeClr val="lt1"/>
      </a:tcTxStyle>
      <a:tcStyle>
        <a:tcBdr/>
        <a:fill>
          <a:solidFill>
            <a:schemeClr val="dk1"/>
          </a:solidFill>
        </a:fill>
      </a:tcStyle>
    </a:firstCol>
    <a:lastRow>
      <a:tcTxStyle b="on" i="off"/>
      <a:tcStyle>
        <a:tcBdr>
          <a:top>
            <a:ln w="50800" cap="flat" cmpd="sng">
              <a:solidFill>
                <a:schemeClr val="dk1"/>
              </a:solidFill>
              <a:prstDash val="solid"/>
              <a:round/>
              <a:headEnd type="none" w="sm" len="sm"/>
              <a:tailEnd type="none" w="sm" len="sm"/>
            </a:ln>
          </a:top>
        </a:tcBdr>
        <a:fill>
          <a:solidFill>
            <a:schemeClr val="lt1"/>
          </a:solidFill>
        </a:fill>
      </a:tcStyle>
    </a:lastRow>
    <a:seCell>
      <a:tcTxStyle b="on" i="off">
        <a:font>
          <a:latin typeface="Calibri"/>
          <a:ea typeface="Calibri"/>
          <a:cs typeface="Calibri"/>
        </a:font>
        <a:schemeClr val="dk1"/>
      </a:tcTxStyle>
      <a:tcStyle>
        <a:tcBdr/>
      </a:tcStyle>
    </a:seCell>
    <a:swCell>
      <a:tcTxStyle b="on" i="off">
        <a:font>
          <a:latin typeface="Calibri"/>
          <a:ea typeface="Calibri"/>
          <a:cs typeface="Calibri"/>
        </a:font>
        <a:schemeClr val="dk1"/>
      </a:tcTxStyle>
      <a:tcStyle>
        <a:tcBdr/>
      </a:tcStyle>
    </a:swCell>
    <a:firstRow>
      <a:tcTxStyle b="on" i="off">
        <a:font>
          <a:latin typeface="Calibri"/>
          <a:ea typeface="Calibri"/>
          <a:cs typeface="Calibri"/>
        </a:font>
        <a:schemeClr val="lt1"/>
      </a:tcTxStyle>
      <a:tcStyle>
        <a:tcBdr>
          <a:bottom>
            <a:ln w="25400" cap="flat" cmpd="sng">
              <a:solidFill>
                <a:schemeClr val="dk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 styleId="{BA5AF8BC-F756-4954-B74A-012041421766}"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412" autoAdjust="0"/>
  </p:normalViewPr>
  <p:slideViewPr>
    <p:cSldViewPr snapToGrid="0">
      <p:cViewPr varScale="1">
        <p:scale>
          <a:sx n="99" d="100"/>
          <a:sy n="99" d="100"/>
        </p:scale>
        <p:origin x="996" y="90"/>
      </p:cViewPr>
      <p:guideLst>
        <p:guide orient="horz" pos="2160"/>
        <p:guide pos="3840"/>
        <p:guide orient="horz" pos="2273"/>
        <p:guide orient="horz" pos="23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8" Type="http://schemas.openxmlformats.org/officeDocument/2006/relationships/slide" Target="slides/slide3.xml"/><Relationship Id="rId12" Type="http://schemas.openxmlformats.org/officeDocument/2006/relationships/slide" Target="slides/slide14.xml"/><Relationship Id="rId13" Type="http://schemas.openxmlformats.org/officeDocument/2006/relationships/notesMaster" Target="notesMasters/notesMaster1.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 Id="rId17" Type="http://schemas.openxmlformats.org/officeDocument/2006/relationships/font" Target="fonts/font4.fntdata"/><Relationship Id="rId18" Type="http://schemas.openxmlformats.org/officeDocument/2006/relationships/font" Target="fonts/font5.fntdata"/><Relationship Id="rId19" Type="http://schemas.openxmlformats.org/officeDocument/2006/relationships/font" Target="fonts/font6.fntdata"/><Relationship Id="rId20" Type="http://schemas.openxmlformats.org/officeDocument/2006/relationships/font" Target="fonts/font7.fntdata"/><Relationship Id="rId21" Type="http://schemas.openxmlformats.org/officeDocument/2006/relationships/font" Target="fonts/font8.fntdata"/><Relationship Id="rId22" Type="http://schemas.openxmlformats.org/officeDocument/2006/relationships/font" Target="fonts/font9.fntdata"/><Relationship Id="rId23" Type="http://schemas.openxmlformats.org/officeDocument/2006/relationships/font" Target="fonts/font10.fntdata"/><Relationship Id="rId24" Type="http://schemas.openxmlformats.org/officeDocument/2006/relationships/font" Target="fonts/font11.fntdata"/><Relationship Id="rId25" Type="http://schemas.openxmlformats.org/officeDocument/2006/relationships/font" Target="fonts/font12.fntdata"/><Relationship Id="rId26" Type="http://schemas.openxmlformats.org/officeDocument/2006/relationships/font" Target="fonts/font13.fntdata"/><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13.xml"/><Relationship Id="rId33" Type="http://schemas.openxmlformats.org/officeDocument/2006/relationships/slide" Target="slides/slide12.xml"/><Relationship Id="rId34" Type="http://schemas.openxmlformats.org/officeDocument/2006/relationships/slide" Target="slides/slide11.xml"/><Relationship Id="rId35" Type="http://schemas.openxmlformats.org/officeDocument/2006/relationships/slide" Target="slides/slide10.xml"/><Relationship Id="rId36" Type="http://schemas.openxmlformats.org/officeDocument/2006/relationships/slide" Target="slides/slide9.xml"/><Relationship Id="rId37" Type="http://schemas.openxmlformats.org/officeDocument/2006/relationships/slide" Target="slides/slide8.xml"/><Relationship Id="rId38" Type="http://schemas.openxmlformats.org/officeDocument/2006/relationships/slide" Target="slides/slide7.xml"/><Relationship Id="rId39" Type="http://schemas.openxmlformats.org/officeDocument/2006/relationships/slide" Target="slides/slide6.xml"/><Relationship Id="rId40" Type="http://schemas.openxmlformats.org/officeDocument/2006/relationships/slide" Target="slides/slide5.xml"/><Relationship Id="rId4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Malgun Gothic"/>
                <a:ea typeface="Malgun Gothic"/>
                <a:cs typeface="Malgun Gothic"/>
                <a:sym typeface="Malgun Gothic"/>
              </a:defRPr>
            </a:lvl1pPr>
            <a:lvl2pPr marL="914400" marR="0" lvl="1" indent="-228600" algn="l" rtl="0">
              <a:spcBef>
                <a:spcPts val="360"/>
              </a:spcBef>
              <a:spcAft>
                <a:spcPts val="0"/>
              </a:spcAft>
              <a:buSzPts val="1400"/>
              <a:buNone/>
              <a:defRPr sz="1200" b="0" i="0" u="none" strike="noStrike" cap="none">
                <a:solidFill>
                  <a:schemeClr val="dk1"/>
                </a:solidFill>
                <a:latin typeface="Malgun Gothic"/>
                <a:ea typeface="Malgun Gothic"/>
                <a:cs typeface="Malgun Gothic"/>
                <a:sym typeface="Malgun Gothic"/>
              </a:defRPr>
            </a:lvl2pPr>
            <a:lvl3pPr marL="1371600" marR="0" lvl="2" indent="-228600" algn="l" rtl="0">
              <a:spcBef>
                <a:spcPts val="360"/>
              </a:spcBef>
              <a:spcAft>
                <a:spcPts val="0"/>
              </a:spcAft>
              <a:buSzPts val="1400"/>
              <a:buNone/>
              <a:defRPr sz="1200" b="0" i="0" u="none" strike="noStrike" cap="none">
                <a:solidFill>
                  <a:schemeClr val="dk1"/>
                </a:solidFill>
                <a:latin typeface="Malgun Gothic"/>
                <a:ea typeface="Malgun Gothic"/>
                <a:cs typeface="Malgun Gothic"/>
                <a:sym typeface="Malgun Gothic"/>
              </a:defRPr>
            </a:lvl3pPr>
            <a:lvl4pPr marL="1828800" marR="0" lvl="3" indent="-228600" algn="l" rtl="0">
              <a:spcBef>
                <a:spcPts val="360"/>
              </a:spcBef>
              <a:spcAft>
                <a:spcPts val="0"/>
              </a:spcAft>
              <a:buSzPts val="1400"/>
              <a:buNone/>
              <a:defRPr sz="1200" b="0" i="0" u="none" strike="noStrike" cap="none">
                <a:solidFill>
                  <a:schemeClr val="dk1"/>
                </a:solidFill>
                <a:latin typeface="Malgun Gothic"/>
                <a:ea typeface="Malgun Gothic"/>
                <a:cs typeface="Malgun Gothic"/>
                <a:sym typeface="Malgun Gothic"/>
              </a:defRPr>
            </a:lvl4pPr>
            <a:lvl5pPr marL="2286000" marR="0" lvl="4" indent="-228600" algn="l" rtl="0">
              <a:spcBef>
                <a:spcPts val="360"/>
              </a:spcBef>
              <a:spcAft>
                <a:spcPts val="0"/>
              </a:spcAft>
              <a:buSzPts val="1400"/>
              <a:buNone/>
              <a:defRPr sz="1200" b="0" i="0" u="none" strike="noStrike" cap="none">
                <a:solidFill>
                  <a:schemeClr val="dk1"/>
                </a:solidFill>
                <a:latin typeface="Malgun Gothic"/>
                <a:ea typeface="Malgun Gothic"/>
                <a:cs typeface="Malgun Gothic"/>
                <a:sym typeface="Malgun Gothic"/>
              </a:defRPr>
            </a:lvl5pPr>
            <a:lvl6pPr marL="2743200" marR="0" lvl="5"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6pPr>
            <a:lvl7pPr marL="3200400" marR="0" lvl="6"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7pPr>
            <a:lvl8pPr marL="3657600" marR="0" lvl="7"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8pPr>
            <a:lvl9pPr marL="4114800" marR="0" lvl="8" indent="-228600" algn="l" rtl="0">
              <a:spcBef>
                <a:spcPts val="0"/>
              </a:spcBef>
              <a:spcAft>
                <a:spcPts val="0"/>
              </a:spcAft>
              <a:buSzPts val="1400"/>
              <a:buNone/>
              <a:defRPr sz="1200" b="0" i="0" u="none" strike="noStrike" cap="none">
                <a:solidFill>
                  <a:schemeClr val="dk1"/>
                </a:solidFill>
                <a:latin typeface="Malgun Gothic"/>
                <a:ea typeface="Malgun Gothic"/>
                <a:cs typeface="Malgun Gothic"/>
                <a:sym typeface="Malgun Gothic"/>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ko-KR"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역할은 기능별로 나누되, 연구 근거가 끊기지 않도록 연결했습니다. 데이터 담당자는 단순 수집에 그치지 않고 출처와 라이선스까지 남깁니다. 메모리와 검색 담당자는 동일한 데이터 버전과 실험 ID를 공유합니다. 평가 담당자는 결과를 문서보다 먼저 고정합니다. 이 구조를 통해 누가 어떤 코드를 실행했고, 어떤 조건에서 나온 수치인지 추적할 수 있게 합니다. 현재 문서에 없는 팀원명과 소속은 발표 직전에 입력하는 방식으로 관리합니다.</a:t>
            </a:r>
          </a:p>
          <a:p/>
          <a:p>
            <a:r>
              <a:t>[근거·상태] [SOURCE] 역할 영역과 PM 정보. 팀원명·소속은 [INPUT].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[표지] 팀명과 발표자 소개. 팀명·소속·팀원명은 [INPUT] 항목이므로 발표 직전에 입력합니다.</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[목차] 템플릿 6개 섹션 순서대로 11장의 본문 슬라이드를 진행합니다. 01 배경(2장) · 02 팀(1장) · 03 방법(4장) · 04 과정(1장) · 05 결과(2장) · 06 느낀 점과 추후 계획(1장).</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문제를 세 가지 단절로 정리했습니다. 첫째, 관람객은 감각과 상황으로 말하지만 아카이브는 작가, 연도, 재료 중심입니다. 둘째, 모든 과거 취향을 한데 합치면 서로 다른 관람 목적이 오염됩니다. 셋째, 알고리즘상 좋은 작품이어도 수장고에 있거나 전시가 끝났다면 방문 추천으로는 불충분합니다. 그래서 저희는 추천 정확도만이 아니라 맥락 분리와 관람 가능성까지 함께 평가하는 연구문제를 세웠습니다.</a:t>
            </a:r>
          </a:p>
          <a:p/>
          <a:p>
            <a:r>
              <a:t>[근거·상태] [SOURCE] 통합 마스터 및 final submission-ready의 3대 문제. 수치는 없음.</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r>
              <a:t>안녕하세요. 저희는 작품을 잘 아는 사람만 검색할 수 있는 미술관 경험을 바꾸고자 했습니다. 관람객은 작가명보다 먼저 오늘의 기분과 상황을 말합니다. ARTHÉMIS는 그 말을 작품 메타데이터와 연결하되, 평일의 혼자 감상과 주말의 가족 관람처럼 서로 다른 맥락이 섞이지 않도록 설계했습니다. 마지막으로 추천이 실제 방문으로 이어지려면 전시 일정이 확인되어야 합니다. 저희의 질문은 이 세 문제를 하나의 감사 가능한 시스템으로 묶을 수 있는가입니다.</a:t>
            </a:r>
          </a:p>
          <a:p/>
          <a:p>
            <a:r>
              <a:t>[근거·상태] [SOURCE] 문제 정의 및 시스템명. 성능 주장은 하지 않음.</a:t>
            </a:r>
          </a:p>
        </p:txBody>
      </p:sp>
      <p:sp>
        <p:nvSpPr>
          <p:cNvPr id="42" name="Google Shape;4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79131858"/>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이번 프로젝트의 중요한 결정은 더 많이 넣는 것이 아니라, 측정 가능한 범위를 동결한 것입니다. 문서상 이상형에는 여러 기관과 여러 임베딩, 비전 모델이 있지만, 6주 실행에서는 작품 코퍼스 하나와 전시 API 하나로 시작합니다. 이미지 검색과 fine-tuning은 핵심 오류가 확인될 때만 선택합니다. 모든 기능은 네 지표 중 무엇을 바꾸는지 설명할 수 있어야 합니다.</a:t>
            </a:r>
          </a:p>
          <a:p/>
          <a:p>
            <a:r>
              <a:t>[근거·상태] [SOURCE] 다운사이징 실행계획서. 범위는 계획이며 구현 완료를 의미하지 않음.</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사용자는 전문 용어 대신 감각적 표현을 사용합니다. 먼저 이 표현을 구조화된 신호와 근거 구간으로 바꿉니다. 그 다음 lexical 검색인 BM25와 텍스트 임베딩 검색을 병렬로 실행하고 순위 수준에서 RRF로 융합합니다. 이때 서로 다른 벡터 공간을 무리하게 더하지 않는 것이 중요합니다. 이 슬라이드의 핵심은 모델의 화려함보다 검색 조건을 분리해 비교 가능하게 만드는 데 있습니다.</a:t>
            </a:r>
          </a:p>
          <a:p/>
          <a:p>
            <a:r>
              <a:t>[근거·상태] [SOURCE] final submission-ready의 공간 분리 검색. RRF 결과 수치는 [TO-MEASURE].</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장기 기억을 하나의 사용자 프로필로 만들지 않았습니다. 한 번의 관람에서 나온 근거는 Session Node로 남기고, 반복적으로 나타나는 경향은 Taste Cluster로 조직합니다. 그리고 현재 사용자가 혼자인지, 가족과 함께인지, 사유를 원하는지 체험을 원하는지에 따라 Context Router가 필요한 클러스터만 선택합니다. 연구적으로는 현재 발화만 보는 B1과 Cluster plus Router인 B4를 비교하고, 전체 이력 B2와 Session Node B3를 보조 조건으로 둡니다.</a:t>
            </a:r>
          </a:p>
          <a:p/>
          <a:p>
            <a:r>
              <a:t>[근거·상태] [SOURCE] formal B0-B5 ladder 및 다운사이징 핵심 비교. 화면의 cluster는 설명용 예시이며, 상태 전이 실측은 [TO-MEASURE].</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추천 결과가 그럴듯해 보이는 것만으로는 충분하지 않습니다. 작품을 왜 추천했는지 설명하는 Artwork Layer와, 실제 어디에서 언제 볼 수 있는지를 확인하는 Exhibition Layer를 분리합니다. 전시 API에서 확인한 snapshot만 VERIFIED로 표시하고, 캐시된 정보는 CACHED로, 확인하지 못한 내용은 UNVERIFIED로 표시합니다. 특히 B5는 B4R의 동일한 추천 목록을 유지한 채 grounding을 추가해, 그라운딩이 근거 없는 방문 주장을 줄이는지 분리해 측정합니다.</a:t>
            </a:r>
          </a:p>
          <a:p/>
          <a:p>
            <a:r>
              <a:t>[근거·상태] [SOURCE] 2층 grounding 및 B4R -&gt; B5 비교. 전시 API·snapshot·UCR 값은 [TO-MEASURE]. 추천 카드의 대괄호 항목은 실제 데이터 확보 후 교체.</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실행 순서는 데이터 수집, 모델 연결, 발표자료 제작의 단순한 나열이 아닙니다. 먼저 Golden Query와 평가 코드를 준비하고, baseline을 돌린 뒤 memory와 grounding을 하나씩 추가합니다. 이렇게 해야 어떤 모듈이 어떤 변화와 연결되는지 말할 수 있습니다. 300개 합성 세션과 20명 파일럿은 계획된 평가 규모이지 완료된 실험 표본이 아닙니다. 발표 직전에는 각 항목의 상태를 반드시 Measured 또는 Planned로 갱신합니다.</a:t>
            </a:r>
          </a:p>
          <a:p/>
          <a:p>
            <a:r>
              <a:t>[근거·상태] [PROPOSED] 6주 로드맵. 계획된 평가 규모: 300 synthetic multi-session, pilot 20명. 주차별 상태 칩(현재 모두 Planned)은 발표 직전 실제 진행 상황으로 교체.</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결과를 말할 때는 네 개의 숫자만 먼저 봅니다. NDCG는 개인화 순위, CR은 맥락 오염, Trec은 취향 전환 뒤 회복, UCR은 근거 없는 방문 주장입니다. 모든 비교에서 한 번에 바뀌는 모듈을 제한하고, 동일한 사용자와 seed, 전시 snapshot을 사용합니다. 평균만 제시하지 않고 95% 신뢰구간과 오류 사례를 함께 보여주겠습니다. 현재 이 값들은 아직 실험 입력 전이므로 결과 칸은 TBD로 남깁니다.</a:t>
            </a:r>
          </a:p>
          <a:p/>
          <a:p>
            <a:r>
              <a:t>[근거·상태] [SOURCE] 평가 프로토콜. 모든 성능값 [TO-MEASURE]. RQ1–RQ5 번호 매핑이 필요하면 통합 마스터 기준으로 보완.</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저희가 가장 엄격하게 관리하는 부분은 결과 경계입니다. 설계 문서에는 초기 목표값이 있지만, 그것을 실측 성과처럼 사용하지 않습니다. 예를 들어 Extraction F1 0.75 이상, CR@10 0.10 이하, p95 6초 이하는 계획값으로만 표시합니다. 실험이 끝나면 조건과 표본 수, seed, 데이터 버전을 함께 적고, 그 전에는 향상이나 유의한 차이라는 표현을 사용하지 않습니다. 이 원칙 자체가 연구 재현성과 발표 신뢰도를 지키는 장치입니다.</a:t>
            </a:r>
          </a:p>
          <a:p/>
          <a:p>
            <a:r>
              <a:t>[근거·상태] [PROPOSED] 목표값은 계획값. 결과 입력 전 모든 값은 TBD / [TO-MEASURE].</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이번 프로젝트를 통해 배운 것은 기능을 많이 붙이는 것이 연구의 진전과 같지 않다는 점입니다. 관람객의 말은 취향 목록이 아니라 특정한 오늘의 맥락입니다. 따라서 좋은 시스템은 모든 기억을 꺼내는 시스템이 아니라 현재 상황에 맞는 기억만 선택하는 시스템입니다. 다음 단계는 데이터셋 정의와 Golden Set을 확정하고, baseline부터 실측한 뒤 memory와 grounding을 차례로 검증하는 것입니다. 마지막으로, 확인할 수 없는 전시 정보를 만들어내지 않는 태도까지 포함해야 큐레이션이 실제 경험으로 이어진다고 생각합니다.</a:t>
            </a:r>
          </a:p>
          <a:p/>
          <a:p>
            <a:r>
              <a:t>[근거·상태] [SOURCE] 통합 문서의 한계·추후 계획을 발표용으로 정리. 데모 링크는 [INPUT].</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[마무리] 감사합니다. 질문을 받겠습니다. (예상 질문 22개와 모범답변은 별도 설계 문서 부록 B 참고)</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슬라이드">
  <p:cSld name="제목 슬라이드">
    <p:spTree>
      <p:nvGrpSpPr>
        <p:cNvPr id="1" name="Shape 11"/>
        <p:cNvGrpSpPr/>
        <p:nvPr/>
      </p:nvGrpSpPr>
      <p:grpSpPr>
        <a:xfrm>
          <a:off x="0" y="0"/>
          <a:ext cx="0" cy="0"/>
          <a:chOff x="0" y="0"/>
          <a:chExt cx="0" cy="0"/>
        </a:xfrm>
      </p:grpSpPr>
      <p:sp>
        <p:nvSpPr>
          <p:cNvPr id="12" name="Google Shape;12;p16"/>
          <p:cNvSpPr/>
          <p:nvPr/>
        </p:nvSpPr>
        <p:spPr>
          <a:xfrm rot="-5400000">
            <a:off x="11796713" y="6462713"/>
            <a:ext cx="334962" cy="455612"/>
          </a:xfrm>
          <a:prstGeom prst="rtTriangle">
            <a:avLst/>
          </a:prstGeom>
          <a:solidFill>
            <a:srgbClr val="44556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제목 슬라이드">
  <p:cSld name="2_제목 슬라이드">
    <p:spTree>
      <p:nvGrpSpPr>
        <p:cNvPr id="1" name="Shape 13"/>
        <p:cNvGrpSpPr/>
        <p:nvPr/>
      </p:nvGrpSpPr>
      <p:grpSpPr>
        <a:xfrm>
          <a:off x="0" y="0"/>
          <a:ext cx="0" cy="0"/>
          <a:chOff x="0" y="0"/>
          <a:chExt cx="0" cy="0"/>
        </a:xfrm>
      </p:grpSpPr>
      <p:sp>
        <p:nvSpPr>
          <p:cNvPr id="14" name="Google Shape;14;p17"/>
          <p:cNvSpPr/>
          <p:nvPr/>
        </p:nvSpPr>
        <p:spPr>
          <a:xfrm rot="-5400000">
            <a:off x="11796713" y="6462713"/>
            <a:ext cx="334962" cy="455612"/>
          </a:xfrm>
          <a:prstGeom prst="rtTriangl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_제목 슬라이드">
  <p:cSld name="1_제목 슬라이드">
    <p:spTree>
      <p:nvGrpSpPr>
        <p:cNvPr id="1" name="Shape 15"/>
        <p:cNvGrpSpPr/>
        <p:nvPr/>
      </p:nvGrpSpPr>
      <p:grpSpPr>
        <a:xfrm>
          <a:off x="0" y="0"/>
          <a:ext cx="0" cy="0"/>
          <a:chOff x="0" y="0"/>
          <a:chExt cx="0" cy="0"/>
        </a:xfrm>
      </p:grpSpPr>
      <p:sp>
        <p:nvSpPr>
          <p:cNvPr id="16" name="Google Shape;16;p18"/>
          <p:cNvSpPr/>
          <p:nvPr/>
        </p:nvSpPr>
        <p:spPr>
          <a:xfrm rot="-5400000">
            <a:off x="11796713" y="6462713"/>
            <a:ext cx="334962" cy="455612"/>
          </a:xfrm>
          <a:prstGeom prst="rtTriangl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Index page">
    <p:spTree>
      <p:nvGrpSpPr>
        <p:cNvPr id="1" name=""/>
        <p:cNvGrpSpPr/>
        <p:nvPr/>
      </p:nvGrpSpPr>
      <p:grpSpPr>
        <a:xfrm>
          <a:off x="0" y="0"/>
          <a:ext cx="0" cy="0"/>
          <a:chOff x="0" y="0"/>
          <a:chExt cx="0" cy="0"/>
        </a:xfrm>
      </p:grpSpPr>
      <p:sp>
        <p:nvSpPr>
          <p:cNvPr id="10" name="내용 개체 틀 22">
            <a:extLst>
              <a:ext uri="{FF2B5EF4-FFF2-40B4-BE49-F238E27FC236}">
                <a16:creationId xmlns:a16="http://schemas.microsoft.com/office/drawing/2014/main" id="{13F1B7E7-4F0F-45D1-B714-FA52F0C85840}"/>
              </a:ext>
            </a:extLst>
          </p:cNvPr>
          <p:cNvSpPr>
            <a:spLocks noGrp="1"/>
          </p:cNvSpPr>
          <p:nvPr>
            <p:ph sz="quarter" idx="14" hasCustomPrompt="1"/>
          </p:nvPr>
        </p:nvSpPr>
        <p:spPr>
          <a:xfrm>
            <a:off x="2964536" y="1086084"/>
            <a:ext cx="1853645" cy="566868"/>
          </a:xfrm>
        </p:spPr>
        <p:txBody>
          <a:bodyPr>
            <a:noAutofit/>
          </a:bodyPr>
          <a:lstStyle>
            <a:lvl1pPr marL="0" indent="0">
              <a:lnSpc>
                <a:spcPct val="80000"/>
              </a:lnSpc>
              <a:buNone/>
              <a:defRPr sz="4200">
                <a:latin typeface="Lato" panose="020F0502020204030203" pitchFamily="34" charset="0"/>
                <a:ea typeface="맑은 고딕" panose="020B0503020000020004" pitchFamily="50" charset="-127"/>
              </a:defRPr>
            </a:lvl1pPr>
          </a:lstStyle>
          <a:p>
            <a:pPr lvl="0"/>
            <a:r>
              <a:rPr lang="en-US" altLang="ko-KR" dirty="0"/>
              <a:t>INDEX</a:t>
            </a:r>
            <a:endParaRPr lang="ko-KR" altLang="en-US" dirty="0"/>
          </a:p>
        </p:txBody>
      </p:sp>
      <p:sp>
        <p:nvSpPr>
          <p:cNvPr id="11" name="텍스트 개체 틀 24">
            <a:extLst>
              <a:ext uri="{FF2B5EF4-FFF2-40B4-BE49-F238E27FC236}">
                <a16:creationId xmlns:a16="http://schemas.microsoft.com/office/drawing/2014/main" id="{103F8B7A-76C9-473E-BDA5-88871271DE9E}"/>
              </a:ext>
            </a:extLst>
          </p:cNvPr>
          <p:cNvSpPr>
            <a:spLocks noGrp="1"/>
          </p:cNvSpPr>
          <p:nvPr>
            <p:ph type="body" sz="quarter" idx="15" hasCustomPrompt="1"/>
          </p:nvPr>
        </p:nvSpPr>
        <p:spPr>
          <a:xfrm>
            <a:off x="3889008" y="2598925"/>
            <a:ext cx="4374106" cy="293743"/>
          </a:xfrm>
        </p:spPr>
        <p:txBody>
          <a:bodyPr>
            <a:normAutofit/>
          </a:bodyPr>
          <a:lstStyle>
            <a:lvl1pPr marL="0" indent="0">
              <a:lnSpc>
                <a:spcPct val="60000"/>
              </a:lnSpc>
              <a:buNone/>
              <a:defRPr sz="1200" spc="-70" baseline="0">
                <a:solidFill>
                  <a:srgbClr val="333333"/>
                </a:solidFill>
                <a:latin typeface="Arial Black" panose="020B0A04020102020204" pitchFamily="34" charset="0"/>
                <a:ea typeface="SpoqaHanSansJP-Light" panose="020B0300000000000000" pitchFamily="50" charset="-127"/>
              </a:defRPr>
            </a:lvl1pPr>
          </a:lstStyle>
          <a:p>
            <a:pPr lvl="0"/>
            <a:r>
              <a:rPr lang="ko-KR" altLang="en-US" dirty="0"/>
              <a:t>간략한 설명을 적어주세요</a:t>
            </a:r>
            <a:endParaRPr lang="en-US" altLang="ko-KR" dirty="0"/>
          </a:p>
        </p:txBody>
      </p:sp>
      <p:sp>
        <p:nvSpPr>
          <p:cNvPr id="15" name="텍스트 개체 틀 14">
            <a:extLst>
              <a:ext uri="{FF2B5EF4-FFF2-40B4-BE49-F238E27FC236}">
                <a16:creationId xmlns:a16="http://schemas.microsoft.com/office/drawing/2014/main" id="{4493F03B-52DE-4CC9-8657-04DDCFF7EE66}"/>
              </a:ext>
            </a:extLst>
          </p:cNvPr>
          <p:cNvSpPr>
            <a:spLocks noGrp="1"/>
          </p:cNvSpPr>
          <p:nvPr>
            <p:ph type="body" sz="quarter" idx="16" hasCustomPrompt="1"/>
          </p:nvPr>
        </p:nvSpPr>
        <p:spPr>
          <a:xfrm>
            <a:off x="2999708" y="2163936"/>
            <a:ext cx="728229" cy="566869"/>
          </a:xfrm>
        </p:spPr>
        <p:txBody>
          <a:bodyPr>
            <a:normAutofit/>
          </a:bodyPr>
          <a:lstStyle>
            <a:lvl1pPr marL="0" indent="0">
              <a:buNone/>
              <a:defRPr sz="3600">
                <a:solidFill>
                  <a:srgbClr val="FFBC11"/>
                </a:solidFill>
                <a:latin typeface="Lato Black" panose="020F0A02020204030203" pitchFamily="34" charset="0"/>
              </a:defRPr>
            </a:lvl1pPr>
          </a:lstStyle>
          <a:p>
            <a:pPr lvl="0"/>
            <a:r>
              <a:rPr lang="en-US" altLang="ko-KR" dirty="0"/>
              <a:t>01</a:t>
            </a:r>
            <a:endParaRPr lang="ko-KR" altLang="en-US" dirty="0"/>
          </a:p>
        </p:txBody>
      </p:sp>
      <p:sp>
        <p:nvSpPr>
          <p:cNvPr id="16" name="텍스트 개체 틀 14">
            <a:extLst>
              <a:ext uri="{FF2B5EF4-FFF2-40B4-BE49-F238E27FC236}">
                <a16:creationId xmlns:a16="http://schemas.microsoft.com/office/drawing/2014/main" id="{9CB7B446-45E3-48A1-96F6-3C34AE00D18C}"/>
              </a:ext>
            </a:extLst>
          </p:cNvPr>
          <p:cNvSpPr>
            <a:spLocks noGrp="1"/>
          </p:cNvSpPr>
          <p:nvPr>
            <p:ph type="body" sz="quarter" idx="17" hasCustomPrompt="1"/>
          </p:nvPr>
        </p:nvSpPr>
        <p:spPr>
          <a:xfrm>
            <a:off x="3873079" y="2175665"/>
            <a:ext cx="4374105" cy="410136"/>
          </a:xfrm>
        </p:spPr>
        <p:txBody>
          <a:bodyPr>
            <a:normAutofit/>
          </a:bodyPr>
          <a:lstStyle>
            <a:lvl1pPr marL="0" indent="0">
              <a:buNone/>
              <a:defRPr sz="2200">
                <a:solidFill>
                  <a:srgbClr val="000000"/>
                </a:solidFill>
                <a:latin typeface="Lato Black" panose="020F0A02020204030203" pitchFamily="34" charset="0"/>
              </a:defRPr>
            </a:lvl1pPr>
          </a:lstStyle>
          <a:p>
            <a:pPr lvl="0"/>
            <a:r>
              <a:rPr lang="en-US" altLang="ko-KR" dirty="0"/>
              <a:t>TITLE</a:t>
            </a:r>
            <a:endParaRPr lang="ko-KR" altLang="en-US" dirty="0"/>
          </a:p>
        </p:txBody>
      </p:sp>
      <p:sp>
        <p:nvSpPr>
          <p:cNvPr id="17" name="텍스트 개체 틀 24">
            <a:extLst>
              <a:ext uri="{FF2B5EF4-FFF2-40B4-BE49-F238E27FC236}">
                <a16:creationId xmlns:a16="http://schemas.microsoft.com/office/drawing/2014/main" id="{ABCDC3DD-F9B8-43DA-BCDB-D100F6D7E9FB}"/>
              </a:ext>
            </a:extLst>
          </p:cNvPr>
          <p:cNvSpPr>
            <a:spLocks noGrp="1"/>
          </p:cNvSpPr>
          <p:nvPr>
            <p:ph type="body" sz="quarter" idx="18" hasCustomPrompt="1"/>
          </p:nvPr>
        </p:nvSpPr>
        <p:spPr>
          <a:xfrm>
            <a:off x="3891938" y="3718481"/>
            <a:ext cx="4374106" cy="293743"/>
          </a:xfrm>
        </p:spPr>
        <p:txBody>
          <a:bodyPr>
            <a:normAutofit/>
          </a:bodyPr>
          <a:lstStyle>
            <a:lvl1pPr marL="0" indent="0">
              <a:lnSpc>
                <a:spcPct val="60000"/>
              </a:lnSpc>
              <a:buNone/>
              <a:defRPr sz="1200" spc="-70" baseline="0">
                <a:solidFill>
                  <a:srgbClr val="333333"/>
                </a:solidFill>
                <a:latin typeface="Arial Black" panose="020B0A04020102020204" pitchFamily="34" charset="0"/>
                <a:ea typeface="SpoqaHanSansJP-Light" panose="020B0300000000000000" pitchFamily="50" charset="-127"/>
              </a:defRPr>
            </a:lvl1pPr>
          </a:lstStyle>
          <a:p>
            <a:pPr lvl="0"/>
            <a:r>
              <a:rPr lang="ko-KR" altLang="en-US" dirty="0"/>
              <a:t>간략한 설명을 적어주세요</a:t>
            </a:r>
            <a:endParaRPr lang="en-US" altLang="ko-KR" dirty="0"/>
          </a:p>
        </p:txBody>
      </p:sp>
      <p:sp>
        <p:nvSpPr>
          <p:cNvPr id="18" name="텍스트 개체 틀 14">
            <a:extLst>
              <a:ext uri="{FF2B5EF4-FFF2-40B4-BE49-F238E27FC236}">
                <a16:creationId xmlns:a16="http://schemas.microsoft.com/office/drawing/2014/main" id="{A83E8A88-CB41-471C-98F1-D0E26411F482}"/>
              </a:ext>
            </a:extLst>
          </p:cNvPr>
          <p:cNvSpPr>
            <a:spLocks noGrp="1"/>
          </p:cNvSpPr>
          <p:nvPr>
            <p:ph type="body" sz="quarter" idx="19" hasCustomPrompt="1"/>
          </p:nvPr>
        </p:nvSpPr>
        <p:spPr>
          <a:xfrm>
            <a:off x="3002638" y="3283492"/>
            <a:ext cx="728229" cy="566869"/>
          </a:xfrm>
        </p:spPr>
        <p:txBody>
          <a:bodyPr>
            <a:normAutofit/>
          </a:bodyPr>
          <a:lstStyle>
            <a:lvl1pPr marL="0" indent="0">
              <a:buNone/>
              <a:defRPr sz="3600">
                <a:solidFill>
                  <a:srgbClr val="FFBC11"/>
                </a:solidFill>
                <a:latin typeface="Lato Black" panose="020F0A02020204030203" pitchFamily="34" charset="0"/>
              </a:defRPr>
            </a:lvl1pPr>
          </a:lstStyle>
          <a:p>
            <a:pPr lvl="0"/>
            <a:r>
              <a:rPr lang="en-US" altLang="ko-KR" dirty="0"/>
              <a:t>02</a:t>
            </a:r>
            <a:endParaRPr lang="ko-KR" altLang="en-US" dirty="0"/>
          </a:p>
        </p:txBody>
      </p:sp>
      <p:sp>
        <p:nvSpPr>
          <p:cNvPr id="19" name="텍스트 개체 틀 14">
            <a:extLst>
              <a:ext uri="{FF2B5EF4-FFF2-40B4-BE49-F238E27FC236}">
                <a16:creationId xmlns:a16="http://schemas.microsoft.com/office/drawing/2014/main" id="{61210870-DFD1-4507-835F-D3551CF0EEEF}"/>
              </a:ext>
            </a:extLst>
          </p:cNvPr>
          <p:cNvSpPr>
            <a:spLocks noGrp="1"/>
          </p:cNvSpPr>
          <p:nvPr>
            <p:ph type="body" sz="quarter" idx="20" hasCustomPrompt="1"/>
          </p:nvPr>
        </p:nvSpPr>
        <p:spPr>
          <a:xfrm>
            <a:off x="3876009" y="3295221"/>
            <a:ext cx="4374105" cy="410136"/>
          </a:xfrm>
        </p:spPr>
        <p:txBody>
          <a:bodyPr>
            <a:normAutofit/>
          </a:bodyPr>
          <a:lstStyle>
            <a:lvl1pPr marL="0" indent="0">
              <a:buNone/>
              <a:defRPr sz="2200">
                <a:solidFill>
                  <a:srgbClr val="000000"/>
                </a:solidFill>
                <a:latin typeface="Lato Black" panose="020F0A02020204030203" pitchFamily="34" charset="0"/>
              </a:defRPr>
            </a:lvl1pPr>
          </a:lstStyle>
          <a:p>
            <a:pPr lvl="0"/>
            <a:r>
              <a:rPr lang="en-US" altLang="ko-KR" dirty="0"/>
              <a:t>TITLE</a:t>
            </a:r>
            <a:endParaRPr lang="ko-KR" altLang="en-US" dirty="0"/>
          </a:p>
        </p:txBody>
      </p:sp>
      <p:sp>
        <p:nvSpPr>
          <p:cNvPr id="23" name="텍스트 개체 틀 24">
            <a:extLst>
              <a:ext uri="{FF2B5EF4-FFF2-40B4-BE49-F238E27FC236}">
                <a16:creationId xmlns:a16="http://schemas.microsoft.com/office/drawing/2014/main" id="{2E2C37D0-807B-4B8E-8781-BD3EB50AE580}"/>
              </a:ext>
            </a:extLst>
          </p:cNvPr>
          <p:cNvSpPr>
            <a:spLocks noGrp="1"/>
          </p:cNvSpPr>
          <p:nvPr>
            <p:ph type="body" sz="quarter" idx="21" hasCustomPrompt="1"/>
          </p:nvPr>
        </p:nvSpPr>
        <p:spPr>
          <a:xfrm>
            <a:off x="3903666" y="4846827"/>
            <a:ext cx="4374106" cy="293743"/>
          </a:xfrm>
        </p:spPr>
        <p:txBody>
          <a:bodyPr>
            <a:normAutofit/>
          </a:bodyPr>
          <a:lstStyle>
            <a:lvl1pPr marL="0" indent="0">
              <a:lnSpc>
                <a:spcPct val="60000"/>
              </a:lnSpc>
              <a:buNone/>
              <a:defRPr sz="1200" spc="-70" baseline="0">
                <a:solidFill>
                  <a:srgbClr val="333333"/>
                </a:solidFill>
                <a:latin typeface="Arial Black" panose="020B0A04020102020204" pitchFamily="34" charset="0"/>
                <a:ea typeface="SpoqaHanSansJP-Light" panose="020B0300000000000000" pitchFamily="50" charset="-127"/>
              </a:defRPr>
            </a:lvl1pPr>
          </a:lstStyle>
          <a:p>
            <a:pPr lvl="0"/>
            <a:r>
              <a:rPr lang="ko-KR" altLang="en-US" dirty="0"/>
              <a:t>간략한 설명을 적어주세요</a:t>
            </a:r>
            <a:endParaRPr lang="en-US" altLang="ko-KR" dirty="0"/>
          </a:p>
        </p:txBody>
      </p:sp>
      <p:sp>
        <p:nvSpPr>
          <p:cNvPr id="24" name="텍스트 개체 틀 14">
            <a:extLst>
              <a:ext uri="{FF2B5EF4-FFF2-40B4-BE49-F238E27FC236}">
                <a16:creationId xmlns:a16="http://schemas.microsoft.com/office/drawing/2014/main" id="{F54E1ADF-6BEE-40D2-A504-6E3473D98156}"/>
              </a:ext>
            </a:extLst>
          </p:cNvPr>
          <p:cNvSpPr>
            <a:spLocks noGrp="1"/>
          </p:cNvSpPr>
          <p:nvPr>
            <p:ph type="body" sz="quarter" idx="22" hasCustomPrompt="1"/>
          </p:nvPr>
        </p:nvSpPr>
        <p:spPr>
          <a:xfrm>
            <a:off x="3012712" y="4410976"/>
            <a:ext cx="728229" cy="566869"/>
          </a:xfrm>
        </p:spPr>
        <p:txBody>
          <a:bodyPr>
            <a:normAutofit/>
          </a:bodyPr>
          <a:lstStyle>
            <a:lvl1pPr marL="0" indent="0">
              <a:buNone/>
              <a:defRPr sz="3600">
                <a:solidFill>
                  <a:srgbClr val="FFBC11"/>
                </a:solidFill>
                <a:latin typeface="Lato Black" panose="020F0A02020204030203" pitchFamily="34" charset="0"/>
              </a:defRPr>
            </a:lvl1pPr>
          </a:lstStyle>
          <a:p>
            <a:pPr lvl="0"/>
            <a:r>
              <a:rPr lang="en-US" altLang="ko-KR" dirty="0"/>
              <a:t>03</a:t>
            </a:r>
            <a:endParaRPr lang="ko-KR" altLang="en-US" dirty="0"/>
          </a:p>
        </p:txBody>
      </p:sp>
      <p:sp>
        <p:nvSpPr>
          <p:cNvPr id="25" name="텍스트 개체 틀 14">
            <a:extLst>
              <a:ext uri="{FF2B5EF4-FFF2-40B4-BE49-F238E27FC236}">
                <a16:creationId xmlns:a16="http://schemas.microsoft.com/office/drawing/2014/main" id="{C69E5AE6-DEDC-4D9A-BC3A-C921BF099BBB}"/>
              </a:ext>
            </a:extLst>
          </p:cNvPr>
          <p:cNvSpPr>
            <a:spLocks noGrp="1"/>
          </p:cNvSpPr>
          <p:nvPr>
            <p:ph type="body" sz="quarter" idx="23" hasCustomPrompt="1"/>
          </p:nvPr>
        </p:nvSpPr>
        <p:spPr>
          <a:xfrm>
            <a:off x="3886083" y="4422705"/>
            <a:ext cx="4374105" cy="410136"/>
          </a:xfrm>
        </p:spPr>
        <p:txBody>
          <a:bodyPr>
            <a:normAutofit/>
          </a:bodyPr>
          <a:lstStyle>
            <a:lvl1pPr marL="0" indent="0">
              <a:buNone/>
              <a:defRPr sz="2200">
                <a:solidFill>
                  <a:srgbClr val="000000"/>
                </a:solidFill>
                <a:latin typeface="Lato Black" panose="020F0A02020204030203" pitchFamily="34" charset="0"/>
              </a:defRPr>
            </a:lvl1pPr>
          </a:lstStyle>
          <a:p>
            <a:pPr lvl="0"/>
            <a:r>
              <a:rPr lang="en-US" altLang="ko-KR" dirty="0"/>
              <a:t>TITLE</a:t>
            </a:r>
            <a:endParaRPr lang="ko-KR" altLang="en-US" dirty="0"/>
          </a:p>
        </p:txBody>
      </p:sp>
      <p:sp>
        <p:nvSpPr>
          <p:cNvPr id="26" name="직사각형 25">
            <a:extLst>
              <a:ext uri="{FF2B5EF4-FFF2-40B4-BE49-F238E27FC236}">
                <a16:creationId xmlns:a16="http://schemas.microsoft.com/office/drawing/2014/main" id="{5A395907-EB43-442A-80DE-CF58BA3C0AAC}"/>
              </a:ext>
            </a:extLst>
          </p:cNvPr>
          <p:cNvSpPr/>
          <p:nvPr userDrawn="1"/>
        </p:nvSpPr>
        <p:spPr>
          <a:xfrm>
            <a:off x="0" y="0"/>
            <a:ext cx="12192000" cy="252000"/>
          </a:xfrm>
          <a:prstGeom prst="rect">
            <a:avLst/>
          </a:prstGeom>
          <a:solidFill>
            <a:srgbClr val="FFBC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6976D254-BEBC-4D91-A229-5A9BD043B408}"/>
              </a:ext>
            </a:extLst>
          </p:cNvPr>
          <p:cNvSpPr/>
          <p:nvPr userDrawn="1"/>
        </p:nvSpPr>
        <p:spPr>
          <a:xfrm>
            <a:off x="0" y="6609621"/>
            <a:ext cx="12192000" cy="252000"/>
          </a:xfrm>
          <a:prstGeom prst="rect">
            <a:avLst/>
          </a:prstGeom>
          <a:solidFill>
            <a:srgbClr val="FFBC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 </a:t>
            </a:r>
            <a:endParaRPr lang="ko-KR" altLang="en-US" dirty="0"/>
          </a:p>
        </p:txBody>
      </p:sp>
    </p:spTree>
    <p:extLst>
      <p:ext uri="{BB962C8B-B14F-4D97-AF65-F5344CB8AC3E}">
        <p14:creationId xmlns:p14="http://schemas.microsoft.com/office/powerpoint/2010/main" val="4090767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제목 및 세로 텍스트">
    <p:bg>
      <p:bgPr>
        <a:blipFill dpi="0" rotWithShape="1">
          <a:blip r:embed="rId2">
            <a:lum/>
          </a:blip>
          <a:srcRect/>
          <a:stretch>
            <a:fillRect l="-5000" r="-5000"/>
          </a:stretch>
        </a:blip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77CB6348-5209-4E0F-882E-CAD9D4E9A213}"/>
              </a:ext>
            </a:extLst>
          </p:cNvPr>
          <p:cNvSpPr/>
          <p:nvPr userDrawn="1"/>
        </p:nvSpPr>
        <p:spPr>
          <a:xfrm>
            <a:off x="0" y="1882487"/>
            <a:ext cx="12192000" cy="30930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텍스트 개체 틀 8">
            <a:extLst>
              <a:ext uri="{FF2B5EF4-FFF2-40B4-BE49-F238E27FC236}">
                <a16:creationId xmlns:a16="http://schemas.microsoft.com/office/drawing/2014/main" id="{766E0B06-93CB-452E-B720-69CB1268DADC}"/>
              </a:ext>
            </a:extLst>
          </p:cNvPr>
          <p:cNvSpPr>
            <a:spLocks noGrp="1"/>
          </p:cNvSpPr>
          <p:nvPr>
            <p:ph type="body" sz="quarter" idx="10" hasCustomPrompt="1"/>
          </p:nvPr>
        </p:nvSpPr>
        <p:spPr>
          <a:xfrm>
            <a:off x="3297382" y="2888676"/>
            <a:ext cx="5597236" cy="639618"/>
          </a:xfrm>
        </p:spPr>
        <p:txBody>
          <a:bodyPr>
            <a:normAutofit/>
          </a:bodyPr>
          <a:lstStyle>
            <a:lvl1pPr marL="0" indent="0" algn="ctr">
              <a:buNone/>
              <a:defRPr sz="4000">
                <a:latin typeface="맑은 고딕" panose="020B0503020000020004" pitchFamily="50" charset="-127"/>
                <a:ea typeface="맑은 고딕" panose="020B0503020000020004" pitchFamily="50" charset="-127"/>
              </a:defRPr>
            </a:lvl1pPr>
          </a:lstStyle>
          <a:p>
            <a:pPr lvl="0"/>
            <a:r>
              <a:rPr lang="ko-KR" altLang="en-US" dirty="0"/>
              <a:t>선지원 </a:t>
            </a:r>
            <a:r>
              <a:rPr lang="ko-KR" altLang="en-US" dirty="0" err="1"/>
              <a:t>후고민</a:t>
            </a:r>
            <a:endParaRPr lang="ko-KR" altLang="en-US" dirty="0"/>
          </a:p>
        </p:txBody>
      </p:sp>
      <p:pic>
        <p:nvPicPr>
          <p:cNvPr id="12" name="그림 11">
            <a:extLst>
              <a:ext uri="{FF2B5EF4-FFF2-40B4-BE49-F238E27FC236}">
                <a16:creationId xmlns:a16="http://schemas.microsoft.com/office/drawing/2014/main" id="{BE92EA9A-DA93-4158-A700-5D4F190A20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876925" y="2227259"/>
            <a:ext cx="438150" cy="361950"/>
          </a:xfrm>
          <a:prstGeom prst="rect">
            <a:avLst/>
          </a:prstGeom>
        </p:spPr>
      </p:pic>
      <p:pic>
        <p:nvPicPr>
          <p:cNvPr id="14" name="그림 13">
            <a:extLst>
              <a:ext uri="{FF2B5EF4-FFF2-40B4-BE49-F238E27FC236}">
                <a16:creationId xmlns:a16="http://schemas.microsoft.com/office/drawing/2014/main" id="{5E812508-2280-4C87-9747-3C807CC76ECB}"/>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876925" y="4314097"/>
            <a:ext cx="438150" cy="361950"/>
          </a:xfrm>
          <a:prstGeom prst="rect">
            <a:avLst/>
          </a:prstGeom>
        </p:spPr>
      </p:pic>
      <p:sp>
        <p:nvSpPr>
          <p:cNvPr id="19" name="텍스트 개체 틀 18">
            <a:extLst>
              <a:ext uri="{FF2B5EF4-FFF2-40B4-BE49-F238E27FC236}">
                <a16:creationId xmlns:a16="http://schemas.microsoft.com/office/drawing/2014/main" id="{AF0F98E9-18C2-42EE-A0AF-5A5E745371A9}"/>
              </a:ext>
            </a:extLst>
          </p:cNvPr>
          <p:cNvSpPr>
            <a:spLocks noGrp="1"/>
          </p:cNvSpPr>
          <p:nvPr>
            <p:ph type="body" sz="quarter" idx="11" hasCustomPrompt="1"/>
          </p:nvPr>
        </p:nvSpPr>
        <p:spPr>
          <a:xfrm>
            <a:off x="3297238" y="3571239"/>
            <a:ext cx="5597525" cy="585788"/>
          </a:xfrm>
        </p:spPr>
        <p:txBody>
          <a:bodyPr>
            <a:noAutofit/>
          </a:bodyPr>
          <a:lstStyle>
            <a:lvl1pPr marL="0" indent="0" algn="ctr">
              <a:buNone/>
              <a:defRPr sz="1600">
                <a:solidFill>
                  <a:srgbClr val="333333"/>
                </a:solidFill>
                <a:latin typeface="Arial Black" panose="020B0A04020102020204" pitchFamily="34" charset="0"/>
                <a:ea typeface="맑은 고딕" panose="020B0503020000020004" pitchFamily="50" charset="-127"/>
              </a:defRPr>
            </a:lvl1pPr>
            <a:lvl2pPr algn="ctr">
              <a:defRPr sz="1800">
                <a:solidFill>
                  <a:srgbClr val="333333"/>
                </a:solidFill>
                <a:latin typeface="돋움체" panose="020B0300000000000000" pitchFamily="50" charset="-127"/>
                <a:ea typeface="돋움체" panose="020B0300000000000000" pitchFamily="50" charset="-127"/>
              </a:defRPr>
            </a:lvl2pPr>
            <a:lvl3pPr algn="ctr">
              <a:defRPr sz="1800">
                <a:solidFill>
                  <a:srgbClr val="333333"/>
                </a:solidFill>
                <a:latin typeface="돋움체" panose="020B0300000000000000" pitchFamily="50" charset="-127"/>
                <a:ea typeface="돋움체" panose="020B0300000000000000" pitchFamily="50" charset="-127"/>
              </a:defRPr>
            </a:lvl3pPr>
            <a:lvl4pPr algn="ctr">
              <a:defRPr sz="1800">
                <a:solidFill>
                  <a:srgbClr val="333333"/>
                </a:solidFill>
                <a:latin typeface="돋움체" panose="020B0300000000000000" pitchFamily="50" charset="-127"/>
                <a:ea typeface="돋움체" panose="020B0300000000000000" pitchFamily="50" charset="-127"/>
              </a:defRPr>
            </a:lvl4pPr>
            <a:lvl5pPr algn="ctr">
              <a:defRPr sz="1800">
                <a:solidFill>
                  <a:srgbClr val="333333"/>
                </a:solidFill>
                <a:latin typeface="돋움체" panose="020B0300000000000000" pitchFamily="50" charset="-127"/>
                <a:ea typeface="돋움체" panose="020B0300000000000000" pitchFamily="50" charset="-127"/>
              </a:defRPr>
            </a:lvl5pPr>
          </a:lstStyle>
          <a:p>
            <a:pPr lvl="0"/>
            <a:r>
              <a:rPr lang="ko-KR" altLang="en-US" dirty="0"/>
              <a:t>추가 설명을 넣어주세요</a:t>
            </a:r>
          </a:p>
        </p:txBody>
      </p:sp>
    </p:spTree>
    <p:extLst>
      <p:ext uri="{BB962C8B-B14F-4D97-AF65-F5344CB8AC3E}">
        <p14:creationId xmlns:p14="http://schemas.microsoft.com/office/powerpoint/2010/main" val="257977598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p:nvPr/>
        </p:nvSpPr>
        <p:spPr>
          <a:xfrm rot="-5400000">
            <a:off x="11796713" y="6462713"/>
            <a:ext cx="334962" cy="455612"/>
          </a:xfrm>
          <a:prstGeom prst="rtTriangl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7828D115-61A7-47AD-967D-D66C2D591A3F}"/>
              </a:ext>
            </a:extLst>
          </p:cNvPr>
          <p:cNvSpPr>
            <a:spLocks noGrp="1"/>
          </p:cNvSpPr>
          <p:nvPr>
            <p:ph type="body" sz="quarter" idx="10"/>
          </p:nvPr>
        </p:nvSpPr>
        <p:spPr>
          <a:xfrm>
            <a:off x="1280160" y="2761488"/>
            <a:ext cx="9628632" cy="731520"/>
          </a:xfrm>
        </p:spPr>
        <p:txBody>
          <a:bodyPr wrap="square" lIns="54864" rIns="54864" tIns="27432" bIns="27432" anchor="ctr">
            <a:noAutofit/>
          </a:bodyPr>
          <a:lstStyle/>
          <a:p>
            <a:pPr algn="ctr">
              <a:spcAft>
                <a:spcPts val="0"/>
              </a:spcAft>
            </a:pPr>
            <a:r>
              <a:rPr sz="4000" b="1" i="0">
                <a:solidFill>
                  <a:srgbClr val="1A1A1A"/>
                </a:solidFill>
                <a:latin typeface="Arial"/>
                <a:ea typeface="맑은 고딕"/>
              </a:rPr>
              <a:t>yKa x ARTHÉMIS-Core</a:t>
            </a:r>
            <a:endParaRPr lang="ko-KR" altLang="en-US" dirty="0">
              <a:solidFill>
                <a:schemeClr val="tx1"/>
              </a:solidFill>
              <a:latin typeface="+mj-lt"/>
            </a:endParaRPr>
          </a:p>
        </p:txBody>
      </p:sp>
      <p:sp>
        <p:nvSpPr>
          <p:cNvPr id="5" name="텍스트 개체 틀 4">
            <a:extLst>
              <a:ext uri="{FF2B5EF4-FFF2-40B4-BE49-F238E27FC236}">
                <a16:creationId xmlns:a16="http://schemas.microsoft.com/office/drawing/2014/main" id="{D53F711C-93BA-48D4-88AB-A5325AEC76EF}"/>
              </a:ext>
            </a:extLst>
          </p:cNvPr>
          <p:cNvSpPr>
            <a:spLocks noGrp="1"/>
          </p:cNvSpPr>
          <p:nvPr>
            <p:ph type="body" sz="quarter" idx="11"/>
          </p:nvPr>
        </p:nvSpPr>
        <p:spPr>
          <a:xfrm>
            <a:off x="1280160" y="3520440"/>
            <a:ext cx="9628632" cy="457200"/>
          </a:xfrm>
        </p:spPr>
        <p:txBody>
          <a:bodyPr wrap="square" lIns="54864" rIns="54864" tIns="27432" bIns="27432" anchor="ctr">
            <a:noAutofit/>
          </a:bodyPr>
          <a:lstStyle/>
          <a:p>
            <a:pPr algn="ctr">
              <a:spcAft>
                <a:spcPts val="0"/>
              </a:spcAft>
            </a:pPr>
            <a:r>
              <a:rPr sz="2000" b="0" i="0">
                <a:solidFill>
                  <a:srgbClr val="445569"/>
                </a:solidFill>
                <a:latin typeface="Arial"/>
                <a:ea typeface="맑은 고딕"/>
              </a:rPr>
              <a:t>Young Korean Artists를 위한 맥락 분리형 AI 아트 큐레이션</a:t>
            </a:r>
            <a:endParaRPr lang="ko-KR" altLang="en-US" dirty="0">
              <a:latin typeface="+mj-lt"/>
            </a:endParaRPr>
          </a:p>
        </p:txBody>
      </p:sp>
      <p:pic>
        <p:nvPicPr>
          <p:cNvPr id="6" name="Picture 4">
            <a:extLst>
              <a:ext uri="{FF2B5EF4-FFF2-40B4-BE49-F238E27FC236}">
                <a16:creationId xmlns:a16="http://schemas.microsoft.com/office/drawing/2014/main" id="{C80E0361-E64E-4445-B75E-0B4FCA87F86E}"/>
              </a:ext>
            </a:extLst>
          </p:cNvPr>
          <p:cNvPicPr>
            <a:picLocks noChangeAspect="1" noChangeArrowheads="1"/>
          </p:cNvPicPr>
          <p:nvPr/>
        </p:nvPicPr>
        <p:blipFill>
          <a:blip r:embed="rId2"/>
          <a:srcRect/>
          <a:stretch/>
        </p:blipFill>
        <p:spPr bwMode="auto">
          <a:xfrm>
            <a:off x="10299929" y="119466"/>
            <a:ext cx="1448774" cy="56341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AI 혁신학교 AIFFEL">
            <a:extLst>
              <a:ext uri="{FF2B5EF4-FFF2-40B4-BE49-F238E27FC236}">
                <a16:creationId xmlns:a16="http://schemas.microsoft.com/office/drawing/2014/main" id="{077FE409-592D-47A4-930F-097365A4DC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297" y="379846"/>
            <a:ext cx="1481475" cy="303030"/>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21;p1">
            <a:extLst>
              <a:ext uri="{FF2B5EF4-FFF2-40B4-BE49-F238E27FC236}">
                <a16:creationId xmlns:a16="http://schemas.microsoft.com/office/drawing/2014/main" id="{8F4AEA5C-71BA-4081-B779-89B8D480769B}"/>
              </a:ext>
            </a:extLst>
          </p:cNvPr>
          <p:cNvSpPr txBox="1"/>
          <p:nvPr/>
        </p:nvSpPr>
        <p:spPr>
          <a:xfrm>
            <a:off x="7680960" y="5520651"/>
            <a:ext cx="3931920" cy="677108"/>
          </a:xfrm>
          <a:prstGeom prst="rect">
            <a:avLst/>
          </a:prstGeom>
          <a:noFill/>
          <a:ln>
            <a:noFill/>
          </a:ln>
        </p:spPr>
        <p:txBody>
          <a:bodyPr spcFirstLastPara="1" wrap="square" lIns="54864" tIns="27432" rIns="54864" bIns="27432" anchor="ctr" anchorCtr="0">
            <a:noAutofit/>
          </a:bodyPr>
          <a:lstStyle/>
          <a:p>
            <a:pPr marL="0" marR="0" lvl="0" indent="0" algn="r" rtl="0">
              <a:spcBef>
                <a:spcPts val="0"/>
              </a:spcBef>
              <a:spcAft>
                <a:spcPts val="0"/>
              </a:spcAft>
              <a:buNone/>
            </a:pPr>
            <a:r>
              <a:rPr sz="2000" b="1" i="0">
                <a:solidFill>
                  <a:srgbClr val="1A1A1A"/>
                </a:solidFill>
                <a:latin typeface="Arial"/>
                <a:ea typeface="맑은 고딕"/>
              </a:rPr>
              <a:t>[팀명 입력]</a:t>
            </a:r>
            <a:endParaRPr sz="1200" b="1" i="0" u="none" strike="noStrike" cap="none" dirty="0">
              <a:solidFill>
                <a:schemeClr val="tx1"/>
              </a:solidFill>
              <a:latin typeface="+mj-lt"/>
              <a:ea typeface="맑은 고딕" panose="020B0503020000020004" pitchFamily="50" charset="-127"/>
              <a:cs typeface="Calibri"/>
              <a:sym typeface="Calibri"/>
            </a:endParaRPr>
          </a:p>
          <a:p>
            <a:pPr algn="r">
              <a:spcAft>
                <a:spcPts val="0"/>
              </a:spcAft>
            </a:pPr>
            <a:r>
              <a:rPr sz="1600" b="1" i="0">
                <a:solidFill>
                  <a:srgbClr val="1A1A1A"/>
                </a:solidFill>
                <a:latin typeface="Arial"/>
                <a:ea typeface="맑은 고딕"/>
              </a:rPr>
              <a:t>추병곤 · [팀원명 입력]</a:t>
            </a:r>
          </a:p>
        </p:txBody>
      </p:sp>
    </p:spTree>
    <p:extLst>
      <p:ext uri="{BB962C8B-B14F-4D97-AF65-F5344CB8AC3E}">
        <p14:creationId xmlns:p14="http://schemas.microsoft.com/office/powerpoint/2010/main" val="10396751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내용 개체 틀 1">
            <a:extLst>
              <a:ext uri="{FF2B5EF4-FFF2-40B4-BE49-F238E27FC236}">
                <a16:creationId xmlns:a16="http://schemas.microsoft.com/office/drawing/2014/main" id="{0BCA065E-A58B-41AE-8ED2-C753FCB87AD6}"/>
              </a:ext>
            </a:extLst>
          </p:cNvPr>
          <p:cNvSpPr>
            <a:spLocks noGrp="1"/>
          </p:cNvSpPr>
          <p:nvPr>
            <p:ph sz="quarter" idx="14"/>
          </p:nvPr>
        </p:nvSpPr>
        <p:spPr/>
        <p:txBody>
          <a:bodyPr/>
          <a:lstStyle/>
          <a:p>
            <a:r>
              <a:rPr lang="en-US" altLang="ko-KR" dirty="0">
                <a:latin typeface="+mj-lt"/>
              </a:rPr>
              <a:t>INDEX</a:t>
            </a:r>
            <a:endParaRPr lang="ko-KR" altLang="en-US" dirty="0">
              <a:latin typeface="+mj-lt"/>
            </a:endParaRPr>
          </a:p>
        </p:txBody>
      </p:sp>
      <p:sp>
        <p:nvSpPr>
          <p:cNvPr id="4" name="텍스트 개체 틀 3">
            <a:extLst>
              <a:ext uri="{FF2B5EF4-FFF2-40B4-BE49-F238E27FC236}">
                <a16:creationId xmlns:a16="http://schemas.microsoft.com/office/drawing/2014/main" id="{568583FD-5471-4D90-B344-57D23ED27162}"/>
              </a:ext>
            </a:extLst>
          </p:cNvPr>
          <p:cNvSpPr>
            <a:spLocks noGrp="1"/>
          </p:cNvSpPr>
          <p:nvPr>
            <p:ph type="body" sz="quarter" idx="16"/>
          </p:nvPr>
        </p:nvSpPr>
        <p:spPr/>
        <p:txBody>
          <a:bodyPr>
            <a:normAutofit fontScale="92500" lnSpcReduction="10000"/>
          </a:bodyPr>
          <a:lstStyle/>
          <a:p>
            <a:r>
              <a:rPr lang="en-US" altLang="ko-KR" dirty="0">
                <a:latin typeface="+mj-lt"/>
              </a:rPr>
              <a:t>01</a:t>
            </a:r>
            <a:endParaRPr lang="ko-KR" altLang="en-US" dirty="0">
              <a:latin typeface="+mj-lt"/>
            </a:endParaRPr>
          </a:p>
        </p:txBody>
      </p:sp>
      <p:sp>
        <p:nvSpPr>
          <p:cNvPr id="5" name="텍스트 개체 틀 4">
            <a:extLst>
              <a:ext uri="{FF2B5EF4-FFF2-40B4-BE49-F238E27FC236}">
                <a16:creationId xmlns:a16="http://schemas.microsoft.com/office/drawing/2014/main" id="{6DE3306D-DE5C-4301-830D-423ABF21B1F0}"/>
              </a:ext>
            </a:extLst>
          </p:cNvPr>
          <p:cNvSpPr>
            <a:spLocks noGrp="1"/>
          </p:cNvSpPr>
          <p:nvPr>
            <p:ph type="body" sz="quarter" idx="17"/>
          </p:nvPr>
        </p:nvSpPr>
        <p:spPr/>
        <p:txBody>
          <a:bodyPr>
            <a:normAutofit/>
          </a:bodyPr>
          <a:lstStyle/>
          <a:p>
            <a:r>
              <a:rPr lang="ko-KR" altLang="en-US" sz="2000" dirty="0">
                <a:latin typeface="+mj-lt"/>
                <a:ea typeface="맑은 고딕" panose="020B0503020000020004" pitchFamily="50" charset="-127"/>
              </a:rPr>
              <a:t>프로젝트 배경</a:t>
            </a:r>
          </a:p>
        </p:txBody>
      </p:sp>
      <p:sp>
        <p:nvSpPr>
          <p:cNvPr id="7" name="텍스트 개체 틀 6">
            <a:extLst>
              <a:ext uri="{FF2B5EF4-FFF2-40B4-BE49-F238E27FC236}">
                <a16:creationId xmlns:a16="http://schemas.microsoft.com/office/drawing/2014/main" id="{3CEB0DBB-B15C-4D22-9E64-78BA4DF5F8D6}"/>
              </a:ext>
            </a:extLst>
          </p:cNvPr>
          <p:cNvSpPr>
            <a:spLocks noGrp="1"/>
          </p:cNvSpPr>
          <p:nvPr>
            <p:ph type="body" sz="quarter" idx="19"/>
          </p:nvPr>
        </p:nvSpPr>
        <p:spPr>
          <a:xfrm>
            <a:off x="3002638" y="2880328"/>
            <a:ext cx="728229" cy="566869"/>
          </a:xfrm>
        </p:spPr>
        <p:txBody>
          <a:bodyPr>
            <a:normAutofit fontScale="92500" lnSpcReduction="10000"/>
          </a:bodyPr>
          <a:lstStyle/>
          <a:p>
            <a:r>
              <a:rPr lang="en-US" altLang="ko-KR" dirty="0">
                <a:latin typeface="+mj-lt"/>
              </a:rPr>
              <a:t>02</a:t>
            </a:r>
            <a:endParaRPr lang="ko-KR" altLang="en-US" dirty="0">
              <a:latin typeface="+mj-lt"/>
            </a:endParaRPr>
          </a:p>
        </p:txBody>
      </p:sp>
      <p:sp>
        <p:nvSpPr>
          <p:cNvPr id="8" name="텍스트 개체 틀 7">
            <a:extLst>
              <a:ext uri="{FF2B5EF4-FFF2-40B4-BE49-F238E27FC236}">
                <a16:creationId xmlns:a16="http://schemas.microsoft.com/office/drawing/2014/main" id="{5084C9DB-FA9C-4EA1-8C44-D110C63494AE}"/>
              </a:ext>
            </a:extLst>
          </p:cNvPr>
          <p:cNvSpPr>
            <a:spLocks noGrp="1"/>
          </p:cNvSpPr>
          <p:nvPr>
            <p:ph type="body" sz="quarter" idx="20"/>
          </p:nvPr>
        </p:nvSpPr>
        <p:spPr>
          <a:xfrm>
            <a:off x="3876009" y="2894915"/>
            <a:ext cx="4374105" cy="410136"/>
          </a:xfrm>
        </p:spPr>
        <p:txBody>
          <a:bodyPr>
            <a:normAutofit/>
          </a:bodyPr>
          <a:lstStyle/>
          <a:p>
            <a:r>
              <a:rPr lang="ko-KR" altLang="en-US" sz="2000" dirty="0">
                <a:latin typeface="+mj-lt"/>
                <a:ea typeface="맑은 고딕" panose="020B0503020000020004" pitchFamily="50" charset="-127"/>
              </a:rPr>
              <a:t>프로젝트 팀 구성 및 역할</a:t>
            </a:r>
          </a:p>
        </p:txBody>
      </p:sp>
      <p:sp>
        <p:nvSpPr>
          <p:cNvPr id="10" name="텍스트 개체 틀 9">
            <a:extLst>
              <a:ext uri="{FF2B5EF4-FFF2-40B4-BE49-F238E27FC236}">
                <a16:creationId xmlns:a16="http://schemas.microsoft.com/office/drawing/2014/main" id="{4A33CBFA-6720-452E-872C-467013BF0C5A}"/>
              </a:ext>
            </a:extLst>
          </p:cNvPr>
          <p:cNvSpPr>
            <a:spLocks noGrp="1"/>
          </p:cNvSpPr>
          <p:nvPr>
            <p:ph type="body" sz="quarter" idx="22"/>
          </p:nvPr>
        </p:nvSpPr>
        <p:spPr>
          <a:xfrm>
            <a:off x="2999708" y="3596720"/>
            <a:ext cx="728229" cy="566869"/>
          </a:xfrm>
        </p:spPr>
        <p:txBody>
          <a:bodyPr>
            <a:normAutofit fontScale="92500" lnSpcReduction="10000"/>
          </a:bodyPr>
          <a:lstStyle/>
          <a:p>
            <a:r>
              <a:rPr lang="en-US" altLang="ko-KR" dirty="0">
                <a:latin typeface="+mj-lt"/>
              </a:rPr>
              <a:t>03</a:t>
            </a:r>
            <a:endParaRPr lang="ko-KR" altLang="en-US" dirty="0">
              <a:latin typeface="+mj-lt"/>
            </a:endParaRPr>
          </a:p>
        </p:txBody>
      </p:sp>
      <p:sp>
        <p:nvSpPr>
          <p:cNvPr id="11" name="텍스트 개체 틀 10">
            <a:extLst>
              <a:ext uri="{FF2B5EF4-FFF2-40B4-BE49-F238E27FC236}">
                <a16:creationId xmlns:a16="http://schemas.microsoft.com/office/drawing/2014/main" id="{3D17D75A-E893-4DA8-94BE-8A6EF4703206}"/>
              </a:ext>
            </a:extLst>
          </p:cNvPr>
          <p:cNvSpPr>
            <a:spLocks noGrp="1"/>
          </p:cNvSpPr>
          <p:nvPr>
            <p:ph type="body" sz="quarter" idx="23"/>
          </p:nvPr>
        </p:nvSpPr>
        <p:spPr>
          <a:xfrm>
            <a:off x="3886083" y="3614165"/>
            <a:ext cx="4374105" cy="410136"/>
          </a:xfrm>
        </p:spPr>
        <p:txBody>
          <a:bodyPr>
            <a:normAutofit/>
          </a:bodyPr>
          <a:lstStyle/>
          <a:p>
            <a:r>
              <a:rPr lang="ko-KR" altLang="en-US" sz="2000" dirty="0">
                <a:latin typeface="+mj-lt"/>
                <a:ea typeface="맑은 고딕" panose="020B0503020000020004" pitchFamily="50" charset="-127"/>
              </a:rPr>
              <a:t>프로젝트 수행 절차 및 방법</a:t>
            </a:r>
          </a:p>
        </p:txBody>
      </p:sp>
      <p:sp>
        <p:nvSpPr>
          <p:cNvPr id="12" name="텍스트 개체 틀 9">
            <a:extLst>
              <a:ext uri="{FF2B5EF4-FFF2-40B4-BE49-F238E27FC236}">
                <a16:creationId xmlns:a16="http://schemas.microsoft.com/office/drawing/2014/main" id="{F1384FD1-CDCF-45B2-88A1-FE6DBB78E6EE}"/>
              </a:ext>
            </a:extLst>
          </p:cNvPr>
          <p:cNvSpPr txBox="1">
            <a:spLocks/>
          </p:cNvSpPr>
          <p:nvPr/>
        </p:nvSpPr>
        <p:spPr>
          <a:xfrm>
            <a:off x="2999708" y="4313112"/>
            <a:ext cx="728229" cy="566869"/>
          </a:xfrm>
        </p:spPr>
        <p:txBody>
          <a:bodyPr>
            <a:normAutofit fontScale="92500" lnSpcReduction="10000"/>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3600" b="0" i="0" u="none" strike="noStrike" cap="none">
                <a:solidFill>
                  <a:srgbClr val="FFBC11"/>
                </a:solidFill>
                <a:latin typeface="Lato Black" panose="020F0A02020204030203" pitchFamily="34"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ko-KR" dirty="0">
                <a:latin typeface="+mj-lt"/>
              </a:rPr>
              <a:t>04</a:t>
            </a:r>
            <a:endParaRPr lang="ko-KR" altLang="en-US" dirty="0">
              <a:latin typeface="+mj-lt"/>
            </a:endParaRPr>
          </a:p>
        </p:txBody>
      </p:sp>
      <p:sp>
        <p:nvSpPr>
          <p:cNvPr id="14" name="텍스트 개체 틀 9">
            <a:extLst>
              <a:ext uri="{FF2B5EF4-FFF2-40B4-BE49-F238E27FC236}">
                <a16:creationId xmlns:a16="http://schemas.microsoft.com/office/drawing/2014/main" id="{A4B50C97-2FE9-4CB8-9B37-BA633D0313E8}"/>
              </a:ext>
            </a:extLst>
          </p:cNvPr>
          <p:cNvSpPr txBox="1">
            <a:spLocks/>
          </p:cNvSpPr>
          <p:nvPr/>
        </p:nvSpPr>
        <p:spPr>
          <a:xfrm>
            <a:off x="2999708" y="5029504"/>
            <a:ext cx="728229" cy="566869"/>
          </a:xfrm>
        </p:spPr>
        <p:txBody>
          <a:bodyPr>
            <a:normAutofit fontScale="92500" lnSpcReduction="10000"/>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3600" b="0" i="0" u="none" strike="noStrike" cap="none">
                <a:solidFill>
                  <a:srgbClr val="FFBC11"/>
                </a:solidFill>
                <a:latin typeface="Lato Black" panose="020F0A02020204030203" pitchFamily="34"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ko-KR" dirty="0">
                <a:latin typeface="+mj-lt"/>
              </a:rPr>
              <a:t>05</a:t>
            </a:r>
            <a:endParaRPr lang="ko-KR" altLang="en-US" dirty="0">
              <a:latin typeface="+mj-lt"/>
            </a:endParaRPr>
          </a:p>
        </p:txBody>
      </p:sp>
      <p:sp>
        <p:nvSpPr>
          <p:cNvPr id="16" name="텍스트 개체 틀 9">
            <a:extLst>
              <a:ext uri="{FF2B5EF4-FFF2-40B4-BE49-F238E27FC236}">
                <a16:creationId xmlns:a16="http://schemas.microsoft.com/office/drawing/2014/main" id="{00AC2DCA-9FAA-4F79-B902-14025DFD91F0}"/>
              </a:ext>
            </a:extLst>
          </p:cNvPr>
          <p:cNvSpPr txBox="1">
            <a:spLocks/>
          </p:cNvSpPr>
          <p:nvPr/>
        </p:nvSpPr>
        <p:spPr>
          <a:xfrm>
            <a:off x="2999708" y="5745896"/>
            <a:ext cx="728229" cy="566869"/>
          </a:xfrm>
        </p:spPr>
        <p:txBody>
          <a:bodyPr>
            <a:normAutofit fontScale="92500" lnSpcReduction="10000"/>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3600" b="0" i="0" u="none" strike="noStrike" cap="none">
                <a:solidFill>
                  <a:srgbClr val="FFBC11"/>
                </a:solidFill>
                <a:latin typeface="Lato Black" panose="020F0A02020204030203" pitchFamily="34"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ko-KR" dirty="0">
                <a:latin typeface="+mj-lt"/>
              </a:rPr>
              <a:t>06</a:t>
            </a:r>
            <a:endParaRPr lang="ko-KR" altLang="en-US" dirty="0">
              <a:latin typeface="+mj-lt"/>
            </a:endParaRPr>
          </a:p>
        </p:txBody>
      </p:sp>
      <p:sp>
        <p:nvSpPr>
          <p:cNvPr id="18" name="텍스트 개체 틀 10">
            <a:extLst>
              <a:ext uri="{FF2B5EF4-FFF2-40B4-BE49-F238E27FC236}">
                <a16:creationId xmlns:a16="http://schemas.microsoft.com/office/drawing/2014/main" id="{A5A809EA-3F49-41D2-BEE5-1F29DA5FED78}"/>
              </a:ext>
            </a:extLst>
          </p:cNvPr>
          <p:cNvSpPr txBox="1">
            <a:spLocks/>
          </p:cNvSpPr>
          <p:nvPr/>
        </p:nvSpPr>
        <p:spPr>
          <a:xfrm>
            <a:off x="3886083" y="4333415"/>
            <a:ext cx="4374105" cy="410136"/>
          </a:xfrm>
        </p:spPr>
        <p:txBody>
          <a:bodyPr>
            <a:norm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2200" b="0" i="0" u="none" strike="noStrike" cap="none">
                <a:solidFill>
                  <a:srgbClr val="000000"/>
                </a:solidFill>
                <a:latin typeface="Lato Black" panose="020F0A02020204030203" pitchFamily="34"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ko-KR" altLang="en-US" sz="2000" dirty="0">
                <a:latin typeface="+mj-lt"/>
                <a:ea typeface="맑은 고딕" panose="020B0503020000020004" pitchFamily="50" charset="-127"/>
              </a:rPr>
              <a:t>프로젝트 수행 과정</a:t>
            </a:r>
          </a:p>
        </p:txBody>
      </p:sp>
      <p:sp>
        <p:nvSpPr>
          <p:cNvPr id="19" name="텍스트 개체 틀 10">
            <a:extLst>
              <a:ext uri="{FF2B5EF4-FFF2-40B4-BE49-F238E27FC236}">
                <a16:creationId xmlns:a16="http://schemas.microsoft.com/office/drawing/2014/main" id="{B03C7699-F480-41BF-9112-C2872CFF0874}"/>
              </a:ext>
            </a:extLst>
          </p:cNvPr>
          <p:cNvSpPr txBox="1">
            <a:spLocks/>
          </p:cNvSpPr>
          <p:nvPr/>
        </p:nvSpPr>
        <p:spPr>
          <a:xfrm>
            <a:off x="3886083" y="5052665"/>
            <a:ext cx="4374105" cy="410136"/>
          </a:xfrm>
        </p:spPr>
        <p:txBody>
          <a:bodyPr>
            <a:norm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2200" b="0" i="0" u="none" strike="noStrike" cap="none">
                <a:solidFill>
                  <a:srgbClr val="000000"/>
                </a:solidFill>
                <a:latin typeface="Lato Black" panose="020F0A02020204030203" pitchFamily="34"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ko-KR" altLang="en-US" sz="2000" dirty="0">
                <a:latin typeface="+mj-lt"/>
                <a:ea typeface="맑은 고딕" panose="020B0503020000020004" pitchFamily="50" charset="-127"/>
              </a:rPr>
              <a:t>프로젝트 예상·실측 결과</a:t>
            </a:r>
          </a:p>
        </p:txBody>
      </p:sp>
      <p:sp>
        <p:nvSpPr>
          <p:cNvPr id="20" name="텍스트 개체 틀 10">
            <a:extLst>
              <a:ext uri="{FF2B5EF4-FFF2-40B4-BE49-F238E27FC236}">
                <a16:creationId xmlns:a16="http://schemas.microsoft.com/office/drawing/2014/main" id="{DEEFFDAC-79A1-451B-AA80-C07E127EF973}"/>
              </a:ext>
            </a:extLst>
          </p:cNvPr>
          <p:cNvSpPr txBox="1">
            <a:spLocks/>
          </p:cNvSpPr>
          <p:nvPr/>
        </p:nvSpPr>
        <p:spPr>
          <a:xfrm>
            <a:off x="3886083" y="5771916"/>
            <a:ext cx="4374105" cy="410136"/>
          </a:xfrm>
        </p:spPr>
        <p:txBody>
          <a:bodyPr>
            <a:norm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buNone/>
              <a:defRPr sz="2200" b="0" i="0" u="none" strike="noStrike" cap="none">
                <a:solidFill>
                  <a:srgbClr val="000000"/>
                </a:solidFill>
                <a:latin typeface="Lato Black" panose="020F0A02020204030203" pitchFamily="34" charset="0"/>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ko-KR" altLang="en-US" sz="2000" dirty="0">
                <a:latin typeface="+mj-lt"/>
                <a:ea typeface="맑은 고딕" panose="020B0503020000020004" pitchFamily="50" charset="-127"/>
              </a:rPr>
              <a:t>느낀 점 </a:t>
            </a:r>
            <a:r>
              <a:rPr lang="en-US" altLang="ko-KR" sz="2000" dirty="0">
                <a:latin typeface="+mj-lt"/>
                <a:ea typeface="맑은 고딕" panose="020B0503020000020004" pitchFamily="50" charset="-127"/>
              </a:rPr>
              <a:t>&amp; </a:t>
            </a:r>
            <a:r>
              <a:rPr lang="ko-KR" altLang="en-US" sz="2000" dirty="0">
                <a:latin typeface="+mj-lt"/>
                <a:ea typeface="맑은 고딕" panose="020B0503020000020004" pitchFamily="50" charset="-127"/>
              </a:rPr>
              <a:t>추후 계획</a:t>
            </a:r>
          </a:p>
        </p:txBody>
      </p:sp>
    </p:spTree>
    <p:extLst>
      <p:ext uri="{BB962C8B-B14F-4D97-AF65-F5344CB8AC3E}">
        <p14:creationId xmlns:p14="http://schemas.microsoft.com/office/powerpoint/2010/main" val="16959144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4"/>
          <p:cNvSpPr txBox="1"/>
          <p:nvPr/>
        </p:nvSpPr>
        <p:spPr>
          <a:xfrm>
            <a:off x="17463" y="-27384"/>
            <a:ext cx="1160462" cy="11079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6600" b="1" dirty="0">
                <a:solidFill>
                  <a:srgbClr val="FFBD11"/>
                </a:solidFill>
                <a:latin typeface="+mj-lt"/>
                <a:ea typeface="Arial"/>
                <a:cs typeface="Arial"/>
                <a:sym typeface="Arial"/>
              </a:rPr>
              <a:t>0</a:t>
            </a:r>
            <a:r>
              <a:rPr lang="en-US" altLang="ko-KR" sz="6600" b="1" dirty="0">
                <a:solidFill>
                  <a:srgbClr val="FFBD11"/>
                </a:solidFill>
                <a:latin typeface="+mj-lt"/>
                <a:ea typeface="Arial"/>
                <a:cs typeface="Arial"/>
                <a:sym typeface="Arial"/>
              </a:rPr>
              <a:t>1</a:t>
            </a:r>
            <a:r>
              <a:rPr lang="ko-KR" sz="4000" b="1" dirty="0">
                <a:solidFill>
                  <a:srgbClr val="445569"/>
                </a:solidFill>
                <a:latin typeface="+mj-lt"/>
                <a:ea typeface="Arial"/>
                <a:cs typeface="Arial"/>
                <a:sym typeface="Arial"/>
              </a:rPr>
              <a:t> </a:t>
            </a:r>
            <a:endParaRPr sz="4000" b="1" dirty="0">
              <a:solidFill>
                <a:srgbClr val="445569"/>
              </a:solidFill>
              <a:latin typeface="+mj-lt"/>
              <a:ea typeface="Arial"/>
              <a:cs typeface="Arial"/>
              <a:sym typeface="Arial"/>
            </a:endParaRPr>
          </a:p>
        </p:txBody>
      </p:sp>
      <p:sp>
        <p:nvSpPr>
          <p:cNvPr id="45" name="Google Shape;45;p4"/>
          <p:cNvSpPr txBox="1"/>
          <p:nvPr/>
        </p:nvSpPr>
        <p:spPr>
          <a:xfrm>
            <a:off x="984110" y="126483"/>
            <a:ext cx="64008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chemeClr val="tx1"/>
                </a:solidFill>
                <a:latin typeface="+mj-lt"/>
                <a:ea typeface="맑은 고딕"/>
                <a:cs typeface="Calibri"/>
                <a:sym typeface="Calibri"/>
              </a:rPr>
              <a:t>프로젝트 배경</a:t>
            </a:r>
            <a:endParaRPr dirty="0">
              <a:solidFill>
                <a:schemeClr val="tx1"/>
              </a:solidFill>
              <a:latin typeface="+mj-lt"/>
            </a:endParaRPr>
          </a:p>
        </p:txBody>
      </p:sp>
      <p:cxnSp>
        <p:nvCxnSpPr>
          <p:cNvPr id="46" name="Google Shape;46;p4"/>
          <p:cNvCxnSpPr>
            <a:cxnSpLocks/>
          </p:cNvCxnSpPr>
          <p:nvPr/>
        </p:nvCxnSpPr>
        <p:spPr>
          <a:xfrm flipV="1">
            <a:off x="1107936" y="526593"/>
            <a:ext cx="10827390" cy="13164"/>
          </a:xfrm>
          <a:prstGeom prst="straightConnector1">
            <a:avLst/>
          </a:prstGeom>
          <a:noFill/>
          <a:ln w="31750" cap="flat" cmpd="sng">
            <a:solidFill>
              <a:srgbClr val="FFBD11"/>
            </a:solidFill>
            <a:prstDash val="solid"/>
            <a:miter lim="800000"/>
            <a:headEnd type="none" w="sm" len="sm"/>
            <a:tailEnd type="none" w="sm" len="sm"/>
          </a:ln>
        </p:spPr>
      </p:cxnSp>
      <p:sp>
        <p:nvSpPr>
          <p:cNvPr id="9" name="Google Shape;124;p8">
            <a:extLst>
              <a:ext uri="{FF2B5EF4-FFF2-40B4-BE49-F238E27FC236}">
                <a16:creationId xmlns:a16="http://schemas.microsoft.com/office/drawing/2014/main" id="{043106DF-ECD6-42C2-8B7A-2D53A210501B}"/>
              </a:ext>
            </a:extLst>
          </p:cNvPr>
          <p:cNvSpPr txBox="1"/>
          <p:nvPr/>
        </p:nvSpPr>
        <p:spPr>
          <a:xfrm>
            <a:off x="1075852" y="615955"/>
            <a:ext cx="108813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rgbClr val="1A1A1A"/>
                </a:solidFill>
                <a:latin typeface="+mj-lt"/>
                <a:ea typeface="맑은 고딕"/>
                <a:cs typeface="Calibri"/>
                <a:sym typeface="Calibri"/>
              </a:rPr>
              <a:t>감각의 언어를, 오늘 갈 수 있는 작품으로 연결하다</a:t>
            </a:r>
            <a:endParaRPr dirty="0">
              <a:solidFill>
                <a:schemeClr val="tx1"/>
              </a:solidFill>
              <a:latin typeface="+mj-lt"/>
            </a:endParaRPr>
          </a:p>
        </p:txBody>
      </p:sp>
      <p:sp>
        <p:nvSpPr>
          <p:cNvPr id="47" name="TextBox 46"/>
          <p:cNvSpPr txBox="1"/>
          <p:nvPr/>
        </p:nvSpPr>
        <p:spPr>
          <a:xfrm>
            <a:off x="548640" y="1188720"/>
            <a:ext cx="8229600" cy="548640"/>
          </a:xfrm>
          <a:prstGeom prst="rect">
            <a:avLst/>
          </a:prstGeom>
          <a:noFill/>
        </p:spPr>
        <p:txBody>
          <a:bodyPr wrap="square" lIns="0" rIns="0" tIns="27432" bIns="27432" anchor="t">
            <a:noAutofit/>
          </a:bodyPr>
          <a:lstStyle/>
          <a:p>
            <a:pPr algn="l">
              <a:spcAft>
                <a:spcPts val="0"/>
              </a:spcAft>
            </a:pPr>
            <a:r>
              <a:rPr sz="3000" b="1" i="0">
                <a:solidFill>
                  <a:srgbClr val="1A1A1A"/>
                </a:solidFill>
                <a:latin typeface="Arial"/>
                <a:ea typeface="맑은 고딕"/>
              </a:rPr>
              <a:t>yKa x ARTHÉMIS-Core</a:t>
            </a:r>
          </a:p>
        </p:txBody>
      </p:sp>
      <p:sp>
        <p:nvSpPr>
          <p:cNvPr id="48" name="TextBox 47"/>
          <p:cNvSpPr txBox="1"/>
          <p:nvPr/>
        </p:nvSpPr>
        <p:spPr>
          <a:xfrm>
            <a:off x="548640" y="1719072"/>
            <a:ext cx="10058400" cy="365760"/>
          </a:xfrm>
          <a:prstGeom prst="rect">
            <a:avLst/>
          </a:prstGeom>
          <a:noFill/>
        </p:spPr>
        <p:txBody>
          <a:bodyPr wrap="square" lIns="0" rIns="0" tIns="27432" bIns="27432" anchor="t">
            <a:noAutofit/>
          </a:bodyPr>
          <a:lstStyle/>
          <a:p>
            <a:pPr algn="l">
              <a:spcAft>
                <a:spcPts val="0"/>
              </a:spcAft>
            </a:pPr>
            <a:r>
              <a:rPr sz="1600" b="1" i="0">
                <a:solidFill>
                  <a:srgbClr val="445569"/>
                </a:solidFill>
                <a:latin typeface="Arial"/>
                <a:ea typeface="맑은 고딕"/>
              </a:rPr>
              <a:t>Young Korean Artists를 위한 맥락 분리형 AI 아트 큐레이션</a:t>
            </a:r>
          </a:p>
        </p:txBody>
      </p:sp>
      <p:sp>
        <p:nvSpPr>
          <p:cNvPr id="49" name="TextBox 48"/>
          <p:cNvSpPr txBox="1"/>
          <p:nvPr/>
        </p:nvSpPr>
        <p:spPr>
          <a:xfrm>
            <a:off x="548640" y="2103120"/>
            <a:ext cx="11064240" cy="365760"/>
          </a:xfrm>
          <a:prstGeom prst="rect">
            <a:avLst/>
          </a:prstGeom>
          <a:noFill/>
        </p:spPr>
        <p:txBody>
          <a:bodyPr wrap="square" lIns="0" rIns="0" tIns="27432" bIns="27432" anchor="t">
            <a:noAutofit/>
          </a:bodyPr>
          <a:lstStyle/>
          <a:p>
            <a:pPr algn="l">
              <a:spcAft>
                <a:spcPts val="0"/>
              </a:spcAft>
            </a:pPr>
            <a:r>
              <a:rPr sz="1400" b="0" i="0">
                <a:solidFill>
                  <a:srgbClr val="6B6B6B"/>
                </a:solidFill>
                <a:latin typeface="Arial"/>
                <a:ea typeface="맑은 고딕"/>
              </a:rPr>
              <a:t>관람객이 말하는 감각과 상황을 이해하고, 서로 다른 관람 맥락을 섞지 않으며, 확인 가능한 전시 정보까지 연결한다.</a:t>
            </a:r>
          </a:p>
        </p:txBody>
      </p:sp>
      <p:sp>
        <p:nvSpPr>
          <p:cNvPr id="50" name="Rounded Rectangle 49"/>
          <p:cNvSpPr/>
          <p:nvPr/>
        </p:nvSpPr>
        <p:spPr>
          <a:xfrm>
            <a:off x="548640" y="2697480"/>
            <a:ext cx="3291840" cy="1234440"/>
          </a:xfrm>
          <a:prstGeom prst="roundRect">
            <a:avLst>
              <a:gd name="adj" fmla="val 8000"/>
            </a:avLst>
          </a:prstGeom>
          <a:solidFill>
            <a:srgbClr val="F2F2F2"/>
          </a:solidFill>
          <a:ln>
            <a:noFill/>
          </a:ln>
        </p:spPr>
        <p:txBody>
          <a:bodyPr rtlCol="0" anchor="ctr" wrap="square" lIns="54864" rIns="54864" tIns="27432" bIns="27432">
            <a:noAutofit/>
          </a:bodyPr>
          <a:lstStyle/>
          <a:p>
            <a:pPr algn="ctr">
              <a:spcAft>
                <a:spcPts val="400"/>
              </a:spcAft>
            </a:pPr>
            <a:r>
              <a:rPr sz="1200" b="1" i="0">
                <a:solidFill>
                  <a:srgbClr val="445569"/>
                </a:solidFill>
                <a:latin typeface="Arial"/>
                <a:ea typeface="맑은 고딕"/>
              </a:rPr>
              <a:t>관람객 발화</a:t>
            </a:r>
          </a:p>
          <a:p>
            <a:pPr algn="ctr">
              <a:spcAft>
                <a:spcPts val="0"/>
              </a:spcAft>
            </a:pPr>
            <a:r>
              <a:rPr sz="1500" b="1" i="0">
                <a:solidFill>
                  <a:srgbClr val="1A1A1A"/>
                </a:solidFill>
                <a:latin typeface="Arial"/>
                <a:ea typeface="맑은 고딕"/>
              </a:rPr>
              <a:t>“마음이 가라앉는
거친 질감의 추상화”</a:t>
            </a:r>
          </a:p>
        </p:txBody>
      </p:sp>
      <p:sp>
        <p:nvSpPr>
          <p:cNvPr id="51" name="Rounded Rectangle 50"/>
          <p:cNvSpPr/>
          <p:nvPr/>
        </p:nvSpPr>
        <p:spPr>
          <a:xfrm>
            <a:off x="4448556" y="2697480"/>
            <a:ext cx="3291840" cy="1234440"/>
          </a:xfrm>
          <a:prstGeom prst="roundRect">
            <a:avLst>
              <a:gd name="adj" fmla="val 8000"/>
            </a:avLst>
          </a:prstGeom>
          <a:solidFill>
            <a:srgbClr val="FFF3CC"/>
          </a:solidFill>
          <a:ln>
            <a:noFill/>
          </a:ln>
        </p:spPr>
        <p:txBody>
          <a:bodyPr rtlCol="0" anchor="ctr" wrap="square" lIns="54864" rIns="54864" tIns="27432" bIns="27432">
            <a:noAutofit/>
          </a:bodyPr>
          <a:lstStyle/>
          <a:p>
            <a:pPr algn="ctr">
              <a:spcAft>
                <a:spcPts val="400"/>
              </a:spcAft>
            </a:pPr>
            <a:r>
              <a:rPr sz="1200" b="1" i="0">
                <a:solidFill>
                  <a:srgbClr val="445569"/>
                </a:solidFill>
                <a:latin typeface="Arial"/>
                <a:ea typeface="맑은 고딕"/>
              </a:rPr>
              <a:t>작품 추천</a:t>
            </a:r>
          </a:p>
          <a:p>
            <a:pPr algn="ctr">
              <a:spcAft>
                <a:spcPts val="0"/>
              </a:spcAft>
            </a:pPr>
            <a:r>
              <a:rPr sz="1500" b="1" i="0">
                <a:solidFill>
                  <a:srgbClr val="1A1A1A"/>
                </a:solidFill>
                <a:latin typeface="Arial"/>
                <a:ea typeface="맑은 고딕"/>
              </a:rPr>
              <a:t>Top-10 작품 + 추천 근거</a:t>
            </a:r>
          </a:p>
        </p:txBody>
      </p:sp>
      <p:sp>
        <p:nvSpPr>
          <p:cNvPr id="52" name="Rounded Rectangle 51"/>
          <p:cNvSpPr/>
          <p:nvPr/>
        </p:nvSpPr>
        <p:spPr>
          <a:xfrm>
            <a:off x="8348472" y="2697480"/>
            <a:ext cx="3291840" cy="1234440"/>
          </a:xfrm>
          <a:prstGeom prst="roundRect">
            <a:avLst>
              <a:gd name="adj" fmla="val 8000"/>
            </a:avLst>
          </a:prstGeom>
          <a:solidFill>
            <a:srgbClr val="E6EAF0"/>
          </a:solidFill>
          <a:ln>
            <a:noFill/>
          </a:ln>
        </p:spPr>
        <p:txBody>
          <a:bodyPr rtlCol="0" anchor="ctr" wrap="square" lIns="54864" rIns="54864" tIns="27432" bIns="27432">
            <a:noAutofit/>
          </a:bodyPr>
          <a:lstStyle/>
          <a:p>
            <a:pPr algn="ctr">
              <a:spcAft>
                <a:spcPts val="400"/>
              </a:spcAft>
            </a:pPr>
            <a:r>
              <a:rPr sz="1200" b="1" i="0">
                <a:solidFill>
                  <a:srgbClr val="445569"/>
                </a:solidFill>
                <a:latin typeface="Arial"/>
                <a:ea typeface="맑은 고딕"/>
              </a:rPr>
              <a:t>확인 가능한 전시 정보</a:t>
            </a:r>
          </a:p>
          <a:p>
            <a:pPr algn="ctr">
              <a:spcAft>
                <a:spcPts val="0"/>
              </a:spcAft>
            </a:pPr>
            <a:r>
              <a:rPr sz="1500" b="1" i="0">
                <a:solidFill>
                  <a:srgbClr val="1A1A1A"/>
                </a:solidFill>
                <a:latin typeface="Arial"/>
                <a:ea typeface="맑은 고딕"/>
              </a:rPr>
              <a:t>전시명 · 장소 · 기간 + 상태 표시</a:t>
            </a:r>
          </a:p>
        </p:txBody>
      </p:sp>
      <p:sp>
        <p:nvSpPr>
          <p:cNvPr id="53" name="Right Arrow 52"/>
          <p:cNvSpPr/>
          <p:nvPr/>
        </p:nvSpPr>
        <p:spPr>
          <a:xfrm>
            <a:off x="3922776" y="3145536"/>
            <a:ext cx="411480" cy="347472"/>
          </a:xfrm>
          <a:prstGeom prst="rightArrow">
            <a:avLst/>
          </a:prstGeom>
          <a:solidFill>
            <a:srgbClr val="FFBD11"/>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4" name="Right Arrow 53"/>
          <p:cNvSpPr/>
          <p:nvPr/>
        </p:nvSpPr>
        <p:spPr>
          <a:xfrm>
            <a:off x="7822692" y="3145536"/>
            <a:ext cx="411480" cy="347472"/>
          </a:xfrm>
          <a:prstGeom prst="rightArrow">
            <a:avLst/>
          </a:prstGeom>
          <a:solidFill>
            <a:srgbClr val="FFBD11"/>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5" name="Rounded Rectangle 54"/>
          <p:cNvSpPr/>
          <p:nvPr/>
        </p:nvSpPr>
        <p:spPr>
          <a:xfrm>
            <a:off x="548640" y="4160520"/>
            <a:ext cx="3557016" cy="1051560"/>
          </a:xfrm>
          <a:prstGeom prst="roundRect">
            <a:avLst>
              <a:gd name="adj" fmla="val 8000"/>
            </a:avLst>
          </a:prstGeom>
          <a:solidFill>
            <a:srgbClr val="FFFFFF"/>
          </a:solidFill>
          <a:ln w="12700">
            <a:solidFill>
              <a:srgbClr val="D0D0D0"/>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6" name="Oval 55"/>
          <p:cNvSpPr/>
          <p:nvPr/>
        </p:nvSpPr>
        <p:spPr>
          <a:xfrm>
            <a:off x="731520" y="4370832"/>
            <a:ext cx="457200" cy="457200"/>
          </a:xfrm>
          <a:prstGeom prst="ellipse">
            <a:avLst/>
          </a:prstGeom>
          <a:solidFill>
            <a:srgbClr val="FFBD11"/>
          </a:solidFill>
          <a:ln>
            <a:noFill/>
          </a:ln>
        </p:spPr>
        <p:txBody>
          <a:bodyPr rtlCol="0" anchor="ctr" wrap="square" lIns="0" rIns="0" tIns="27432" bIns="27432">
            <a:noAutofit/>
          </a:bodyPr>
          <a:lstStyle/>
          <a:p>
            <a:pPr algn="ctr">
              <a:spcAft>
                <a:spcPts val="0"/>
              </a:spcAft>
            </a:pPr>
            <a:r>
              <a:rPr sz="1600" b="1" i="0">
                <a:solidFill>
                  <a:srgbClr val="1A1A1A"/>
                </a:solidFill>
                <a:latin typeface="Arial"/>
                <a:ea typeface="맑은 고딕"/>
              </a:rPr>
              <a:t>1</a:t>
            </a:r>
          </a:p>
        </p:txBody>
      </p:sp>
      <p:sp>
        <p:nvSpPr>
          <p:cNvPr id="57" name="TextBox 56"/>
          <p:cNvSpPr txBox="1"/>
          <p:nvPr/>
        </p:nvSpPr>
        <p:spPr>
          <a:xfrm>
            <a:off x="1325880" y="4242816"/>
            <a:ext cx="2697480" cy="914400"/>
          </a:xfrm>
          <a:prstGeom prst="rect">
            <a:avLst/>
          </a:prstGeom>
          <a:noFill/>
        </p:spPr>
        <p:txBody>
          <a:bodyPr wrap="square" lIns="0" rIns="0" tIns="27432" bIns="27432" anchor="ctr">
            <a:noAutofit/>
          </a:bodyPr>
          <a:lstStyle/>
          <a:p>
            <a:pPr algn="l">
              <a:spcAft>
                <a:spcPts val="200"/>
              </a:spcAft>
            </a:pPr>
            <a:r>
              <a:rPr sz="1600" b="1" i="0">
                <a:solidFill>
                  <a:srgbClr val="1A1A1A"/>
                </a:solidFill>
                <a:latin typeface="Arial"/>
                <a:ea typeface="맑은 고딕"/>
              </a:rPr>
              <a:t>감각 언어</a:t>
            </a:r>
          </a:p>
          <a:p>
            <a:pPr algn="l">
              <a:spcAft>
                <a:spcPts val="0"/>
              </a:spcAft>
            </a:pPr>
            <a:r>
              <a:rPr sz="1150" b="0" i="0">
                <a:solidFill>
                  <a:srgbClr val="6B6B6B"/>
                </a:solidFill>
                <a:latin typeface="Arial"/>
                <a:ea typeface="맑은 고딕"/>
              </a:rPr>
              <a:t>전문 용어 대신 감각·상황으로 말하는 발화를 구조화된 신호로</a:t>
            </a:r>
          </a:p>
        </p:txBody>
      </p:sp>
      <p:sp>
        <p:nvSpPr>
          <p:cNvPr id="58" name="Rounded Rectangle 57"/>
          <p:cNvSpPr/>
          <p:nvPr/>
        </p:nvSpPr>
        <p:spPr>
          <a:xfrm>
            <a:off x="4315968" y="4160520"/>
            <a:ext cx="3557016" cy="1051560"/>
          </a:xfrm>
          <a:prstGeom prst="roundRect">
            <a:avLst>
              <a:gd name="adj" fmla="val 8000"/>
            </a:avLst>
          </a:prstGeom>
          <a:solidFill>
            <a:srgbClr val="FFFFFF"/>
          </a:solidFill>
          <a:ln w="12700">
            <a:solidFill>
              <a:srgbClr val="D0D0D0"/>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9" name="Oval 58"/>
          <p:cNvSpPr/>
          <p:nvPr/>
        </p:nvSpPr>
        <p:spPr>
          <a:xfrm>
            <a:off x="4498848" y="4370832"/>
            <a:ext cx="457200" cy="457200"/>
          </a:xfrm>
          <a:prstGeom prst="ellipse">
            <a:avLst/>
          </a:prstGeom>
          <a:solidFill>
            <a:srgbClr val="FFBD11"/>
          </a:solidFill>
          <a:ln>
            <a:noFill/>
          </a:ln>
        </p:spPr>
        <p:txBody>
          <a:bodyPr rtlCol="0" anchor="ctr" wrap="square" lIns="0" rIns="0" tIns="27432" bIns="27432">
            <a:noAutofit/>
          </a:bodyPr>
          <a:lstStyle/>
          <a:p>
            <a:pPr algn="ctr">
              <a:spcAft>
                <a:spcPts val="0"/>
              </a:spcAft>
            </a:pPr>
            <a:r>
              <a:rPr sz="1600" b="1" i="0">
                <a:solidFill>
                  <a:srgbClr val="1A1A1A"/>
                </a:solidFill>
                <a:latin typeface="Arial"/>
                <a:ea typeface="맑은 고딕"/>
              </a:rPr>
              <a:t>2</a:t>
            </a:r>
          </a:p>
        </p:txBody>
      </p:sp>
      <p:sp>
        <p:nvSpPr>
          <p:cNvPr id="60" name="TextBox 59"/>
          <p:cNvSpPr txBox="1"/>
          <p:nvPr/>
        </p:nvSpPr>
        <p:spPr>
          <a:xfrm>
            <a:off x="5093207" y="4242816"/>
            <a:ext cx="2697480" cy="914400"/>
          </a:xfrm>
          <a:prstGeom prst="rect">
            <a:avLst/>
          </a:prstGeom>
          <a:noFill/>
        </p:spPr>
        <p:txBody>
          <a:bodyPr wrap="square" lIns="0" rIns="0" tIns="27432" bIns="27432" anchor="ctr">
            <a:noAutofit/>
          </a:bodyPr>
          <a:lstStyle/>
          <a:p>
            <a:pPr algn="l">
              <a:spcAft>
                <a:spcPts val="200"/>
              </a:spcAft>
            </a:pPr>
            <a:r>
              <a:rPr sz="1600" b="1" i="0">
                <a:solidFill>
                  <a:srgbClr val="1A1A1A"/>
                </a:solidFill>
                <a:latin typeface="Arial"/>
                <a:ea typeface="맑은 고딕"/>
              </a:rPr>
              <a:t>맥락 분리</a:t>
            </a:r>
          </a:p>
          <a:p>
            <a:pPr algn="l">
              <a:spcAft>
                <a:spcPts val="0"/>
              </a:spcAft>
            </a:pPr>
            <a:r>
              <a:rPr sz="1150" b="0" i="0">
                <a:solidFill>
                  <a:srgbClr val="6B6B6B"/>
                </a:solidFill>
                <a:latin typeface="Arial"/>
                <a:ea typeface="맑은 고딕"/>
              </a:rPr>
              <a:t>혼자 사유와 가족 관람처럼 서로 다른 관람 맥락을 섞지 않도록</a:t>
            </a:r>
          </a:p>
        </p:txBody>
      </p:sp>
      <p:sp>
        <p:nvSpPr>
          <p:cNvPr id="61" name="Rounded Rectangle 60"/>
          <p:cNvSpPr/>
          <p:nvPr/>
        </p:nvSpPr>
        <p:spPr>
          <a:xfrm>
            <a:off x="8083296" y="4160520"/>
            <a:ext cx="3557016" cy="1051560"/>
          </a:xfrm>
          <a:prstGeom prst="roundRect">
            <a:avLst>
              <a:gd name="adj" fmla="val 8000"/>
            </a:avLst>
          </a:prstGeom>
          <a:solidFill>
            <a:srgbClr val="FFFFFF"/>
          </a:solidFill>
          <a:ln w="12700">
            <a:solidFill>
              <a:srgbClr val="D0D0D0"/>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2" name="Oval 61"/>
          <p:cNvSpPr/>
          <p:nvPr/>
        </p:nvSpPr>
        <p:spPr>
          <a:xfrm>
            <a:off x="8266175" y="4370832"/>
            <a:ext cx="457200" cy="457200"/>
          </a:xfrm>
          <a:prstGeom prst="ellipse">
            <a:avLst/>
          </a:prstGeom>
          <a:solidFill>
            <a:srgbClr val="FFBD11"/>
          </a:solidFill>
          <a:ln>
            <a:noFill/>
          </a:ln>
        </p:spPr>
        <p:txBody>
          <a:bodyPr rtlCol="0" anchor="ctr" wrap="square" lIns="0" rIns="0" tIns="27432" bIns="27432">
            <a:noAutofit/>
          </a:bodyPr>
          <a:lstStyle/>
          <a:p>
            <a:pPr algn="ctr">
              <a:spcAft>
                <a:spcPts val="0"/>
              </a:spcAft>
            </a:pPr>
            <a:r>
              <a:rPr sz="1600" b="1" i="0">
                <a:solidFill>
                  <a:srgbClr val="1A1A1A"/>
                </a:solidFill>
                <a:latin typeface="Arial"/>
                <a:ea typeface="맑은 고딕"/>
              </a:rPr>
              <a:t>3</a:t>
            </a:r>
          </a:p>
        </p:txBody>
      </p:sp>
      <p:sp>
        <p:nvSpPr>
          <p:cNvPr id="63" name="TextBox 62"/>
          <p:cNvSpPr txBox="1"/>
          <p:nvPr/>
        </p:nvSpPr>
        <p:spPr>
          <a:xfrm>
            <a:off x="8860536" y="4242816"/>
            <a:ext cx="2697480" cy="914400"/>
          </a:xfrm>
          <a:prstGeom prst="rect">
            <a:avLst/>
          </a:prstGeom>
          <a:noFill/>
        </p:spPr>
        <p:txBody>
          <a:bodyPr wrap="square" lIns="0" rIns="0" tIns="27432" bIns="27432" anchor="ctr">
            <a:noAutofit/>
          </a:bodyPr>
          <a:lstStyle/>
          <a:p>
            <a:pPr algn="l">
              <a:spcAft>
                <a:spcPts val="200"/>
              </a:spcAft>
            </a:pPr>
            <a:r>
              <a:rPr sz="1600" b="1" i="0">
                <a:solidFill>
                  <a:srgbClr val="1A1A1A"/>
                </a:solidFill>
                <a:latin typeface="Arial"/>
                <a:ea typeface="맑은 고딕"/>
              </a:rPr>
              <a:t>전시 검증</a:t>
            </a:r>
          </a:p>
          <a:p>
            <a:pPr algn="l">
              <a:spcAft>
                <a:spcPts val="0"/>
              </a:spcAft>
            </a:pPr>
            <a:r>
              <a:rPr sz="1150" b="0" i="0">
                <a:solidFill>
                  <a:srgbClr val="6B6B6B"/>
                </a:solidFill>
                <a:latin typeface="Arial"/>
                <a:ea typeface="맑은 고딕"/>
              </a:rPr>
              <a:t>확인되지 않은 일정은 만들지 않고, 상태로 분명히 표시</a:t>
            </a:r>
          </a:p>
        </p:txBody>
      </p:sp>
      <p:sp>
        <p:nvSpPr>
          <p:cNvPr id="64" name="Rounded Rectangle 63"/>
          <p:cNvSpPr/>
          <p:nvPr/>
        </p:nvSpPr>
        <p:spPr>
          <a:xfrm>
            <a:off x="548640" y="5440680"/>
            <a:ext cx="11091672" cy="777240"/>
          </a:xfrm>
          <a:prstGeom prst="roundRect">
            <a:avLst>
              <a:gd name="adj" fmla="val 10000"/>
            </a:avLst>
          </a:prstGeom>
          <a:solidFill>
            <a:srgbClr val="445569"/>
          </a:solidFill>
          <a:ln>
            <a:noFill/>
          </a:ln>
        </p:spPr>
        <p:txBody>
          <a:bodyPr rtlCol="0" anchor="ctr" wrap="square" lIns="182880" rIns="182880" tIns="27432" bIns="27432">
            <a:noAutofit/>
          </a:bodyPr>
          <a:lstStyle/>
          <a:p>
            <a:pPr algn="ctr">
              <a:spcAft>
                <a:spcPts val="0"/>
              </a:spcAft>
            </a:pPr>
            <a:r>
              <a:rPr sz="1400" b="1" i="0">
                <a:solidFill>
                  <a:srgbClr val="FFBD11"/>
                </a:solidFill>
                <a:latin typeface="Arial"/>
                <a:ea typeface="맑은 고딕"/>
              </a:rPr>
              <a:t>핵심 질문   </a:t>
            </a:r>
            <a:r>
              <a:rPr sz="1500" b="1" i="0">
                <a:solidFill>
                  <a:srgbClr val="FFFFFF"/>
                </a:solidFill>
                <a:latin typeface="Arial"/>
                <a:ea typeface="맑은 고딕"/>
              </a:rPr>
              <a:t>장기 미학 메모리와 2층 전시 grounding이 개인화 추천의 유용성과 신뢰성을 함께 높이는가?</a:t>
            </a:r>
          </a:p>
        </p:txBody>
      </p:sp>
    </p:spTree>
    <p:extLst>
      <p:ext uri="{BB962C8B-B14F-4D97-AF65-F5344CB8AC3E}">
        <p14:creationId xmlns:p14="http://schemas.microsoft.com/office/powerpoint/2010/main" val="3605434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4"/>
          <p:cNvSpPr txBox="1"/>
          <p:nvPr/>
        </p:nvSpPr>
        <p:spPr>
          <a:xfrm>
            <a:off x="17463" y="-27384"/>
            <a:ext cx="1160462" cy="11079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6600" b="1" dirty="0">
                <a:solidFill>
                  <a:srgbClr val="FFBD11"/>
                </a:solidFill>
                <a:latin typeface="+mj-lt"/>
                <a:ea typeface="Arial"/>
                <a:cs typeface="Arial"/>
                <a:sym typeface="Arial"/>
              </a:rPr>
              <a:t>0</a:t>
            </a:r>
            <a:r>
              <a:rPr lang="en-US" altLang="ko-KR" sz="6600" b="1" dirty="0">
                <a:solidFill>
                  <a:srgbClr val="FFBD11"/>
                </a:solidFill>
                <a:latin typeface="+mj-lt"/>
                <a:ea typeface="Arial"/>
                <a:cs typeface="Arial"/>
                <a:sym typeface="Arial"/>
              </a:rPr>
              <a:t>1</a:t>
            </a:r>
            <a:r>
              <a:rPr lang="ko-KR" sz="4000" b="1" dirty="0">
                <a:solidFill>
                  <a:srgbClr val="445569"/>
                </a:solidFill>
                <a:latin typeface="+mj-lt"/>
                <a:ea typeface="Arial"/>
                <a:cs typeface="Arial"/>
                <a:sym typeface="Arial"/>
              </a:rPr>
              <a:t> </a:t>
            </a:r>
            <a:endParaRPr sz="4000" b="1" dirty="0">
              <a:solidFill>
                <a:srgbClr val="445569"/>
              </a:solidFill>
              <a:latin typeface="+mj-lt"/>
              <a:ea typeface="Arial"/>
              <a:cs typeface="Arial"/>
              <a:sym typeface="Arial"/>
            </a:endParaRPr>
          </a:p>
        </p:txBody>
      </p:sp>
      <p:sp>
        <p:nvSpPr>
          <p:cNvPr id="45" name="Google Shape;45;p4"/>
          <p:cNvSpPr txBox="1"/>
          <p:nvPr/>
        </p:nvSpPr>
        <p:spPr>
          <a:xfrm>
            <a:off x="984110" y="126483"/>
            <a:ext cx="64008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chemeClr val="tx1"/>
                </a:solidFill>
                <a:latin typeface="+mj-lt"/>
                <a:ea typeface="맑은 고딕"/>
                <a:cs typeface="Calibri"/>
                <a:sym typeface="Calibri"/>
              </a:rPr>
              <a:t>프로젝트 배경</a:t>
            </a:r>
            <a:endParaRPr dirty="0">
              <a:solidFill>
                <a:schemeClr val="tx1"/>
              </a:solidFill>
              <a:latin typeface="+mj-lt"/>
            </a:endParaRPr>
          </a:p>
        </p:txBody>
      </p:sp>
      <p:cxnSp>
        <p:nvCxnSpPr>
          <p:cNvPr id="46" name="Google Shape;46;p4"/>
          <p:cNvCxnSpPr>
            <a:cxnSpLocks/>
          </p:cNvCxnSpPr>
          <p:nvPr/>
        </p:nvCxnSpPr>
        <p:spPr>
          <a:xfrm flipV="1">
            <a:off x="1107936" y="526593"/>
            <a:ext cx="10827390" cy="13164"/>
          </a:xfrm>
          <a:prstGeom prst="straightConnector1">
            <a:avLst/>
          </a:prstGeom>
          <a:noFill/>
          <a:ln w="31750" cap="flat" cmpd="sng">
            <a:solidFill>
              <a:srgbClr val="FFBD11"/>
            </a:solidFill>
            <a:prstDash val="solid"/>
            <a:miter lim="800000"/>
            <a:headEnd type="none" w="sm" len="sm"/>
            <a:tailEnd type="none" w="sm" len="sm"/>
          </a:ln>
        </p:spPr>
      </p:cxnSp>
      <p:sp>
        <p:nvSpPr>
          <p:cNvPr id="9" name="Google Shape;124;p8">
            <a:extLst>
              <a:ext uri="{FF2B5EF4-FFF2-40B4-BE49-F238E27FC236}">
                <a16:creationId xmlns:a16="http://schemas.microsoft.com/office/drawing/2014/main" id="{043106DF-ECD6-42C2-8B7A-2D53A210501B}"/>
              </a:ext>
            </a:extLst>
          </p:cNvPr>
          <p:cNvSpPr txBox="1"/>
          <p:nvPr/>
        </p:nvSpPr>
        <p:spPr>
          <a:xfrm>
            <a:off x="1075852" y="615955"/>
            <a:ext cx="108813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rgbClr val="1A1A1A"/>
                </a:solidFill>
                <a:latin typeface="+mj-lt"/>
                <a:ea typeface="맑은 고딕"/>
                <a:cs typeface="Calibri"/>
                <a:sym typeface="Calibri"/>
              </a:rPr>
              <a:t>세 가지 단절을 하나의 연구문제로 묶었다</a:t>
            </a:r>
            <a:endParaRPr dirty="0">
              <a:solidFill>
                <a:schemeClr val="tx1"/>
              </a:solidFill>
              <a:latin typeface="+mj-lt"/>
            </a:endParaRPr>
          </a:p>
        </p:txBody>
      </p:sp>
      <p:sp>
        <p:nvSpPr>
          <p:cNvPr id="47" name="Rounded Rectangle 46"/>
          <p:cNvSpPr/>
          <p:nvPr/>
        </p:nvSpPr>
        <p:spPr>
          <a:xfrm>
            <a:off x="548640" y="1234440"/>
            <a:ext cx="3108960" cy="2057400"/>
          </a:xfrm>
          <a:prstGeom prst="roundRect">
            <a:avLst>
              <a:gd name="adj" fmla="val 6000"/>
            </a:avLst>
          </a:prstGeom>
          <a:solidFill>
            <a:srgbClr val="F2F2F2"/>
          </a:solidFill>
          <a:ln>
            <a:noFill/>
          </a:ln>
        </p:spPr>
        <p:txBody>
          <a:bodyPr rtlCol="0" anchor="ctr" wrap="square" lIns="54864" rIns="54864" tIns="27432" bIns="27432">
            <a:noAutofit/>
          </a:bodyPr>
          <a:lstStyle/>
          <a:p>
            <a:pPr algn="ctr">
              <a:spcAft>
                <a:spcPts val="800"/>
              </a:spcAft>
            </a:pPr>
            <a:r>
              <a:rPr sz="1200" b="1" i="0">
                <a:solidFill>
                  <a:srgbClr val="445569"/>
                </a:solidFill>
                <a:latin typeface="Arial"/>
                <a:ea typeface="맑은 고딕"/>
              </a:rPr>
              <a:t>관람객 발화</a:t>
            </a:r>
          </a:p>
          <a:p>
            <a:pPr algn="ctr">
              <a:spcAft>
                <a:spcPts val="800"/>
              </a:spcAft>
            </a:pPr>
            <a:r>
              <a:rPr sz="1800" b="1" i="0">
                <a:solidFill>
                  <a:srgbClr val="1A1A1A"/>
                </a:solidFill>
                <a:latin typeface="Arial"/>
                <a:ea typeface="맑은 고딕"/>
              </a:rPr>
              <a:t>“마음이 가라앉는
거친 질감의 추상화”</a:t>
            </a:r>
          </a:p>
          <a:p>
            <a:pPr algn="ctr">
              <a:spcAft>
                <a:spcPts val="0"/>
              </a:spcAft>
            </a:pPr>
            <a:r>
              <a:rPr sz="1150" b="0" i="0">
                <a:solidFill>
                  <a:srgbClr val="6B6B6B"/>
                </a:solidFill>
                <a:latin typeface="Arial"/>
                <a:ea typeface="맑은 고딕"/>
              </a:rPr>
              <a:t>감각과 상황으로 말한다</a:t>
            </a:r>
          </a:p>
        </p:txBody>
      </p:sp>
      <p:sp>
        <p:nvSpPr>
          <p:cNvPr id="48" name="Right Arrow 47"/>
          <p:cNvSpPr/>
          <p:nvPr/>
        </p:nvSpPr>
        <p:spPr>
          <a:xfrm>
            <a:off x="3749039" y="2093976"/>
            <a:ext cx="365760" cy="329184"/>
          </a:xfrm>
          <a:prstGeom prst="rightArrow">
            <a:avLst/>
          </a:prstGeom>
          <a:solidFill>
            <a:srgbClr val="FFBD11"/>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49" name="Rounded Rectangle 48"/>
          <p:cNvSpPr/>
          <p:nvPr/>
        </p:nvSpPr>
        <p:spPr>
          <a:xfrm>
            <a:off x="4206240" y="1234440"/>
            <a:ext cx="3429000" cy="2057400"/>
          </a:xfrm>
          <a:prstGeom prst="roundRect">
            <a:avLst>
              <a:gd name="adj" fmla="val 6000"/>
            </a:avLst>
          </a:prstGeom>
          <a:solidFill>
            <a:srgbClr val="FFFFFF"/>
          </a:solidFill>
          <a:ln w="12700">
            <a:solidFill>
              <a:srgbClr val="D0D0D0"/>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0" name="TextBox 49"/>
          <p:cNvSpPr txBox="1"/>
          <p:nvPr/>
        </p:nvSpPr>
        <p:spPr>
          <a:xfrm>
            <a:off x="4343400" y="1298448"/>
            <a:ext cx="3200400" cy="320040"/>
          </a:xfrm>
          <a:prstGeom prst="rect">
            <a:avLst/>
          </a:prstGeom>
          <a:noFill/>
        </p:spPr>
        <p:txBody>
          <a:bodyPr wrap="square" lIns="54864" rIns="54864" tIns="27432" bIns="27432" anchor="t">
            <a:noAutofit/>
          </a:bodyPr>
          <a:lstStyle/>
          <a:p>
            <a:pPr algn="ctr">
              <a:spcAft>
                <a:spcPts val="0"/>
              </a:spcAft>
            </a:pPr>
            <a:r>
              <a:rPr sz="1200" b="1" i="0">
                <a:solidFill>
                  <a:srgbClr val="445569"/>
                </a:solidFill>
                <a:latin typeface="Arial"/>
                <a:ea typeface="맑은 고딕"/>
              </a:rPr>
              <a:t>번역 레이어</a:t>
            </a:r>
          </a:p>
        </p:txBody>
      </p:sp>
      <p:sp>
        <p:nvSpPr>
          <p:cNvPr id="51" name="Rounded Rectangle 50"/>
          <p:cNvSpPr/>
          <p:nvPr/>
        </p:nvSpPr>
        <p:spPr>
          <a:xfrm>
            <a:off x="4389120" y="1691640"/>
            <a:ext cx="1481328" cy="640080"/>
          </a:xfrm>
          <a:prstGeom prst="roundRect">
            <a:avLst>
              <a:gd name="adj" fmla="val 15000"/>
            </a:avLst>
          </a:prstGeom>
          <a:solidFill>
            <a:srgbClr val="FFF3CC"/>
          </a:solidFill>
          <a:ln>
            <a:noFill/>
          </a:ln>
        </p:spPr>
        <p:txBody>
          <a:bodyPr rtlCol="0" anchor="ctr" wrap="square" lIns="27432" rIns="27432" tIns="27432" bIns="27432">
            <a:noAutofit/>
          </a:bodyPr>
          <a:lstStyle/>
          <a:p>
            <a:pPr algn="ctr">
              <a:spcAft>
                <a:spcPts val="0"/>
              </a:spcAft>
            </a:pPr>
            <a:r>
              <a:rPr sz="1300" b="1" i="0">
                <a:solidFill>
                  <a:srgbClr val="1A1A1A"/>
                </a:solidFill>
                <a:latin typeface="Arial"/>
                <a:ea typeface="맑은 고딕"/>
              </a:rPr>
              <a:t>정서</a:t>
            </a:r>
          </a:p>
          <a:p>
            <a:pPr algn="ctr">
              <a:spcAft>
                <a:spcPts val="0"/>
              </a:spcAft>
            </a:pPr>
            <a:r>
              <a:rPr sz="1050" b="0" i="0">
                <a:solidFill>
                  <a:srgbClr val="6B6B6B"/>
                </a:solidFill>
                <a:latin typeface="Arial"/>
                <a:ea typeface="맑은 고딕"/>
              </a:rPr>
              <a:t>가라앉는</a:t>
            </a:r>
          </a:p>
        </p:txBody>
      </p:sp>
      <p:sp>
        <p:nvSpPr>
          <p:cNvPr id="52" name="Rounded Rectangle 51"/>
          <p:cNvSpPr/>
          <p:nvPr/>
        </p:nvSpPr>
        <p:spPr>
          <a:xfrm>
            <a:off x="5961888" y="1691640"/>
            <a:ext cx="1481328" cy="640080"/>
          </a:xfrm>
          <a:prstGeom prst="roundRect">
            <a:avLst>
              <a:gd name="adj" fmla="val 15000"/>
            </a:avLst>
          </a:prstGeom>
          <a:solidFill>
            <a:srgbClr val="FFF3CC"/>
          </a:solidFill>
          <a:ln>
            <a:noFill/>
          </a:ln>
        </p:spPr>
        <p:txBody>
          <a:bodyPr rtlCol="0" anchor="ctr" wrap="square" lIns="27432" rIns="27432" tIns="27432" bIns="27432">
            <a:noAutofit/>
          </a:bodyPr>
          <a:lstStyle/>
          <a:p>
            <a:pPr algn="ctr">
              <a:spcAft>
                <a:spcPts val="0"/>
              </a:spcAft>
            </a:pPr>
            <a:r>
              <a:rPr sz="1300" b="1" i="0">
                <a:solidFill>
                  <a:srgbClr val="1A1A1A"/>
                </a:solidFill>
                <a:latin typeface="Arial"/>
                <a:ea typeface="맑은 고딕"/>
              </a:rPr>
              <a:t>물질성</a:t>
            </a:r>
          </a:p>
          <a:p>
            <a:pPr algn="ctr">
              <a:spcAft>
                <a:spcPts val="0"/>
              </a:spcAft>
            </a:pPr>
            <a:r>
              <a:rPr sz="1050" b="0" i="0">
                <a:solidFill>
                  <a:srgbClr val="6B6B6B"/>
                </a:solidFill>
                <a:latin typeface="Arial"/>
                <a:ea typeface="맑은 고딕"/>
              </a:rPr>
              <a:t>거친 질감</a:t>
            </a:r>
          </a:p>
        </p:txBody>
      </p:sp>
      <p:sp>
        <p:nvSpPr>
          <p:cNvPr id="53" name="Rounded Rectangle 52"/>
          <p:cNvSpPr/>
          <p:nvPr/>
        </p:nvSpPr>
        <p:spPr>
          <a:xfrm>
            <a:off x="4389120" y="2441448"/>
            <a:ext cx="1481328" cy="640080"/>
          </a:xfrm>
          <a:prstGeom prst="roundRect">
            <a:avLst>
              <a:gd name="adj" fmla="val 15000"/>
            </a:avLst>
          </a:prstGeom>
          <a:solidFill>
            <a:srgbClr val="FFF3CC"/>
          </a:solidFill>
          <a:ln>
            <a:noFill/>
          </a:ln>
        </p:spPr>
        <p:txBody>
          <a:bodyPr rtlCol="0" anchor="ctr" wrap="square" lIns="27432" rIns="27432" tIns="27432" bIns="27432">
            <a:noAutofit/>
          </a:bodyPr>
          <a:lstStyle/>
          <a:p>
            <a:pPr algn="ctr">
              <a:spcAft>
                <a:spcPts val="0"/>
              </a:spcAft>
            </a:pPr>
            <a:r>
              <a:rPr sz="1300" b="1" i="0">
                <a:solidFill>
                  <a:srgbClr val="1A1A1A"/>
                </a:solidFill>
                <a:latin typeface="Arial"/>
                <a:ea typeface="맑은 고딕"/>
              </a:rPr>
              <a:t>색채</a:t>
            </a:r>
          </a:p>
          <a:p>
            <a:pPr algn="ctr">
              <a:spcAft>
                <a:spcPts val="0"/>
              </a:spcAft>
            </a:pPr>
            <a:r>
              <a:rPr sz="1050" b="0" i="0">
                <a:solidFill>
                  <a:srgbClr val="6B6B6B"/>
                </a:solidFill>
                <a:latin typeface="Arial"/>
                <a:ea typeface="맑은 고딕"/>
              </a:rPr>
              <a:t>—</a:t>
            </a:r>
          </a:p>
        </p:txBody>
      </p:sp>
      <p:sp>
        <p:nvSpPr>
          <p:cNvPr id="54" name="Rounded Rectangle 53"/>
          <p:cNvSpPr/>
          <p:nvPr/>
        </p:nvSpPr>
        <p:spPr>
          <a:xfrm>
            <a:off x="5961888" y="2441448"/>
            <a:ext cx="1481328" cy="640080"/>
          </a:xfrm>
          <a:prstGeom prst="roundRect">
            <a:avLst>
              <a:gd name="adj" fmla="val 15000"/>
            </a:avLst>
          </a:prstGeom>
          <a:solidFill>
            <a:srgbClr val="FFF3CC"/>
          </a:solidFill>
          <a:ln>
            <a:noFill/>
          </a:ln>
        </p:spPr>
        <p:txBody>
          <a:bodyPr rtlCol="0" anchor="ctr" wrap="square" lIns="27432" rIns="27432" tIns="27432" bIns="27432">
            <a:noAutofit/>
          </a:bodyPr>
          <a:lstStyle/>
          <a:p>
            <a:pPr algn="ctr">
              <a:spcAft>
                <a:spcPts val="0"/>
              </a:spcAft>
            </a:pPr>
            <a:r>
              <a:rPr sz="1300" b="1" i="0">
                <a:solidFill>
                  <a:srgbClr val="1A1A1A"/>
                </a:solidFill>
                <a:latin typeface="Arial"/>
                <a:ea typeface="맑은 고딕"/>
              </a:rPr>
              <a:t>관람 목적</a:t>
            </a:r>
          </a:p>
          <a:p>
            <a:pPr algn="ctr">
              <a:spcAft>
                <a:spcPts val="0"/>
              </a:spcAft>
            </a:pPr>
            <a:r>
              <a:rPr sz="1050" b="0" i="0">
                <a:solidFill>
                  <a:srgbClr val="6B6B6B"/>
                </a:solidFill>
                <a:latin typeface="Arial"/>
                <a:ea typeface="맑은 고딕"/>
              </a:rPr>
              <a:t>—</a:t>
            </a:r>
          </a:p>
        </p:txBody>
      </p:sp>
      <p:sp>
        <p:nvSpPr>
          <p:cNvPr id="55" name="Right Arrow 54"/>
          <p:cNvSpPr/>
          <p:nvPr/>
        </p:nvSpPr>
        <p:spPr>
          <a:xfrm>
            <a:off x="7726679" y="2093976"/>
            <a:ext cx="365760" cy="329184"/>
          </a:xfrm>
          <a:prstGeom prst="rightArrow">
            <a:avLst/>
          </a:prstGeom>
          <a:solidFill>
            <a:srgbClr val="FFBD11"/>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6" name="Rounded Rectangle 55"/>
          <p:cNvSpPr/>
          <p:nvPr/>
        </p:nvSpPr>
        <p:spPr>
          <a:xfrm>
            <a:off x="8183879" y="1234440"/>
            <a:ext cx="3456432" cy="2057400"/>
          </a:xfrm>
          <a:prstGeom prst="roundRect">
            <a:avLst>
              <a:gd name="adj" fmla="val 6000"/>
            </a:avLst>
          </a:prstGeom>
          <a:solidFill>
            <a:srgbClr val="FFFFFF"/>
          </a:solidFill>
          <a:ln w="12700">
            <a:solidFill>
              <a:srgbClr val="D0D0D0"/>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7" name="TextBox 56"/>
          <p:cNvSpPr txBox="1"/>
          <p:nvPr/>
        </p:nvSpPr>
        <p:spPr>
          <a:xfrm>
            <a:off x="8275320" y="1298448"/>
            <a:ext cx="3291840" cy="320040"/>
          </a:xfrm>
          <a:prstGeom prst="rect">
            <a:avLst/>
          </a:prstGeom>
          <a:noFill/>
        </p:spPr>
        <p:txBody>
          <a:bodyPr wrap="square" lIns="54864" rIns="54864" tIns="27432" bIns="27432" anchor="t">
            <a:noAutofit/>
          </a:bodyPr>
          <a:lstStyle/>
          <a:p>
            <a:pPr algn="ctr">
              <a:spcAft>
                <a:spcPts val="0"/>
              </a:spcAft>
            </a:pPr>
            <a:r>
              <a:rPr sz="1200" b="1" i="0">
                <a:solidFill>
                  <a:srgbClr val="445569"/>
                </a:solidFill>
                <a:latin typeface="Arial"/>
                <a:ea typeface="맑은 고딕"/>
              </a:rPr>
              <a:t>문제 지도</a:t>
            </a:r>
          </a:p>
        </p:txBody>
      </p:sp>
      <p:sp>
        <p:nvSpPr>
          <p:cNvPr id="58" name="Rounded Rectangle 57"/>
          <p:cNvSpPr/>
          <p:nvPr/>
        </p:nvSpPr>
        <p:spPr>
          <a:xfrm>
            <a:off x="8366760" y="1664208"/>
            <a:ext cx="3090672" cy="658368"/>
          </a:xfrm>
          <a:prstGeom prst="roundRect">
            <a:avLst>
              <a:gd name="adj" fmla="val 12000"/>
            </a:avLst>
          </a:prstGeom>
          <a:solidFill>
            <a:srgbClr val="E6EAF0"/>
          </a:solidFill>
          <a:ln>
            <a:noFill/>
          </a:ln>
        </p:spPr>
        <p:txBody>
          <a:bodyPr rtlCol="0" anchor="ctr" wrap="square" lIns="54864" rIns="54864" tIns="27432" bIns="27432">
            <a:noAutofit/>
          </a:bodyPr>
          <a:lstStyle/>
          <a:p>
            <a:pPr algn="ctr">
              <a:spcAft>
                <a:spcPts val="0"/>
              </a:spcAft>
            </a:pPr>
            <a:r>
              <a:rPr sz="1300" b="1" i="0">
                <a:solidFill>
                  <a:srgbClr val="1A1A1A"/>
                </a:solidFill>
                <a:latin typeface="Arial"/>
                <a:ea typeface="맑은 고딕"/>
              </a:rPr>
              <a:t>작품층 · Artwork</a:t>
            </a:r>
          </a:p>
          <a:p>
            <a:pPr algn="ctr">
              <a:spcAft>
                <a:spcPts val="0"/>
              </a:spcAft>
            </a:pPr>
            <a:r>
              <a:rPr sz="1050" b="0" i="0">
                <a:solidFill>
                  <a:srgbClr val="6B6B6B"/>
                </a:solidFill>
                <a:latin typeface="Arial"/>
                <a:ea typeface="맑은 고딕"/>
              </a:rPr>
              <a:t>무엇을, 왜 추천하는가</a:t>
            </a:r>
          </a:p>
        </p:txBody>
      </p:sp>
      <p:sp>
        <p:nvSpPr>
          <p:cNvPr id="59" name="Rounded Rectangle 58"/>
          <p:cNvSpPr/>
          <p:nvPr/>
        </p:nvSpPr>
        <p:spPr>
          <a:xfrm>
            <a:off x="8366760" y="2487168"/>
            <a:ext cx="3090672" cy="658368"/>
          </a:xfrm>
          <a:prstGeom prst="roundRect">
            <a:avLst>
              <a:gd name="adj" fmla="val 12000"/>
            </a:avLst>
          </a:prstGeom>
          <a:solidFill>
            <a:srgbClr val="E6EAF0"/>
          </a:solidFill>
          <a:ln>
            <a:noFill/>
          </a:ln>
        </p:spPr>
        <p:txBody>
          <a:bodyPr rtlCol="0" anchor="ctr" wrap="square" lIns="54864" rIns="54864" tIns="27432" bIns="27432">
            <a:noAutofit/>
          </a:bodyPr>
          <a:lstStyle/>
          <a:p>
            <a:pPr algn="ctr">
              <a:spcAft>
                <a:spcPts val="0"/>
              </a:spcAft>
            </a:pPr>
            <a:r>
              <a:rPr sz="1300" b="1" i="0">
                <a:solidFill>
                  <a:srgbClr val="1A1A1A"/>
                </a:solidFill>
                <a:latin typeface="Arial"/>
                <a:ea typeface="맑은 고딕"/>
              </a:rPr>
              <a:t>전시층 · Exhibition</a:t>
            </a:r>
          </a:p>
          <a:p>
            <a:pPr algn="ctr">
              <a:spcAft>
                <a:spcPts val="0"/>
              </a:spcAft>
            </a:pPr>
            <a:r>
              <a:rPr sz="1050" b="0" i="0">
                <a:solidFill>
                  <a:srgbClr val="6B6B6B"/>
                </a:solidFill>
                <a:latin typeface="Arial"/>
                <a:ea typeface="맑은 고딕"/>
              </a:rPr>
              <a:t>지금 어디서 볼 수 있는가</a:t>
            </a:r>
          </a:p>
        </p:txBody>
      </p:sp>
      <p:sp>
        <p:nvSpPr>
          <p:cNvPr id="60" name="Rounded Rectangle 59"/>
          <p:cNvSpPr/>
          <p:nvPr/>
        </p:nvSpPr>
        <p:spPr>
          <a:xfrm>
            <a:off x="548640" y="3520440"/>
            <a:ext cx="3557016" cy="1371600"/>
          </a:xfrm>
          <a:prstGeom prst="roundRect">
            <a:avLst>
              <a:gd name="adj" fmla="val 6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1" name="TextBox 60"/>
          <p:cNvSpPr txBox="1"/>
          <p:nvPr/>
        </p:nvSpPr>
        <p:spPr>
          <a:xfrm>
            <a:off x="685800" y="3566160"/>
            <a:ext cx="640080" cy="640080"/>
          </a:xfrm>
          <a:prstGeom prst="rect">
            <a:avLst/>
          </a:prstGeom>
          <a:noFill/>
        </p:spPr>
        <p:txBody>
          <a:bodyPr wrap="square" lIns="0" rIns="0" tIns="27432" bIns="27432" anchor="t">
            <a:noAutofit/>
          </a:bodyPr>
          <a:lstStyle/>
          <a:p>
            <a:pPr algn="l">
              <a:spcAft>
                <a:spcPts val="0"/>
              </a:spcAft>
            </a:pPr>
            <a:r>
              <a:rPr sz="2600" b="1" i="0">
                <a:solidFill>
                  <a:srgbClr val="FFBD11"/>
                </a:solidFill>
                <a:latin typeface="Arial"/>
                <a:ea typeface="맑은 고딕"/>
              </a:rPr>
              <a:t>01</a:t>
            </a:r>
          </a:p>
        </p:txBody>
      </p:sp>
      <p:sp>
        <p:nvSpPr>
          <p:cNvPr id="62" name="TextBox 61"/>
          <p:cNvSpPr txBox="1"/>
          <p:nvPr/>
        </p:nvSpPr>
        <p:spPr>
          <a:xfrm>
            <a:off x="1325880" y="3611880"/>
            <a:ext cx="2697480" cy="1234440"/>
          </a:xfrm>
          <a:prstGeom prst="rect">
            <a:avLst/>
          </a:prstGeom>
          <a:noFill/>
        </p:spPr>
        <p:txBody>
          <a:bodyPr wrap="square" lIns="0" rIns="0" tIns="27432" bIns="27432" anchor="t">
            <a:noAutofit/>
          </a:bodyPr>
          <a:lstStyle/>
          <a:p>
            <a:pPr algn="l">
              <a:spcAft>
                <a:spcPts val="0"/>
              </a:spcAft>
            </a:pPr>
            <a:r>
              <a:rPr sz="1050" b="1" i="0">
                <a:solidFill>
                  <a:srgbClr val="445569"/>
                </a:solidFill>
                <a:latin typeface="Arial"/>
                <a:ea typeface="맑은 고딕"/>
              </a:rPr>
              <a:t>단절 1</a:t>
            </a:r>
          </a:p>
          <a:p>
            <a:pPr algn="l">
              <a:spcAft>
                <a:spcPts val="300"/>
              </a:spcAft>
            </a:pPr>
            <a:r>
              <a:rPr sz="1300" b="1" i="0">
                <a:solidFill>
                  <a:srgbClr val="1A1A1A"/>
                </a:solidFill>
                <a:latin typeface="Arial"/>
                <a:ea typeface="맑은 고딕"/>
              </a:rPr>
              <a:t>감각 언어와 기관 메타데이터의 간극</a:t>
            </a:r>
          </a:p>
          <a:p>
            <a:pPr algn="l">
              <a:spcAft>
                <a:spcPts val="0"/>
              </a:spcAft>
            </a:pPr>
            <a:r>
              <a:rPr sz="1050" b="0" i="0">
                <a:solidFill>
                  <a:srgbClr val="6B6B6B"/>
                </a:solidFill>
                <a:latin typeface="Arial"/>
                <a:ea typeface="맑은 고딕"/>
              </a:rPr>
              <a:t>관람객은 감각·상황으로 말하지만, 아카이브는 작가·연도·재료 중심입니다.</a:t>
            </a:r>
          </a:p>
        </p:txBody>
      </p:sp>
      <p:sp>
        <p:nvSpPr>
          <p:cNvPr id="63" name="Rounded Rectangle 62"/>
          <p:cNvSpPr/>
          <p:nvPr/>
        </p:nvSpPr>
        <p:spPr>
          <a:xfrm>
            <a:off x="4315968" y="3520440"/>
            <a:ext cx="3557016" cy="1371600"/>
          </a:xfrm>
          <a:prstGeom prst="roundRect">
            <a:avLst>
              <a:gd name="adj" fmla="val 6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4" name="TextBox 63"/>
          <p:cNvSpPr txBox="1"/>
          <p:nvPr/>
        </p:nvSpPr>
        <p:spPr>
          <a:xfrm>
            <a:off x="4453128" y="3566160"/>
            <a:ext cx="640080" cy="640080"/>
          </a:xfrm>
          <a:prstGeom prst="rect">
            <a:avLst/>
          </a:prstGeom>
          <a:noFill/>
        </p:spPr>
        <p:txBody>
          <a:bodyPr wrap="square" lIns="0" rIns="0" tIns="27432" bIns="27432" anchor="t">
            <a:noAutofit/>
          </a:bodyPr>
          <a:lstStyle/>
          <a:p>
            <a:pPr algn="l">
              <a:spcAft>
                <a:spcPts val="0"/>
              </a:spcAft>
            </a:pPr>
            <a:r>
              <a:rPr sz="2600" b="1" i="0">
                <a:solidFill>
                  <a:srgbClr val="FFBD11"/>
                </a:solidFill>
                <a:latin typeface="Arial"/>
                <a:ea typeface="맑은 고딕"/>
              </a:rPr>
              <a:t>02</a:t>
            </a:r>
          </a:p>
        </p:txBody>
      </p:sp>
      <p:sp>
        <p:nvSpPr>
          <p:cNvPr id="65" name="TextBox 64"/>
          <p:cNvSpPr txBox="1"/>
          <p:nvPr/>
        </p:nvSpPr>
        <p:spPr>
          <a:xfrm>
            <a:off x="5093207" y="3611880"/>
            <a:ext cx="2697480" cy="1234440"/>
          </a:xfrm>
          <a:prstGeom prst="rect">
            <a:avLst/>
          </a:prstGeom>
          <a:noFill/>
        </p:spPr>
        <p:txBody>
          <a:bodyPr wrap="square" lIns="0" rIns="0" tIns="27432" bIns="27432" anchor="t">
            <a:noAutofit/>
          </a:bodyPr>
          <a:lstStyle/>
          <a:p>
            <a:pPr algn="l">
              <a:spcAft>
                <a:spcPts val="0"/>
              </a:spcAft>
            </a:pPr>
            <a:r>
              <a:rPr sz="1050" b="1" i="0">
                <a:solidFill>
                  <a:srgbClr val="445569"/>
                </a:solidFill>
                <a:latin typeface="Arial"/>
                <a:ea typeface="맑은 고딕"/>
              </a:rPr>
              <a:t>단절 2</a:t>
            </a:r>
          </a:p>
          <a:p>
            <a:pPr algn="l">
              <a:spcAft>
                <a:spcPts val="300"/>
              </a:spcAft>
            </a:pPr>
            <a:r>
              <a:rPr sz="1300" b="1" i="0">
                <a:solidFill>
                  <a:srgbClr val="1A1A1A"/>
                </a:solidFill>
                <a:latin typeface="Arial"/>
                <a:ea typeface="맑은 고딕"/>
              </a:rPr>
              <a:t>장기 취향을 한 프로필에 누적할 때의 맥락 오염</a:t>
            </a:r>
          </a:p>
          <a:p>
            <a:pPr algn="l">
              <a:spcAft>
                <a:spcPts val="0"/>
              </a:spcAft>
            </a:pPr>
            <a:r>
              <a:rPr sz="1050" b="0" i="0">
                <a:solidFill>
                  <a:srgbClr val="6B6B6B"/>
                </a:solidFill>
                <a:latin typeface="Arial"/>
                <a:ea typeface="맑은 고딕"/>
              </a:rPr>
              <a:t>모든 과거 취향을 한데 합치면 서로 다른 관람 목적이 섞입니다.</a:t>
            </a:r>
          </a:p>
        </p:txBody>
      </p:sp>
      <p:sp>
        <p:nvSpPr>
          <p:cNvPr id="66" name="Rounded Rectangle 65"/>
          <p:cNvSpPr/>
          <p:nvPr/>
        </p:nvSpPr>
        <p:spPr>
          <a:xfrm>
            <a:off x="8083296" y="3520440"/>
            <a:ext cx="3557016" cy="1371600"/>
          </a:xfrm>
          <a:prstGeom prst="roundRect">
            <a:avLst>
              <a:gd name="adj" fmla="val 6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7" name="TextBox 66"/>
          <p:cNvSpPr txBox="1"/>
          <p:nvPr/>
        </p:nvSpPr>
        <p:spPr>
          <a:xfrm>
            <a:off x="8220456" y="3566160"/>
            <a:ext cx="640080" cy="640080"/>
          </a:xfrm>
          <a:prstGeom prst="rect">
            <a:avLst/>
          </a:prstGeom>
          <a:noFill/>
        </p:spPr>
        <p:txBody>
          <a:bodyPr wrap="square" lIns="0" rIns="0" tIns="27432" bIns="27432" anchor="t">
            <a:noAutofit/>
          </a:bodyPr>
          <a:lstStyle/>
          <a:p>
            <a:pPr algn="l">
              <a:spcAft>
                <a:spcPts val="0"/>
              </a:spcAft>
            </a:pPr>
            <a:r>
              <a:rPr sz="2600" b="1" i="0">
                <a:solidFill>
                  <a:srgbClr val="FFBD11"/>
                </a:solidFill>
                <a:latin typeface="Arial"/>
                <a:ea typeface="맑은 고딕"/>
              </a:rPr>
              <a:t>03</a:t>
            </a:r>
          </a:p>
        </p:txBody>
      </p:sp>
      <p:sp>
        <p:nvSpPr>
          <p:cNvPr id="68" name="TextBox 67"/>
          <p:cNvSpPr txBox="1"/>
          <p:nvPr/>
        </p:nvSpPr>
        <p:spPr>
          <a:xfrm>
            <a:off x="8860536" y="3611880"/>
            <a:ext cx="2697480" cy="1234440"/>
          </a:xfrm>
          <a:prstGeom prst="rect">
            <a:avLst/>
          </a:prstGeom>
          <a:noFill/>
        </p:spPr>
        <p:txBody>
          <a:bodyPr wrap="square" lIns="0" rIns="0" tIns="27432" bIns="27432" anchor="t">
            <a:noAutofit/>
          </a:bodyPr>
          <a:lstStyle/>
          <a:p>
            <a:pPr algn="l">
              <a:spcAft>
                <a:spcPts val="0"/>
              </a:spcAft>
            </a:pPr>
            <a:r>
              <a:rPr sz="1050" b="1" i="0">
                <a:solidFill>
                  <a:srgbClr val="445569"/>
                </a:solidFill>
                <a:latin typeface="Arial"/>
                <a:ea typeface="맑은 고딕"/>
              </a:rPr>
              <a:t>단절 3</a:t>
            </a:r>
          </a:p>
          <a:p>
            <a:pPr algn="l">
              <a:spcAft>
                <a:spcPts val="300"/>
              </a:spcAft>
            </a:pPr>
            <a:r>
              <a:rPr sz="1300" b="1" i="0">
                <a:solidFill>
                  <a:srgbClr val="1A1A1A"/>
                </a:solidFill>
                <a:latin typeface="Arial"/>
                <a:ea typeface="맑은 고딕"/>
              </a:rPr>
              <a:t>추천 작품과 실제 전시 가능성의 분리</a:t>
            </a:r>
          </a:p>
          <a:p>
            <a:pPr algn="l">
              <a:spcAft>
                <a:spcPts val="0"/>
              </a:spcAft>
            </a:pPr>
            <a:r>
              <a:rPr sz="1050" b="0" i="0">
                <a:solidFill>
                  <a:srgbClr val="6B6B6B"/>
                </a:solidFill>
                <a:latin typeface="Arial"/>
                <a:ea typeface="맑은 고딕"/>
              </a:rPr>
              <a:t>좋은 작품이어도 수장고에 있거나 전시가 끝났다면 방문 추천으로는 불충분합니다.</a:t>
            </a:r>
          </a:p>
        </p:txBody>
      </p:sp>
      <p:sp>
        <p:nvSpPr>
          <p:cNvPr id="69" name="Rounded Rectangle 68"/>
          <p:cNvSpPr/>
          <p:nvPr/>
        </p:nvSpPr>
        <p:spPr>
          <a:xfrm>
            <a:off x="548640" y="5120640"/>
            <a:ext cx="11091672" cy="1097280"/>
          </a:xfrm>
          <a:prstGeom prst="roundRect">
            <a:avLst>
              <a:gd name="adj" fmla="val 8000"/>
            </a:avLst>
          </a:prstGeom>
          <a:solidFill>
            <a:srgbClr val="445569"/>
          </a:solidFill>
          <a:ln>
            <a:noFill/>
          </a:ln>
        </p:spPr>
        <p:txBody>
          <a:bodyPr rtlCol="0" anchor="ctr" wrap="square" lIns="274320" rIns="274320" tIns="27432" bIns="27432">
            <a:noAutofit/>
          </a:bodyPr>
          <a:lstStyle/>
          <a:p>
            <a:pPr algn="ctr">
              <a:spcAft>
                <a:spcPts val="300"/>
              </a:spcAft>
            </a:pPr>
            <a:r>
              <a:rPr sz="1300" b="1" i="0">
                <a:solidFill>
                  <a:srgbClr val="FFBD11"/>
                </a:solidFill>
                <a:latin typeface="Arial"/>
                <a:ea typeface="맑은 고딕"/>
              </a:rPr>
              <a:t>연구문제</a:t>
            </a:r>
          </a:p>
          <a:p>
            <a:pPr algn="ctr">
              <a:spcAft>
                <a:spcPts val="0"/>
              </a:spcAft>
            </a:pPr>
            <a:r>
              <a:rPr sz="1500" b="1" i="0">
                <a:solidFill>
                  <a:srgbClr val="FFFFFF"/>
                </a:solidFill>
                <a:latin typeface="Arial"/>
                <a:ea typeface="맑은 고딕"/>
              </a:rPr>
              <a:t>감각적 요구를 구조화하고, 시간에 따른 취향 변화와 다중 관람 맥락을 선택적으로 기억하면서, 확인 가능한 전시 정보에 근거한 개인화 추천과 설명을 제공할 수 있는가?</a:t>
            </a:r>
          </a:p>
        </p:txBody>
      </p:sp>
    </p:spTree>
    <p:extLst>
      <p:ext uri="{BB962C8B-B14F-4D97-AF65-F5344CB8AC3E}">
        <p14:creationId xmlns:p14="http://schemas.microsoft.com/office/powerpoint/2010/main" val="3605434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4"/>
          <p:cNvSpPr txBox="1"/>
          <p:nvPr/>
        </p:nvSpPr>
        <p:spPr>
          <a:xfrm>
            <a:off x="17463" y="-27384"/>
            <a:ext cx="1160462" cy="11079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6600" b="1" dirty="0">
                <a:solidFill>
                  <a:srgbClr val="FFBD11"/>
                </a:solidFill>
                <a:latin typeface="+mj-lt"/>
                <a:ea typeface="Arial"/>
                <a:cs typeface="Arial"/>
                <a:sym typeface="Arial"/>
              </a:rPr>
              <a:t>0</a:t>
            </a:r>
            <a:r>
              <a:rPr lang="en-US" altLang="ko-KR" sz="6600" b="1" dirty="0">
                <a:solidFill>
                  <a:srgbClr val="FFBD11"/>
                </a:solidFill>
                <a:latin typeface="+mj-lt"/>
                <a:ea typeface="Arial"/>
                <a:cs typeface="Arial"/>
                <a:sym typeface="Arial"/>
              </a:rPr>
              <a:t>2</a:t>
            </a:r>
            <a:r>
              <a:rPr lang="ko-KR" sz="4000" b="1" dirty="0">
                <a:solidFill>
                  <a:srgbClr val="445569"/>
                </a:solidFill>
                <a:latin typeface="+mj-lt"/>
                <a:ea typeface="Arial"/>
                <a:cs typeface="Arial"/>
                <a:sym typeface="Arial"/>
              </a:rPr>
              <a:t> </a:t>
            </a:r>
            <a:endParaRPr sz="4000" b="1" dirty="0">
              <a:solidFill>
                <a:srgbClr val="445569"/>
              </a:solidFill>
              <a:latin typeface="+mj-lt"/>
              <a:ea typeface="Arial"/>
              <a:cs typeface="Arial"/>
              <a:sym typeface="Arial"/>
            </a:endParaRPr>
          </a:p>
        </p:txBody>
      </p:sp>
      <p:sp>
        <p:nvSpPr>
          <p:cNvPr id="45" name="Google Shape;45;p4"/>
          <p:cNvSpPr txBox="1"/>
          <p:nvPr/>
        </p:nvSpPr>
        <p:spPr>
          <a:xfrm>
            <a:off x="984110" y="126483"/>
            <a:ext cx="64008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chemeClr val="tx1"/>
                </a:solidFill>
                <a:latin typeface="+mj-lt"/>
                <a:ea typeface="맑은 고딕"/>
                <a:cs typeface="Calibri"/>
                <a:sym typeface="Calibri"/>
              </a:rPr>
              <a:t>프로젝트 팀 구성 및 역할</a:t>
            </a:r>
            <a:endParaRPr dirty="0">
              <a:solidFill>
                <a:schemeClr val="tx1"/>
              </a:solidFill>
              <a:latin typeface="+mj-lt"/>
            </a:endParaRPr>
          </a:p>
        </p:txBody>
      </p:sp>
      <p:cxnSp>
        <p:nvCxnSpPr>
          <p:cNvPr id="46" name="Google Shape;46;p4"/>
          <p:cNvCxnSpPr>
            <a:cxnSpLocks/>
          </p:cNvCxnSpPr>
          <p:nvPr/>
        </p:nvCxnSpPr>
        <p:spPr>
          <a:xfrm flipV="1">
            <a:off x="1107936" y="526593"/>
            <a:ext cx="10827390" cy="13164"/>
          </a:xfrm>
          <a:prstGeom prst="straightConnector1">
            <a:avLst/>
          </a:prstGeom>
          <a:noFill/>
          <a:ln w="31750" cap="flat" cmpd="sng">
            <a:solidFill>
              <a:srgbClr val="FFBD11"/>
            </a:solidFill>
            <a:prstDash val="solid"/>
            <a:miter lim="800000"/>
            <a:headEnd type="none" w="sm" len="sm"/>
            <a:tailEnd type="none" w="sm" len="sm"/>
          </a:ln>
        </p:spPr>
      </p:cxnSp>
      <p:sp>
        <p:nvSpPr>
          <p:cNvPr id="9" name="Google Shape;124;p8">
            <a:extLst>
              <a:ext uri="{FF2B5EF4-FFF2-40B4-BE49-F238E27FC236}">
                <a16:creationId xmlns:a16="http://schemas.microsoft.com/office/drawing/2014/main" id="{043106DF-ECD6-42C2-8B7A-2D53A210501B}"/>
              </a:ext>
            </a:extLst>
          </p:cNvPr>
          <p:cNvSpPr txBox="1"/>
          <p:nvPr/>
        </p:nvSpPr>
        <p:spPr>
          <a:xfrm>
            <a:off x="1075852" y="615955"/>
            <a:ext cx="108813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rgbClr val="1A1A1A"/>
                </a:solidFill>
                <a:latin typeface="+mj-lt"/>
                <a:ea typeface="맑은 고딕"/>
                <a:cs typeface="Calibri"/>
                <a:sym typeface="Calibri"/>
              </a:rPr>
              <a:t>연구 질문에서 재현 가능한 산출물까지 역할을 연결했다</a:t>
            </a:r>
            <a:endParaRPr dirty="0">
              <a:solidFill>
                <a:schemeClr val="tx1"/>
              </a:solidFill>
              <a:latin typeface="+mj-lt"/>
            </a:endParaRPr>
          </a:p>
        </p:txBody>
      </p:sp>
      <p:sp>
        <p:nvSpPr>
          <p:cNvPr id="47" name="TextBox 46"/>
          <p:cNvSpPr txBox="1"/>
          <p:nvPr/>
        </p:nvSpPr>
        <p:spPr>
          <a:xfrm>
            <a:off x="548640" y="1188720"/>
            <a:ext cx="11064240" cy="365760"/>
          </a:xfrm>
          <a:prstGeom prst="rect">
            <a:avLst/>
          </a:prstGeom>
          <a:noFill/>
        </p:spPr>
        <p:txBody>
          <a:bodyPr wrap="square" lIns="0" rIns="0" tIns="27432" bIns="27432" anchor="t">
            <a:noAutofit/>
          </a:bodyPr>
          <a:lstStyle/>
          <a:p>
            <a:pPr algn="l">
              <a:spcAft>
                <a:spcPts val="0"/>
              </a:spcAft>
            </a:pPr>
            <a:r>
              <a:rPr sz="1300" b="1" i="0">
                <a:solidFill>
                  <a:srgbClr val="445569"/>
                </a:solidFill>
                <a:latin typeface="Arial"/>
                <a:ea typeface="맑은 고딕"/>
              </a:rPr>
              <a:t>연구 책임 / PM  </a:t>
            </a:r>
            <a:r>
              <a:rPr sz="1300" b="1" i="0">
                <a:solidFill>
                  <a:srgbClr val="1A1A1A"/>
                </a:solidFill>
                <a:latin typeface="Arial"/>
                <a:ea typeface="맑은 고딕"/>
              </a:rPr>
              <a:t>추병곤</a:t>
            </a:r>
            <a:r>
              <a:rPr sz="1300" b="1" i="0">
                <a:solidFill>
                  <a:srgbClr val="445569"/>
                </a:solidFill>
                <a:latin typeface="Arial"/>
                <a:ea typeface="맑은 고딕"/>
              </a:rPr>
              <a:t>     |     팀명  </a:t>
            </a:r>
            <a:r>
              <a:rPr sz="1300" b="0" i="0">
                <a:solidFill>
                  <a:srgbClr val="1A1A1A"/>
                </a:solidFill>
                <a:latin typeface="Arial"/>
                <a:ea typeface="맑은 고딕"/>
              </a:rPr>
              <a:t>[팀명 입력]</a:t>
            </a:r>
            <a:r>
              <a:rPr sz="1300" b="1" i="0">
                <a:solidFill>
                  <a:srgbClr val="445569"/>
                </a:solidFill>
                <a:latin typeface="Arial"/>
                <a:ea typeface="맑은 고딕"/>
              </a:rPr>
              <a:t>     |     팀원  </a:t>
            </a:r>
            <a:r>
              <a:rPr sz="1300" b="0" i="0">
                <a:solidFill>
                  <a:srgbClr val="1A1A1A"/>
                </a:solidFill>
                <a:latin typeface="Arial"/>
                <a:ea typeface="맑은 고딕"/>
              </a:rPr>
              <a:t>[팀원명 입력]</a:t>
            </a:r>
          </a:p>
        </p:txBody>
      </p:sp>
      <p:sp>
        <p:nvSpPr>
          <p:cNvPr id="48" name="Rectangle 47"/>
          <p:cNvSpPr/>
          <p:nvPr/>
        </p:nvSpPr>
        <p:spPr>
          <a:xfrm>
            <a:off x="548640" y="1691640"/>
            <a:ext cx="2093976" cy="777240"/>
          </a:xfrm>
          <a:prstGeom prst="rect">
            <a:avLst/>
          </a:prstGeom>
          <a:solidFill>
            <a:srgbClr val="445569"/>
          </a:solidFill>
          <a:ln>
            <a:noFill/>
          </a:ln>
        </p:spPr>
        <p:txBody>
          <a:bodyPr rtlCol="0" anchor="ctr" wrap="square" lIns="45720" rIns="45720" tIns="27432" bIns="27432">
            <a:noAutofit/>
          </a:bodyPr>
          <a:lstStyle/>
          <a:p>
            <a:pPr algn="ctr">
              <a:spcAft>
                <a:spcPts val="0"/>
              </a:spcAft>
            </a:pPr>
            <a:r>
              <a:rPr sz="1300" b="1" i="0">
                <a:solidFill>
                  <a:srgbClr val="FFFFFF"/>
                </a:solidFill>
                <a:latin typeface="Arial"/>
                <a:ea typeface="맑은 고딕"/>
              </a:rPr>
              <a:t>연구 책임 / PM</a:t>
            </a:r>
          </a:p>
          <a:p>
            <a:pPr algn="ctr">
              <a:spcAft>
                <a:spcPts val="0"/>
              </a:spcAft>
            </a:pPr>
            <a:r>
              <a:rPr sz="1050" b="1" i="0">
                <a:solidFill>
                  <a:srgbClr val="FFBD11"/>
                </a:solidFill>
                <a:latin typeface="Arial"/>
                <a:ea typeface="맑은 고딕"/>
              </a:rPr>
              <a:t>추병곤</a:t>
            </a:r>
          </a:p>
        </p:txBody>
      </p:sp>
      <p:sp>
        <p:nvSpPr>
          <p:cNvPr id="49" name="Rectangle 48"/>
          <p:cNvSpPr/>
          <p:nvPr/>
        </p:nvSpPr>
        <p:spPr>
          <a:xfrm>
            <a:off x="548640" y="2468880"/>
            <a:ext cx="2093976" cy="1965960"/>
          </a:xfrm>
          <a:prstGeom prst="rect">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0" name="TextBox 49"/>
          <p:cNvSpPr txBox="1"/>
          <p:nvPr/>
        </p:nvSpPr>
        <p:spPr>
          <a:xfrm>
            <a:off x="640080" y="2606040"/>
            <a:ext cx="1920240" cy="1371600"/>
          </a:xfrm>
          <a:prstGeom prst="rect">
            <a:avLst/>
          </a:prstGeom>
          <a:noFill/>
        </p:spPr>
        <p:txBody>
          <a:bodyPr wrap="square" lIns="18288" rIns="18288" tIns="27432" bIns="27432" anchor="t">
            <a:noAutofit/>
          </a:bodyPr>
          <a:lstStyle/>
          <a:p>
            <a:pPr algn="l" marL="164592" indent="-164592">
              <a:spcAft>
                <a:spcPts val="600"/>
              </a:spcAft>
              <a:buChar char="•"/>
            </a:pPr>
            <a:r>
              <a:rPr sz="1300" b="0" i="0">
                <a:solidFill>
                  <a:srgbClr val="1A1A1A"/>
                </a:solidFill>
                <a:latin typeface="Arial"/>
                <a:ea typeface="맑은 고딕"/>
              </a:rPr>
              <a:t>연구 질문 정의</a:t>
            </a:r>
          </a:p>
          <a:p>
            <a:pPr algn="l" marL="164592" indent="-164592">
              <a:spcAft>
                <a:spcPts val="600"/>
              </a:spcAft>
              <a:buChar char="•"/>
            </a:pPr>
            <a:r>
              <a:rPr sz="1300" b="0" i="0">
                <a:solidFill>
                  <a:srgbClr val="1A1A1A"/>
                </a:solidFill>
                <a:latin typeface="Arial"/>
                <a:ea typeface="맑은 고딕"/>
              </a:rPr>
              <a:t>Core 범위 동결</a:t>
            </a:r>
          </a:p>
          <a:p>
            <a:pPr algn="l" marL="164592" indent="-164592">
              <a:spcAft>
                <a:spcPts val="600"/>
              </a:spcAft>
              <a:buChar char="•"/>
            </a:pPr>
            <a:r>
              <a:rPr sz="1300" b="0" i="0">
                <a:solidFill>
                  <a:srgbClr val="1A1A1A"/>
                </a:solidFill>
                <a:latin typeface="Arial"/>
                <a:ea typeface="맑은 고딕"/>
              </a:rPr>
              <a:t>결과 경계·상태 라벨 관리</a:t>
            </a:r>
          </a:p>
        </p:txBody>
      </p:sp>
      <p:sp>
        <p:nvSpPr>
          <p:cNvPr id="51" name="Folded Corner 50"/>
          <p:cNvSpPr/>
          <p:nvPr/>
        </p:nvSpPr>
        <p:spPr>
          <a:xfrm>
            <a:off x="676656" y="3959352"/>
            <a:ext cx="274320" cy="347472"/>
          </a:xfrm>
          <a:prstGeom prst="foldedCorner">
            <a:avLst/>
          </a:prstGeom>
          <a:solidFill>
            <a:srgbClr val="FFFFFF"/>
          </a:solidFill>
          <a:ln w="12700">
            <a:solidFill>
              <a:srgbClr val="445569"/>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2" name="TextBox 51"/>
          <p:cNvSpPr txBox="1"/>
          <p:nvPr/>
        </p:nvSpPr>
        <p:spPr>
          <a:xfrm>
            <a:off x="1005840" y="3922776"/>
            <a:ext cx="1600200" cy="420624"/>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통합 문서 · 로드맵</a:t>
            </a:r>
          </a:p>
        </p:txBody>
      </p:sp>
      <p:sp>
        <p:nvSpPr>
          <p:cNvPr id="53" name="Rectangle 52"/>
          <p:cNvSpPr/>
          <p:nvPr/>
        </p:nvSpPr>
        <p:spPr>
          <a:xfrm>
            <a:off x="2798064" y="1691640"/>
            <a:ext cx="2093976" cy="777240"/>
          </a:xfrm>
          <a:prstGeom prst="rect">
            <a:avLst/>
          </a:prstGeom>
          <a:solidFill>
            <a:srgbClr val="445569"/>
          </a:solidFill>
          <a:ln>
            <a:noFill/>
          </a:ln>
        </p:spPr>
        <p:txBody>
          <a:bodyPr rtlCol="0" anchor="ctr" wrap="square" lIns="45720" rIns="45720" tIns="27432" bIns="27432">
            <a:noAutofit/>
          </a:bodyPr>
          <a:lstStyle/>
          <a:p>
            <a:pPr algn="ctr">
              <a:spcAft>
                <a:spcPts val="0"/>
              </a:spcAft>
            </a:pPr>
            <a:r>
              <a:rPr sz="1300" b="1" i="0">
                <a:solidFill>
                  <a:srgbClr val="FFFFFF"/>
                </a:solidFill>
                <a:latin typeface="Arial"/>
                <a:ea typeface="맑은 고딕"/>
              </a:rPr>
              <a:t>Data</a:t>
            </a:r>
          </a:p>
          <a:p>
            <a:pPr algn="ctr">
              <a:spcAft>
                <a:spcPts val="0"/>
              </a:spcAft>
            </a:pPr>
            <a:r>
              <a:rPr sz="1050" b="1" i="0">
                <a:solidFill>
                  <a:srgbClr val="FFBD11"/>
                </a:solidFill>
                <a:latin typeface="Arial"/>
                <a:ea typeface="맑은 고딕"/>
              </a:rPr>
              <a:t>[팀원명 입력]</a:t>
            </a:r>
          </a:p>
        </p:txBody>
      </p:sp>
      <p:sp>
        <p:nvSpPr>
          <p:cNvPr id="54" name="Rectangle 53"/>
          <p:cNvSpPr/>
          <p:nvPr/>
        </p:nvSpPr>
        <p:spPr>
          <a:xfrm>
            <a:off x="2798064" y="2468880"/>
            <a:ext cx="2093976" cy="1965960"/>
          </a:xfrm>
          <a:prstGeom prst="rect">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5" name="TextBox 54"/>
          <p:cNvSpPr txBox="1"/>
          <p:nvPr/>
        </p:nvSpPr>
        <p:spPr>
          <a:xfrm>
            <a:off x="2889504" y="2606040"/>
            <a:ext cx="1920240" cy="1371600"/>
          </a:xfrm>
          <a:prstGeom prst="rect">
            <a:avLst/>
          </a:prstGeom>
          <a:noFill/>
        </p:spPr>
        <p:txBody>
          <a:bodyPr wrap="square" lIns="18288" rIns="18288" tIns="27432" bIns="27432" anchor="t">
            <a:noAutofit/>
          </a:bodyPr>
          <a:lstStyle/>
          <a:p>
            <a:pPr algn="l" marL="164592" indent="-164592">
              <a:spcAft>
                <a:spcPts val="600"/>
              </a:spcAft>
              <a:buChar char="•"/>
            </a:pPr>
            <a:r>
              <a:rPr sz="1300" b="0" i="0">
                <a:solidFill>
                  <a:srgbClr val="1A1A1A"/>
                </a:solidFill>
                <a:latin typeface="Arial"/>
                <a:ea typeface="맑은 고딕"/>
              </a:rPr>
              <a:t>yKa 작가·작품·전시 데이터</a:t>
            </a:r>
          </a:p>
          <a:p>
            <a:pPr algn="l" marL="164592" indent="-164592">
              <a:spcAft>
                <a:spcPts val="600"/>
              </a:spcAft>
              <a:buChar char="•"/>
            </a:pPr>
            <a:r>
              <a:rPr sz="1300" b="0" i="0">
                <a:solidFill>
                  <a:srgbClr val="1A1A1A"/>
                </a:solidFill>
                <a:latin typeface="Arial"/>
                <a:ea typeface="맑은 고딕"/>
              </a:rPr>
              <a:t>출처·라이선스 기록</a:t>
            </a:r>
          </a:p>
          <a:p>
            <a:pPr algn="l" marL="164592" indent="-164592">
              <a:spcAft>
                <a:spcPts val="600"/>
              </a:spcAft>
              <a:buChar char="•"/>
            </a:pPr>
            <a:r>
              <a:rPr sz="1300" b="0" i="0">
                <a:solidFill>
                  <a:srgbClr val="1A1A1A"/>
                </a:solidFill>
                <a:latin typeface="Arial"/>
                <a:ea typeface="맑은 고딕"/>
              </a:rPr>
              <a:t>schema 설계</a:t>
            </a:r>
          </a:p>
        </p:txBody>
      </p:sp>
      <p:sp>
        <p:nvSpPr>
          <p:cNvPr id="56" name="Folded Corner 55"/>
          <p:cNvSpPr/>
          <p:nvPr/>
        </p:nvSpPr>
        <p:spPr>
          <a:xfrm>
            <a:off x="2926080" y="3959352"/>
            <a:ext cx="274320" cy="347472"/>
          </a:xfrm>
          <a:prstGeom prst="foldedCorner">
            <a:avLst/>
          </a:prstGeom>
          <a:solidFill>
            <a:srgbClr val="FFFFFF"/>
          </a:solidFill>
          <a:ln w="12700">
            <a:solidFill>
              <a:srgbClr val="445569"/>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7" name="TextBox 56"/>
          <p:cNvSpPr txBox="1"/>
          <p:nvPr/>
        </p:nvSpPr>
        <p:spPr>
          <a:xfrm>
            <a:off x="3255264" y="3922776"/>
            <a:ext cx="1600200" cy="420624"/>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dataset version</a:t>
            </a:r>
          </a:p>
        </p:txBody>
      </p:sp>
      <p:sp>
        <p:nvSpPr>
          <p:cNvPr id="58" name="Rectangle 57"/>
          <p:cNvSpPr/>
          <p:nvPr/>
        </p:nvSpPr>
        <p:spPr>
          <a:xfrm>
            <a:off x="5047488" y="1691640"/>
            <a:ext cx="2093976" cy="777240"/>
          </a:xfrm>
          <a:prstGeom prst="rect">
            <a:avLst/>
          </a:prstGeom>
          <a:solidFill>
            <a:srgbClr val="445569"/>
          </a:solidFill>
          <a:ln>
            <a:noFill/>
          </a:ln>
        </p:spPr>
        <p:txBody>
          <a:bodyPr rtlCol="0" anchor="ctr" wrap="square" lIns="45720" rIns="45720" tIns="27432" bIns="27432">
            <a:noAutofit/>
          </a:bodyPr>
          <a:lstStyle/>
          <a:p>
            <a:pPr algn="ctr">
              <a:spcAft>
                <a:spcPts val="0"/>
              </a:spcAft>
            </a:pPr>
            <a:r>
              <a:rPr sz="1300" b="1" i="0">
                <a:solidFill>
                  <a:srgbClr val="FFFFFF"/>
                </a:solidFill>
                <a:latin typeface="Arial"/>
                <a:ea typeface="맑은 고딕"/>
              </a:rPr>
              <a:t>Model / Memory</a:t>
            </a:r>
          </a:p>
          <a:p>
            <a:pPr algn="ctr">
              <a:spcAft>
                <a:spcPts val="0"/>
              </a:spcAft>
            </a:pPr>
            <a:r>
              <a:rPr sz="1050" b="1" i="0">
                <a:solidFill>
                  <a:srgbClr val="FFBD11"/>
                </a:solidFill>
                <a:latin typeface="Arial"/>
                <a:ea typeface="맑은 고딕"/>
              </a:rPr>
              <a:t>[팀원명 입력]</a:t>
            </a:r>
          </a:p>
        </p:txBody>
      </p:sp>
      <p:sp>
        <p:nvSpPr>
          <p:cNvPr id="59" name="Rectangle 58"/>
          <p:cNvSpPr/>
          <p:nvPr/>
        </p:nvSpPr>
        <p:spPr>
          <a:xfrm>
            <a:off x="5047488" y="2468880"/>
            <a:ext cx="2093976" cy="1965960"/>
          </a:xfrm>
          <a:prstGeom prst="rect">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0" name="TextBox 59"/>
          <p:cNvSpPr txBox="1"/>
          <p:nvPr/>
        </p:nvSpPr>
        <p:spPr>
          <a:xfrm>
            <a:off x="5138927" y="2606040"/>
            <a:ext cx="1920240" cy="1371600"/>
          </a:xfrm>
          <a:prstGeom prst="rect">
            <a:avLst/>
          </a:prstGeom>
          <a:noFill/>
        </p:spPr>
        <p:txBody>
          <a:bodyPr wrap="square" lIns="18288" rIns="18288" tIns="27432" bIns="27432" anchor="t">
            <a:noAutofit/>
          </a:bodyPr>
          <a:lstStyle/>
          <a:p>
            <a:pPr algn="l" marL="164592" indent="-164592">
              <a:spcAft>
                <a:spcPts val="600"/>
              </a:spcAft>
              <a:buChar char="•"/>
            </a:pPr>
            <a:r>
              <a:rPr sz="1300" b="0" i="0">
                <a:solidFill>
                  <a:srgbClr val="1A1A1A"/>
                </a:solidFill>
                <a:latin typeface="Arial"/>
                <a:ea typeface="맑은 고딕"/>
              </a:rPr>
              <a:t>미학 신호 추출</a:t>
            </a:r>
          </a:p>
          <a:p>
            <a:pPr algn="l" marL="164592" indent="-164592">
              <a:spcAft>
                <a:spcPts val="600"/>
              </a:spcAft>
              <a:buChar char="•"/>
            </a:pPr>
            <a:r>
              <a:rPr sz="1300" b="0" i="0">
                <a:solidFill>
                  <a:srgbClr val="1A1A1A"/>
                </a:solidFill>
                <a:latin typeface="Arial"/>
                <a:ea typeface="맑은 고딕"/>
              </a:rPr>
              <a:t>Session Node</a:t>
            </a:r>
          </a:p>
          <a:p>
            <a:pPr algn="l" marL="164592" indent="-164592">
              <a:spcAft>
                <a:spcPts val="600"/>
              </a:spcAft>
              <a:buChar char="•"/>
            </a:pPr>
            <a:r>
              <a:rPr sz="1300" b="0" i="0">
                <a:solidFill>
                  <a:srgbClr val="1A1A1A"/>
                </a:solidFill>
                <a:latin typeface="Arial"/>
                <a:ea typeface="맑은 고딕"/>
              </a:rPr>
              <a:t>Taste Cluster</a:t>
            </a:r>
          </a:p>
          <a:p>
            <a:pPr algn="l" marL="164592" indent="-164592">
              <a:spcAft>
                <a:spcPts val="600"/>
              </a:spcAft>
              <a:buChar char="•"/>
            </a:pPr>
            <a:r>
              <a:rPr sz="1300" b="0" i="0">
                <a:solidFill>
                  <a:srgbClr val="1A1A1A"/>
                </a:solidFill>
                <a:latin typeface="Arial"/>
                <a:ea typeface="맑은 고딕"/>
              </a:rPr>
              <a:t>Context Router</a:t>
            </a:r>
          </a:p>
        </p:txBody>
      </p:sp>
      <p:sp>
        <p:nvSpPr>
          <p:cNvPr id="61" name="Folded Corner 60"/>
          <p:cNvSpPr/>
          <p:nvPr/>
        </p:nvSpPr>
        <p:spPr>
          <a:xfrm>
            <a:off x="5175503" y="3959352"/>
            <a:ext cx="274320" cy="347472"/>
          </a:xfrm>
          <a:prstGeom prst="foldedCorner">
            <a:avLst/>
          </a:prstGeom>
          <a:solidFill>
            <a:srgbClr val="FFFFFF"/>
          </a:solidFill>
          <a:ln w="12700">
            <a:solidFill>
              <a:srgbClr val="445569"/>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2" name="TextBox 61"/>
          <p:cNvSpPr txBox="1"/>
          <p:nvPr/>
        </p:nvSpPr>
        <p:spPr>
          <a:xfrm>
            <a:off x="5504688" y="3922776"/>
            <a:ext cx="1600200" cy="420624"/>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extractor · memory store</a:t>
            </a:r>
          </a:p>
        </p:txBody>
      </p:sp>
      <p:sp>
        <p:nvSpPr>
          <p:cNvPr id="63" name="Rectangle 62"/>
          <p:cNvSpPr/>
          <p:nvPr/>
        </p:nvSpPr>
        <p:spPr>
          <a:xfrm>
            <a:off x="7296912" y="1691640"/>
            <a:ext cx="2093976" cy="777240"/>
          </a:xfrm>
          <a:prstGeom prst="rect">
            <a:avLst/>
          </a:prstGeom>
          <a:solidFill>
            <a:srgbClr val="445569"/>
          </a:solidFill>
          <a:ln>
            <a:noFill/>
          </a:ln>
        </p:spPr>
        <p:txBody>
          <a:bodyPr rtlCol="0" anchor="ctr" wrap="square" lIns="45720" rIns="45720" tIns="27432" bIns="27432">
            <a:noAutofit/>
          </a:bodyPr>
          <a:lstStyle/>
          <a:p>
            <a:pPr algn="ctr">
              <a:spcAft>
                <a:spcPts val="0"/>
              </a:spcAft>
            </a:pPr>
            <a:r>
              <a:rPr sz="1150" b="1" i="0">
                <a:solidFill>
                  <a:srgbClr val="FFFFFF"/>
                </a:solidFill>
                <a:latin typeface="Arial"/>
                <a:ea typeface="맑은 고딕"/>
              </a:rPr>
              <a:t>Retrieval / Grounding</a:t>
            </a:r>
          </a:p>
          <a:p>
            <a:pPr algn="ctr">
              <a:spcAft>
                <a:spcPts val="0"/>
              </a:spcAft>
            </a:pPr>
            <a:r>
              <a:rPr sz="1050" b="1" i="0">
                <a:solidFill>
                  <a:srgbClr val="FFBD11"/>
                </a:solidFill>
                <a:latin typeface="Arial"/>
                <a:ea typeface="맑은 고딕"/>
              </a:rPr>
              <a:t>[팀원명 입력]</a:t>
            </a:r>
          </a:p>
        </p:txBody>
      </p:sp>
      <p:sp>
        <p:nvSpPr>
          <p:cNvPr id="64" name="Rectangle 63"/>
          <p:cNvSpPr/>
          <p:nvPr/>
        </p:nvSpPr>
        <p:spPr>
          <a:xfrm>
            <a:off x="7296912" y="2468880"/>
            <a:ext cx="2093976" cy="1965960"/>
          </a:xfrm>
          <a:prstGeom prst="rect">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5" name="TextBox 64"/>
          <p:cNvSpPr txBox="1"/>
          <p:nvPr/>
        </p:nvSpPr>
        <p:spPr>
          <a:xfrm>
            <a:off x="7388352" y="2606040"/>
            <a:ext cx="1920240" cy="1371600"/>
          </a:xfrm>
          <a:prstGeom prst="rect">
            <a:avLst/>
          </a:prstGeom>
          <a:noFill/>
        </p:spPr>
        <p:txBody>
          <a:bodyPr wrap="square" lIns="18288" rIns="18288" tIns="27432" bIns="27432" anchor="t">
            <a:noAutofit/>
          </a:bodyPr>
          <a:lstStyle/>
          <a:p>
            <a:pPr algn="l" marL="164592" indent="-164592">
              <a:spcAft>
                <a:spcPts val="600"/>
              </a:spcAft>
              <a:buChar char="•"/>
            </a:pPr>
            <a:r>
              <a:rPr sz="1300" b="0" i="0">
                <a:solidFill>
                  <a:srgbClr val="1A1A1A"/>
                </a:solidFill>
                <a:latin typeface="Arial"/>
                <a:ea typeface="맑은 고딕"/>
              </a:rPr>
              <a:t>BM25 · text embedding</a:t>
            </a:r>
          </a:p>
          <a:p>
            <a:pPr algn="l" marL="164592" indent="-164592">
              <a:spcAft>
                <a:spcPts val="600"/>
              </a:spcAft>
              <a:buChar char="•"/>
            </a:pPr>
            <a:r>
              <a:rPr sz="1300" b="0" i="0">
                <a:solidFill>
                  <a:srgbClr val="1A1A1A"/>
                </a:solidFill>
                <a:latin typeface="Arial"/>
                <a:ea typeface="맑은 고딕"/>
              </a:rPr>
              <a:t>RRF 순위 융합</a:t>
            </a:r>
          </a:p>
          <a:p>
            <a:pPr algn="l" marL="164592" indent="-164592">
              <a:spcAft>
                <a:spcPts val="600"/>
              </a:spcAft>
              <a:buChar char="•"/>
            </a:pPr>
            <a:r>
              <a:rPr sz="1300" b="0" i="0">
                <a:solidFill>
                  <a:srgbClr val="1A1A1A"/>
                </a:solidFill>
                <a:latin typeface="Arial"/>
                <a:ea typeface="맑은 고딕"/>
              </a:rPr>
              <a:t>작품층·전시층 검증</a:t>
            </a:r>
          </a:p>
        </p:txBody>
      </p:sp>
      <p:sp>
        <p:nvSpPr>
          <p:cNvPr id="66" name="Folded Corner 65"/>
          <p:cNvSpPr/>
          <p:nvPr/>
        </p:nvSpPr>
        <p:spPr>
          <a:xfrm>
            <a:off x="7424927" y="3959352"/>
            <a:ext cx="274320" cy="347472"/>
          </a:xfrm>
          <a:prstGeom prst="foldedCorner">
            <a:avLst/>
          </a:prstGeom>
          <a:solidFill>
            <a:srgbClr val="FFFFFF"/>
          </a:solidFill>
          <a:ln w="12700">
            <a:solidFill>
              <a:srgbClr val="445569"/>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7" name="TextBox 66"/>
          <p:cNvSpPr txBox="1"/>
          <p:nvPr/>
        </p:nvSpPr>
        <p:spPr>
          <a:xfrm>
            <a:off x="7754112" y="3922776"/>
            <a:ext cx="1600200" cy="420624"/>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Top-10 run · snapshot</a:t>
            </a:r>
          </a:p>
        </p:txBody>
      </p:sp>
      <p:sp>
        <p:nvSpPr>
          <p:cNvPr id="68" name="Rectangle 67"/>
          <p:cNvSpPr/>
          <p:nvPr/>
        </p:nvSpPr>
        <p:spPr>
          <a:xfrm>
            <a:off x="9546336" y="1691640"/>
            <a:ext cx="2093976" cy="777240"/>
          </a:xfrm>
          <a:prstGeom prst="rect">
            <a:avLst/>
          </a:prstGeom>
          <a:solidFill>
            <a:srgbClr val="445569"/>
          </a:solidFill>
          <a:ln>
            <a:noFill/>
          </a:ln>
        </p:spPr>
        <p:txBody>
          <a:bodyPr rtlCol="0" anchor="ctr" wrap="square" lIns="45720" rIns="45720" tIns="27432" bIns="27432">
            <a:noAutofit/>
          </a:bodyPr>
          <a:lstStyle/>
          <a:p>
            <a:pPr algn="ctr">
              <a:spcAft>
                <a:spcPts val="0"/>
              </a:spcAft>
            </a:pPr>
            <a:r>
              <a:rPr sz="1150" b="1" i="0">
                <a:solidFill>
                  <a:srgbClr val="FFFFFF"/>
                </a:solidFill>
                <a:latin typeface="Arial"/>
                <a:ea typeface="맑은 고딕"/>
              </a:rPr>
              <a:t>Evaluation / Communication</a:t>
            </a:r>
          </a:p>
          <a:p>
            <a:pPr algn="ctr">
              <a:spcAft>
                <a:spcPts val="0"/>
              </a:spcAft>
            </a:pPr>
            <a:r>
              <a:rPr sz="1050" b="1" i="0">
                <a:solidFill>
                  <a:srgbClr val="FFBD11"/>
                </a:solidFill>
                <a:latin typeface="Arial"/>
                <a:ea typeface="맑은 고딕"/>
              </a:rPr>
              <a:t>[팀원명 입력]</a:t>
            </a:r>
          </a:p>
        </p:txBody>
      </p:sp>
      <p:sp>
        <p:nvSpPr>
          <p:cNvPr id="69" name="Rectangle 68"/>
          <p:cNvSpPr/>
          <p:nvPr/>
        </p:nvSpPr>
        <p:spPr>
          <a:xfrm>
            <a:off x="9546336" y="2468880"/>
            <a:ext cx="2093976" cy="1965960"/>
          </a:xfrm>
          <a:prstGeom prst="rect">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0" name="TextBox 69"/>
          <p:cNvSpPr txBox="1"/>
          <p:nvPr/>
        </p:nvSpPr>
        <p:spPr>
          <a:xfrm>
            <a:off x="9637776" y="2606040"/>
            <a:ext cx="1920240" cy="1371600"/>
          </a:xfrm>
          <a:prstGeom prst="rect">
            <a:avLst/>
          </a:prstGeom>
          <a:noFill/>
        </p:spPr>
        <p:txBody>
          <a:bodyPr wrap="square" lIns="18288" rIns="18288" tIns="27432" bIns="27432" anchor="t">
            <a:noAutofit/>
          </a:bodyPr>
          <a:lstStyle/>
          <a:p>
            <a:pPr algn="l" marL="164592" indent="-164592">
              <a:spcAft>
                <a:spcPts val="600"/>
              </a:spcAft>
              <a:buChar char="•"/>
            </a:pPr>
            <a:r>
              <a:rPr sz="1300" b="0" i="0">
                <a:solidFill>
                  <a:srgbClr val="1A1A1A"/>
                </a:solidFill>
                <a:latin typeface="Arial"/>
                <a:ea typeface="맑은 고딕"/>
              </a:rPr>
              <a:t>Golden Set</a:t>
            </a:r>
          </a:p>
          <a:p>
            <a:pPr algn="l" marL="164592" indent="-164592">
              <a:spcAft>
                <a:spcPts val="600"/>
              </a:spcAft>
              <a:buChar char="•"/>
            </a:pPr>
            <a:r>
              <a:rPr sz="1300" b="0" i="0">
                <a:solidFill>
                  <a:srgbClr val="1A1A1A"/>
                </a:solidFill>
                <a:latin typeface="Arial"/>
                <a:ea typeface="맑은 고딕"/>
              </a:rPr>
              <a:t>지표 코드</a:t>
            </a:r>
          </a:p>
          <a:p>
            <a:pPr algn="l" marL="164592" indent="-164592">
              <a:spcAft>
                <a:spcPts val="600"/>
              </a:spcAft>
              <a:buChar char="•"/>
            </a:pPr>
            <a:r>
              <a:rPr sz="1300" b="0" i="0">
                <a:solidFill>
                  <a:srgbClr val="1A1A1A"/>
                </a:solidFill>
                <a:latin typeface="Arial"/>
                <a:ea typeface="맑은 고딕"/>
              </a:rPr>
              <a:t>실험 registry</a:t>
            </a:r>
          </a:p>
          <a:p>
            <a:pPr algn="l" marL="164592" indent="-164592">
              <a:spcAft>
                <a:spcPts val="600"/>
              </a:spcAft>
              <a:buChar char="•"/>
            </a:pPr>
            <a:r>
              <a:rPr sz="1300" b="0" i="0">
                <a:solidFill>
                  <a:srgbClr val="1A1A1A"/>
                </a:solidFill>
                <a:latin typeface="Arial"/>
                <a:ea typeface="맑은 고딕"/>
              </a:rPr>
              <a:t>발표 · 데모</a:t>
            </a:r>
          </a:p>
        </p:txBody>
      </p:sp>
      <p:sp>
        <p:nvSpPr>
          <p:cNvPr id="71" name="Folded Corner 70"/>
          <p:cNvSpPr/>
          <p:nvPr/>
        </p:nvSpPr>
        <p:spPr>
          <a:xfrm>
            <a:off x="9674352" y="3959352"/>
            <a:ext cx="274320" cy="347472"/>
          </a:xfrm>
          <a:prstGeom prst="foldedCorner">
            <a:avLst/>
          </a:prstGeom>
          <a:solidFill>
            <a:srgbClr val="FFFFFF"/>
          </a:solidFill>
          <a:ln w="12700">
            <a:solidFill>
              <a:srgbClr val="445569"/>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2" name="TextBox 71"/>
          <p:cNvSpPr txBox="1"/>
          <p:nvPr/>
        </p:nvSpPr>
        <p:spPr>
          <a:xfrm>
            <a:off x="10003536" y="3922776"/>
            <a:ext cx="1600200" cy="420624"/>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result table · demo</a:t>
            </a:r>
          </a:p>
        </p:txBody>
      </p:sp>
      <p:sp>
        <p:nvSpPr>
          <p:cNvPr id="73" name="Rounded Rectangle 72"/>
          <p:cNvSpPr/>
          <p:nvPr/>
        </p:nvSpPr>
        <p:spPr>
          <a:xfrm>
            <a:off x="548640" y="4709160"/>
            <a:ext cx="11091672" cy="1188720"/>
          </a:xfrm>
          <a:prstGeom prst="roundRect">
            <a:avLst>
              <a:gd name="adj" fmla="val 8000"/>
            </a:avLst>
          </a:prstGeom>
          <a:solidFill>
            <a:srgbClr val="FFFFFF"/>
          </a:solidFill>
          <a:ln w="12700">
            <a:solidFill>
              <a:srgbClr val="D0D0D0"/>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4" name="TextBox 73"/>
          <p:cNvSpPr txBox="1"/>
          <p:nvPr/>
        </p:nvSpPr>
        <p:spPr>
          <a:xfrm>
            <a:off x="731520" y="4791456"/>
            <a:ext cx="3657600" cy="320040"/>
          </a:xfrm>
          <a:prstGeom prst="rect">
            <a:avLst/>
          </a:prstGeom>
          <a:noFill/>
        </p:spPr>
        <p:txBody>
          <a:bodyPr wrap="square" lIns="0" rIns="0" tIns="27432" bIns="27432" anchor="t">
            <a:noAutofit/>
          </a:bodyPr>
          <a:lstStyle/>
          <a:p>
            <a:pPr algn="l">
              <a:spcAft>
                <a:spcPts val="0"/>
              </a:spcAft>
            </a:pPr>
            <a:r>
              <a:rPr sz="1200" b="1" i="0">
                <a:solidFill>
                  <a:srgbClr val="445569"/>
                </a:solidFill>
                <a:latin typeface="Arial"/>
                <a:ea typeface="맑은 고딕"/>
              </a:rPr>
              <a:t>공통 추적 기준 — 모든 역할이 같은 키를 공유</a:t>
            </a:r>
          </a:p>
        </p:txBody>
      </p:sp>
      <p:sp>
        <p:nvSpPr>
          <p:cNvPr id="75" name="Rounded Rectangle 74"/>
          <p:cNvSpPr/>
          <p:nvPr/>
        </p:nvSpPr>
        <p:spPr>
          <a:xfrm>
            <a:off x="731520" y="5193792"/>
            <a:ext cx="1783080" cy="502920"/>
          </a:xfrm>
          <a:prstGeom prst="roundRect">
            <a:avLst>
              <a:gd name="adj" fmla="val 30000"/>
            </a:avLst>
          </a:prstGeom>
          <a:solidFill>
            <a:srgbClr val="FFF3CC"/>
          </a:solidFill>
          <a:ln>
            <a:noFill/>
          </a:ln>
        </p:spPr>
        <p:txBody>
          <a:bodyPr rtlCol="0" anchor="ctr" wrap="square" lIns="36576" rIns="36576" tIns="27432" bIns="27432">
            <a:noAutofit/>
          </a:bodyPr>
          <a:lstStyle/>
          <a:p>
            <a:pPr algn="ctr">
              <a:spcAft>
                <a:spcPts val="0"/>
              </a:spcAft>
            </a:pPr>
            <a:r>
              <a:rPr sz="1300" b="1" i="0">
                <a:solidFill>
                  <a:srgbClr val="1A1A1A"/>
                </a:solidFill>
                <a:latin typeface="Arial"/>
                <a:ea typeface="맑은 고딕"/>
              </a:rPr>
              <a:t>Dataset version</a:t>
            </a:r>
          </a:p>
        </p:txBody>
      </p:sp>
      <p:sp>
        <p:nvSpPr>
          <p:cNvPr id="76" name="Right Arrow 75"/>
          <p:cNvSpPr/>
          <p:nvPr/>
        </p:nvSpPr>
        <p:spPr>
          <a:xfrm>
            <a:off x="2560320" y="5303520"/>
            <a:ext cx="301752" cy="274320"/>
          </a:xfrm>
          <a:prstGeom prst="rightArrow">
            <a:avLst/>
          </a:prstGeom>
          <a:solidFill>
            <a:srgbClr val="445569"/>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7" name="Rounded Rectangle 76"/>
          <p:cNvSpPr/>
          <p:nvPr/>
        </p:nvSpPr>
        <p:spPr>
          <a:xfrm>
            <a:off x="2907791" y="5193792"/>
            <a:ext cx="1783080" cy="502920"/>
          </a:xfrm>
          <a:prstGeom prst="roundRect">
            <a:avLst>
              <a:gd name="adj" fmla="val 30000"/>
            </a:avLst>
          </a:prstGeom>
          <a:solidFill>
            <a:srgbClr val="FFF3CC"/>
          </a:solidFill>
          <a:ln>
            <a:noFill/>
          </a:ln>
        </p:spPr>
        <p:txBody>
          <a:bodyPr rtlCol="0" anchor="ctr" wrap="square" lIns="36576" rIns="36576" tIns="27432" bIns="27432">
            <a:noAutofit/>
          </a:bodyPr>
          <a:lstStyle/>
          <a:p>
            <a:pPr algn="ctr">
              <a:spcAft>
                <a:spcPts val="0"/>
              </a:spcAft>
            </a:pPr>
            <a:r>
              <a:rPr sz="1300" b="1" i="0">
                <a:solidFill>
                  <a:srgbClr val="1A1A1A"/>
                </a:solidFill>
                <a:latin typeface="Arial"/>
                <a:ea typeface="맑은 고딕"/>
              </a:rPr>
              <a:t>Experiment ID</a:t>
            </a:r>
          </a:p>
        </p:txBody>
      </p:sp>
      <p:sp>
        <p:nvSpPr>
          <p:cNvPr id="78" name="Right Arrow 77"/>
          <p:cNvSpPr/>
          <p:nvPr/>
        </p:nvSpPr>
        <p:spPr>
          <a:xfrm>
            <a:off x="4736592" y="5303520"/>
            <a:ext cx="301752" cy="274320"/>
          </a:xfrm>
          <a:prstGeom prst="rightArrow">
            <a:avLst/>
          </a:prstGeom>
          <a:solidFill>
            <a:srgbClr val="445569"/>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9" name="Rounded Rectangle 78"/>
          <p:cNvSpPr/>
          <p:nvPr/>
        </p:nvSpPr>
        <p:spPr>
          <a:xfrm>
            <a:off x="5084064" y="5193792"/>
            <a:ext cx="1783080" cy="502920"/>
          </a:xfrm>
          <a:prstGeom prst="roundRect">
            <a:avLst>
              <a:gd name="adj" fmla="val 30000"/>
            </a:avLst>
          </a:prstGeom>
          <a:solidFill>
            <a:srgbClr val="FFF3CC"/>
          </a:solidFill>
          <a:ln>
            <a:noFill/>
          </a:ln>
        </p:spPr>
        <p:txBody>
          <a:bodyPr rtlCol="0" anchor="ctr" wrap="square" lIns="36576" rIns="36576" tIns="27432" bIns="27432">
            <a:noAutofit/>
          </a:bodyPr>
          <a:lstStyle/>
          <a:p>
            <a:pPr algn="ctr">
              <a:spcAft>
                <a:spcPts val="0"/>
              </a:spcAft>
            </a:pPr>
            <a:r>
              <a:rPr sz="1300" b="1" i="0">
                <a:solidFill>
                  <a:srgbClr val="1A1A1A"/>
                </a:solidFill>
                <a:latin typeface="Arial"/>
                <a:ea typeface="맑은 고딕"/>
              </a:rPr>
              <a:t>Commit</a:t>
            </a:r>
          </a:p>
        </p:txBody>
      </p:sp>
      <p:sp>
        <p:nvSpPr>
          <p:cNvPr id="80" name="Right Arrow 79"/>
          <p:cNvSpPr/>
          <p:nvPr/>
        </p:nvSpPr>
        <p:spPr>
          <a:xfrm>
            <a:off x="6912864" y="5303520"/>
            <a:ext cx="301752" cy="274320"/>
          </a:xfrm>
          <a:prstGeom prst="rightArrow">
            <a:avLst/>
          </a:prstGeom>
          <a:solidFill>
            <a:srgbClr val="445569"/>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81" name="Rounded Rectangle 80"/>
          <p:cNvSpPr/>
          <p:nvPr/>
        </p:nvSpPr>
        <p:spPr>
          <a:xfrm>
            <a:off x="7260336" y="5193792"/>
            <a:ext cx="1783080" cy="502920"/>
          </a:xfrm>
          <a:prstGeom prst="roundRect">
            <a:avLst>
              <a:gd name="adj" fmla="val 30000"/>
            </a:avLst>
          </a:prstGeom>
          <a:solidFill>
            <a:srgbClr val="FFF3CC"/>
          </a:solidFill>
          <a:ln>
            <a:noFill/>
          </a:ln>
        </p:spPr>
        <p:txBody>
          <a:bodyPr rtlCol="0" anchor="ctr" wrap="square" lIns="36576" rIns="36576" tIns="27432" bIns="27432">
            <a:noAutofit/>
          </a:bodyPr>
          <a:lstStyle/>
          <a:p>
            <a:pPr algn="ctr">
              <a:spcAft>
                <a:spcPts val="0"/>
              </a:spcAft>
            </a:pPr>
            <a:r>
              <a:rPr sz="1300" b="1" i="0">
                <a:solidFill>
                  <a:srgbClr val="1A1A1A"/>
                </a:solidFill>
                <a:latin typeface="Arial"/>
                <a:ea typeface="맑은 고딕"/>
              </a:rPr>
              <a:t>Metric</a:t>
            </a:r>
          </a:p>
        </p:txBody>
      </p:sp>
      <p:sp>
        <p:nvSpPr>
          <p:cNvPr id="82" name="Right Arrow 81"/>
          <p:cNvSpPr/>
          <p:nvPr/>
        </p:nvSpPr>
        <p:spPr>
          <a:xfrm>
            <a:off x="9089136" y="5303520"/>
            <a:ext cx="301752" cy="274320"/>
          </a:xfrm>
          <a:prstGeom prst="rightArrow">
            <a:avLst/>
          </a:prstGeom>
          <a:solidFill>
            <a:srgbClr val="445569"/>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83" name="Rounded Rectangle 82"/>
          <p:cNvSpPr/>
          <p:nvPr/>
        </p:nvSpPr>
        <p:spPr>
          <a:xfrm>
            <a:off x="9436608" y="5193792"/>
            <a:ext cx="1783080" cy="502920"/>
          </a:xfrm>
          <a:prstGeom prst="roundRect">
            <a:avLst>
              <a:gd name="adj" fmla="val 30000"/>
            </a:avLst>
          </a:prstGeom>
          <a:solidFill>
            <a:srgbClr val="FFF3CC"/>
          </a:solidFill>
          <a:ln>
            <a:noFill/>
          </a:ln>
        </p:spPr>
        <p:txBody>
          <a:bodyPr rtlCol="0" anchor="ctr" wrap="square" lIns="36576" rIns="36576" tIns="27432" bIns="27432">
            <a:noAutofit/>
          </a:bodyPr>
          <a:lstStyle/>
          <a:p>
            <a:pPr algn="ctr">
              <a:spcAft>
                <a:spcPts val="0"/>
              </a:spcAft>
            </a:pPr>
            <a:r>
              <a:rPr sz="1300" b="1" i="0">
                <a:solidFill>
                  <a:srgbClr val="1A1A1A"/>
                </a:solidFill>
                <a:latin typeface="Arial"/>
                <a:ea typeface="맑은 고딕"/>
              </a:rPr>
              <a:t>Result</a:t>
            </a:r>
          </a:p>
        </p:txBody>
      </p:sp>
    </p:spTree>
    <p:extLst>
      <p:ext uri="{BB962C8B-B14F-4D97-AF65-F5344CB8AC3E}">
        <p14:creationId xmlns:p14="http://schemas.microsoft.com/office/powerpoint/2010/main" val="36054347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4"/>
          <p:cNvSpPr txBox="1"/>
          <p:nvPr/>
        </p:nvSpPr>
        <p:spPr>
          <a:xfrm>
            <a:off x="17463" y="-27384"/>
            <a:ext cx="1160462" cy="11079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6600" b="1" dirty="0">
                <a:solidFill>
                  <a:srgbClr val="FFBD11"/>
                </a:solidFill>
                <a:latin typeface="+mj-lt"/>
                <a:ea typeface="Arial"/>
                <a:cs typeface="Arial"/>
                <a:sym typeface="Arial"/>
              </a:rPr>
              <a:t>0</a:t>
            </a:r>
            <a:r>
              <a:rPr lang="en-US" altLang="ko-KR" sz="6600" b="1" dirty="0">
                <a:solidFill>
                  <a:srgbClr val="FFBD11"/>
                </a:solidFill>
                <a:latin typeface="+mj-lt"/>
                <a:ea typeface="Arial"/>
                <a:cs typeface="Arial"/>
                <a:sym typeface="Arial"/>
              </a:rPr>
              <a:t>3</a:t>
            </a:r>
            <a:r>
              <a:rPr lang="ko-KR" sz="4000" b="1" dirty="0">
                <a:solidFill>
                  <a:srgbClr val="445569"/>
                </a:solidFill>
                <a:latin typeface="+mj-lt"/>
                <a:ea typeface="Arial"/>
                <a:cs typeface="Arial"/>
                <a:sym typeface="Arial"/>
              </a:rPr>
              <a:t> </a:t>
            </a:r>
            <a:endParaRPr sz="4000" b="1" dirty="0">
              <a:solidFill>
                <a:srgbClr val="445569"/>
              </a:solidFill>
              <a:latin typeface="+mj-lt"/>
              <a:ea typeface="Arial"/>
              <a:cs typeface="Arial"/>
              <a:sym typeface="Arial"/>
            </a:endParaRPr>
          </a:p>
        </p:txBody>
      </p:sp>
      <p:sp>
        <p:nvSpPr>
          <p:cNvPr id="45" name="Google Shape;45;p4"/>
          <p:cNvSpPr txBox="1"/>
          <p:nvPr/>
        </p:nvSpPr>
        <p:spPr>
          <a:xfrm>
            <a:off x="984110" y="126483"/>
            <a:ext cx="64008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chemeClr val="tx1"/>
                </a:solidFill>
                <a:latin typeface="+mj-lt"/>
                <a:ea typeface="맑은 고딕"/>
                <a:cs typeface="Calibri"/>
                <a:sym typeface="Calibri"/>
              </a:rPr>
              <a:t>프로젝트 수행 절차 및 방법</a:t>
            </a:r>
            <a:endParaRPr dirty="0">
              <a:solidFill>
                <a:schemeClr val="tx1"/>
              </a:solidFill>
              <a:latin typeface="+mj-lt"/>
            </a:endParaRPr>
          </a:p>
        </p:txBody>
      </p:sp>
      <p:cxnSp>
        <p:nvCxnSpPr>
          <p:cNvPr id="46" name="Google Shape;46;p4"/>
          <p:cNvCxnSpPr>
            <a:cxnSpLocks/>
          </p:cNvCxnSpPr>
          <p:nvPr/>
        </p:nvCxnSpPr>
        <p:spPr>
          <a:xfrm flipV="1">
            <a:off x="1107936" y="526593"/>
            <a:ext cx="10827390" cy="13164"/>
          </a:xfrm>
          <a:prstGeom prst="straightConnector1">
            <a:avLst/>
          </a:prstGeom>
          <a:noFill/>
          <a:ln w="31750" cap="flat" cmpd="sng">
            <a:solidFill>
              <a:srgbClr val="FFBD11"/>
            </a:solidFill>
            <a:prstDash val="solid"/>
            <a:miter lim="800000"/>
            <a:headEnd type="none" w="sm" len="sm"/>
            <a:tailEnd type="none" w="sm" len="sm"/>
          </a:ln>
        </p:spPr>
      </p:cxnSp>
      <p:sp>
        <p:nvSpPr>
          <p:cNvPr id="9" name="Google Shape;124;p8">
            <a:extLst>
              <a:ext uri="{FF2B5EF4-FFF2-40B4-BE49-F238E27FC236}">
                <a16:creationId xmlns:a16="http://schemas.microsoft.com/office/drawing/2014/main" id="{043106DF-ECD6-42C2-8B7A-2D53A210501B}"/>
              </a:ext>
            </a:extLst>
          </p:cNvPr>
          <p:cNvSpPr txBox="1"/>
          <p:nvPr/>
        </p:nvSpPr>
        <p:spPr>
          <a:xfrm>
            <a:off x="1075852" y="615955"/>
            <a:ext cx="108813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rgbClr val="1A1A1A"/>
                </a:solidFill>
                <a:latin typeface="+mj-lt"/>
                <a:ea typeface="맑은 고딕"/>
                <a:cs typeface="Calibri"/>
                <a:sym typeface="Calibri"/>
              </a:rPr>
              <a:t>작게 시작하되, 끝까지 측정 가능한 Core로 동결했다</a:t>
            </a:r>
            <a:endParaRPr dirty="0">
              <a:solidFill>
                <a:schemeClr val="tx1"/>
              </a:solidFill>
              <a:latin typeface="+mj-lt"/>
            </a:endParaRPr>
          </a:p>
        </p:txBody>
      </p:sp>
      <p:sp>
        <p:nvSpPr>
          <p:cNvPr id="47" name="Rounded Rectangle 46"/>
          <p:cNvSpPr/>
          <p:nvPr/>
        </p:nvSpPr>
        <p:spPr>
          <a:xfrm>
            <a:off x="548640" y="1234440"/>
            <a:ext cx="5257800" cy="2240280"/>
          </a:xfrm>
          <a:prstGeom prst="roundRect">
            <a:avLst>
              <a:gd name="adj" fmla="val 5000"/>
            </a:avLst>
          </a:prstGeom>
          <a:solidFill>
            <a:srgbClr val="FFF3CC"/>
          </a:solidFill>
          <a:ln w="19050">
            <a:solidFill>
              <a:srgbClr val="FFBD11"/>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48" name="TextBox 47"/>
          <p:cNvSpPr txBox="1"/>
          <p:nvPr/>
        </p:nvSpPr>
        <p:spPr>
          <a:xfrm>
            <a:off x="731520" y="1298448"/>
            <a:ext cx="4937760" cy="320040"/>
          </a:xfrm>
          <a:prstGeom prst="rect">
            <a:avLst/>
          </a:prstGeom>
          <a:noFill/>
        </p:spPr>
        <p:txBody>
          <a:bodyPr wrap="square" lIns="0" rIns="0" tIns="27432" bIns="27432" anchor="t">
            <a:noAutofit/>
          </a:bodyPr>
          <a:lstStyle/>
          <a:p>
            <a:pPr algn="l">
              <a:spcAft>
                <a:spcPts val="0"/>
              </a:spcAft>
            </a:pPr>
            <a:r>
              <a:rPr sz="1400" b="1" i="0">
                <a:solidFill>
                  <a:srgbClr val="1A1A1A"/>
                </a:solidFill>
                <a:latin typeface="Arial"/>
                <a:ea typeface="맑은 고딕"/>
              </a:rPr>
              <a:t>CORE</a:t>
            </a:r>
            <a:r>
              <a:rPr sz="1200" b="1" i="0">
                <a:solidFill>
                  <a:srgbClr val="445569"/>
                </a:solidFill>
                <a:latin typeface="Arial"/>
                <a:ea typeface="맑은 고딕"/>
              </a:rPr>
              <a:t>   6주 필수 범위</a:t>
            </a:r>
          </a:p>
        </p:txBody>
      </p:sp>
      <p:sp>
        <p:nvSpPr>
          <p:cNvPr id="49" name="Rounded Rectangle 48"/>
          <p:cNvSpPr/>
          <p:nvPr/>
        </p:nvSpPr>
        <p:spPr>
          <a:xfrm>
            <a:off x="731520" y="1737360"/>
            <a:ext cx="1568196" cy="420624"/>
          </a:xfrm>
          <a:prstGeom prst="roundRect">
            <a:avLst>
              <a:gd name="adj" fmla="val 30000"/>
            </a:avLst>
          </a:prstGeom>
          <a:solidFill>
            <a:srgbClr val="FFFFFF"/>
          </a:solidFill>
          <a:ln w="12700">
            <a:solidFill>
              <a:srgbClr val="FFBD11"/>
            </a:solidFill>
          </a:ln>
        </p:spPr>
        <p:txBody>
          <a:bodyPr rtlCol="0" anchor="ctr" wrap="square" lIns="36576" rIns="36576" tIns="27432" bIns="27432">
            <a:noAutofit/>
          </a:bodyPr>
          <a:lstStyle/>
          <a:p>
            <a:pPr algn="ctr">
              <a:spcAft>
                <a:spcPts val="0"/>
              </a:spcAft>
            </a:pPr>
            <a:r>
              <a:rPr sz="1250" b="1" i="0">
                <a:solidFill>
                  <a:srgbClr val="1A1A1A"/>
                </a:solidFill>
                <a:latin typeface="Arial"/>
                <a:ea typeface="맑은 고딕"/>
              </a:rPr>
              <a:t>작품 코퍼스 1개</a:t>
            </a:r>
          </a:p>
        </p:txBody>
      </p:sp>
      <p:sp>
        <p:nvSpPr>
          <p:cNvPr id="50" name="Rounded Rectangle 49"/>
          <p:cNvSpPr/>
          <p:nvPr/>
        </p:nvSpPr>
        <p:spPr>
          <a:xfrm>
            <a:off x="2436876" y="1737360"/>
            <a:ext cx="1568196" cy="420624"/>
          </a:xfrm>
          <a:prstGeom prst="roundRect">
            <a:avLst>
              <a:gd name="adj" fmla="val 30000"/>
            </a:avLst>
          </a:prstGeom>
          <a:solidFill>
            <a:srgbClr val="FFFFFF"/>
          </a:solidFill>
          <a:ln w="12700">
            <a:solidFill>
              <a:srgbClr val="FFBD11"/>
            </a:solidFill>
          </a:ln>
        </p:spPr>
        <p:txBody>
          <a:bodyPr rtlCol="0" anchor="ctr" wrap="square" lIns="36576" rIns="36576" tIns="27432" bIns="27432">
            <a:noAutofit/>
          </a:bodyPr>
          <a:lstStyle/>
          <a:p>
            <a:pPr algn="ctr">
              <a:spcAft>
                <a:spcPts val="0"/>
              </a:spcAft>
            </a:pPr>
            <a:r>
              <a:rPr sz="1250" b="1" i="0">
                <a:solidFill>
                  <a:srgbClr val="1A1A1A"/>
                </a:solidFill>
                <a:latin typeface="Arial"/>
                <a:ea typeface="맑은 고딕"/>
              </a:rPr>
              <a:t>전시 API 1개</a:t>
            </a:r>
          </a:p>
        </p:txBody>
      </p:sp>
      <p:sp>
        <p:nvSpPr>
          <p:cNvPr id="51" name="Rounded Rectangle 50"/>
          <p:cNvSpPr/>
          <p:nvPr/>
        </p:nvSpPr>
        <p:spPr>
          <a:xfrm>
            <a:off x="4142232" y="1737360"/>
            <a:ext cx="914400" cy="420624"/>
          </a:xfrm>
          <a:prstGeom prst="roundRect">
            <a:avLst>
              <a:gd name="adj" fmla="val 30000"/>
            </a:avLst>
          </a:prstGeom>
          <a:solidFill>
            <a:srgbClr val="FFFFFF"/>
          </a:solidFill>
          <a:ln w="12700">
            <a:solidFill>
              <a:srgbClr val="FFBD11"/>
            </a:solidFill>
          </a:ln>
        </p:spPr>
        <p:txBody>
          <a:bodyPr rtlCol="0" anchor="ctr" wrap="square" lIns="36576" rIns="36576" tIns="27432" bIns="27432">
            <a:noAutofit/>
          </a:bodyPr>
          <a:lstStyle/>
          <a:p>
            <a:pPr algn="ctr">
              <a:spcAft>
                <a:spcPts val="0"/>
              </a:spcAft>
            </a:pPr>
            <a:r>
              <a:rPr sz="1250" b="1" i="0">
                <a:solidFill>
                  <a:srgbClr val="1A1A1A"/>
                </a:solidFill>
                <a:latin typeface="Arial"/>
                <a:ea typeface="맑은 고딕"/>
              </a:rPr>
              <a:t>BM25</a:t>
            </a:r>
          </a:p>
        </p:txBody>
      </p:sp>
      <p:sp>
        <p:nvSpPr>
          <p:cNvPr id="52" name="Rounded Rectangle 51"/>
          <p:cNvSpPr/>
          <p:nvPr/>
        </p:nvSpPr>
        <p:spPr>
          <a:xfrm>
            <a:off x="731520" y="2286000"/>
            <a:ext cx="1709928" cy="420624"/>
          </a:xfrm>
          <a:prstGeom prst="roundRect">
            <a:avLst>
              <a:gd name="adj" fmla="val 30000"/>
            </a:avLst>
          </a:prstGeom>
          <a:solidFill>
            <a:srgbClr val="FFFFFF"/>
          </a:solidFill>
          <a:ln w="12700">
            <a:solidFill>
              <a:srgbClr val="FFBD11"/>
            </a:solidFill>
          </a:ln>
        </p:spPr>
        <p:txBody>
          <a:bodyPr rtlCol="0" anchor="ctr" wrap="square" lIns="36576" rIns="36576" tIns="27432" bIns="27432">
            <a:noAutofit/>
          </a:bodyPr>
          <a:lstStyle/>
          <a:p>
            <a:pPr algn="ctr">
              <a:spcAft>
                <a:spcPts val="0"/>
              </a:spcAft>
            </a:pPr>
            <a:r>
              <a:rPr sz="1250" b="1" i="0">
                <a:solidFill>
                  <a:srgbClr val="1A1A1A"/>
                </a:solidFill>
                <a:latin typeface="Arial"/>
                <a:ea typeface="맑은 고딕"/>
              </a:rPr>
              <a:t>텍스트 임베딩 1개</a:t>
            </a:r>
          </a:p>
        </p:txBody>
      </p:sp>
      <p:sp>
        <p:nvSpPr>
          <p:cNvPr id="53" name="Rounded Rectangle 52"/>
          <p:cNvSpPr/>
          <p:nvPr/>
        </p:nvSpPr>
        <p:spPr>
          <a:xfrm>
            <a:off x="2578608" y="2286000"/>
            <a:ext cx="1284732" cy="420624"/>
          </a:xfrm>
          <a:prstGeom prst="roundRect">
            <a:avLst>
              <a:gd name="adj" fmla="val 30000"/>
            </a:avLst>
          </a:prstGeom>
          <a:solidFill>
            <a:srgbClr val="FFFFFF"/>
          </a:solidFill>
          <a:ln w="12700">
            <a:solidFill>
              <a:srgbClr val="FFBD11"/>
            </a:solidFill>
          </a:ln>
        </p:spPr>
        <p:txBody>
          <a:bodyPr rtlCol="0" anchor="ctr" wrap="square" lIns="36576" rIns="36576" tIns="27432" bIns="27432">
            <a:noAutofit/>
          </a:bodyPr>
          <a:lstStyle/>
          <a:p>
            <a:pPr algn="ctr">
              <a:spcAft>
                <a:spcPts val="0"/>
              </a:spcAft>
            </a:pPr>
            <a:r>
              <a:rPr sz="1250" b="1" i="0">
                <a:solidFill>
                  <a:srgbClr val="1A1A1A"/>
                </a:solidFill>
                <a:latin typeface="Arial"/>
                <a:ea typeface="맑은 고딕"/>
              </a:rPr>
              <a:t>계층형 메모리</a:t>
            </a:r>
          </a:p>
        </p:txBody>
      </p:sp>
      <p:sp>
        <p:nvSpPr>
          <p:cNvPr id="54" name="Rounded Rectangle 53"/>
          <p:cNvSpPr/>
          <p:nvPr/>
        </p:nvSpPr>
        <p:spPr>
          <a:xfrm>
            <a:off x="731520" y="2834639"/>
            <a:ext cx="1709928" cy="420624"/>
          </a:xfrm>
          <a:prstGeom prst="roundRect">
            <a:avLst>
              <a:gd name="adj" fmla="val 30000"/>
            </a:avLst>
          </a:prstGeom>
          <a:solidFill>
            <a:srgbClr val="FFFFFF"/>
          </a:solidFill>
          <a:ln w="12700">
            <a:solidFill>
              <a:srgbClr val="FFBD11"/>
            </a:solidFill>
          </a:ln>
        </p:spPr>
        <p:txBody>
          <a:bodyPr rtlCol="0" anchor="ctr" wrap="square" lIns="36576" rIns="36576" tIns="27432" bIns="27432">
            <a:noAutofit/>
          </a:bodyPr>
          <a:lstStyle/>
          <a:p>
            <a:pPr algn="ctr">
              <a:spcAft>
                <a:spcPts val="0"/>
              </a:spcAft>
            </a:pPr>
            <a:r>
              <a:rPr sz="1250" b="1" i="0">
                <a:solidFill>
                  <a:srgbClr val="1A1A1A"/>
                </a:solidFill>
                <a:latin typeface="Arial"/>
                <a:ea typeface="맑은 고딕"/>
              </a:rPr>
              <a:t>단일 LLM API</a:t>
            </a:r>
          </a:p>
        </p:txBody>
      </p:sp>
      <p:sp>
        <p:nvSpPr>
          <p:cNvPr id="55" name="Rounded Rectangle 54"/>
          <p:cNvSpPr/>
          <p:nvPr/>
        </p:nvSpPr>
        <p:spPr>
          <a:xfrm>
            <a:off x="2578608" y="2834639"/>
            <a:ext cx="1993391" cy="420624"/>
          </a:xfrm>
          <a:prstGeom prst="roundRect">
            <a:avLst>
              <a:gd name="adj" fmla="val 30000"/>
            </a:avLst>
          </a:prstGeom>
          <a:solidFill>
            <a:srgbClr val="FFFFFF"/>
          </a:solidFill>
          <a:ln w="12700">
            <a:solidFill>
              <a:srgbClr val="FFBD11"/>
            </a:solidFill>
          </a:ln>
        </p:spPr>
        <p:txBody>
          <a:bodyPr rtlCol="0" anchor="ctr" wrap="square" lIns="36576" rIns="36576" tIns="27432" bIns="27432">
            <a:noAutofit/>
          </a:bodyPr>
          <a:lstStyle/>
          <a:p>
            <a:pPr algn="ctr">
              <a:spcAft>
                <a:spcPts val="0"/>
              </a:spcAft>
            </a:pPr>
            <a:r>
              <a:rPr sz="1250" b="1" i="0">
                <a:solidFill>
                  <a:srgbClr val="1A1A1A"/>
                </a:solidFill>
                <a:latin typeface="Arial"/>
                <a:ea typeface="맑은 고딕"/>
              </a:rPr>
              <a:t>2층 grounding</a:t>
            </a:r>
          </a:p>
        </p:txBody>
      </p:sp>
      <p:sp>
        <p:nvSpPr>
          <p:cNvPr id="56" name="Rounded Rectangle 55"/>
          <p:cNvSpPr/>
          <p:nvPr/>
        </p:nvSpPr>
        <p:spPr>
          <a:xfrm>
            <a:off x="548640" y="3611880"/>
            <a:ext cx="5257800" cy="1051560"/>
          </a:xfrm>
          <a:prstGeom prst="roundRect">
            <a:avLst>
              <a:gd name="adj" fmla="val 7000"/>
            </a:avLst>
          </a:prstGeom>
          <a:solidFill>
            <a:srgbClr val="F2F2F2"/>
          </a:solidFill>
          <a:ln w="15875">
            <a:solidFill>
              <a:srgbClr val="A6A6A6"/>
            </a:solidFill>
            <a:prstDash val="dash"/>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7" name="TextBox 56"/>
          <p:cNvSpPr txBox="1"/>
          <p:nvPr/>
        </p:nvSpPr>
        <p:spPr>
          <a:xfrm>
            <a:off x="731520" y="3657600"/>
            <a:ext cx="4937760" cy="320040"/>
          </a:xfrm>
          <a:prstGeom prst="rect">
            <a:avLst/>
          </a:prstGeom>
          <a:noFill/>
        </p:spPr>
        <p:txBody>
          <a:bodyPr wrap="square" lIns="0" rIns="0" tIns="27432" bIns="27432" anchor="t">
            <a:noAutofit/>
          </a:bodyPr>
          <a:lstStyle/>
          <a:p>
            <a:pPr algn="l">
              <a:spcAft>
                <a:spcPts val="0"/>
              </a:spcAft>
            </a:pPr>
            <a:r>
              <a:rPr sz="1400" b="1" i="0">
                <a:solidFill>
                  <a:srgbClr val="6B6B6B"/>
                </a:solidFill>
                <a:latin typeface="Arial"/>
                <a:ea typeface="맑은 고딕"/>
              </a:rPr>
              <a:t>OPTION</a:t>
            </a:r>
            <a:r>
              <a:rPr sz="1200" b="1" i="0">
                <a:solidFill>
                  <a:srgbClr val="6B6B6B"/>
                </a:solidFill>
                <a:latin typeface="Arial"/>
                <a:ea typeface="맑은 고딕"/>
              </a:rPr>
              <a:t>   핵심 오류가 확인될 때만 선택</a:t>
            </a:r>
          </a:p>
        </p:txBody>
      </p:sp>
      <p:sp>
        <p:nvSpPr>
          <p:cNvPr id="58" name="Rounded Rectangle 57"/>
          <p:cNvSpPr/>
          <p:nvPr/>
        </p:nvSpPr>
        <p:spPr>
          <a:xfrm>
            <a:off x="731520" y="4087368"/>
            <a:ext cx="1051560" cy="402336"/>
          </a:xfrm>
          <a:prstGeom prst="roundRect">
            <a:avLst>
              <a:gd name="adj" fmla="val 30000"/>
            </a:avLst>
          </a:prstGeom>
          <a:solidFill>
            <a:srgbClr val="FFFFFF"/>
          </a:solidFill>
          <a:ln w="12700">
            <a:solidFill>
              <a:srgbClr val="A6A6A6"/>
            </a:solidFill>
            <a:prstDash val="dash"/>
          </a:ln>
        </p:spPr>
        <p:txBody>
          <a:bodyPr rtlCol="0" anchor="ctr" wrap="square" lIns="36576" rIns="36576" tIns="27432" bIns="27432">
            <a:noAutofit/>
          </a:bodyPr>
          <a:lstStyle/>
          <a:p>
            <a:pPr algn="ctr">
              <a:spcAft>
                <a:spcPts val="0"/>
              </a:spcAft>
            </a:pPr>
            <a:r>
              <a:rPr sz="1100" b="0" i="0">
                <a:solidFill>
                  <a:srgbClr val="6B6B6B"/>
                </a:solidFill>
                <a:latin typeface="Arial"/>
                <a:ea typeface="맑은 고딕"/>
              </a:rPr>
              <a:t>이미지 인덱스</a:t>
            </a:r>
          </a:p>
        </p:txBody>
      </p:sp>
      <p:sp>
        <p:nvSpPr>
          <p:cNvPr id="59" name="Rounded Rectangle 58"/>
          <p:cNvSpPr/>
          <p:nvPr/>
        </p:nvSpPr>
        <p:spPr>
          <a:xfrm>
            <a:off x="1874519" y="4087368"/>
            <a:ext cx="1143000" cy="402336"/>
          </a:xfrm>
          <a:prstGeom prst="roundRect">
            <a:avLst>
              <a:gd name="adj" fmla="val 30000"/>
            </a:avLst>
          </a:prstGeom>
          <a:solidFill>
            <a:srgbClr val="FFFFFF"/>
          </a:solidFill>
          <a:ln w="12700">
            <a:solidFill>
              <a:srgbClr val="A6A6A6"/>
            </a:solidFill>
            <a:prstDash val="dash"/>
          </a:ln>
        </p:spPr>
        <p:txBody>
          <a:bodyPr rtlCol="0" anchor="ctr" wrap="square" lIns="36576" rIns="36576" tIns="27432" bIns="27432">
            <a:noAutofit/>
          </a:bodyPr>
          <a:lstStyle/>
          <a:p>
            <a:pPr algn="ctr">
              <a:spcAft>
                <a:spcPts val="0"/>
              </a:spcAft>
            </a:pPr>
            <a:r>
              <a:rPr sz="1100" b="0" i="0">
                <a:solidFill>
                  <a:srgbClr val="6B6B6B"/>
                </a:solidFill>
                <a:latin typeface="Arial"/>
                <a:ea typeface="맑은 고딕"/>
              </a:rPr>
              <a:t>cross-encoder</a:t>
            </a:r>
          </a:p>
        </p:txBody>
      </p:sp>
      <p:sp>
        <p:nvSpPr>
          <p:cNvPr id="60" name="Rounded Rectangle 59"/>
          <p:cNvSpPr/>
          <p:nvPr/>
        </p:nvSpPr>
        <p:spPr>
          <a:xfrm>
            <a:off x="3108960" y="4087368"/>
            <a:ext cx="1051560" cy="402336"/>
          </a:xfrm>
          <a:prstGeom prst="roundRect">
            <a:avLst>
              <a:gd name="adj" fmla="val 30000"/>
            </a:avLst>
          </a:prstGeom>
          <a:solidFill>
            <a:srgbClr val="FFFFFF"/>
          </a:solidFill>
          <a:ln w="12700">
            <a:solidFill>
              <a:srgbClr val="A6A6A6"/>
            </a:solidFill>
            <a:prstDash val="dash"/>
          </a:ln>
        </p:spPr>
        <p:txBody>
          <a:bodyPr rtlCol="0" anchor="ctr" wrap="square" lIns="36576" rIns="36576" tIns="27432" bIns="27432">
            <a:noAutofit/>
          </a:bodyPr>
          <a:lstStyle/>
          <a:p>
            <a:pPr algn="ctr">
              <a:spcAft>
                <a:spcPts val="0"/>
              </a:spcAft>
            </a:pPr>
            <a:r>
              <a:rPr sz="1100" b="0" i="0">
                <a:solidFill>
                  <a:srgbClr val="6B6B6B"/>
                </a:solidFill>
                <a:latin typeface="Arial"/>
                <a:ea typeface="맑은 고딕"/>
              </a:rPr>
              <a:t>다기관 코퍼스</a:t>
            </a:r>
          </a:p>
        </p:txBody>
      </p:sp>
      <p:sp>
        <p:nvSpPr>
          <p:cNvPr id="61" name="Rounded Rectangle 60"/>
          <p:cNvSpPr/>
          <p:nvPr/>
        </p:nvSpPr>
        <p:spPr>
          <a:xfrm>
            <a:off x="4251960" y="4087368"/>
            <a:ext cx="1371600" cy="402336"/>
          </a:xfrm>
          <a:prstGeom prst="roundRect">
            <a:avLst>
              <a:gd name="adj" fmla="val 30000"/>
            </a:avLst>
          </a:prstGeom>
          <a:solidFill>
            <a:srgbClr val="FFFFFF"/>
          </a:solidFill>
          <a:ln w="12700">
            <a:solidFill>
              <a:srgbClr val="A6A6A6"/>
            </a:solidFill>
            <a:prstDash val="dash"/>
          </a:ln>
        </p:spPr>
        <p:txBody>
          <a:bodyPr rtlCol="0" anchor="ctr" wrap="square" lIns="36576" rIns="36576" tIns="27432" bIns="27432">
            <a:noAutofit/>
          </a:bodyPr>
          <a:lstStyle/>
          <a:p>
            <a:pPr algn="ctr">
              <a:spcAft>
                <a:spcPts val="0"/>
              </a:spcAft>
            </a:pPr>
            <a:r>
              <a:rPr sz="1100" b="0" i="0">
                <a:solidFill>
                  <a:srgbClr val="6B6B6B"/>
                </a:solidFill>
                <a:latin typeface="Arial"/>
                <a:ea typeface="맑은 고딕"/>
              </a:rPr>
              <a:t>역할별 fine-tuning</a:t>
            </a:r>
          </a:p>
        </p:txBody>
      </p:sp>
      <p:sp>
        <p:nvSpPr>
          <p:cNvPr id="62" name="TextBox 61"/>
          <p:cNvSpPr txBox="1"/>
          <p:nvPr/>
        </p:nvSpPr>
        <p:spPr>
          <a:xfrm>
            <a:off x="6172200" y="1188720"/>
            <a:ext cx="5394960" cy="320040"/>
          </a:xfrm>
          <a:prstGeom prst="rect">
            <a:avLst/>
          </a:prstGeom>
          <a:noFill/>
        </p:spPr>
        <p:txBody>
          <a:bodyPr wrap="square" lIns="0" rIns="0" tIns="27432" bIns="27432" anchor="t">
            <a:noAutofit/>
          </a:bodyPr>
          <a:lstStyle/>
          <a:p>
            <a:pPr algn="l">
              <a:spcAft>
                <a:spcPts val="0"/>
              </a:spcAft>
            </a:pPr>
            <a:r>
              <a:rPr sz="1300" b="1" i="0">
                <a:solidFill>
                  <a:srgbClr val="445569"/>
                </a:solidFill>
                <a:latin typeface="Arial"/>
                <a:ea typeface="맑은 고딕"/>
              </a:rPr>
              <a:t>Core 파이프라인</a:t>
            </a:r>
          </a:p>
        </p:txBody>
      </p:sp>
      <p:sp>
        <p:nvSpPr>
          <p:cNvPr id="63" name="Oval 62"/>
          <p:cNvSpPr/>
          <p:nvPr/>
        </p:nvSpPr>
        <p:spPr>
          <a:xfrm>
            <a:off x="6172200" y="1572768"/>
            <a:ext cx="402336" cy="402336"/>
          </a:xfrm>
          <a:prstGeom prst="ellipse">
            <a:avLst/>
          </a:prstGeom>
          <a:solidFill>
            <a:srgbClr val="FFBD11"/>
          </a:solidFill>
          <a:ln>
            <a:noFill/>
          </a:ln>
        </p:spPr>
        <p:txBody>
          <a:bodyPr rtlCol="0" anchor="ctr" wrap="square" lIns="0" rIns="0" tIns="27432" bIns="27432">
            <a:noAutofit/>
          </a:bodyPr>
          <a:lstStyle/>
          <a:p>
            <a:pPr algn="ctr">
              <a:spcAft>
                <a:spcPts val="0"/>
              </a:spcAft>
            </a:pPr>
            <a:r>
              <a:rPr sz="1300" b="1" i="0">
                <a:solidFill>
                  <a:srgbClr val="1A1A1A"/>
                </a:solidFill>
                <a:latin typeface="Arial"/>
                <a:ea typeface="맑은 고딕"/>
              </a:rPr>
              <a:t>1</a:t>
            </a:r>
          </a:p>
        </p:txBody>
      </p:sp>
      <p:sp>
        <p:nvSpPr>
          <p:cNvPr id="64" name="Rounded Rectangle 63"/>
          <p:cNvSpPr/>
          <p:nvPr/>
        </p:nvSpPr>
        <p:spPr>
          <a:xfrm>
            <a:off x="6675120" y="1572768"/>
            <a:ext cx="4965192" cy="402336"/>
          </a:xfrm>
          <a:prstGeom prst="roundRect">
            <a:avLst>
              <a:gd name="adj" fmla="val 20000"/>
            </a:avLst>
          </a:prstGeom>
          <a:solidFill>
            <a:srgbClr val="F2F2F2"/>
          </a:solidFill>
          <a:ln>
            <a:noFill/>
          </a:ln>
        </p:spPr>
        <p:txBody>
          <a:bodyPr rtlCol="0" anchor="ctr" wrap="square" lIns="137160" rIns="137160" tIns="27432" bIns="27432">
            <a:noAutofit/>
          </a:bodyPr>
          <a:lstStyle/>
          <a:p>
            <a:pPr algn="l">
              <a:spcAft>
                <a:spcPts val="0"/>
              </a:spcAft>
            </a:pPr>
            <a:r>
              <a:rPr sz="1300" b="1" i="0">
                <a:solidFill>
                  <a:srgbClr val="1A1A1A"/>
                </a:solidFill>
                <a:latin typeface="Arial"/>
                <a:ea typeface="맑은 고딕"/>
              </a:rPr>
              <a:t>데이터   </a:t>
            </a:r>
            <a:r>
              <a:rPr sz="1150" b="0" i="0">
                <a:solidFill>
                  <a:srgbClr val="6B6B6B"/>
                </a:solidFill>
                <a:latin typeface="Arial"/>
                <a:ea typeface="맑은 고딕"/>
              </a:rPr>
              <a:t>yKa 작품·전시 데이터, schema</a:t>
            </a:r>
          </a:p>
        </p:txBody>
      </p:sp>
      <p:sp>
        <p:nvSpPr>
          <p:cNvPr id="65" name="Oval 64"/>
          <p:cNvSpPr/>
          <p:nvPr/>
        </p:nvSpPr>
        <p:spPr>
          <a:xfrm>
            <a:off x="6172200" y="2093976"/>
            <a:ext cx="402336" cy="402336"/>
          </a:xfrm>
          <a:prstGeom prst="ellipse">
            <a:avLst/>
          </a:prstGeom>
          <a:solidFill>
            <a:srgbClr val="FFBD11"/>
          </a:solidFill>
          <a:ln>
            <a:noFill/>
          </a:ln>
        </p:spPr>
        <p:txBody>
          <a:bodyPr rtlCol="0" anchor="ctr" wrap="square" lIns="0" rIns="0" tIns="27432" bIns="27432">
            <a:noAutofit/>
          </a:bodyPr>
          <a:lstStyle/>
          <a:p>
            <a:pPr algn="ctr">
              <a:spcAft>
                <a:spcPts val="0"/>
              </a:spcAft>
            </a:pPr>
            <a:r>
              <a:rPr sz="1300" b="1" i="0">
                <a:solidFill>
                  <a:srgbClr val="1A1A1A"/>
                </a:solidFill>
                <a:latin typeface="Arial"/>
                <a:ea typeface="맑은 고딕"/>
              </a:rPr>
              <a:t>2</a:t>
            </a:r>
          </a:p>
        </p:txBody>
      </p:sp>
      <p:sp>
        <p:nvSpPr>
          <p:cNvPr id="66" name="Rounded Rectangle 65"/>
          <p:cNvSpPr/>
          <p:nvPr/>
        </p:nvSpPr>
        <p:spPr>
          <a:xfrm>
            <a:off x="6675120" y="2093976"/>
            <a:ext cx="4965192" cy="402336"/>
          </a:xfrm>
          <a:prstGeom prst="roundRect">
            <a:avLst>
              <a:gd name="adj" fmla="val 20000"/>
            </a:avLst>
          </a:prstGeom>
          <a:solidFill>
            <a:srgbClr val="F2F2F2"/>
          </a:solidFill>
          <a:ln>
            <a:noFill/>
          </a:ln>
        </p:spPr>
        <p:txBody>
          <a:bodyPr rtlCol="0" anchor="ctr" wrap="square" lIns="137160" rIns="137160" tIns="27432" bIns="27432">
            <a:noAutofit/>
          </a:bodyPr>
          <a:lstStyle/>
          <a:p>
            <a:pPr algn="l">
              <a:spcAft>
                <a:spcPts val="0"/>
              </a:spcAft>
            </a:pPr>
            <a:r>
              <a:rPr sz="1300" b="1" i="0">
                <a:solidFill>
                  <a:srgbClr val="1A1A1A"/>
                </a:solidFill>
                <a:latin typeface="Arial"/>
                <a:ea typeface="맑은 고딕"/>
              </a:rPr>
              <a:t>추출   </a:t>
            </a:r>
            <a:r>
              <a:rPr sz="1150" b="0" i="0">
                <a:solidFill>
                  <a:srgbClr val="6B6B6B"/>
                </a:solidFill>
                <a:latin typeface="Arial"/>
                <a:ea typeface="맑은 고딕"/>
              </a:rPr>
              <a:t>Aesthetic Signal Extractor → JSON</a:t>
            </a:r>
          </a:p>
        </p:txBody>
      </p:sp>
      <p:sp>
        <p:nvSpPr>
          <p:cNvPr id="67" name="Oval 66"/>
          <p:cNvSpPr/>
          <p:nvPr/>
        </p:nvSpPr>
        <p:spPr>
          <a:xfrm>
            <a:off x="6172200" y="2615184"/>
            <a:ext cx="402336" cy="402336"/>
          </a:xfrm>
          <a:prstGeom prst="ellipse">
            <a:avLst/>
          </a:prstGeom>
          <a:solidFill>
            <a:srgbClr val="FFBD11"/>
          </a:solidFill>
          <a:ln>
            <a:noFill/>
          </a:ln>
        </p:spPr>
        <p:txBody>
          <a:bodyPr rtlCol="0" anchor="ctr" wrap="square" lIns="0" rIns="0" tIns="27432" bIns="27432">
            <a:noAutofit/>
          </a:bodyPr>
          <a:lstStyle/>
          <a:p>
            <a:pPr algn="ctr">
              <a:spcAft>
                <a:spcPts val="0"/>
              </a:spcAft>
            </a:pPr>
            <a:r>
              <a:rPr sz="1300" b="1" i="0">
                <a:solidFill>
                  <a:srgbClr val="1A1A1A"/>
                </a:solidFill>
                <a:latin typeface="Arial"/>
                <a:ea typeface="맑은 고딕"/>
              </a:rPr>
              <a:t>3</a:t>
            </a:r>
          </a:p>
        </p:txBody>
      </p:sp>
      <p:sp>
        <p:nvSpPr>
          <p:cNvPr id="68" name="Rounded Rectangle 67"/>
          <p:cNvSpPr/>
          <p:nvPr/>
        </p:nvSpPr>
        <p:spPr>
          <a:xfrm>
            <a:off x="6675120" y="2615184"/>
            <a:ext cx="4965192" cy="402336"/>
          </a:xfrm>
          <a:prstGeom prst="roundRect">
            <a:avLst>
              <a:gd name="adj" fmla="val 20000"/>
            </a:avLst>
          </a:prstGeom>
          <a:solidFill>
            <a:srgbClr val="F2F2F2"/>
          </a:solidFill>
          <a:ln>
            <a:noFill/>
          </a:ln>
        </p:spPr>
        <p:txBody>
          <a:bodyPr rtlCol="0" anchor="ctr" wrap="square" lIns="137160" rIns="137160" tIns="27432" bIns="27432">
            <a:noAutofit/>
          </a:bodyPr>
          <a:lstStyle/>
          <a:p>
            <a:pPr algn="l">
              <a:spcAft>
                <a:spcPts val="0"/>
              </a:spcAft>
            </a:pPr>
            <a:r>
              <a:rPr sz="1300" b="1" i="0">
                <a:solidFill>
                  <a:srgbClr val="1A1A1A"/>
                </a:solidFill>
                <a:latin typeface="Arial"/>
                <a:ea typeface="맑은 고딕"/>
              </a:rPr>
              <a:t>검색   </a:t>
            </a:r>
            <a:r>
              <a:rPr sz="1150" b="0" i="0">
                <a:solidFill>
                  <a:srgbClr val="6B6B6B"/>
                </a:solidFill>
                <a:latin typeface="Arial"/>
                <a:ea typeface="맑은 고딕"/>
              </a:rPr>
              <a:t>BM25 + text embedding → RRF</a:t>
            </a:r>
          </a:p>
        </p:txBody>
      </p:sp>
      <p:sp>
        <p:nvSpPr>
          <p:cNvPr id="69" name="Oval 68"/>
          <p:cNvSpPr/>
          <p:nvPr/>
        </p:nvSpPr>
        <p:spPr>
          <a:xfrm>
            <a:off x="6172200" y="3136391"/>
            <a:ext cx="402336" cy="402336"/>
          </a:xfrm>
          <a:prstGeom prst="ellipse">
            <a:avLst/>
          </a:prstGeom>
          <a:solidFill>
            <a:srgbClr val="FFBD11"/>
          </a:solidFill>
          <a:ln>
            <a:noFill/>
          </a:ln>
        </p:spPr>
        <p:txBody>
          <a:bodyPr rtlCol="0" anchor="ctr" wrap="square" lIns="0" rIns="0" tIns="27432" bIns="27432">
            <a:noAutofit/>
          </a:bodyPr>
          <a:lstStyle/>
          <a:p>
            <a:pPr algn="ctr">
              <a:spcAft>
                <a:spcPts val="0"/>
              </a:spcAft>
            </a:pPr>
            <a:r>
              <a:rPr sz="1300" b="1" i="0">
                <a:solidFill>
                  <a:srgbClr val="1A1A1A"/>
                </a:solidFill>
                <a:latin typeface="Arial"/>
                <a:ea typeface="맑은 고딕"/>
              </a:rPr>
              <a:t>4</a:t>
            </a:r>
          </a:p>
        </p:txBody>
      </p:sp>
      <p:sp>
        <p:nvSpPr>
          <p:cNvPr id="70" name="Rounded Rectangle 69"/>
          <p:cNvSpPr/>
          <p:nvPr/>
        </p:nvSpPr>
        <p:spPr>
          <a:xfrm>
            <a:off x="6675120" y="3136391"/>
            <a:ext cx="4965192" cy="402336"/>
          </a:xfrm>
          <a:prstGeom prst="roundRect">
            <a:avLst>
              <a:gd name="adj" fmla="val 20000"/>
            </a:avLst>
          </a:prstGeom>
          <a:solidFill>
            <a:srgbClr val="F2F2F2"/>
          </a:solidFill>
          <a:ln>
            <a:noFill/>
          </a:ln>
        </p:spPr>
        <p:txBody>
          <a:bodyPr rtlCol="0" anchor="ctr" wrap="square" lIns="137160" rIns="137160" tIns="27432" bIns="27432">
            <a:noAutofit/>
          </a:bodyPr>
          <a:lstStyle/>
          <a:p>
            <a:pPr algn="l">
              <a:spcAft>
                <a:spcPts val="0"/>
              </a:spcAft>
            </a:pPr>
            <a:r>
              <a:rPr sz="1300" b="1" i="0">
                <a:solidFill>
                  <a:srgbClr val="1A1A1A"/>
                </a:solidFill>
                <a:latin typeface="Arial"/>
                <a:ea typeface="맑은 고딕"/>
              </a:rPr>
              <a:t>메모리   </a:t>
            </a:r>
            <a:r>
              <a:rPr sz="1150" b="0" i="0">
                <a:solidFill>
                  <a:srgbClr val="6B6B6B"/>
                </a:solidFill>
                <a:latin typeface="Arial"/>
                <a:ea typeface="맑은 고딕"/>
              </a:rPr>
              <a:t>Session Node · Taste Cluster · Router</a:t>
            </a:r>
          </a:p>
        </p:txBody>
      </p:sp>
      <p:sp>
        <p:nvSpPr>
          <p:cNvPr id="71" name="Oval 70"/>
          <p:cNvSpPr/>
          <p:nvPr/>
        </p:nvSpPr>
        <p:spPr>
          <a:xfrm>
            <a:off x="6172200" y="3657600"/>
            <a:ext cx="402336" cy="402336"/>
          </a:xfrm>
          <a:prstGeom prst="ellipse">
            <a:avLst/>
          </a:prstGeom>
          <a:solidFill>
            <a:srgbClr val="FFBD11"/>
          </a:solidFill>
          <a:ln>
            <a:noFill/>
          </a:ln>
        </p:spPr>
        <p:txBody>
          <a:bodyPr rtlCol="0" anchor="ctr" wrap="square" lIns="0" rIns="0" tIns="27432" bIns="27432">
            <a:noAutofit/>
          </a:bodyPr>
          <a:lstStyle/>
          <a:p>
            <a:pPr algn="ctr">
              <a:spcAft>
                <a:spcPts val="0"/>
              </a:spcAft>
            </a:pPr>
            <a:r>
              <a:rPr sz="1300" b="1" i="0">
                <a:solidFill>
                  <a:srgbClr val="1A1A1A"/>
                </a:solidFill>
                <a:latin typeface="Arial"/>
                <a:ea typeface="맑은 고딕"/>
              </a:rPr>
              <a:t>5</a:t>
            </a:r>
          </a:p>
        </p:txBody>
      </p:sp>
      <p:sp>
        <p:nvSpPr>
          <p:cNvPr id="72" name="Rounded Rectangle 71"/>
          <p:cNvSpPr/>
          <p:nvPr/>
        </p:nvSpPr>
        <p:spPr>
          <a:xfrm>
            <a:off x="6675120" y="3657600"/>
            <a:ext cx="4965192" cy="402336"/>
          </a:xfrm>
          <a:prstGeom prst="roundRect">
            <a:avLst>
              <a:gd name="adj" fmla="val 20000"/>
            </a:avLst>
          </a:prstGeom>
          <a:solidFill>
            <a:srgbClr val="F2F2F2"/>
          </a:solidFill>
          <a:ln>
            <a:noFill/>
          </a:ln>
        </p:spPr>
        <p:txBody>
          <a:bodyPr rtlCol="0" anchor="ctr" wrap="square" lIns="137160" rIns="137160" tIns="27432" bIns="27432">
            <a:noAutofit/>
          </a:bodyPr>
          <a:lstStyle/>
          <a:p>
            <a:pPr algn="l">
              <a:spcAft>
                <a:spcPts val="0"/>
              </a:spcAft>
            </a:pPr>
            <a:r>
              <a:rPr sz="1300" b="1" i="0">
                <a:solidFill>
                  <a:srgbClr val="1A1A1A"/>
                </a:solidFill>
                <a:latin typeface="Arial"/>
                <a:ea typeface="맑은 고딕"/>
              </a:rPr>
              <a:t>grounding   </a:t>
            </a:r>
            <a:r>
              <a:rPr sz="1150" b="0" i="0">
                <a:solidFill>
                  <a:srgbClr val="6B6B6B"/>
                </a:solidFill>
                <a:latin typeface="Arial"/>
                <a:ea typeface="맑은 고딕"/>
              </a:rPr>
              <a:t>Artwork Layer + Exhibition Layer</a:t>
            </a:r>
          </a:p>
        </p:txBody>
      </p:sp>
      <p:sp>
        <p:nvSpPr>
          <p:cNvPr id="73" name="Oval 72"/>
          <p:cNvSpPr/>
          <p:nvPr/>
        </p:nvSpPr>
        <p:spPr>
          <a:xfrm>
            <a:off x="6172200" y="4178807"/>
            <a:ext cx="402336" cy="402336"/>
          </a:xfrm>
          <a:prstGeom prst="ellipse">
            <a:avLst/>
          </a:prstGeom>
          <a:solidFill>
            <a:srgbClr val="445569"/>
          </a:solidFill>
          <a:ln>
            <a:noFill/>
          </a:ln>
        </p:spPr>
        <p:txBody>
          <a:bodyPr rtlCol="0" anchor="ctr" wrap="square" lIns="0" rIns="0" tIns="27432" bIns="27432">
            <a:noAutofit/>
          </a:bodyPr>
          <a:lstStyle/>
          <a:p>
            <a:pPr algn="ctr">
              <a:spcAft>
                <a:spcPts val="0"/>
              </a:spcAft>
            </a:pPr>
            <a:r>
              <a:rPr sz="1300" b="1" i="0">
                <a:solidFill>
                  <a:srgbClr val="FFFFFF"/>
                </a:solidFill>
                <a:latin typeface="Arial"/>
                <a:ea typeface="맑은 고딕"/>
              </a:rPr>
              <a:t>6</a:t>
            </a:r>
          </a:p>
        </p:txBody>
      </p:sp>
      <p:sp>
        <p:nvSpPr>
          <p:cNvPr id="74" name="Rounded Rectangle 73"/>
          <p:cNvSpPr/>
          <p:nvPr/>
        </p:nvSpPr>
        <p:spPr>
          <a:xfrm>
            <a:off x="6675120" y="4178807"/>
            <a:ext cx="4965192" cy="402336"/>
          </a:xfrm>
          <a:prstGeom prst="roundRect">
            <a:avLst>
              <a:gd name="adj" fmla="val 20000"/>
            </a:avLst>
          </a:prstGeom>
          <a:solidFill>
            <a:srgbClr val="F2F2F2"/>
          </a:solidFill>
          <a:ln>
            <a:noFill/>
          </a:ln>
        </p:spPr>
        <p:txBody>
          <a:bodyPr rtlCol="0" anchor="ctr" wrap="square" lIns="137160" rIns="137160" tIns="27432" bIns="27432">
            <a:noAutofit/>
          </a:bodyPr>
          <a:lstStyle/>
          <a:p>
            <a:pPr algn="l">
              <a:spcAft>
                <a:spcPts val="0"/>
              </a:spcAft>
            </a:pPr>
            <a:r>
              <a:rPr sz="1300" b="1" i="0">
                <a:solidFill>
                  <a:srgbClr val="1A1A1A"/>
                </a:solidFill>
                <a:latin typeface="Arial"/>
                <a:ea typeface="맑은 고딕"/>
              </a:rPr>
              <a:t>평가   </a:t>
            </a:r>
            <a:r>
              <a:rPr sz="1150" b="0" i="0">
                <a:solidFill>
                  <a:srgbClr val="6B6B6B"/>
                </a:solidFill>
                <a:latin typeface="Arial"/>
                <a:ea typeface="맑은 고딕"/>
              </a:rPr>
              <a:t>NDCG@10 · CR@10 · Trec · UCR</a:t>
            </a:r>
          </a:p>
        </p:txBody>
      </p:sp>
      <p:sp>
        <p:nvSpPr>
          <p:cNvPr id="75" name="Rounded Rectangle 74"/>
          <p:cNvSpPr/>
          <p:nvPr/>
        </p:nvSpPr>
        <p:spPr>
          <a:xfrm>
            <a:off x="548640" y="4846320"/>
            <a:ext cx="11091672" cy="457200"/>
          </a:xfrm>
          <a:prstGeom prst="roundRect">
            <a:avLst>
              <a:gd name="adj" fmla="val 20000"/>
            </a:avLst>
          </a:prstGeom>
          <a:solidFill>
            <a:srgbClr val="E6EAF0"/>
          </a:solidFill>
          <a:ln>
            <a:noFill/>
          </a:ln>
        </p:spPr>
        <p:txBody>
          <a:bodyPr rtlCol="0" anchor="ctr" wrap="square" lIns="182880" rIns="182880" tIns="27432" bIns="27432">
            <a:noAutofit/>
          </a:bodyPr>
          <a:lstStyle/>
          <a:p>
            <a:pPr algn="l">
              <a:spcAft>
                <a:spcPts val="0"/>
              </a:spcAft>
            </a:pPr>
            <a:r>
              <a:rPr sz="1300" b="1" i="0">
                <a:solidFill>
                  <a:srgbClr val="445569"/>
                </a:solidFill>
                <a:latin typeface="Arial"/>
                <a:ea typeface="맑은 고딕"/>
              </a:rPr>
              <a:t>운영 원칙   </a:t>
            </a:r>
            <a:r>
              <a:rPr sz="1350" b="1" i="0">
                <a:solidFill>
                  <a:srgbClr val="1A1A1A"/>
                </a:solidFill>
                <a:latin typeface="Arial"/>
                <a:ea typeface="맑은 고딕"/>
              </a:rPr>
              <a:t>새 기능은 NDCG@10, CR@10, Trec, UCR 중 하나에 기여할 때만 Core에 포함한다.</a:t>
            </a:r>
          </a:p>
        </p:txBody>
      </p:sp>
      <p:sp>
        <p:nvSpPr>
          <p:cNvPr id="76" name="TextBox 75"/>
          <p:cNvSpPr txBox="1"/>
          <p:nvPr/>
        </p:nvSpPr>
        <p:spPr>
          <a:xfrm>
            <a:off x="548640" y="5486400"/>
            <a:ext cx="1554480" cy="731520"/>
          </a:xfrm>
          <a:prstGeom prst="rect">
            <a:avLst/>
          </a:prstGeom>
          <a:noFill/>
        </p:spPr>
        <p:txBody>
          <a:bodyPr wrap="square" lIns="0" rIns="0" tIns="27432" bIns="27432" anchor="ctr">
            <a:noAutofit/>
          </a:bodyPr>
          <a:lstStyle/>
          <a:p>
            <a:pPr algn="l">
              <a:spcAft>
                <a:spcPts val="0"/>
              </a:spcAft>
            </a:pPr>
            <a:r>
              <a:rPr sz="1400" b="1" i="0">
                <a:solidFill>
                  <a:srgbClr val="1A1A1A"/>
                </a:solidFill>
                <a:latin typeface="Arial"/>
                <a:ea typeface="맑은 고딕"/>
              </a:rPr>
              <a:t>Go / No-Go</a:t>
            </a:r>
          </a:p>
          <a:p>
            <a:pPr algn="l">
              <a:spcAft>
                <a:spcPts val="0"/>
              </a:spcAft>
            </a:pPr>
            <a:r>
              <a:rPr sz="1100" b="0" i="0">
                <a:solidFill>
                  <a:srgbClr val="6B6B6B"/>
                </a:solidFill>
                <a:latin typeface="Arial"/>
                <a:ea typeface="맑은 고딕"/>
              </a:rPr>
              <a:t>4문항 체크</a:t>
            </a:r>
          </a:p>
        </p:txBody>
      </p:sp>
      <p:sp>
        <p:nvSpPr>
          <p:cNvPr id="77" name="Rounded Rectangle 76"/>
          <p:cNvSpPr/>
          <p:nvPr/>
        </p:nvSpPr>
        <p:spPr>
          <a:xfrm>
            <a:off x="2103120" y="5468112"/>
            <a:ext cx="2286000" cy="749808"/>
          </a:xfrm>
          <a:prstGeom prst="roundRect">
            <a:avLst>
              <a:gd name="adj" fmla="val 12000"/>
            </a:avLst>
          </a:prstGeom>
          <a:solidFill>
            <a:srgbClr val="FFFFFF"/>
          </a:solidFill>
          <a:ln w="12700">
            <a:solidFill>
              <a:srgbClr val="D0D0D0"/>
            </a:solidFill>
          </a:ln>
        </p:spPr>
        <p:txBody>
          <a:bodyPr rtlCol="0" anchor="ctr" wrap="square" lIns="109728" rIns="109728" tIns="27432" bIns="27432">
            <a:noAutofit/>
          </a:bodyPr>
          <a:lstStyle/>
          <a:p>
            <a:pPr algn="l">
              <a:spcAft>
                <a:spcPts val="0"/>
              </a:spcAft>
            </a:pPr>
            <a:r>
              <a:rPr sz="1200" b="1" i="0">
                <a:solidFill>
                  <a:srgbClr val="FFBD11"/>
                </a:solidFill>
                <a:latin typeface="Arial"/>
                <a:ea typeface="맑은 고딕"/>
              </a:rPr>
              <a:t>Q1  </a:t>
            </a:r>
            <a:r>
              <a:rPr sz="1200" b="1" i="0">
                <a:solidFill>
                  <a:srgbClr val="1A1A1A"/>
                </a:solidFill>
                <a:latin typeface="Arial"/>
                <a:ea typeface="맑은 고딕"/>
              </a:rPr>
              <a:t>네 지표 중 하나에 기여하는가?</a:t>
            </a:r>
          </a:p>
        </p:txBody>
      </p:sp>
      <p:sp>
        <p:nvSpPr>
          <p:cNvPr id="78" name="Rounded Rectangle 77"/>
          <p:cNvSpPr/>
          <p:nvPr/>
        </p:nvSpPr>
        <p:spPr>
          <a:xfrm>
            <a:off x="4498848" y="5468112"/>
            <a:ext cx="2286000" cy="749808"/>
          </a:xfrm>
          <a:prstGeom prst="roundRect">
            <a:avLst>
              <a:gd name="adj" fmla="val 12000"/>
            </a:avLst>
          </a:prstGeom>
          <a:solidFill>
            <a:srgbClr val="FFFFFF"/>
          </a:solidFill>
          <a:ln w="12700">
            <a:solidFill>
              <a:srgbClr val="D0D0D0"/>
            </a:solidFill>
          </a:ln>
        </p:spPr>
        <p:txBody>
          <a:bodyPr rtlCol="0" anchor="ctr" wrap="square" lIns="109728" rIns="109728" tIns="27432" bIns="27432">
            <a:noAutofit/>
          </a:bodyPr>
          <a:lstStyle/>
          <a:p>
            <a:pPr algn="l">
              <a:spcAft>
                <a:spcPts val="0"/>
              </a:spcAft>
            </a:pPr>
            <a:r>
              <a:rPr sz="1200" b="1" i="0">
                <a:solidFill>
                  <a:srgbClr val="FFBD11"/>
                </a:solidFill>
                <a:latin typeface="Arial"/>
                <a:ea typeface="맑은 고딕"/>
              </a:rPr>
              <a:t>Q2  </a:t>
            </a:r>
            <a:r>
              <a:rPr sz="1200" b="1" i="0">
                <a:solidFill>
                  <a:srgbClr val="1A1A1A"/>
                </a:solidFill>
                <a:latin typeface="Arial"/>
                <a:ea typeface="맑은 고딕"/>
              </a:rPr>
              <a:t>blocker를 해결하는가?</a:t>
            </a:r>
          </a:p>
        </p:txBody>
      </p:sp>
      <p:sp>
        <p:nvSpPr>
          <p:cNvPr id="79" name="Rounded Rectangle 78"/>
          <p:cNvSpPr/>
          <p:nvPr/>
        </p:nvSpPr>
        <p:spPr>
          <a:xfrm>
            <a:off x="6894576" y="5468112"/>
            <a:ext cx="2286000" cy="749808"/>
          </a:xfrm>
          <a:prstGeom prst="roundRect">
            <a:avLst>
              <a:gd name="adj" fmla="val 12000"/>
            </a:avLst>
          </a:prstGeom>
          <a:solidFill>
            <a:srgbClr val="FFFFFF"/>
          </a:solidFill>
          <a:ln w="12700">
            <a:solidFill>
              <a:srgbClr val="D0D0D0"/>
            </a:solidFill>
          </a:ln>
        </p:spPr>
        <p:txBody>
          <a:bodyPr rtlCol="0" anchor="ctr" wrap="square" lIns="109728" rIns="109728" tIns="27432" bIns="27432">
            <a:noAutofit/>
          </a:bodyPr>
          <a:lstStyle/>
          <a:p>
            <a:pPr algn="l">
              <a:spcAft>
                <a:spcPts val="0"/>
              </a:spcAft>
            </a:pPr>
            <a:r>
              <a:rPr sz="1200" b="1" i="0">
                <a:solidFill>
                  <a:srgbClr val="FFBD11"/>
                </a:solidFill>
                <a:latin typeface="Arial"/>
                <a:ea typeface="맑은 고딕"/>
              </a:rPr>
              <a:t>Q3  </a:t>
            </a:r>
            <a:r>
              <a:rPr sz="1200" b="1" i="0">
                <a:solidFill>
                  <a:srgbClr val="1A1A1A"/>
                </a:solidFill>
                <a:latin typeface="Arial"/>
                <a:ea typeface="맑은 고딕"/>
              </a:rPr>
              <a:t>새 모델 없이 해결되는가?</a:t>
            </a:r>
          </a:p>
        </p:txBody>
      </p:sp>
      <p:sp>
        <p:nvSpPr>
          <p:cNvPr id="80" name="Rounded Rectangle 79"/>
          <p:cNvSpPr/>
          <p:nvPr/>
        </p:nvSpPr>
        <p:spPr>
          <a:xfrm>
            <a:off x="9290304" y="5468112"/>
            <a:ext cx="2286000" cy="749808"/>
          </a:xfrm>
          <a:prstGeom prst="roundRect">
            <a:avLst>
              <a:gd name="adj" fmla="val 12000"/>
            </a:avLst>
          </a:prstGeom>
          <a:solidFill>
            <a:srgbClr val="FFFFFF"/>
          </a:solidFill>
          <a:ln w="12700">
            <a:solidFill>
              <a:srgbClr val="D0D0D0"/>
            </a:solidFill>
          </a:ln>
        </p:spPr>
        <p:txBody>
          <a:bodyPr rtlCol="0" anchor="ctr" wrap="square" lIns="109728" rIns="109728" tIns="27432" bIns="27432">
            <a:noAutofit/>
          </a:bodyPr>
          <a:lstStyle/>
          <a:p>
            <a:pPr algn="l">
              <a:spcAft>
                <a:spcPts val="0"/>
              </a:spcAft>
            </a:pPr>
            <a:r>
              <a:rPr sz="1200" b="1" i="0">
                <a:solidFill>
                  <a:srgbClr val="FFBD11"/>
                </a:solidFill>
                <a:latin typeface="Arial"/>
                <a:ea typeface="맑은 고딕"/>
              </a:rPr>
              <a:t>Q4  </a:t>
            </a:r>
            <a:r>
              <a:rPr sz="1200" b="1" i="0">
                <a:solidFill>
                  <a:srgbClr val="1A1A1A"/>
                </a:solidFill>
                <a:latin typeface="Arial"/>
                <a:ea typeface="맑은 고딕"/>
              </a:rPr>
              <a:t>fresh clone에서 재현되는가?</a:t>
            </a:r>
          </a:p>
        </p:txBody>
      </p:sp>
    </p:spTree>
    <p:extLst>
      <p:ext uri="{BB962C8B-B14F-4D97-AF65-F5344CB8AC3E}">
        <p14:creationId xmlns:p14="http://schemas.microsoft.com/office/powerpoint/2010/main" val="3605434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4"/>
          <p:cNvSpPr txBox="1"/>
          <p:nvPr/>
        </p:nvSpPr>
        <p:spPr>
          <a:xfrm>
            <a:off x="17463" y="-27384"/>
            <a:ext cx="1160462" cy="11079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6600" b="1" dirty="0">
                <a:solidFill>
                  <a:srgbClr val="FFBD11"/>
                </a:solidFill>
                <a:latin typeface="+mj-lt"/>
                <a:ea typeface="Arial"/>
                <a:cs typeface="Arial"/>
                <a:sym typeface="Arial"/>
              </a:rPr>
              <a:t>0</a:t>
            </a:r>
            <a:r>
              <a:rPr lang="en-US" altLang="ko-KR" sz="6600" b="1" dirty="0">
                <a:solidFill>
                  <a:srgbClr val="FFBD11"/>
                </a:solidFill>
                <a:latin typeface="+mj-lt"/>
                <a:ea typeface="Arial"/>
                <a:cs typeface="Arial"/>
                <a:sym typeface="Arial"/>
              </a:rPr>
              <a:t>3</a:t>
            </a:r>
            <a:r>
              <a:rPr lang="ko-KR" sz="4000" b="1" dirty="0">
                <a:solidFill>
                  <a:srgbClr val="445569"/>
                </a:solidFill>
                <a:latin typeface="+mj-lt"/>
                <a:ea typeface="Arial"/>
                <a:cs typeface="Arial"/>
                <a:sym typeface="Arial"/>
              </a:rPr>
              <a:t> </a:t>
            </a:r>
            <a:endParaRPr sz="4000" b="1" dirty="0">
              <a:solidFill>
                <a:srgbClr val="445569"/>
              </a:solidFill>
              <a:latin typeface="+mj-lt"/>
              <a:ea typeface="Arial"/>
              <a:cs typeface="Arial"/>
              <a:sym typeface="Arial"/>
            </a:endParaRPr>
          </a:p>
        </p:txBody>
      </p:sp>
      <p:sp>
        <p:nvSpPr>
          <p:cNvPr id="45" name="Google Shape;45;p4"/>
          <p:cNvSpPr txBox="1"/>
          <p:nvPr/>
        </p:nvSpPr>
        <p:spPr>
          <a:xfrm>
            <a:off x="984110" y="126483"/>
            <a:ext cx="64008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chemeClr val="tx1"/>
                </a:solidFill>
                <a:latin typeface="+mj-lt"/>
                <a:ea typeface="맑은 고딕"/>
                <a:cs typeface="Calibri"/>
                <a:sym typeface="Calibri"/>
              </a:rPr>
              <a:t>프로젝트 수행 절차 및 방법</a:t>
            </a:r>
            <a:endParaRPr dirty="0">
              <a:solidFill>
                <a:schemeClr val="tx1"/>
              </a:solidFill>
              <a:latin typeface="+mj-lt"/>
            </a:endParaRPr>
          </a:p>
        </p:txBody>
      </p:sp>
      <p:cxnSp>
        <p:nvCxnSpPr>
          <p:cNvPr id="46" name="Google Shape;46;p4"/>
          <p:cNvCxnSpPr>
            <a:cxnSpLocks/>
          </p:cNvCxnSpPr>
          <p:nvPr/>
        </p:nvCxnSpPr>
        <p:spPr>
          <a:xfrm flipV="1">
            <a:off x="1107936" y="526593"/>
            <a:ext cx="10827390" cy="13164"/>
          </a:xfrm>
          <a:prstGeom prst="straightConnector1">
            <a:avLst/>
          </a:prstGeom>
          <a:noFill/>
          <a:ln w="31750" cap="flat" cmpd="sng">
            <a:solidFill>
              <a:srgbClr val="FFBD11"/>
            </a:solidFill>
            <a:prstDash val="solid"/>
            <a:miter lim="800000"/>
            <a:headEnd type="none" w="sm" len="sm"/>
            <a:tailEnd type="none" w="sm" len="sm"/>
          </a:ln>
        </p:spPr>
      </p:cxnSp>
      <p:sp>
        <p:nvSpPr>
          <p:cNvPr id="9" name="Google Shape;124;p8">
            <a:extLst>
              <a:ext uri="{FF2B5EF4-FFF2-40B4-BE49-F238E27FC236}">
                <a16:creationId xmlns:a16="http://schemas.microsoft.com/office/drawing/2014/main" id="{043106DF-ECD6-42C2-8B7A-2D53A210501B}"/>
              </a:ext>
            </a:extLst>
          </p:cNvPr>
          <p:cNvSpPr txBox="1"/>
          <p:nvPr/>
        </p:nvSpPr>
        <p:spPr>
          <a:xfrm>
            <a:off x="1075852" y="615955"/>
            <a:ext cx="108813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rgbClr val="1A1A1A"/>
                </a:solidFill>
                <a:latin typeface="+mj-lt"/>
                <a:ea typeface="맑은 고딕"/>
                <a:cs typeface="Calibri"/>
                <a:sym typeface="Calibri"/>
              </a:rPr>
              <a:t>검색은 합치지 않고 분리한 뒤 순위에서 융합한다</a:t>
            </a:r>
            <a:endParaRPr dirty="0">
              <a:solidFill>
                <a:schemeClr val="tx1"/>
              </a:solidFill>
              <a:latin typeface="+mj-lt"/>
            </a:endParaRPr>
          </a:p>
        </p:txBody>
      </p:sp>
      <p:sp>
        <p:nvSpPr>
          <p:cNvPr id="47" name="Rounded Rectangle 46"/>
          <p:cNvSpPr/>
          <p:nvPr/>
        </p:nvSpPr>
        <p:spPr>
          <a:xfrm>
            <a:off x="548640" y="1280160"/>
            <a:ext cx="1097280" cy="384048"/>
          </a:xfrm>
          <a:prstGeom prst="roundRect">
            <a:avLst>
              <a:gd name="adj" fmla="val 30000"/>
            </a:avLst>
          </a:prstGeom>
          <a:solidFill>
            <a:srgbClr val="445569"/>
          </a:solidFill>
          <a:ln>
            <a:noFill/>
          </a:ln>
        </p:spPr>
        <p:txBody>
          <a:bodyPr rtlCol="0" anchor="ctr" wrap="square" lIns="36576" rIns="36576" tIns="27432" bIns="27432">
            <a:noAutofit/>
          </a:bodyPr>
          <a:lstStyle/>
          <a:p>
            <a:pPr algn="ctr">
              <a:spcAft>
                <a:spcPts val="0"/>
              </a:spcAft>
            </a:pPr>
            <a:r>
              <a:rPr sz="1200" b="1" i="0">
                <a:solidFill>
                  <a:srgbClr val="FFFFFF"/>
                </a:solidFill>
                <a:latin typeface="Arial"/>
                <a:ea typeface="맑은 고딕"/>
              </a:rPr>
              <a:t>입력 예시</a:t>
            </a:r>
          </a:p>
        </p:txBody>
      </p:sp>
      <p:sp>
        <p:nvSpPr>
          <p:cNvPr id="48" name="TextBox 47"/>
          <p:cNvSpPr txBox="1"/>
          <p:nvPr/>
        </p:nvSpPr>
        <p:spPr>
          <a:xfrm>
            <a:off x="1783080" y="1216152"/>
            <a:ext cx="9784080" cy="502920"/>
          </a:xfrm>
          <a:prstGeom prst="rect">
            <a:avLst/>
          </a:prstGeom>
          <a:noFill/>
        </p:spPr>
        <p:txBody>
          <a:bodyPr wrap="square" lIns="0" rIns="0" tIns="27432" bIns="27432" anchor="ctr">
            <a:noAutofit/>
          </a:bodyPr>
          <a:lstStyle/>
          <a:p>
            <a:pPr algn="l">
              <a:spcAft>
                <a:spcPts val="0"/>
              </a:spcAft>
            </a:pPr>
            <a:r>
              <a:rPr sz="1800" b="1" i="0">
                <a:solidFill>
                  <a:srgbClr val="1A1A1A"/>
                </a:solidFill>
                <a:latin typeface="Arial"/>
                <a:ea typeface="맑은 고딕"/>
              </a:rPr>
              <a:t>“색이 강하지 않고 표면이 거친 그림을 혼자 조용히 보고 싶어요.”</a:t>
            </a:r>
          </a:p>
        </p:txBody>
      </p:sp>
      <p:sp>
        <p:nvSpPr>
          <p:cNvPr id="49" name="Rounded Rectangle 48"/>
          <p:cNvSpPr/>
          <p:nvPr/>
        </p:nvSpPr>
        <p:spPr>
          <a:xfrm>
            <a:off x="548640" y="1965960"/>
            <a:ext cx="3703320" cy="2697480"/>
          </a:xfrm>
          <a:prstGeom prst="roundRect">
            <a:avLst>
              <a:gd name="adj" fmla="val 5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0" name="TextBox 49"/>
          <p:cNvSpPr txBox="1"/>
          <p:nvPr/>
        </p:nvSpPr>
        <p:spPr>
          <a:xfrm>
            <a:off x="685800" y="2011680"/>
            <a:ext cx="3474720" cy="502920"/>
          </a:xfrm>
          <a:prstGeom prst="rect">
            <a:avLst/>
          </a:prstGeom>
          <a:noFill/>
        </p:spPr>
        <p:txBody>
          <a:bodyPr wrap="square" lIns="0" rIns="0" tIns="27432" bIns="27432" anchor="t">
            <a:noAutofit/>
          </a:bodyPr>
          <a:lstStyle/>
          <a:p>
            <a:pPr algn="l">
              <a:spcAft>
                <a:spcPts val="0"/>
              </a:spcAft>
            </a:pPr>
            <a:r>
              <a:rPr sz="1350" b="1" i="0">
                <a:solidFill>
                  <a:srgbClr val="1A1A1A"/>
                </a:solidFill>
                <a:latin typeface="Arial"/>
                <a:ea typeface="맑은 고딕"/>
              </a:rPr>
              <a:t>Aesthetic Signal Extractor</a:t>
            </a:r>
          </a:p>
          <a:p>
            <a:pPr algn="l">
              <a:spcAft>
                <a:spcPts val="0"/>
              </a:spcAft>
            </a:pPr>
            <a:r>
              <a:rPr sz="1000" b="0" i="0">
                <a:solidFill>
                  <a:srgbClr val="6B6B6B"/>
                </a:solidFill>
                <a:latin typeface="Arial"/>
                <a:ea typeface="맑은 고딕"/>
              </a:rPr>
              <a:t>색채 · 질감 · 분위기 · 동반자 · 관람 의도 + evidence span</a:t>
            </a:r>
          </a:p>
        </p:txBody>
      </p:sp>
      <p:sp>
        <p:nvSpPr>
          <p:cNvPr id="51" name="Rounded Rectangle 50"/>
          <p:cNvSpPr/>
          <p:nvPr/>
        </p:nvSpPr>
        <p:spPr>
          <a:xfrm>
            <a:off x="685800" y="2606040"/>
            <a:ext cx="3429000" cy="1920240"/>
          </a:xfrm>
          <a:prstGeom prst="roundRect">
            <a:avLst>
              <a:gd name="adj" fmla="val 5000"/>
            </a:avLst>
          </a:prstGeom>
          <a:solidFill>
            <a:srgbClr val="1F2633"/>
          </a:solidFill>
          <a:ln>
            <a:noFill/>
          </a:ln>
        </p:spPr>
        <p:txBody>
          <a:bodyPr rtlCol="0" anchor="ctr" wrap="square" lIns="137160" rIns="137160" tIns="27432" bIns="27432">
            <a:noAutofit/>
          </a:bodyPr>
          <a:lstStyle/>
          <a:p>
            <a:pPr algn="l">
              <a:spcAft>
                <a:spcPts val="0"/>
              </a:spcAft>
            </a:pPr>
            <a:r>
              <a:rPr sz="1050" b="0" i="0">
                <a:solidFill>
                  <a:srgbClr val="9AA5B8"/>
                </a:solidFill>
                <a:latin typeface="Courier New"/>
                <a:ea typeface="맑은 고딕"/>
              </a:rPr>
              <a:t>{</a:t>
            </a:r>
          </a:p>
          <a:p>
            <a:pPr algn="l">
              <a:spcAft>
                <a:spcPts val="0"/>
              </a:spcAft>
            </a:pPr>
            <a:r>
              <a:rPr sz="1050" b="0" i="0">
                <a:solidFill>
                  <a:srgbClr val="E8E8E8"/>
                </a:solidFill>
                <a:latin typeface="Courier New"/>
                <a:ea typeface="맑은 고딕"/>
              </a:rPr>
              <a:t>  "color": "low_saturation",</a:t>
            </a:r>
          </a:p>
          <a:p>
            <a:pPr algn="l">
              <a:spcAft>
                <a:spcPts val="0"/>
              </a:spcAft>
            </a:pPr>
            <a:r>
              <a:rPr sz="1050" b="0" i="0">
                <a:solidFill>
                  <a:srgbClr val="E8E8E8"/>
                </a:solidFill>
                <a:latin typeface="Courier New"/>
                <a:ea typeface="맑은 고딕"/>
              </a:rPr>
              <a:t>  "texture": "rough",</a:t>
            </a:r>
          </a:p>
          <a:p>
            <a:pPr algn="l">
              <a:spcAft>
                <a:spcPts val="0"/>
              </a:spcAft>
            </a:pPr>
            <a:r>
              <a:rPr sz="1050" b="0" i="0">
                <a:solidFill>
                  <a:srgbClr val="E8E8E8"/>
                </a:solidFill>
                <a:latin typeface="Courier New"/>
                <a:ea typeface="맑은 고딕"/>
              </a:rPr>
              <a:t>  "companion": "alone",</a:t>
            </a:r>
          </a:p>
          <a:p>
            <a:pPr algn="l">
              <a:spcAft>
                <a:spcPts val="0"/>
              </a:spcAft>
            </a:pPr>
            <a:r>
              <a:rPr sz="1050" b="0" i="0">
                <a:solidFill>
                  <a:srgbClr val="E8E8E8"/>
                </a:solidFill>
                <a:latin typeface="Courier New"/>
                <a:ea typeface="맑은 고딕"/>
              </a:rPr>
              <a:t>  "intent": "contemplation",</a:t>
            </a:r>
          </a:p>
          <a:p>
            <a:pPr algn="l">
              <a:spcAft>
                <a:spcPts val="0"/>
              </a:spcAft>
            </a:pPr>
            <a:r>
              <a:rPr sz="1050" b="0" i="0">
                <a:solidFill>
                  <a:srgbClr val="E8E8E8"/>
                </a:solidFill>
                <a:latin typeface="Courier New"/>
                <a:ea typeface="맑은 고딕"/>
              </a:rPr>
              <a:t>  "evidence_span": "색이 강하지 않고…"</a:t>
            </a:r>
          </a:p>
          <a:p>
            <a:pPr algn="l">
              <a:spcAft>
                <a:spcPts val="0"/>
              </a:spcAft>
            </a:pPr>
            <a:r>
              <a:rPr sz="1050" b="0" i="0">
                <a:solidFill>
                  <a:srgbClr val="9AA5B8"/>
                </a:solidFill>
                <a:latin typeface="Courier New"/>
                <a:ea typeface="맑은 고딕"/>
              </a:rPr>
              <a:t>}</a:t>
            </a:r>
          </a:p>
        </p:txBody>
      </p:sp>
      <p:sp>
        <p:nvSpPr>
          <p:cNvPr id="52" name="Right Arrow 51"/>
          <p:cNvSpPr/>
          <p:nvPr/>
        </p:nvSpPr>
        <p:spPr>
          <a:xfrm>
            <a:off x="4343400" y="3154680"/>
            <a:ext cx="365760" cy="329184"/>
          </a:xfrm>
          <a:prstGeom prst="rightArrow">
            <a:avLst/>
          </a:prstGeom>
          <a:solidFill>
            <a:srgbClr val="FFBD11"/>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3" name="Rounded Rectangle 52"/>
          <p:cNvSpPr/>
          <p:nvPr/>
        </p:nvSpPr>
        <p:spPr>
          <a:xfrm>
            <a:off x="4800600" y="1965960"/>
            <a:ext cx="2331720" cy="1234440"/>
          </a:xfrm>
          <a:prstGeom prst="roundRect">
            <a:avLst>
              <a:gd name="adj" fmla="val 8000"/>
            </a:avLst>
          </a:prstGeom>
          <a:solidFill>
            <a:srgbClr val="E6EAF0"/>
          </a:solidFill>
          <a:ln>
            <a:noFill/>
          </a:ln>
        </p:spPr>
        <p:txBody>
          <a:bodyPr rtlCol="0" anchor="ctr" wrap="square" lIns="54864" rIns="54864" tIns="27432" bIns="27432">
            <a:noAutofit/>
          </a:bodyPr>
          <a:lstStyle/>
          <a:p>
            <a:pPr algn="ctr">
              <a:spcAft>
                <a:spcPts val="0"/>
              </a:spcAft>
            </a:pPr>
            <a:r>
              <a:rPr sz="1600" b="1" i="0">
                <a:solidFill>
                  <a:srgbClr val="1A1A1A"/>
                </a:solidFill>
                <a:latin typeface="Arial"/>
                <a:ea typeface="맑은 고딕"/>
              </a:rPr>
              <a:t>BM25</a:t>
            </a:r>
          </a:p>
          <a:p>
            <a:pPr algn="ctr">
              <a:spcAft>
                <a:spcPts val="300"/>
              </a:spcAft>
            </a:pPr>
            <a:r>
              <a:rPr sz="1050" b="1" i="0">
                <a:solidFill>
                  <a:srgbClr val="445569"/>
                </a:solidFill>
                <a:latin typeface="Arial"/>
                <a:ea typeface="맑은 고딕"/>
              </a:rPr>
              <a:t>lexical index</a:t>
            </a:r>
          </a:p>
          <a:p>
            <a:pPr algn="ctr">
              <a:spcAft>
                <a:spcPts val="0"/>
              </a:spcAft>
            </a:pPr>
            <a:r>
              <a:rPr sz="1050" b="0" i="0">
                <a:solidFill>
                  <a:srgbClr val="6B6B6B"/>
                </a:solidFill>
                <a:latin typeface="Arial"/>
                <a:ea typeface="맑은 고딕"/>
              </a:rPr>
              <a:t>정확한 어휘·메타데이터 일치</a:t>
            </a:r>
          </a:p>
        </p:txBody>
      </p:sp>
      <p:sp>
        <p:nvSpPr>
          <p:cNvPr id="54" name="Rounded Rectangle 53"/>
          <p:cNvSpPr/>
          <p:nvPr/>
        </p:nvSpPr>
        <p:spPr>
          <a:xfrm>
            <a:off x="4800600" y="3429000"/>
            <a:ext cx="2331720" cy="1234440"/>
          </a:xfrm>
          <a:prstGeom prst="roundRect">
            <a:avLst>
              <a:gd name="adj" fmla="val 8000"/>
            </a:avLst>
          </a:prstGeom>
          <a:solidFill>
            <a:srgbClr val="E6EAF0"/>
          </a:solidFill>
          <a:ln>
            <a:noFill/>
          </a:ln>
        </p:spPr>
        <p:txBody>
          <a:bodyPr rtlCol="0" anchor="ctr" wrap="square" lIns="54864" rIns="54864" tIns="27432" bIns="27432">
            <a:noAutofit/>
          </a:bodyPr>
          <a:lstStyle/>
          <a:p>
            <a:pPr algn="ctr">
              <a:spcAft>
                <a:spcPts val="0"/>
              </a:spcAft>
            </a:pPr>
            <a:r>
              <a:rPr sz="1600" b="1" i="0">
                <a:solidFill>
                  <a:srgbClr val="1A1A1A"/>
                </a:solidFill>
                <a:latin typeface="Arial"/>
                <a:ea typeface="맑은 고딕"/>
              </a:rPr>
              <a:t>Dense</a:t>
            </a:r>
          </a:p>
          <a:p>
            <a:pPr algn="ctr">
              <a:spcAft>
                <a:spcPts val="300"/>
              </a:spcAft>
            </a:pPr>
            <a:r>
              <a:rPr sz="1050" b="1" i="0">
                <a:solidFill>
                  <a:srgbClr val="445569"/>
                </a:solidFill>
                <a:latin typeface="Arial"/>
                <a:ea typeface="맑은 고딕"/>
              </a:rPr>
              <a:t>text embedding index</a:t>
            </a:r>
          </a:p>
          <a:p>
            <a:pPr algn="ctr">
              <a:spcAft>
                <a:spcPts val="0"/>
              </a:spcAft>
            </a:pPr>
            <a:r>
              <a:rPr sz="1050" b="0" i="0">
                <a:solidFill>
                  <a:srgbClr val="6B6B6B"/>
                </a:solidFill>
                <a:latin typeface="Arial"/>
                <a:ea typeface="맑은 고딕"/>
              </a:rPr>
              <a:t>표현이 달라도 의미가 가까운 후보</a:t>
            </a:r>
          </a:p>
        </p:txBody>
      </p:sp>
      <p:sp>
        <p:nvSpPr>
          <p:cNvPr id="55" name="TextBox 54"/>
          <p:cNvSpPr txBox="1"/>
          <p:nvPr/>
        </p:nvSpPr>
        <p:spPr>
          <a:xfrm>
            <a:off x="4800600" y="3172968"/>
            <a:ext cx="2331720" cy="274320"/>
          </a:xfrm>
          <a:prstGeom prst="rect">
            <a:avLst/>
          </a:prstGeom>
          <a:noFill/>
        </p:spPr>
        <p:txBody>
          <a:bodyPr wrap="square" lIns="0" rIns="0" tIns="27432" bIns="27432" anchor="ctr">
            <a:noAutofit/>
          </a:bodyPr>
          <a:lstStyle/>
          <a:p>
            <a:pPr algn="ctr">
              <a:spcAft>
                <a:spcPts val="0"/>
              </a:spcAft>
            </a:pPr>
            <a:r>
              <a:rPr sz="950" b="1" i="0">
                <a:solidFill>
                  <a:srgbClr val="445569"/>
                </a:solidFill>
                <a:latin typeface="Arial"/>
                <a:ea typeface="맑은 고딕"/>
              </a:rPr>
              <a:t>병렬 실행 · 인덱스 분리</a:t>
            </a:r>
          </a:p>
        </p:txBody>
      </p:sp>
      <p:cxnSp>
        <p:nvCxnSpPr>
          <p:cNvPr id="56" name="Connector 55"/>
          <p:cNvCxnSpPr/>
          <p:nvPr/>
        </p:nvCxnSpPr>
        <p:spPr>
          <a:xfrm>
            <a:off x="7150608" y="2578608"/>
            <a:ext cx="484632" cy="576072"/>
          </a:xfrm>
          <a:prstGeom prst="line">
            <a:avLst/>
          </a:prstGeom>
          <a:ln w="22225">
            <a:solidFill>
              <a:srgbClr val="445569"/>
            </a:solidFill>
            <a:tailEnd type="triangle" w="med" len="med"/>
          </a:ln>
        </p:spPr>
      </p:cxnSp>
      <p:cxnSp>
        <p:nvCxnSpPr>
          <p:cNvPr id="57" name="Connector 56"/>
          <p:cNvCxnSpPr/>
          <p:nvPr/>
        </p:nvCxnSpPr>
        <p:spPr>
          <a:xfrm flipV="1">
            <a:off x="7150608" y="3474720"/>
            <a:ext cx="484632" cy="566928"/>
          </a:xfrm>
          <a:prstGeom prst="line">
            <a:avLst/>
          </a:prstGeom>
          <a:ln w="22225">
            <a:solidFill>
              <a:srgbClr val="445569"/>
            </a:solidFill>
            <a:tailEnd type="triangle" w="med" len="med"/>
          </a:ln>
        </p:spPr>
      </p:cxnSp>
      <p:sp>
        <p:nvSpPr>
          <p:cNvPr id="58" name="Oval 57"/>
          <p:cNvSpPr/>
          <p:nvPr/>
        </p:nvSpPr>
        <p:spPr>
          <a:xfrm>
            <a:off x="7680960" y="2606040"/>
            <a:ext cx="1508760" cy="1463040"/>
          </a:xfrm>
          <a:prstGeom prst="ellipse">
            <a:avLst/>
          </a:prstGeom>
          <a:solidFill>
            <a:srgbClr val="FFBD11"/>
          </a:solidFill>
          <a:ln>
            <a:noFill/>
          </a:ln>
        </p:spPr>
        <p:txBody>
          <a:bodyPr rtlCol="0" anchor="ctr" wrap="square" lIns="0" rIns="0" tIns="27432" bIns="27432">
            <a:noAutofit/>
          </a:bodyPr>
          <a:lstStyle/>
          <a:p>
            <a:pPr algn="ctr">
              <a:spcAft>
                <a:spcPts val="0"/>
              </a:spcAft>
            </a:pPr>
            <a:r>
              <a:rPr sz="2000" b="1" i="0">
                <a:solidFill>
                  <a:srgbClr val="1A1A1A"/>
                </a:solidFill>
                <a:latin typeface="Arial"/>
                <a:ea typeface="맑은 고딕"/>
              </a:rPr>
              <a:t>RRF</a:t>
            </a:r>
          </a:p>
          <a:p>
            <a:pPr algn="ctr">
              <a:spcAft>
                <a:spcPts val="0"/>
              </a:spcAft>
            </a:pPr>
            <a:r>
              <a:rPr sz="1050" b="1" i="0">
                <a:solidFill>
                  <a:srgbClr val="1A1A1A"/>
                </a:solidFill>
                <a:latin typeface="Arial"/>
                <a:ea typeface="맑은 고딕"/>
              </a:rPr>
              <a:t>rank-level
fusion</a:t>
            </a:r>
          </a:p>
        </p:txBody>
      </p:sp>
      <p:sp>
        <p:nvSpPr>
          <p:cNvPr id="59" name="Right Arrow 58"/>
          <p:cNvSpPr/>
          <p:nvPr/>
        </p:nvSpPr>
        <p:spPr>
          <a:xfrm>
            <a:off x="9253728" y="3154680"/>
            <a:ext cx="347472" cy="329184"/>
          </a:xfrm>
          <a:prstGeom prst="rightArrow">
            <a:avLst/>
          </a:prstGeom>
          <a:solidFill>
            <a:srgbClr val="FFBD11"/>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0" name="Rounded Rectangle 59"/>
          <p:cNvSpPr/>
          <p:nvPr/>
        </p:nvSpPr>
        <p:spPr>
          <a:xfrm>
            <a:off x="9674352" y="1965960"/>
            <a:ext cx="1965960" cy="2697480"/>
          </a:xfrm>
          <a:prstGeom prst="roundRect">
            <a:avLst>
              <a:gd name="adj" fmla="val 6000"/>
            </a:avLst>
          </a:prstGeom>
          <a:solidFill>
            <a:srgbClr val="FFFFFF"/>
          </a:solidFill>
          <a:ln w="12700">
            <a:solidFill>
              <a:srgbClr val="D0D0D0"/>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1" name="TextBox 60"/>
          <p:cNvSpPr txBox="1"/>
          <p:nvPr/>
        </p:nvSpPr>
        <p:spPr>
          <a:xfrm>
            <a:off x="9738360" y="2011680"/>
            <a:ext cx="1828800" cy="347472"/>
          </a:xfrm>
          <a:prstGeom prst="rect">
            <a:avLst/>
          </a:prstGeom>
          <a:noFill/>
        </p:spPr>
        <p:txBody>
          <a:bodyPr wrap="square" lIns="0" rIns="0" tIns="27432" bIns="27432" anchor="t">
            <a:noAutofit/>
          </a:bodyPr>
          <a:lstStyle/>
          <a:p>
            <a:pPr algn="ctr">
              <a:spcAft>
                <a:spcPts val="0"/>
              </a:spcAft>
            </a:pPr>
            <a:r>
              <a:rPr sz="1500" b="1" i="0">
                <a:solidFill>
                  <a:srgbClr val="1A1A1A"/>
                </a:solidFill>
                <a:latin typeface="Arial"/>
                <a:ea typeface="맑은 고딕"/>
              </a:rPr>
              <a:t>Top-10</a:t>
            </a:r>
          </a:p>
        </p:txBody>
      </p:sp>
      <p:sp>
        <p:nvSpPr>
          <p:cNvPr id="62" name="TextBox 61"/>
          <p:cNvSpPr txBox="1"/>
          <p:nvPr/>
        </p:nvSpPr>
        <p:spPr>
          <a:xfrm>
            <a:off x="9802368" y="2423160"/>
            <a:ext cx="320040" cy="256032"/>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1</a:t>
            </a:r>
          </a:p>
        </p:txBody>
      </p:sp>
      <p:sp>
        <p:nvSpPr>
          <p:cNvPr id="63" name="Rounded Rectangle 62"/>
          <p:cNvSpPr/>
          <p:nvPr/>
        </p:nvSpPr>
        <p:spPr>
          <a:xfrm>
            <a:off x="10122408" y="2478024"/>
            <a:ext cx="1325880" cy="155448"/>
          </a:xfrm>
          <a:prstGeom prst="roundRect">
            <a:avLst>
              <a:gd name="adj" fmla="val 50000"/>
            </a:avLst>
          </a:prstGeom>
          <a:solidFill>
            <a:srgbClr val="445569"/>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4" name="TextBox 63"/>
          <p:cNvSpPr txBox="1"/>
          <p:nvPr/>
        </p:nvSpPr>
        <p:spPr>
          <a:xfrm>
            <a:off x="9802368" y="2752344"/>
            <a:ext cx="320040" cy="256032"/>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2</a:t>
            </a:r>
          </a:p>
        </p:txBody>
      </p:sp>
      <p:sp>
        <p:nvSpPr>
          <p:cNvPr id="65" name="Rounded Rectangle 64"/>
          <p:cNvSpPr/>
          <p:nvPr/>
        </p:nvSpPr>
        <p:spPr>
          <a:xfrm>
            <a:off x="10122408" y="2807208"/>
            <a:ext cx="1161288" cy="155448"/>
          </a:xfrm>
          <a:prstGeom prst="roundRect">
            <a:avLst>
              <a:gd name="adj" fmla="val 50000"/>
            </a:avLst>
          </a:prstGeom>
          <a:solidFill>
            <a:srgbClr val="C9D1DD"/>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6" name="TextBox 65"/>
          <p:cNvSpPr txBox="1"/>
          <p:nvPr/>
        </p:nvSpPr>
        <p:spPr>
          <a:xfrm>
            <a:off x="9802368" y="3081528"/>
            <a:ext cx="320040" cy="256032"/>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3</a:t>
            </a:r>
          </a:p>
        </p:txBody>
      </p:sp>
      <p:sp>
        <p:nvSpPr>
          <p:cNvPr id="67" name="Rounded Rectangle 66"/>
          <p:cNvSpPr/>
          <p:nvPr/>
        </p:nvSpPr>
        <p:spPr>
          <a:xfrm>
            <a:off x="10122408" y="3136392"/>
            <a:ext cx="996695" cy="155448"/>
          </a:xfrm>
          <a:prstGeom prst="roundRect">
            <a:avLst>
              <a:gd name="adj" fmla="val 50000"/>
            </a:avLst>
          </a:prstGeom>
          <a:solidFill>
            <a:srgbClr val="C9D1DD"/>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8" name="TextBox 67"/>
          <p:cNvSpPr txBox="1"/>
          <p:nvPr/>
        </p:nvSpPr>
        <p:spPr>
          <a:xfrm>
            <a:off x="9802368" y="3410712"/>
            <a:ext cx="320040" cy="256032"/>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4</a:t>
            </a:r>
          </a:p>
        </p:txBody>
      </p:sp>
      <p:sp>
        <p:nvSpPr>
          <p:cNvPr id="69" name="Rounded Rectangle 68"/>
          <p:cNvSpPr/>
          <p:nvPr/>
        </p:nvSpPr>
        <p:spPr>
          <a:xfrm>
            <a:off x="10122408" y="3465576"/>
            <a:ext cx="832103" cy="155448"/>
          </a:xfrm>
          <a:prstGeom prst="roundRect">
            <a:avLst>
              <a:gd name="adj" fmla="val 50000"/>
            </a:avLst>
          </a:prstGeom>
          <a:solidFill>
            <a:srgbClr val="C9D1DD"/>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0" name="TextBox 69"/>
          <p:cNvSpPr txBox="1"/>
          <p:nvPr/>
        </p:nvSpPr>
        <p:spPr>
          <a:xfrm>
            <a:off x="9802368" y="3739896"/>
            <a:ext cx="320040" cy="256032"/>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5</a:t>
            </a:r>
          </a:p>
        </p:txBody>
      </p:sp>
      <p:sp>
        <p:nvSpPr>
          <p:cNvPr id="71" name="Rounded Rectangle 70"/>
          <p:cNvSpPr/>
          <p:nvPr/>
        </p:nvSpPr>
        <p:spPr>
          <a:xfrm>
            <a:off x="10122408" y="3794759"/>
            <a:ext cx="667512" cy="155448"/>
          </a:xfrm>
          <a:prstGeom prst="roundRect">
            <a:avLst>
              <a:gd name="adj" fmla="val 50000"/>
            </a:avLst>
          </a:prstGeom>
          <a:solidFill>
            <a:srgbClr val="C9D1DD"/>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2" name="TextBox 71"/>
          <p:cNvSpPr txBox="1"/>
          <p:nvPr/>
        </p:nvSpPr>
        <p:spPr>
          <a:xfrm>
            <a:off x="9802368" y="4069080"/>
            <a:ext cx="1737360" cy="228600"/>
          </a:xfrm>
          <a:prstGeom prst="rect">
            <a:avLst/>
          </a:prstGeom>
          <a:noFill/>
        </p:spPr>
        <p:txBody>
          <a:bodyPr wrap="square" lIns="0" rIns="0" tIns="27432" bIns="27432" anchor="t">
            <a:noAutofit/>
          </a:bodyPr>
          <a:lstStyle/>
          <a:p>
            <a:pPr algn="l">
              <a:spcAft>
                <a:spcPts val="0"/>
              </a:spcAft>
            </a:pPr>
            <a:r>
              <a:rPr sz="1050" b="1" i="0">
                <a:solidFill>
                  <a:srgbClr val="445569"/>
                </a:solidFill>
                <a:latin typeface="Arial"/>
                <a:ea typeface="맑은 고딕"/>
              </a:rPr>
              <a:t>⋯ 10</a:t>
            </a:r>
          </a:p>
        </p:txBody>
      </p:sp>
      <p:sp>
        <p:nvSpPr>
          <p:cNvPr id="73" name="Rounded Rectangle 72"/>
          <p:cNvSpPr/>
          <p:nvPr/>
        </p:nvSpPr>
        <p:spPr>
          <a:xfrm>
            <a:off x="9802368" y="4297680"/>
            <a:ext cx="1737360" cy="292608"/>
          </a:xfrm>
          <a:prstGeom prst="roundRect">
            <a:avLst>
              <a:gd name="adj" fmla="val 30000"/>
            </a:avLst>
          </a:prstGeom>
          <a:solidFill>
            <a:srgbClr val="FFF3CC"/>
          </a:solidFill>
          <a:ln w="12700">
            <a:solidFill>
              <a:srgbClr val="FFBD11"/>
            </a:solidFill>
          </a:ln>
        </p:spPr>
        <p:txBody>
          <a:bodyPr rtlCol="0" anchor="ctr" wrap="square" lIns="36576" rIns="36576" tIns="27432" bIns="27432">
            <a:noAutofit/>
          </a:bodyPr>
          <a:lstStyle/>
          <a:p>
            <a:pPr algn="ctr">
              <a:spcAft>
                <a:spcPts val="0"/>
              </a:spcAft>
            </a:pPr>
            <a:r>
              <a:rPr sz="1000" b="1" i="0">
                <a:solidFill>
                  <a:srgbClr val="1A1A1A"/>
                </a:solidFill>
                <a:latin typeface="Arial"/>
                <a:ea typeface="맑은 고딕"/>
              </a:rPr>
              <a:t>NDCG@10 측정 지점</a:t>
            </a:r>
          </a:p>
        </p:txBody>
      </p:sp>
      <p:sp>
        <p:nvSpPr>
          <p:cNvPr id="74" name="Rounded Rectangle 73"/>
          <p:cNvSpPr/>
          <p:nvPr/>
        </p:nvSpPr>
        <p:spPr>
          <a:xfrm>
            <a:off x="548640" y="4937760"/>
            <a:ext cx="11091672" cy="685800"/>
          </a:xfrm>
          <a:prstGeom prst="roundRect">
            <a:avLst>
              <a:gd name="adj" fmla="val 15000"/>
            </a:avLst>
          </a:prstGeom>
          <a:solidFill>
            <a:srgbClr val="FFF3CC"/>
          </a:solidFill>
          <a:ln>
            <a:noFill/>
          </a:ln>
        </p:spPr>
        <p:txBody>
          <a:bodyPr rtlCol="0" anchor="ctr" wrap="square" lIns="182880" rIns="182880" tIns="27432" bIns="27432">
            <a:noAutofit/>
          </a:bodyPr>
          <a:lstStyle/>
          <a:p>
            <a:pPr algn="ctr">
              <a:spcAft>
                <a:spcPts val="0"/>
              </a:spcAft>
            </a:pPr>
            <a:r>
              <a:rPr sz="1400" b="1" i="0">
                <a:solidFill>
                  <a:srgbClr val="445569"/>
                </a:solidFill>
                <a:latin typeface="Arial"/>
                <a:ea typeface="맑은 고딕"/>
              </a:rPr>
              <a:t>원칙   </a:t>
            </a:r>
            <a:r>
              <a:rPr sz="1500" b="1" i="0">
                <a:solidFill>
                  <a:srgbClr val="1A1A1A"/>
                </a:solidFill>
                <a:latin typeface="Arial"/>
                <a:ea typeface="맑은 고딕"/>
              </a:rPr>
              <a:t>서로 다른 임베딩 공간의 벡터를 직접 더하지 않고, 인덱스를 분리한 뒤 순위 수준에서 결합한다.</a:t>
            </a:r>
          </a:p>
        </p:txBody>
      </p:sp>
      <p:sp>
        <p:nvSpPr>
          <p:cNvPr id="75" name="TextBox 74"/>
          <p:cNvSpPr txBox="1"/>
          <p:nvPr/>
        </p:nvSpPr>
        <p:spPr>
          <a:xfrm>
            <a:off x="548640" y="5806440"/>
            <a:ext cx="11064240" cy="320040"/>
          </a:xfrm>
          <a:prstGeom prst="rect">
            <a:avLst/>
          </a:prstGeom>
          <a:noFill/>
        </p:spPr>
        <p:txBody>
          <a:bodyPr wrap="square" lIns="0" rIns="0" tIns="27432" bIns="27432" anchor="t">
            <a:noAutofit/>
          </a:bodyPr>
          <a:lstStyle/>
          <a:p>
            <a:pPr algn="l">
              <a:spcAft>
                <a:spcPts val="0"/>
              </a:spcAft>
            </a:pPr>
            <a:r>
              <a:rPr sz="1050" b="0" i="0">
                <a:solidFill>
                  <a:srgbClr val="6B6B6B"/>
                </a:solidFill>
                <a:latin typeface="Arial"/>
                <a:ea typeface="맑은 고딕"/>
              </a:rPr>
              <a:t>RRF 결과 수치는 [TO-MEASURE] — 실측 전에는 성능 주장을 하지 않습니다.</a:t>
            </a:r>
          </a:p>
        </p:txBody>
      </p:sp>
    </p:spTree>
    <p:extLst>
      <p:ext uri="{BB962C8B-B14F-4D97-AF65-F5344CB8AC3E}">
        <p14:creationId xmlns:p14="http://schemas.microsoft.com/office/powerpoint/2010/main" val="3605434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4"/>
          <p:cNvSpPr txBox="1"/>
          <p:nvPr/>
        </p:nvSpPr>
        <p:spPr>
          <a:xfrm>
            <a:off x="17463" y="-27384"/>
            <a:ext cx="1160462" cy="11079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6600" b="1" dirty="0">
                <a:solidFill>
                  <a:srgbClr val="FFBD11"/>
                </a:solidFill>
                <a:latin typeface="+mj-lt"/>
                <a:ea typeface="Arial"/>
                <a:cs typeface="Arial"/>
                <a:sym typeface="Arial"/>
              </a:rPr>
              <a:t>0</a:t>
            </a:r>
            <a:r>
              <a:rPr lang="en-US" altLang="ko-KR" sz="6600" b="1" dirty="0">
                <a:solidFill>
                  <a:srgbClr val="FFBD11"/>
                </a:solidFill>
                <a:latin typeface="+mj-lt"/>
                <a:ea typeface="Arial"/>
                <a:cs typeface="Arial"/>
                <a:sym typeface="Arial"/>
              </a:rPr>
              <a:t>3</a:t>
            </a:r>
            <a:r>
              <a:rPr lang="ko-KR" sz="4000" b="1" dirty="0">
                <a:solidFill>
                  <a:srgbClr val="445569"/>
                </a:solidFill>
                <a:latin typeface="+mj-lt"/>
                <a:ea typeface="Arial"/>
                <a:cs typeface="Arial"/>
                <a:sym typeface="Arial"/>
              </a:rPr>
              <a:t> </a:t>
            </a:r>
            <a:endParaRPr sz="4000" b="1" dirty="0">
              <a:solidFill>
                <a:srgbClr val="445569"/>
              </a:solidFill>
              <a:latin typeface="+mj-lt"/>
              <a:ea typeface="Arial"/>
              <a:cs typeface="Arial"/>
              <a:sym typeface="Arial"/>
            </a:endParaRPr>
          </a:p>
        </p:txBody>
      </p:sp>
      <p:sp>
        <p:nvSpPr>
          <p:cNvPr id="45" name="Google Shape;45;p4"/>
          <p:cNvSpPr txBox="1"/>
          <p:nvPr/>
        </p:nvSpPr>
        <p:spPr>
          <a:xfrm>
            <a:off x="984110" y="126483"/>
            <a:ext cx="64008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chemeClr val="tx1"/>
                </a:solidFill>
                <a:latin typeface="+mj-lt"/>
                <a:ea typeface="맑은 고딕"/>
                <a:cs typeface="Calibri"/>
                <a:sym typeface="Calibri"/>
              </a:rPr>
              <a:t>프로젝트 수행 절차 및 방법</a:t>
            </a:r>
            <a:endParaRPr dirty="0">
              <a:solidFill>
                <a:schemeClr val="tx1"/>
              </a:solidFill>
              <a:latin typeface="+mj-lt"/>
            </a:endParaRPr>
          </a:p>
        </p:txBody>
      </p:sp>
      <p:cxnSp>
        <p:nvCxnSpPr>
          <p:cNvPr id="46" name="Google Shape;46;p4"/>
          <p:cNvCxnSpPr>
            <a:cxnSpLocks/>
          </p:cNvCxnSpPr>
          <p:nvPr/>
        </p:nvCxnSpPr>
        <p:spPr>
          <a:xfrm flipV="1">
            <a:off x="1107936" y="526593"/>
            <a:ext cx="10827390" cy="13164"/>
          </a:xfrm>
          <a:prstGeom prst="straightConnector1">
            <a:avLst/>
          </a:prstGeom>
          <a:noFill/>
          <a:ln w="31750" cap="flat" cmpd="sng">
            <a:solidFill>
              <a:srgbClr val="FFBD11"/>
            </a:solidFill>
            <a:prstDash val="solid"/>
            <a:miter lim="800000"/>
            <a:headEnd type="none" w="sm" len="sm"/>
            <a:tailEnd type="none" w="sm" len="sm"/>
          </a:ln>
        </p:spPr>
      </p:cxnSp>
      <p:sp>
        <p:nvSpPr>
          <p:cNvPr id="9" name="Google Shape;124;p8">
            <a:extLst>
              <a:ext uri="{FF2B5EF4-FFF2-40B4-BE49-F238E27FC236}">
                <a16:creationId xmlns:a16="http://schemas.microsoft.com/office/drawing/2014/main" id="{043106DF-ECD6-42C2-8B7A-2D53A210501B}"/>
              </a:ext>
            </a:extLst>
          </p:cNvPr>
          <p:cNvSpPr txBox="1"/>
          <p:nvPr/>
        </p:nvSpPr>
        <p:spPr>
          <a:xfrm>
            <a:off x="1075852" y="615955"/>
            <a:ext cx="108813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rgbClr val="1A1A1A"/>
                </a:solidFill>
                <a:latin typeface="+mj-lt"/>
                <a:ea typeface="맑은 고딕"/>
                <a:cs typeface="Calibri"/>
                <a:sym typeface="Calibri"/>
              </a:rPr>
              <a:t>기억은 저장, 조직, 선택의 세 층으로 나눈다</a:t>
            </a:r>
            <a:endParaRPr dirty="0">
              <a:solidFill>
                <a:schemeClr val="tx1"/>
              </a:solidFill>
              <a:latin typeface="+mj-lt"/>
            </a:endParaRPr>
          </a:p>
        </p:txBody>
      </p:sp>
      <p:sp>
        <p:nvSpPr>
          <p:cNvPr id="47" name="Rounded Rectangle 46"/>
          <p:cNvSpPr/>
          <p:nvPr/>
        </p:nvSpPr>
        <p:spPr>
          <a:xfrm>
            <a:off x="548640" y="1234440"/>
            <a:ext cx="1920240" cy="713232"/>
          </a:xfrm>
          <a:prstGeom prst="roundRect">
            <a:avLst>
              <a:gd name="adj" fmla="val 12000"/>
            </a:avLst>
          </a:prstGeom>
          <a:solidFill>
            <a:srgbClr val="F2F2F2"/>
          </a:solidFill>
          <a:ln>
            <a:noFill/>
          </a:ln>
        </p:spPr>
        <p:txBody>
          <a:bodyPr rtlCol="0" anchor="ctr" wrap="square" lIns="36576" rIns="36576" tIns="27432" bIns="27432">
            <a:noAutofit/>
          </a:bodyPr>
          <a:lstStyle/>
          <a:p>
            <a:pPr algn="ctr">
              <a:spcAft>
                <a:spcPts val="0"/>
              </a:spcAft>
            </a:pPr>
            <a:r>
              <a:rPr sz="1400" b="1" i="0">
                <a:solidFill>
                  <a:srgbClr val="1A1A1A"/>
                </a:solidFill>
                <a:latin typeface="Arial"/>
                <a:ea typeface="맑은 고딕"/>
              </a:rPr>
              <a:t>Conversation</a:t>
            </a:r>
          </a:p>
        </p:txBody>
      </p:sp>
      <p:sp>
        <p:nvSpPr>
          <p:cNvPr id="48" name="TextBox 47"/>
          <p:cNvSpPr txBox="1"/>
          <p:nvPr/>
        </p:nvSpPr>
        <p:spPr>
          <a:xfrm>
            <a:off x="548640" y="1984248"/>
            <a:ext cx="1920240" cy="274320"/>
          </a:xfrm>
          <a:prstGeom prst="rect">
            <a:avLst/>
          </a:prstGeom>
          <a:noFill/>
        </p:spPr>
        <p:txBody>
          <a:bodyPr wrap="square" lIns="0" rIns="0" tIns="27432" bIns="27432" anchor="t">
            <a:noAutofit/>
          </a:bodyPr>
          <a:lstStyle/>
          <a:p>
            <a:pPr algn="ctr">
              <a:spcAft>
                <a:spcPts val="0"/>
              </a:spcAft>
            </a:pPr>
            <a:r>
              <a:rPr sz="1050" b="0" i="0">
                <a:solidFill>
                  <a:srgbClr val="6B6B6B"/>
                </a:solidFill>
                <a:latin typeface="Arial"/>
                <a:ea typeface="맑은 고딕"/>
              </a:rPr>
              <a:t>관람 대화</a:t>
            </a:r>
          </a:p>
        </p:txBody>
      </p:sp>
      <p:sp>
        <p:nvSpPr>
          <p:cNvPr id="49" name="Right Arrow 48"/>
          <p:cNvSpPr/>
          <p:nvPr/>
        </p:nvSpPr>
        <p:spPr>
          <a:xfrm>
            <a:off x="2514600" y="1435608"/>
            <a:ext cx="292608" cy="292608"/>
          </a:xfrm>
          <a:prstGeom prst="rightArrow">
            <a:avLst/>
          </a:prstGeom>
          <a:solidFill>
            <a:srgbClr val="FFBD11"/>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0" name="Rounded Rectangle 49"/>
          <p:cNvSpPr/>
          <p:nvPr/>
        </p:nvSpPr>
        <p:spPr>
          <a:xfrm>
            <a:off x="2841498" y="1234440"/>
            <a:ext cx="1920240" cy="713232"/>
          </a:xfrm>
          <a:prstGeom prst="roundRect">
            <a:avLst>
              <a:gd name="adj" fmla="val 12000"/>
            </a:avLst>
          </a:prstGeom>
          <a:solidFill>
            <a:srgbClr val="445569"/>
          </a:solidFill>
          <a:ln>
            <a:noFill/>
          </a:ln>
        </p:spPr>
        <p:txBody>
          <a:bodyPr rtlCol="0" anchor="ctr" wrap="square" lIns="36576" rIns="36576" tIns="27432" bIns="27432">
            <a:noAutofit/>
          </a:bodyPr>
          <a:lstStyle/>
          <a:p>
            <a:pPr algn="ctr">
              <a:spcAft>
                <a:spcPts val="0"/>
              </a:spcAft>
            </a:pPr>
            <a:r>
              <a:rPr sz="1050" b="1" i="0">
                <a:solidFill>
                  <a:srgbClr val="FFBD11"/>
                </a:solidFill>
                <a:latin typeface="Arial"/>
                <a:ea typeface="맑은 고딕"/>
              </a:rPr>
              <a:t>저장</a:t>
            </a:r>
          </a:p>
          <a:p>
            <a:pPr algn="ctr">
              <a:spcAft>
                <a:spcPts val="0"/>
              </a:spcAft>
            </a:pPr>
            <a:r>
              <a:rPr sz="1400" b="1" i="0">
                <a:solidFill>
                  <a:srgbClr val="FFFFFF"/>
                </a:solidFill>
                <a:latin typeface="Arial"/>
                <a:ea typeface="맑은 고딕"/>
              </a:rPr>
              <a:t>Session Node</a:t>
            </a:r>
          </a:p>
        </p:txBody>
      </p:sp>
      <p:sp>
        <p:nvSpPr>
          <p:cNvPr id="51" name="TextBox 50"/>
          <p:cNvSpPr txBox="1"/>
          <p:nvPr/>
        </p:nvSpPr>
        <p:spPr>
          <a:xfrm>
            <a:off x="2841498" y="1984248"/>
            <a:ext cx="1920240" cy="274320"/>
          </a:xfrm>
          <a:prstGeom prst="rect">
            <a:avLst/>
          </a:prstGeom>
          <a:noFill/>
        </p:spPr>
        <p:txBody>
          <a:bodyPr wrap="square" lIns="0" rIns="0" tIns="27432" bIns="27432" anchor="t">
            <a:noAutofit/>
          </a:bodyPr>
          <a:lstStyle/>
          <a:p>
            <a:pPr algn="ctr">
              <a:spcAft>
                <a:spcPts val="0"/>
              </a:spcAft>
            </a:pPr>
            <a:r>
              <a:rPr sz="1050" b="0" i="0">
                <a:solidFill>
                  <a:srgbClr val="6B6B6B"/>
                </a:solidFill>
                <a:latin typeface="Arial"/>
                <a:ea typeface="맑은 고딕"/>
              </a:rPr>
              <a:t>발화 + evidence span 보존</a:t>
            </a:r>
          </a:p>
        </p:txBody>
      </p:sp>
      <p:sp>
        <p:nvSpPr>
          <p:cNvPr id="52" name="Right Arrow 51"/>
          <p:cNvSpPr/>
          <p:nvPr/>
        </p:nvSpPr>
        <p:spPr>
          <a:xfrm>
            <a:off x="4807458" y="1435608"/>
            <a:ext cx="292608" cy="292608"/>
          </a:xfrm>
          <a:prstGeom prst="rightArrow">
            <a:avLst/>
          </a:prstGeom>
          <a:solidFill>
            <a:srgbClr val="FFBD11"/>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3" name="Rounded Rectangle 52"/>
          <p:cNvSpPr/>
          <p:nvPr/>
        </p:nvSpPr>
        <p:spPr>
          <a:xfrm>
            <a:off x="5134355" y="1234440"/>
            <a:ext cx="1920240" cy="713232"/>
          </a:xfrm>
          <a:prstGeom prst="roundRect">
            <a:avLst>
              <a:gd name="adj" fmla="val 12000"/>
            </a:avLst>
          </a:prstGeom>
          <a:solidFill>
            <a:srgbClr val="445569"/>
          </a:solidFill>
          <a:ln>
            <a:noFill/>
          </a:ln>
        </p:spPr>
        <p:txBody>
          <a:bodyPr rtlCol="0" anchor="ctr" wrap="square" lIns="36576" rIns="36576" tIns="27432" bIns="27432">
            <a:noAutofit/>
          </a:bodyPr>
          <a:lstStyle/>
          <a:p>
            <a:pPr algn="ctr">
              <a:spcAft>
                <a:spcPts val="0"/>
              </a:spcAft>
            </a:pPr>
            <a:r>
              <a:rPr sz="1050" b="1" i="0">
                <a:solidFill>
                  <a:srgbClr val="FFBD11"/>
                </a:solidFill>
                <a:latin typeface="Arial"/>
                <a:ea typeface="맑은 고딕"/>
              </a:rPr>
              <a:t>조직</a:t>
            </a:r>
          </a:p>
          <a:p>
            <a:pPr algn="ctr">
              <a:spcAft>
                <a:spcPts val="0"/>
              </a:spcAft>
            </a:pPr>
            <a:r>
              <a:rPr sz="1400" b="1" i="0">
                <a:solidFill>
                  <a:srgbClr val="FFFFFF"/>
                </a:solidFill>
                <a:latin typeface="Arial"/>
                <a:ea typeface="맑은 고딕"/>
              </a:rPr>
              <a:t>Taste Cluster</a:t>
            </a:r>
          </a:p>
        </p:txBody>
      </p:sp>
      <p:sp>
        <p:nvSpPr>
          <p:cNvPr id="54" name="TextBox 53"/>
          <p:cNvSpPr txBox="1"/>
          <p:nvPr/>
        </p:nvSpPr>
        <p:spPr>
          <a:xfrm>
            <a:off x="5134355" y="1984248"/>
            <a:ext cx="1920240" cy="274320"/>
          </a:xfrm>
          <a:prstGeom prst="rect">
            <a:avLst/>
          </a:prstGeom>
          <a:noFill/>
        </p:spPr>
        <p:txBody>
          <a:bodyPr wrap="square" lIns="0" rIns="0" tIns="27432" bIns="27432" anchor="t">
            <a:noAutofit/>
          </a:bodyPr>
          <a:lstStyle/>
          <a:p>
            <a:pPr algn="ctr">
              <a:spcAft>
                <a:spcPts val="0"/>
              </a:spcAft>
            </a:pPr>
            <a:r>
              <a:rPr sz="1050" b="0" i="0">
                <a:solidFill>
                  <a:srgbClr val="6B6B6B"/>
                </a:solidFill>
                <a:latin typeface="Arial"/>
                <a:ea typeface="맑은 고딕"/>
              </a:rPr>
              <a:t>반복 취향 패턴 · 상태 관리</a:t>
            </a:r>
          </a:p>
        </p:txBody>
      </p:sp>
      <p:sp>
        <p:nvSpPr>
          <p:cNvPr id="55" name="Right Arrow 54"/>
          <p:cNvSpPr/>
          <p:nvPr/>
        </p:nvSpPr>
        <p:spPr>
          <a:xfrm>
            <a:off x="7100315" y="1435608"/>
            <a:ext cx="292608" cy="292608"/>
          </a:xfrm>
          <a:prstGeom prst="rightArrow">
            <a:avLst/>
          </a:prstGeom>
          <a:solidFill>
            <a:srgbClr val="FFBD11"/>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6" name="Rounded Rectangle 55"/>
          <p:cNvSpPr/>
          <p:nvPr/>
        </p:nvSpPr>
        <p:spPr>
          <a:xfrm>
            <a:off x="7427213" y="1234440"/>
            <a:ext cx="1920240" cy="713232"/>
          </a:xfrm>
          <a:prstGeom prst="roundRect">
            <a:avLst>
              <a:gd name="adj" fmla="val 12000"/>
            </a:avLst>
          </a:prstGeom>
          <a:solidFill>
            <a:srgbClr val="445569"/>
          </a:solidFill>
          <a:ln>
            <a:noFill/>
          </a:ln>
        </p:spPr>
        <p:txBody>
          <a:bodyPr rtlCol="0" anchor="ctr" wrap="square" lIns="36576" rIns="36576" tIns="27432" bIns="27432">
            <a:noAutofit/>
          </a:bodyPr>
          <a:lstStyle/>
          <a:p>
            <a:pPr algn="ctr">
              <a:spcAft>
                <a:spcPts val="0"/>
              </a:spcAft>
            </a:pPr>
            <a:r>
              <a:rPr sz="1050" b="1" i="0">
                <a:solidFill>
                  <a:srgbClr val="FFBD11"/>
                </a:solidFill>
                <a:latin typeface="Arial"/>
                <a:ea typeface="맑은 고딕"/>
              </a:rPr>
              <a:t>선택</a:t>
            </a:r>
          </a:p>
          <a:p>
            <a:pPr algn="ctr">
              <a:spcAft>
                <a:spcPts val="0"/>
              </a:spcAft>
            </a:pPr>
            <a:r>
              <a:rPr sz="1400" b="1" i="0">
                <a:solidFill>
                  <a:srgbClr val="FFFFFF"/>
                </a:solidFill>
                <a:latin typeface="Arial"/>
                <a:ea typeface="맑은 고딕"/>
              </a:rPr>
              <a:t>Context Router</a:t>
            </a:r>
          </a:p>
        </p:txBody>
      </p:sp>
      <p:sp>
        <p:nvSpPr>
          <p:cNvPr id="57" name="TextBox 56"/>
          <p:cNvSpPr txBox="1"/>
          <p:nvPr/>
        </p:nvSpPr>
        <p:spPr>
          <a:xfrm>
            <a:off x="7427213" y="1984248"/>
            <a:ext cx="1920240" cy="274320"/>
          </a:xfrm>
          <a:prstGeom prst="rect">
            <a:avLst/>
          </a:prstGeom>
          <a:noFill/>
        </p:spPr>
        <p:txBody>
          <a:bodyPr wrap="square" lIns="0" rIns="0" tIns="27432" bIns="27432" anchor="t">
            <a:noAutofit/>
          </a:bodyPr>
          <a:lstStyle/>
          <a:p>
            <a:pPr algn="ctr">
              <a:spcAft>
                <a:spcPts val="0"/>
              </a:spcAft>
            </a:pPr>
            <a:r>
              <a:rPr sz="1050" b="0" i="0">
                <a:solidFill>
                  <a:srgbClr val="6B6B6B"/>
                </a:solidFill>
                <a:latin typeface="Arial"/>
                <a:ea typeface="맑은 고딕"/>
              </a:rPr>
              <a:t>현재 상황에 맞는 cluster만</a:t>
            </a:r>
          </a:p>
        </p:txBody>
      </p:sp>
      <p:sp>
        <p:nvSpPr>
          <p:cNvPr id="58" name="Right Arrow 57"/>
          <p:cNvSpPr/>
          <p:nvPr/>
        </p:nvSpPr>
        <p:spPr>
          <a:xfrm>
            <a:off x="9393174" y="1435608"/>
            <a:ext cx="292608" cy="292608"/>
          </a:xfrm>
          <a:prstGeom prst="rightArrow">
            <a:avLst/>
          </a:prstGeom>
          <a:solidFill>
            <a:srgbClr val="FFBD11"/>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9" name="Rounded Rectangle 58"/>
          <p:cNvSpPr/>
          <p:nvPr/>
        </p:nvSpPr>
        <p:spPr>
          <a:xfrm>
            <a:off x="9720072" y="1234440"/>
            <a:ext cx="1920240" cy="713232"/>
          </a:xfrm>
          <a:prstGeom prst="roundRect">
            <a:avLst>
              <a:gd name="adj" fmla="val 12000"/>
            </a:avLst>
          </a:prstGeom>
          <a:solidFill>
            <a:srgbClr val="FFF3CC"/>
          </a:solidFill>
          <a:ln>
            <a:noFill/>
          </a:ln>
        </p:spPr>
        <p:txBody>
          <a:bodyPr rtlCol="0" anchor="ctr" wrap="square" lIns="36576" rIns="36576" tIns="27432" bIns="27432">
            <a:noAutofit/>
          </a:bodyPr>
          <a:lstStyle/>
          <a:p>
            <a:pPr algn="ctr">
              <a:spcAft>
                <a:spcPts val="0"/>
              </a:spcAft>
            </a:pPr>
            <a:r>
              <a:rPr sz="1400" b="1" i="0">
                <a:solidFill>
                  <a:srgbClr val="1A1A1A"/>
                </a:solidFill>
                <a:latin typeface="Arial"/>
                <a:ea typeface="맑은 고딕"/>
              </a:rPr>
              <a:t>Selected Profile</a:t>
            </a:r>
          </a:p>
        </p:txBody>
      </p:sp>
      <p:sp>
        <p:nvSpPr>
          <p:cNvPr id="60" name="TextBox 59"/>
          <p:cNvSpPr txBox="1"/>
          <p:nvPr/>
        </p:nvSpPr>
        <p:spPr>
          <a:xfrm>
            <a:off x="9720072" y="1984248"/>
            <a:ext cx="1920240" cy="274320"/>
          </a:xfrm>
          <a:prstGeom prst="rect">
            <a:avLst/>
          </a:prstGeom>
          <a:noFill/>
        </p:spPr>
        <p:txBody>
          <a:bodyPr wrap="square" lIns="0" rIns="0" tIns="27432" bIns="27432" anchor="t">
            <a:noAutofit/>
          </a:bodyPr>
          <a:lstStyle/>
          <a:p>
            <a:pPr algn="ctr">
              <a:spcAft>
                <a:spcPts val="0"/>
              </a:spcAft>
            </a:pPr>
            <a:r>
              <a:rPr sz="1050" b="0" i="0">
                <a:solidFill>
                  <a:srgbClr val="6B6B6B"/>
                </a:solidFill>
                <a:latin typeface="Arial"/>
                <a:ea typeface="맑은 고딕"/>
              </a:rPr>
              <a:t>검색에 반영</a:t>
            </a:r>
          </a:p>
        </p:txBody>
      </p:sp>
      <p:sp>
        <p:nvSpPr>
          <p:cNvPr id="61" name="Rounded Rectangle 60"/>
          <p:cNvSpPr/>
          <p:nvPr/>
        </p:nvSpPr>
        <p:spPr>
          <a:xfrm>
            <a:off x="548640" y="2395728"/>
            <a:ext cx="5449824" cy="2697480"/>
          </a:xfrm>
          <a:prstGeom prst="roundRect">
            <a:avLst>
              <a:gd name="adj" fmla="val 4000"/>
            </a:avLst>
          </a:prstGeom>
          <a:solidFill>
            <a:srgbClr val="FFFFFF"/>
          </a:solidFill>
          <a:ln w="12700">
            <a:solidFill>
              <a:srgbClr val="D0D0D0"/>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2" name="TextBox 61"/>
          <p:cNvSpPr txBox="1"/>
          <p:nvPr/>
        </p:nvSpPr>
        <p:spPr>
          <a:xfrm>
            <a:off x="731520" y="2450592"/>
            <a:ext cx="3657600" cy="347472"/>
          </a:xfrm>
          <a:prstGeom prst="rect">
            <a:avLst/>
          </a:prstGeom>
          <a:noFill/>
        </p:spPr>
        <p:txBody>
          <a:bodyPr wrap="square" lIns="0" rIns="0" tIns="27432" bIns="27432" anchor="t">
            <a:noAutofit/>
          </a:bodyPr>
          <a:lstStyle/>
          <a:p>
            <a:pPr algn="l">
              <a:spcAft>
                <a:spcPts val="0"/>
              </a:spcAft>
            </a:pPr>
            <a:r>
              <a:rPr sz="1400" b="1" i="0">
                <a:solidFill>
                  <a:srgbClr val="1A1A1A"/>
                </a:solidFill>
                <a:latin typeface="Arial"/>
                <a:ea typeface="맑은 고딕"/>
              </a:rPr>
              <a:t>상황 A · 혼자 사유</a:t>
            </a:r>
          </a:p>
        </p:txBody>
      </p:sp>
      <p:sp>
        <p:nvSpPr>
          <p:cNvPr id="63" name="Rounded Rectangle 62"/>
          <p:cNvSpPr/>
          <p:nvPr/>
        </p:nvSpPr>
        <p:spPr>
          <a:xfrm>
            <a:off x="731520" y="3246120"/>
            <a:ext cx="1463040" cy="868680"/>
          </a:xfrm>
          <a:prstGeom prst="roundRect">
            <a:avLst>
              <a:gd name="adj" fmla="val 12000"/>
            </a:avLst>
          </a:prstGeom>
          <a:solidFill>
            <a:srgbClr val="445569"/>
          </a:solidFill>
          <a:ln>
            <a:noFill/>
          </a:ln>
        </p:spPr>
        <p:txBody>
          <a:bodyPr rtlCol="0" anchor="ctr" wrap="square" lIns="27432" rIns="27432" tIns="27432" bIns="27432">
            <a:noAutofit/>
          </a:bodyPr>
          <a:lstStyle/>
          <a:p>
            <a:pPr algn="ctr">
              <a:spcAft>
                <a:spcPts val="0"/>
              </a:spcAft>
            </a:pPr>
            <a:r>
              <a:rPr sz="1150" b="1" i="0">
                <a:solidFill>
                  <a:srgbClr val="FFFFFF"/>
                </a:solidFill>
                <a:latin typeface="Arial"/>
                <a:ea typeface="맑은 고딕"/>
              </a:rPr>
              <a:t>Context Router</a:t>
            </a:r>
          </a:p>
          <a:p>
            <a:pPr algn="ctr">
              <a:spcAft>
                <a:spcPts val="0"/>
              </a:spcAft>
            </a:pPr>
            <a:r>
              <a:rPr sz="1000" b="1" i="0">
                <a:solidFill>
                  <a:srgbClr val="FFBD11"/>
                </a:solidFill>
                <a:latin typeface="Arial"/>
                <a:ea typeface="맑은 고딕"/>
              </a:rPr>
              <a:t>context: alone</a:t>
            </a:r>
          </a:p>
        </p:txBody>
      </p:sp>
      <p:sp>
        <p:nvSpPr>
          <p:cNvPr id="64" name="Rounded Rectangle 63"/>
          <p:cNvSpPr/>
          <p:nvPr/>
        </p:nvSpPr>
        <p:spPr>
          <a:xfrm>
            <a:off x="2788920" y="2816352"/>
            <a:ext cx="3017520" cy="530352"/>
          </a:xfrm>
          <a:prstGeom prst="roundRect">
            <a:avLst>
              <a:gd name="adj" fmla="val 15000"/>
            </a:avLst>
          </a:prstGeom>
          <a:solidFill>
            <a:srgbClr val="FFF3CC"/>
          </a:solidFill>
          <a:ln w="19050">
            <a:solidFill>
              <a:srgbClr val="FFBD11"/>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5" name="TextBox 64"/>
          <p:cNvSpPr txBox="1"/>
          <p:nvPr/>
        </p:nvSpPr>
        <p:spPr>
          <a:xfrm>
            <a:off x="2880360" y="2816352"/>
            <a:ext cx="1965960" cy="530352"/>
          </a:xfrm>
          <a:prstGeom prst="rect">
            <a:avLst/>
          </a:prstGeom>
          <a:noFill/>
        </p:spPr>
        <p:txBody>
          <a:bodyPr wrap="square" lIns="0" rIns="0" tIns="27432" bIns="27432" anchor="ctr">
            <a:noAutofit/>
          </a:bodyPr>
          <a:lstStyle/>
          <a:p>
            <a:pPr algn="l">
              <a:spcAft>
                <a:spcPts val="0"/>
              </a:spcAft>
            </a:pPr>
            <a:r>
              <a:rPr sz="1100" b="1" i="0">
                <a:solidFill>
                  <a:srgbClr val="1A1A1A"/>
                </a:solidFill>
                <a:latin typeface="Arial"/>
                <a:ea typeface="맑은 고딕"/>
              </a:rPr>
              <a:t>저채도 · 거친 질감 · 사유</a:t>
            </a:r>
          </a:p>
          <a:p>
            <a:pPr algn="l">
              <a:spcAft>
                <a:spcPts val="0"/>
              </a:spcAft>
            </a:pPr>
            <a:r>
              <a:rPr sz="950" b="0" i="0">
                <a:solidFill>
                  <a:srgbClr val="445569"/>
                </a:solidFill>
                <a:latin typeface="Arial"/>
                <a:ea typeface="맑은 고딕"/>
              </a:rPr>
              <a:t>tag: alone</a:t>
            </a:r>
          </a:p>
        </p:txBody>
      </p:sp>
      <p:sp>
        <p:nvSpPr>
          <p:cNvPr id="66" name="Rounded Rectangle 65"/>
          <p:cNvSpPr/>
          <p:nvPr/>
        </p:nvSpPr>
        <p:spPr>
          <a:xfrm>
            <a:off x="4864607" y="2953512"/>
            <a:ext cx="841248" cy="256032"/>
          </a:xfrm>
          <a:prstGeom prst="roundRect">
            <a:avLst>
              <a:gd name="adj" fmla="val 30000"/>
            </a:avLst>
          </a:prstGeom>
          <a:solidFill>
            <a:srgbClr val="445569"/>
          </a:solidFill>
          <a:ln>
            <a:noFill/>
          </a:ln>
        </p:spPr>
        <p:txBody>
          <a:bodyPr rtlCol="0" anchor="ctr" wrap="square" lIns="36576" rIns="36576" tIns="27432" bIns="27432">
            <a:noAutofit/>
          </a:bodyPr>
          <a:lstStyle/>
          <a:p>
            <a:pPr algn="ctr">
              <a:spcAft>
                <a:spcPts val="0"/>
              </a:spcAft>
            </a:pPr>
            <a:r>
              <a:rPr sz="950" b="1" i="0">
                <a:solidFill>
                  <a:srgbClr val="FFFFFF"/>
                </a:solidFill>
                <a:latin typeface="Arial"/>
                <a:ea typeface="맑은 고딕"/>
              </a:rPr>
              <a:t>active</a:t>
            </a:r>
          </a:p>
        </p:txBody>
      </p:sp>
      <p:cxnSp>
        <p:nvCxnSpPr>
          <p:cNvPr id="67" name="Connector 66"/>
          <p:cNvCxnSpPr/>
          <p:nvPr/>
        </p:nvCxnSpPr>
        <p:spPr>
          <a:xfrm flipV="1">
            <a:off x="2212848" y="3081528"/>
            <a:ext cx="557784" cy="594359"/>
          </a:xfrm>
          <a:prstGeom prst="line">
            <a:avLst/>
          </a:prstGeom>
          <a:ln w="28575">
            <a:solidFill>
              <a:srgbClr val="445569"/>
            </a:solidFill>
            <a:tailEnd type="triangle" w="med" len="med"/>
          </a:ln>
        </p:spPr>
      </p:cxnSp>
      <p:sp>
        <p:nvSpPr>
          <p:cNvPr id="68" name="Rounded Rectangle 67"/>
          <p:cNvSpPr/>
          <p:nvPr/>
        </p:nvSpPr>
        <p:spPr>
          <a:xfrm>
            <a:off x="2788920" y="3456432"/>
            <a:ext cx="3017520" cy="530352"/>
          </a:xfrm>
          <a:prstGeom prst="roundRect">
            <a:avLst>
              <a:gd name="adj" fmla="val 15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9" name="TextBox 68"/>
          <p:cNvSpPr txBox="1"/>
          <p:nvPr/>
        </p:nvSpPr>
        <p:spPr>
          <a:xfrm>
            <a:off x="2880360" y="3456432"/>
            <a:ext cx="1965960" cy="530352"/>
          </a:xfrm>
          <a:prstGeom prst="rect">
            <a:avLst/>
          </a:prstGeom>
          <a:noFill/>
        </p:spPr>
        <p:txBody>
          <a:bodyPr wrap="square" lIns="0" rIns="0" tIns="27432" bIns="27432" anchor="ctr">
            <a:noAutofit/>
          </a:bodyPr>
          <a:lstStyle/>
          <a:p>
            <a:pPr algn="l">
              <a:spcAft>
                <a:spcPts val="0"/>
              </a:spcAft>
            </a:pPr>
            <a:r>
              <a:rPr sz="1100" b="1" i="0">
                <a:solidFill>
                  <a:srgbClr val="6B6B6B"/>
                </a:solidFill>
                <a:latin typeface="Arial"/>
                <a:ea typeface="맑은 고딕"/>
              </a:rPr>
              <a:t>밝은 색채 · 참여형 체험</a:t>
            </a:r>
          </a:p>
          <a:p>
            <a:pPr algn="l">
              <a:spcAft>
                <a:spcPts val="0"/>
              </a:spcAft>
            </a:pPr>
            <a:r>
              <a:rPr sz="950" b="0" i="0">
                <a:solidFill>
                  <a:srgbClr val="8C8C8C"/>
                </a:solidFill>
                <a:latin typeface="Arial"/>
                <a:ea typeface="맑은 고딕"/>
              </a:rPr>
              <a:t>tag: family</a:t>
            </a:r>
          </a:p>
        </p:txBody>
      </p:sp>
      <p:sp>
        <p:nvSpPr>
          <p:cNvPr id="70" name="Rounded Rectangle 69"/>
          <p:cNvSpPr/>
          <p:nvPr/>
        </p:nvSpPr>
        <p:spPr>
          <a:xfrm>
            <a:off x="4864607" y="3593592"/>
            <a:ext cx="841248" cy="256032"/>
          </a:xfrm>
          <a:prstGeom prst="roundRect">
            <a:avLst>
              <a:gd name="adj" fmla="val 30000"/>
            </a:avLst>
          </a:prstGeom>
          <a:solidFill>
            <a:srgbClr val="445569"/>
          </a:solidFill>
          <a:ln>
            <a:noFill/>
          </a:ln>
        </p:spPr>
        <p:txBody>
          <a:bodyPr rtlCol="0" anchor="ctr" wrap="square" lIns="36576" rIns="36576" tIns="27432" bIns="27432">
            <a:noAutofit/>
          </a:bodyPr>
          <a:lstStyle/>
          <a:p>
            <a:pPr algn="ctr">
              <a:spcAft>
                <a:spcPts val="0"/>
              </a:spcAft>
            </a:pPr>
            <a:r>
              <a:rPr sz="950" b="1" i="0">
                <a:solidFill>
                  <a:srgbClr val="FFFFFF"/>
                </a:solidFill>
                <a:latin typeface="Arial"/>
                <a:ea typeface="맑은 고딕"/>
              </a:rPr>
              <a:t>active</a:t>
            </a:r>
          </a:p>
        </p:txBody>
      </p:sp>
      <p:cxnSp>
        <p:nvCxnSpPr>
          <p:cNvPr id="71" name="Connector 70"/>
          <p:cNvCxnSpPr/>
          <p:nvPr/>
        </p:nvCxnSpPr>
        <p:spPr>
          <a:xfrm>
            <a:off x="2212848" y="3675887"/>
            <a:ext cx="557784" cy="45721"/>
          </a:xfrm>
          <a:prstGeom prst="line">
            <a:avLst/>
          </a:prstGeom>
          <a:ln w="12700">
            <a:solidFill>
              <a:srgbClr val="A6A6A6"/>
            </a:solidFill>
            <a:prstDash val="dash"/>
          </a:ln>
        </p:spPr>
      </p:cxnSp>
      <p:sp>
        <p:nvSpPr>
          <p:cNvPr id="72" name="Rounded Rectangle 71"/>
          <p:cNvSpPr/>
          <p:nvPr/>
        </p:nvSpPr>
        <p:spPr>
          <a:xfrm>
            <a:off x="2788920" y="4096512"/>
            <a:ext cx="3017520" cy="530352"/>
          </a:xfrm>
          <a:prstGeom prst="roundRect">
            <a:avLst>
              <a:gd name="adj" fmla="val 15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3" name="TextBox 72"/>
          <p:cNvSpPr txBox="1"/>
          <p:nvPr/>
        </p:nvSpPr>
        <p:spPr>
          <a:xfrm>
            <a:off x="2880360" y="4096512"/>
            <a:ext cx="1965960" cy="530352"/>
          </a:xfrm>
          <a:prstGeom prst="rect">
            <a:avLst/>
          </a:prstGeom>
          <a:noFill/>
        </p:spPr>
        <p:txBody>
          <a:bodyPr wrap="square" lIns="0" rIns="0" tIns="27432" bIns="27432" anchor="ctr">
            <a:noAutofit/>
          </a:bodyPr>
          <a:lstStyle/>
          <a:p>
            <a:pPr algn="l">
              <a:spcAft>
                <a:spcPts val="0"/>
              </a:spcAft>
            </a:pPr>
            <a:r>
              <a:rPr sz="1100" b="1" i="0">
                <a:solidFill>
                  <a:srgbClr val="6B6B6B"/>
                </a:solidFill>
                <a:latin typeface="Arial"/>
                <a:ea typeface="맑은 고딕"/>
              </a:rPr>
              <a:t>초기 탐색 취향</a:t>
            </a:r>
          </a:p>
          <a:p>
            <a:pPr algn="l">
              <a:spcAft>
                <a:spcPts val="0"/>
              </a:spcAft>
            </a:pPr>
            <a:r>
              <a:rPr sz="950" b="0" i="0">
                <a:solidFill>
                  <a:srgbClr val="8C8C8C"/>
                </a:solidFill>
                <a:latin typeface="Arial"/>
                <a:ea typeface="맑은 고딕"/>
              </a:rPr>
              <a:t>tag: —</a:t>
            </a:r>
          </a:p>
        </p:txBody>
      </p:sp>
      <p:sp>
        <p:nvSpPr>
          <p:cNvPr id="74" name="Rounded Rectangle 73"/>
          <p:cNvSpPr/>
          <p:nvPr/>
        </p:nvSpPr>
        <p:spPr>
          <a:xfrm>
            <a:off x="4864607" y="4233672"/>
            <a:ext cx="841248" cy="256032"/>
          </a:xfrm>
          <a:prstGeom prst="roundRect">
            <a:avLst>
              <a:gd name="adj" fmla="val 30000"/>
            </a:avLst>
          </a:prstGeom>
          <a:solidFill>
            <a:srgbClr val="FFFFFF"/>
          </a:solidFill>
          <a:ln w="12700">
            <a:solidFill>
              <a:srgbClr val="A6A6A6"/>
            </a:solidFill>
          </a:ln>
        </p:spPr>
        <p:txBody>
          <a:bodyPr rtlCol="0" anchor="ctr" wrap="square" lIns="36576" rIns="36576" tIns="27432" bIns="27432">
            <a:noAutofit/>
          </a:bodyPr>
          <a:lstStyle/>
          <a:p>
            <a:pPr algn="ctr">
              <a:spcAft>
                <a:spcPts val="0"/>
              </a:spcAft>
            </a:pPr>
            <a:r>
              <a:rPr sz="950" b="1" i="0">
                <a:solidFill>
                  <a:srgbClr val="6B6B6B"/>
                </a:solidFill>
                <a:latin typeface="Arial"/>
                <a:ea typeface="맑은 고딕"/>
              </a:rPr>
              <a:t>stale</a:t>
            </a:r>
          </a:p>
        </p:txBody>
      </p:sp>
      <p:cxnSp>
        <p:nvCxnSpPr>
          <p:cNvPr id="75" name="Connector 74"/>
          <p:cNvCxnSpPr/>
          <p:nvPr/>
        </p:nvCxnSpPr>
        <p:spPr>
          <a:xfrm>
            <a:off x="2212848" y="3675887"/>
            <a:ext cx="557784" cy="685801"/>
          </a:xfrm>
          <a:prstGeom prst="line">
            <a:avLst/>
          </a:prstGeom>
          <a:ln w="12700">
            <a:solidFill>
              <a:srgbClr val="A6A6A6"/>
            </a:solidFill>
            <a:prstDash val="dash"/>
          </a:ln>
        </p:spPr>
      </p:cxnSp>
      <p:sp>
        <p:nvSpPr>
          <p:cNvPr id="76" name="TextBox 75"/>
          <p:cNvSpPr txBox="1"/>
          <p:nvPr/>
        </p:nvSpPr>
        <p:spPr>
          <a:xfrm>
            <a:off x="731520" y="4800600"/>
            <a:ext cx="5120640" cy="256032"/>
          </a:xfrm>
          <a:prstGeom prst="rect">
            <a:avLst/>
          </a:prstGeom>
          <a:noFill/>
        </p:spPr>
        <p:txBody>
          <a:bodyPr wrap="square" lIns="0" rIns="0" tIns="27432" bIns="27432" anchor="t">
            <a:noAutofit/>
          </a:bodyPr>
          <a:lstStyle/>
          <a:p>
            <a:pPr algn="l">
              <a:spcAft>
                <a:spcPts val="0"/>
              </a:spcAft>
            </a:pPr>
            <a:r>
              <a:rPr sz="950" b="0" i="0">
                <a:solidFill>
                  <a:srgbClr val="6B6B6B"/>
                </a:solidFill>
                <a:latin typeface="Arial"/>
                <a:ea typeface="맑은 고딕"/>
              </a:rPr>
              <a:t>예시 cluster — 실선: 선택 경로 · 회색 점선: 오염 경로(배제)</a:t>
            </a:r>
          </a:p>
        </p:txBody>
      </p:sp>
      <p:sp>
        <p:nvSpPr>
          <p:cNvPr id="77" name="Rounded Rectangle 76"/>
          <p:cNvSpPr/>
          <p:nvPr/>
        </p:nvSpPr>
        <p:spPr>
          <a:xfrm>
            <a:off x="6190488" y="2395728"/>
            <a:ext cx="5449824" cy="2697480"/>
          </a:xfrm>
          <a:prstGeom prst="roundRect">
            <a:avLst>
              <a:gd name="adj" fmla="val 4000"/>
            </a:avLst>
          </a:prstGeom>
          <a:solidFill>
            <a:srgbClr val="FFFFFF"/>
          </a:solidFill>
          <a:ln w="12700">
            <a:solidFill>
              <a:srgbClr val="D0D0D0"/>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8" name="TextBox 77"/>
          <p:cNvSpPr txBox="1"/>
          <p:nvPr/>
        </p:nvSpPr>
        <p:spPr>
          <a:xfrm>
            <a:off x="6373368" y="2450592"/>
            <a:ext cx="3657600" cy="347472"/>
          </a:xfrm>
          <a:prstGeom prst="rect">
            <a:avLst/>
          </a:prstGeom>
          <a:noFill/>
        </p:spPr>
        <p:txBody>
          <a:bodyPr wrap="square" lIns="0" rIns="0" tIns="27432" bIns="27432" anchor="t">
            <a:noAutofit/>
          </a:bodyPr>
          <a:lstStyle/>
          <a:p>
            <a:pPr algn="l">
              <a:spcAft>
                <a:spcPts val="0"/>
              </a:spcAft>
            </a:pPr>
            <a:r>
              <a:rPr sz="1400" b="1" i="0">
                <a:solidFill>
                  <a:srgbClr val="1A1A1A"/>
                </a:solidFill>
                <a:latin typeface="Arial"/>
                <a:ea typeface="맑은 고딕"/>
              </a:rPr>
              <a:t>상황 B · 가족 체험</a:t>
            </a:r>
          </a:p>
        </p:txBody>
      </p:sp>
      <p:sp>
        <p:nvSpPr>
          <p:cNvPr id="79" name="Rounded Rectangle 78"/>
          <p:cNvSpPr/>
          <p:nvPr/>
        </p:nvSpPr>
        <p:spPr>
          <a:xfrm>
            <a:off x="6373368" y="3246120"/>
            <a:ext cx="1463040" cy="868680"/>
          </a:xfrm>
          <a:prstGeom prst="roundRect">
            <a:avLst>
              <a:gd name="adj" fmla="val 12000"/>
            </a:avLst>
          </a:prstGeom>
          <a:solidFill>
            <a:srgbClr val="445569"/>
          </a:solidFill>
          <a:ln>
            <a:noFill/>
          </a:ln>
        </p:spPr>
        <p:txBody>
          <a:bodyPr rtlCol="0" anchor="ctr" wrap="square" lIns="27432" rIns="27432" tIns="27432" bIns="27432">
            <a:noAutofit/>
          </a:bodyPr>
          <a:lstStyle/>
          <a:p>
            <a:pPr algn="ctr">
              <a:spcAft>
                <a:spcPts val="0"/>
              </a:spcAft>
            </a:pPr>
            <a:r>
              <a:rPr sz="1150" b="1" i="0">
                <a:solidFill>
                  <a:srgbClr val="FFFFFF"/>
                </a:solidFill>
                <a:latin typeface="Arial"/>
                <a:ea typeface="맑은 고딕"/>
              </a:rPr>
              <a:t>Context Router</a:t>
            </a:r>
          </a:p>
          <a:p>
            <a:pPr algn="ctr">
              <a:spcAft>
                <a:spcPts val="0"/>
              </a:spcAft>
            </a:pPr>
            <a:r>
              <a:rPr sz="1000" b="1" i="0">
                <a:solidFill>
                  <a:srgbClr val="FFBD11"/>
                </a:solidFill>
                <a:latin typeface="Arial"/>
                <a:ea typeface="맑은 고딕"/>
              </a:rPr>
              <a:t>context: family</a:t>
            </a:r>
          </a:p>
        </p:txBody>
      </p:sp>
      <p:sp>
        <p:nvSpPr>
          <p:cNvPr id="80" name="Rounded Rectangle 79"/>
          <p:cNvSpPr/>
          <p:nvPr/>
        </p:nvSpPr>
        <p:spPr>
          <a:xfrm>
            <a:off x="8430767" y="2816352"/>
            <a:ext cx="3017520" cy="530352"/>
          </a:xfrm>
          <a:prstGeom prst="roundRect">
            <a:avLst>
              <a:gd name="adj" fmla="val 15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81" name="TextBox 80"/>
          <p:cNvSpPr txBox="1"/>
          <p:nvPr/>
        </p:nvSpPr>
        <p:spPr>
          <a:xfrm>
            <a:off x="8522208" y="2816352"/>
            <a:ext cx="1965960" cy="530352"/>
          </a:xfrm>
          <a:prstGeom prst="rect">
            <a:avLst/>
          </a:prstGeom>
          <a:noFill/>
        </p:spPr>
        <p:txBody>
          <a:bodyPr wrap="square" lIns="0" rIns="0" tIns="27432" bIns="27432" anchor="ctr">
            <a:noAutofit/>
          </a:bodyPr>
          <a:lstStyle/>
          <a:p>
            <a:pPr algn="l">
              <a:spcAft>
                <a:spcPts val="0"/>
              </a:spcAft>
            </a:pPr>
            <a:r>
              <a:rPr sz="1100" b="1" i="0">
                <a:solidFill>
                  <a:srgbClr val="6B6B6B"/>
                </a:solidFill>
                <a:latin typeface="Arial"/>
                <a:ea typeface="맑은 고딕"/>
              </a:rPr>
              <a:t>저채도 · 거친 질감 · 사유</a:t>
            </a:r>
          </a:p>
          <a:p>
            <a:pPr algn="l">
              <a:spcAft>
                <a:spcPts val="0"/>
              </a:spcAft>
            </a:pPr>
            <a:r>
              <a:rPr sz="950" b="0" i="0">
                <a:solidFill>
                  <a:srgbClr val="8C8C8C"/>
                </a:solidFill>
                <a:latin typeface="Arial"/>
                <a:ea typeface="맑은 고딕"/>
              </a:rPr>
              <a:t>tag: alone</a:t>
            </a:r>
          </a:p>
        </p:txBody>
      </p:sp>
      <p:sp>
        <p:nvSpPr>
          <p:cNvPr id="82" name="Rounded Rectangle 81"/>
          <p:cNvSpPr/>
          <p:nvPr/>
        </p:nvSpPr>
        <p:spPr>
          <a:xfrm>
            <a:off x="10506455" y="2953512"/>
            <a:ext cx="841248" cy="256032"/>
          </a:xfrm>
          <a:prstGeom prst="roundRect">
            <a:avLst>
              <a:gd name="adj" fmla="val 30000"/>
            </a:avLst>
          </a:prstGeom>
          <a:solidFill>
            <a:srgbClr val="445569"/>
          </a:solidFill>
          <a:ln>
            <a:noFill/>
          </a:ln>
        </p:spPr>
        <p:txBody>
          <a:bodyPr rtlCol="0" anchor="ctr" wrap="square" lIns="36576" rIns="36576" tIns="27432" bIns="27432">
            <a:noAutofit/>
          </a:bodyPr>
          <a:lstStyle/>
          <a:p>
            <a:pPr algn="ctr">
              <a:spcAft>
                <a:spcPts val="0"/>
              </a:spcAft>
            </a:pPr>
            <a:r>
              <a:rPr sz="950" b="1" i="0">
                <a:solidFill>
                  <a:srgbClr val="FFFFFF"/>
                </a:solidFill>
                <a:latin typeface="Arial"/>
                <a:ea typeface="맑은 고딕"/>
              </a:rPr>
              <a:t>active</a:t>
            </a:r>
          </a:p>
        </p:txBody>
      </p:sp>
      <p:cxnSp>
        <p:nvCxnSpPr>
          <p:cNvPr id="83" name="Connector 82"/>
          <p:cNvCxnSpPr/>
          <p:nvPr/>
        </p:nvCxnSpPr>
        <p:spPr>
          <a:xfrm flipV="1">
            <a:off x="7854696" y="3081528"/>
            <a:ext cx="557784" cy="594359"/>
          </a:xfrm>
          <a:prstGeom prst="line">
            <a:avLst/>
          </a:prstGeom>
          <a:ln w="12700">
            <a:solidFill>
              <a:srgbClr val="A6A6A6"/>
            </a:solidFill>
            <a:prstDash val="dash"/>
          </a:ln>
        </p:spPr>
      </p:cxnSp>
      <p:sp>
        <p:nvSpPr>
          <p:cNvPr id="84" name="Rounded Rectangle 83"/>
          <p:cNvSpPr/>
          <p:nvPr/>
        </p:nvSpPr>
        <p:spPr>
          <a:xfrm>
            <a:off x="8430767" y="3456432"/>
            <a:ext cx="3017520" cy="530352"/>
          </a:xfrm>
          <a:prstGeom prst="roundRect">
            <a:avLst>
              <a:gd name="adj" fmla="val 15000"/>
            </a:avLst>
          </a:prstGeom>
          <a:solidFill>
            <a:srgbClr val="FFF3CC"/>
          </a:solidFill>
          <a:ln w="19050">
            <a:solidFill>
              <a:srgbClr val="FFBD11"/>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85" name="TextBox 84"/>
          <p:cNvSpPr txBox="1"/>
          <p:nvPr/>
        </p:nvSpPr>
        <p:spPr>
          <a:xfrm>
            <a:off x="8522208" y="3456432"/>
            <a:ext cx="1965960" cy="530352"/>
          </a:xfrm>
          <a:prstGeom prst="rect">
            <a:avLst/>
          </a:prstGeom>
          <a:noFill/>
        </p:spPr>
        <p:txBody>
          <a:bodyPr wrap="square" lIns="0" rIns="0" tIns="27432" bIns="27432" anchor="ctr">
            <a:noAutofit/>
          </a:bodyPr>
          <a:lstStyle/>
          <a:p>
            <a:pPr algn="l">
              <a:spcAft>
                <a:spcPts val="0"/>
              </a:spcAft>
            </a:pPr>
            <a:r>
              <a:rPr sz="1100" b="1" i="0">
                <a:solidFill>
                  <a:srgbClr val="1A1A1A"/>
                </a:solidFill>
                <a:latin typeface="Arial"/>
                <a:ea typeface="맑은 고딕"/>
              </a:rPr>
              <a:t>밝은 색채 · 참여형 체험</a:t>
            </a:r>
          </a:p>
          <a:p>
            <a:pPr algn="l">
              <a:spcAft>
                <a:spcPts val="0"/>
              </a:spcAft>
            </a:pPr>
            <a:r>
              <a:rPr sz="950" b="0" i="0">
                <a:solidFill>
                  <a:srgbClr val="445569"/>
                </a:solidFill>
                <a:latin typeface="Arial"/>
                <a:ea typeface="맑은 고딕"/>
              </a:rPr>
              <a:t>tag: family</a:t>
            </a:r>
          </a:p>
        </p:txBody>
      </p:sp>
      <p:sp>
        <p:nvSpPr>
          <p:cNvPr id="86" name="Rounded Rectangle 85"/>
          <p:cNvSpPr/>
          <p:nvPr/>
        </p:nvSpPr>
        <p:spPr>
          <a:xfrm>
            <a:off x="10506455" y="3593592"/>
            <a:ext cx="841248" cy="256032"/>
          </a:xfrm>
          <a:prstGeom prst="roundRect">
            <a:avLst>
              <a:gd name="adj" fmla="val 30000"/>
            </a:avLst>
          </a:prstGeom>
          <a:solidFill>
            <a:srgbClr val="445569"/>
          </a:solidFill>
          <a:ln>
            <a:noFill/>
          </a:ln>
        </p:spPr>
        <p:txBody>
          <a:bodyPr rtlCol="0" anchor="ctr" wrap="square" lIns="36576" rIns="36576" tIns="27432" bIns="27432">
            <a:noAutofit/>
          </a:bodyPr>
          <a:lstStyle/>
          <a:p>
            <a:pPr algn="ctr">
              <a:spcAft>
                <a:spcPts val="0"/>
              </a:spcAft>
            </a:pPr>
            <a:r>
              <a:rPr sz="950" b="1" i="0">
                <a:solidFill>
                  <a:srgbClr val="FFFFFF"/>
                </a:solidFill>
                <a:latin typeface="Arial"/>
                <a:ea typeface="맑은 고딕"/>
              </a:rPr>
              <a:t>active</a:t>
            </a:r>
          </a:p>
        </p:txBody>
      </p:sp>
      <p:cxnSp>
        <p:nvCxnSpPr>
          <p:cNvPr id="87" name="Connector 86"/>
          <p:cNvCxnSpPr/>
          <p:nvPr/>
        </p:nvCxnSpPr>
        <p:spPr>
          <a:xfrm>
            <a:off x="7854696" y="3675887"/>
            <a:ext cx="557784" cy="45721"/>
          </a:xfrm>
          <a:prstGeom prst="line">
            <a:avLst/>
          </a:prstGeom>
          <a:ln w="28575">
            <a:solidFill>
              <a:srgbClr val="445569"/>
            </a:solidFill>
            <a:tailEnd type="triangle" w="med" len="med"/>
          </a:ln>
        </p:spPr>
      </p:cxnSp>
      <p:sp>
        <p:nvSpPr>
          <p:cNvPr id="88" name="Rounded Rectangle 87"/>
          <p:cNvSpPr/>
          <p:nvPr/>
        </p:nvSpPr>
        <p:spPr>
          <a:xfrm>
            <a:off x="8430767" y="4096512"/>
            <a:ext cx="3017520" cy="530352"/>
          </a:xfrm>
          <a:prstGeom prst="roundRect">
            <a:avLst>
              <a:gd name="adj" fmla="val 15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89" name="TextBox 88"/>
          <p:cNvSpPr txBox="1"/>
          <p:nvPr/>
        </p:nvSpPr>
        <p:spPr>
          <a:xfrm>
            <a:off x="8522208" y="4096512"/>
            <a:ext cx="1965960" cy="530352"/>
          </a:xfrm>
          <a:prstGeom prst="rect">
            <a:avLst/>
          </a:prstGeom>
          <a:noFill/>
        </p:spPr>
        <p:txBody>
          <a:bodyPr wrap="square" lIns="0" rIns="0" tIns="27432" bIns="27432" anchor="ctr">
            <a:noAutofit/>
          </a:bodyPr>
          <a:lstStyle/>
          <a:p>
            <a:pPr algn="l">
              <a:spcAft>
                <a:spcPts val="0"/>
              </a:spcAft>
            </a:pPr>
            <a:r>
              <a:rPr sz="1100" b="1" i="0">
                <a:solidFill>
                  <a:srgbClr val="6B6B6B"/>
                </a:solidFill>
                <a:latin typeface="Arial"/>
                <a:ea typeface="맑은 고딕"/>
              </a:rPr>
              <a:t>초기 탐색 취향</a:t>
            </a:r>
          </a:p>
          <a:p>
            <a:pPr algn="l">
              <a:spcAft>
                <a:spcPts val="0"/>
              </a:spcAft>
            </a:pPr>
            <a:r>
              <a:rPr sz="950" b="0" i="0">
                <a:solidFill>
                  <a:srgbClr val="8C8C8C"/>
                </a:solidFill>
                <a:latin typeface="Arial"/>
                <a:ea typeface="맑은 고딕"/>
              </a:rPr>
              <a:t>tag: —</a:t>
            </a:r>
          </a:p>
        </p:txBody>
      </p:sp>
      <p:sp>
        <p:nvSpPr>
          <p:cNvPr id="90" name="Rounded Rectangle 89"/>
          <p:cNvSpPr/>
          <p:nvPr/>
        </p:nvSpPr>
        <p:spPr>
          <a:xfrm>
            <a:off x="10506455" y="4233672"/>
            <a:ext cx="841248" cy="256032"/>
          </a:xfrm>
          <a:prstGeom prst="roundRect">
            <a:avLst>
              <a:gd name="adj" fmla="val 30000"/>
            </a:avLst>
          </a:prstGeom>
          <a:solidFill>
            <a:srgbClr val="FFFFFF"/>
          </a:solidFill>
          <a:ln w="12700">
            <a:solidFill>
              <a:srgbClr val="A6A6A6"/>
            </a:solidFill>
          </a:ln>
        </p:spPr>
        <p:txBody>
          <a:bodyPr rtlCol="0" anchor="ctr" wrap="square" lIns="36576" rIns="36576" tIns="27432" bIns="27432">
            <a:noAutofit/>
          </a:bodyPr>
          <a:lstStyle/>
          <a:p>
            <a:pPr algn="ctr">
              <a:spcAft>
                <a:spcPts val="0"/>
              </a:spcAft>
            </a:pPr>
            <a:r>
              <a:rPr sz="950" b="1" i="0">
                <a:solidFill>
                  <a:srgbClr val="6B6B6B"/>
                </a:solidFill>
                <a:latin typeface="Arial"/>
                <a:ea typeface="맑은 고딕"/>
              </a:rPr>
              <a:t>stale</a:t>
            </a:r>
          </a:p>
        </p:txBody>
      </p:sp>
      <p:cxnSp>
        <p:nvCxnSpPr>
          <p:cNvPr id="91" name="Connector 90"/>
          <p:cNvCxnSpPr/>
          <p:nvPr/>
        </p:nvCxnSpPr>
        <p:spPr>
          <a:xfrm>
            <a:off x="7854696" y="3675887"/>
            <a:ext cx="557784" cy="685801"/>
          </a:xfrm>
          <a:prstGeom prst="line">
            <a:avLst/>
          </a:prstGeom>
          <a:ln w="12700">
            <a:solidFill>
              <a:srgbClr val="A6A6A6"/>
            </a:solidFill>
            <a:prstDash val="dash"/>
          </a:ln>
        </p:spPr>
      </p:cxnSp>
      <p:sp>
        <p:nvSpPr>
          <p:cNvPr id="92" name="TextBox 91"/>
          <p:cNvSpPr txBox="1"/>
          <p:nvPr/>
        </p:nvSpPr>
        <p:spPr>
          <a:xfrm>
            <a:off x="6373368" y="4800600"/>
            <a:ext cx="5120640" cy="256032"/>
          </a:xfrm>
          <a:prstGeom prst="rect">
            <a:avLst/>
          </a:prstGeom>
          <a:noFill/>
        </p:spPr>
        <p:txBody>
          <a:bodyPr wrap="square" lIns="0" rIns="0" tIns="27432" bIns="27432" anchor="t">
            <a:noAutofit/>
          </a:bodyPr>
          <a:lstStyle/>
          <a:p>
            <a:pPr algn="l">
              <a:spcAft>
                <a:spcPts val="0"/>
              </a:spcAft>
            </a:pPr>
            <a:r>
              <a:rPr sz="950" b="0" i="0">
                <a:solidFill>
                  <a:srgbClr val="6B6B6B"/>
                </a:solidFill>
                <a:latin typeface="Arial"/>
                <a:ea typeface="맑은 고딕"/>
              </a:rPr>
              <a:t>예시 cluster — 실선: 선택 경로 · 회색 점선: 오염 경로(배제)</a:t>
            </a:r>
          </a:p>
        </p:txBody>
      </p:sp>
      <p:sp>
        <p:nvSpPr>
          <p:cNvPr id="93" name="TextBox 92"/>
          <p:cNvSpPr txBox="1"/>
          <p:nvPr/>
        </p:nvSpPr>
        <p:spPr>
          <a:xfrm>
            <a:off x="548640" y="5166360"/>
            <a:ext cx="1463040" cy="274320"/>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cluster 상태</a:t>
            </a:r>
          </a:p>
        </p:txBody>
      </p:sp>
      <p:sp>
        <p:nvSpPr>
          <p:cNvPr id="94" name="Rounded Rectangle 93"/>
          <p:cNvSpPr/>
          <p:nvPr/>
        </p:nvSpPr>
        <p:spPr>
          <a:xfrm>
            <a:off x="1691640" y="5175504"/>
            <a:ext cx="914400" cy="256032"/>
          </a:xfrm>
          <a:prstGeom prst="roundRect">
            <a:avLst>
              <a:gd name="adj" fmla="val 30000"/>
            </a:avLst>
          </a:prstGeom>
          <a:solidFill>
            <a:srgbClr val="D0D0D0"/>
          </a:solidFill>
          <a:ln>
            <a:noFill/>
          </a:ln>
        </p:spPr>
        <p:txBody>
          <a:bodyPr rtlCol="0" anchor="ctr" wrap="square" lIns="36576" rIns="36576" tIns="27432" bIns="27432">
            <a:noAutofit/>
          </a:bodyPr>
          <a:lstStyle/>
          <a:p>
            <a:pPr algn="ctr">
              <a:spcAft>
                <a:spcPts val="0"/>
              </a:spcAft>
            </a:pPr>
            <a:r>
              <a:rPr sz="950" b="1" i="0">
                <a:solidFill>
                  <a:srgbClr val="1A1A1A"/>
                </a:solidFill>
                <a:latin typeface="Arial"/>
                <a:ea typeface="맑은 고딕"/>
              </a:rPr>
              <a:t>tentative</a:t>
            </a:r>
          </a:p>
        </p:txBody>
      </p:sp>
      <p:sp>
        <p:nvSpPr>
          <p:cNvPr id="95" name="Rounded Rectangle 94"/>
          <p:cNvSpPr/>
          <p:nvPr/>
        </p:nvSpPr>
        <p:spPr>
          <a:xfrm>
            <a:off x="2715768" y="5175504"/>
            <a:ext cx="914400" cy="256032"/>
          </a:xfrm>
          <a:prstGeom prst="roundRect">
            <a:avLst>
              <a:gd name="adj" fmla="val 30000"/>
            </a:avLst>
          </a:prstGeom>
          <a:solidFill>
            <a:srgbClr val="445569"/>
          </a:solidFill>
          <a:ln>
            <a:noFill/>
          </a:ln>
        </p:spPr>
        <p:txBody>
          <a:bodyPr rtlCol="0" anchor="ctr" wrap="square" lIns="36576" rIns="36576" tIns="27432" bIns="27432">
            <a:noAutofit/>
          </a:bodyPr>
          <a:lstStyle/>
          <a:p>
            <a:pPr algn="ctr">
              <a:spcAft>
                <a:spcPts val="0"/>
              </a:spcAft>
            </a:pPr>
            <a:r>
              <a:rPr sz="950" b="1" i="0">
                <a:solidFill>
                  <a:srgbClr val="FFFFFF"/>
                </a:solidFill>
                <a:latin typeface="Arial"/>
                <a:ea typeface="맑은 고딕"/>
              </a:rPr>
              <a:t>active</a:t>
            </a:r>
          </a:p>
        </p:txBody>
      </p:sp>
      <p:sp>
        <p:nvSpPr>
          <p:cNvPr id="96" name="Rounded Rectangle 95"/>
          <p:cNvSpPr/>
          <p:nvPr/>
        </p:nvSpPr>
        <p:spPr>
          <a:xfrm>
            <a:off x="3739896" y="5175504"/>
            <a:ext cx="914400" cy="256032"/>
          </a:xfrm>
          <a:prstGeom prst="roundRect">
            <a:avLst>
              <a:gd name="adj" fmla="val 30000"/>
            </a:avLst>
          </a:prstGeom>
          <a:solidFill>
            <a:srgbClr val="FFFFFF"/>
          </a:solidFill>
          <a:ln w="12700">
            <a:solidFill>
              <a:srgbClr val="A6A6A6"/>
            </a:solidFill>
          </a:ln>
        </p:spPr>
        <p:txBody>
          <a:bodyPr rtlCol="0" anchor="ctr" wrap="square" lIns="36576" rIns="36576" tIns="27432" bIns="27432">
            <a:noAutofit/>
          </a:bodyPr>
          <a:lstStyle/>
          <a:p>
            <a:pPr algn="ctr">
              <a:spcAft>
                <a:spcPts val="0"/>
              </a:spcAft>
            </a:pPr>
            <a:r>
              <a:rPr sz="950" b="1" i="0">
                <a:solidFill>
                  <a:srgbClr val="6B6B6B"/>
                </a:solidFill>
                <a:latin typeface="Arial"/>
                <a:ea typeface="맑은 고딕"/>
              </a:rPr>
              <a:t>stale</a:t>
            </a:r>
          </a:p>
        </p:txBody>
      </p:sp>
      <p:sp>
        <p:nvSpPr>
          <p:cNvPr id="97" name="Rounded Rectangle 96"/>
          <p:cNvSpPr/>
          <p:nvPr/>
        </p:nvSpPr>
        <p:spPr>
          <a:xfrm>
            <a:off x="4764024" y="5175504"/>
            <a:ext cx="914400" cy="256032"/>
          </a:xfrm>
          <a:prstGeom prst="roundRect">
            <a:avLst>
              <a:gd name="adj" fmla="val 30000"/>
            </a:avLst>
          </a:prstGeom>
          <a:solidFill>
            <a:srgbClr val="FBE4E1"/>
          </a:solidFill>
          <a:ln>
            <a:noFill/>
          </a:ln>
        </p:spPr>
        <p:txBody>
          <a:bodyPr rtlCol="0" anchor="ctr" wrap="square" lIns="36576" rIns="36576" tIns="27432" bIns="27432">
            <a:noAutofit/>
          </a:bodyPr>
          <a:lstStyle/>
          <a:p>
            <a:pPr algn="ctr">
              <a:spcAft>
                <a:spcPts val="0"/>
              </a:spcAft>
            </a:pPr>
            <a:r>
              <a:rPr sz="950" b="1" i="0">
                <a:solidFill>
                  <a:srgbClr val="C8372D"/>
                </a:solidFill>
                <a:latin typeface="Arial"/>
                <a:ea typeface="맑은 고딕"/>
              </a:rPr>
              <a:t>suppressed</a:t>
            </a:r>
          </a:p>
        </p:txBody>
      </p:sp>
      <p:sp>
        <p:nvSpPr>
          <p:cNvPr id="98" name="Rounded Rectangle 97"/>
          <p:cNvSpPr/>
          <p:nvPr/>
        </p:nvSpPr>
        <p:spPr>
          <a:xfrm>
            <a:off x="548640" y="5577840"/>
            <a:ext cx="11091672" cy="640080"/>
          </a:xfrm>
          <a:prstGeom prst="roundRect">
            <a:avLst>
              <a:gd name="adj" fmla="val 20000"/>
            </a:avLst>
          </a:prstGeom>
          <a:solidFill>
            <a:srgbClr val="E6EAF0"/>
          </a:solidFill>
          <a:ln>
            <a:noFill/>
          </a:ln>
        </p:spPr>
        <p:txBody>
          <a:bodyPr rtlCol="0" anchor="ctr" wrap="square" lIns="182880" rIns="182880" tIns="27432" bIns="27432">
            <a:noAutofit/>
          </a:bodyPr>
          <a:lstStyle/>
          <a:p>
            <a:pPr algn="ctr">
              <a:spcAft>
                <a:spcPts val="0"/>
              </a:spcAft>
            </a:pPr>
            <a:r>
              <a:rPr sz="1300" b="1" i="0">
                <a:solidFill>
                  <a:srgbClr val="445569"/>
                </a:solidFill>
                <a:latin typeface="Arial"/>
                <a:ea typeface="맑은 고딕"/>
              </a:rPr>
              <a:t>핵심 비교   </a:t>
            </a:r>
            <a:r>
              <a:rPr sz="1400" b="1" i="0">
                <a:solidFill>
                  <a:srgbClr val="1A1A1A"/>
                </a:solidFill>
                <a:latin typeface="Arial"/>
                <a:ea typeface="맑은 고딕"/>
              </a:rPr>
              <a:t>B1 current turn  vs  B4 Cluster + Router</a:t>
            </a:r>
            <a:r>
              <a:rPr sz="1300" b="1" i="0">
                <a:solidFill>
                  <a:srgbClr val="445569"/>
                </a:solidFill>
                <a:latin typeface="Arial"/>
                <a:ea typeface="맑은 고딕"/>
              </a:rPr>
              <a:t>        보조 비교   </a:t>
            </a:r>
            <a:r>
              <a:rPr sz="1300" b="1" i="0">
                <a:solidFill>
                  <a:srgbClr val="6B6B6B"/>
                </a:solidFill>
                <a:latin typeface="Arial"/>
                <a:ea typeface="맑은 고딕"/>
              </a:rPr>
              <a:t>B2 full history · B3 Session Node</a:t>
            </a:r>
          </a:p>
        </p:txBody>
      </p:sp>
    </p:spTree>
    <p:extLst>
      <p:ext uri="{BB962C8B-B14F-4D97-AF65-F5344CB8AC3E}">
        <p14:creationId xmlns:p14="http://schemas.microsoft.com/office/powerpoint/2010/main" val="3605434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4"/>
          <p:cNvSpPr txBox="1"/>
          <p:nvPr/>
        </p:nvSpPr>
        <p:spPr>
          <a:xfrm>
            <a:off x="17463" y="-27384"/>
            <a:ext cx="1160462" cy="11079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6600" b="1" dirty="0">
                <a:solidFill>
                  <a:srgbClr val="FFBD11"/>
                </a:solidFill>
                <a:latin typeface="+mj-lt"/>
                <a:ea typeface="Arial"/>
                <a:cs typeface="Arial"/>
                <a:sym typeface="Arial"/>
              </a:rPr>
              <a:t>0</a:t>
            </a:r>
            <a:r>
              <a:rPr lang="en-US" altLang="ko-KR" sz="6600" b="1" dirty="0">
                <a:solidFill>
                  <a:srgbClr val="FFBD11"/>
                </a:solidFill>
                <a:latin typeface="+mj-lt"/>
                <a:ea typeface="Arial"/>
                <a:cs typeface="Arial"/>
                <a:sym typeface="Arial"/>
              </a:rPr>
              <a:t>3</a:t>
            </a:r>
            <a:r>
              <a:rPr lang="ko-KR" sz="4000" b="1" dirty="0">
                <a:solidFill>
                  <a:srgbClr val="445569"/>
                </a:solidFill>
                <a:latin typeface="+mj-lt"/>
                <a:ea typeface="Arial"/>
                <a:cs typeface="Arial"/>
                <a:sym typeface="Arial"/>
              </a:rPr>
              <a:t> </a:t>
            </a:r>
            <a:endParaRPr sz="4000" b="1" dirty="0">
              <a:solidFill>
                <a:srgbClr val="445569"/>
              </a:solidFill>
              <a:latin typeface="+mj-lt"/>
              <a:ea typeface="Arial"/>
              <a:cs typeface="Arial"/>
              <a:sym typeface="Arial"/>
            </a:endParaRPr>
          </a:p>
        </p:txBody>
      </p:sp>
      <p:sp>
        <p:nvSpPr>
          <p:cNvPr id="45" name="Google Shape;45;p4"/>
          <p:cNvSpPr txBox="1"/>
          <p:nvPr/>
        </p:nvSpPr>
        <p:spPr>
          <a:xfrm>
            <a:off x="984110" y="126483"/>
            <a:ext cx="64008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chemeClr val="tx1"/>
                </a:solidFill>
                <a:latin typeface="+mj-lt"/>
                <a:ea typeface="맑은 고딕"/>
                <a:cs typeface="Calibri"/>
                <a:sym typeface="Calibri"/>
              </a:rPr>
              <a:t>프로젝트 수행 절차 및 방법</a:t>
            </a:r>
            <a:endParaRPr dirty="0">
              <a:solidFill>
                <a:schemeClr val="tx1"/>
              </a:solidFill>
              <a:latin typeface="+mj-lt"/>
            </a:endParaRPr>
          </a:p>
        </p:txBody>
      </p:sp>
      <p:cxnSp>
        <p:nvCxnSpPr>
          <p:cNvPr id="46" name="Google Shape;46;p4"/>
          <p:cNvCxnSpPr>
            <a:cxnSpLocks/>
          </p:cNvCxnSpPr>
          <p:nvPr/>
        </p:nvCxnSpPr>
        <p:spPr>
          <a:xfrm flipV="1">
            <a:off x="1107936" y="526593"/>
            <a:ext cx="10827390" cy="13164"/>
          </a:xfrm>
          <a:prstGeom prst="straightConnector1">
            <a:avLst/>
          </a:prstGeom>
          <a:noFill/>
          <a:ln w="31750" cap="flat" cmpd="sng">
            <a:solidFill>
              <a:srgbClr val="FFBD11"/>
            </a:solidFill>
            <a:prstDash val="solid"/>
            <a:miter lim="800000"/>
            <a:headEnd type="none" w="sm" len="sm"/>
            <a:tailEnd type="none" w="sm" len="sm"/>
          </a:ln>
        </p:spPr>
      </p:cxnSp>
      <p:sp>
        <p:nvSpPr>
          <p:cNvPr id="9" name="Google Shape;124;p8">
            <a:extLst>
              <a:ext uri="{FF2B5EF4-FFF2-40B4-BE49-F238E27FC236}">
                <a16:creationId xmlns:a16="http://schemas.microsoft.com/office/drawing/2014/main" id="{043106DF-ECD6-42C2-8B7A-2D53A210501B}"/>
              </a:ext>
            </a:extLst>
          </p:cNvPr>
          <p:cNvSpPr txBox="1"/>
          <p:nvPr/>
        </p:nvSpPr>
        <p:spPr>
          <a:xfrm>
            <a:off x="1075852" y="615955"/>
            <a:ext cx="108813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rgbClr val="1A1A1A"/>
                </a:solidFill>
                <a:latin typeface="+mj-lt"/>
                <a:ea typeface="맑은 고딕"/>
                <a:cs typeface="Calibri"/>
                <a:sym typeface="Calibri"/>
              </a:rPr>
              <a:t>작품 추천과 전시 방문 가능성을 두 층으로 검증한다</a:t>
            </a:r>
            <a:endParaRPr dirty="0">
              <a:solidFill>
                <a:schemeClr val="tx1"/>
              </a:solidFill>
              <a:latin typeface="+mj-lt"/>
            </a:endParaRPr>
          </a:p>
        </p:txBody>
      </p:sp>
      <p:sp>
        <p:nvSpPr>
          <p:cNvPr id="47" name="Rounded Rectangle 46"/>
          <p:cNvSpPr/>
          <p:nvPr/>
        </p:nvSpPr>
        <p:spPr>
          <a:xfrm>
            <a:off x="548640" y="1234440"/>
            <a:ext cx="3749039" cy="2926080"/>
          </a:xfrm>
          <a:prstGeom prst="roundRect">
            <a:avLst>
              <a:gd name="adj" fmla="val 5000"/>
            </a:avLst>
          </a:prstGeom>
          <a:solidFill>
            <a:srgbClr val="E6EAF0"/>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48" name="TextBox 47"/>
          <p:cNvSpPr txBox="1"/>
          <p:nvPr/>
        </p:nvSpPr>
        <p:spPr>
          <a:xfrm>
            <a:off x="731520" y="1307592"/>
            <a:ext cx="3383280" cy="640080"/>
          </a:xfrm>
          <a:prstGeom prst="rect">
            <a:avLst/>
          </a:prstGeom>
          <a:noFill/>
        </p:spPr>
        <p:txBody>
          <a:bodyPr wrap="square" lIns="0" rIns="0" tIns="27432" bIns="27432" anchor="t">
            <a:noAutofit/>
          </a:bodyPr>
          <a:lstStyle/>
          <a:p>
            <a:pPr algn="l">
              <a:spcAft>
                <a:spcPts val="0"/>
              </a:spcAft>
            </a:pPr>
            <a:r>
              <a:rPr sz="1700" b="1" i="0">
                <a:solidFill>
                  <a:srgbClr val="1A1A1A"/>
                </a:solidFill>
                <a:latin typeface="Arial"/>
                <a:ea typeface="맑은 고딕"/>
              </a:rPr>
              <a:t>Artwork Layer</a:t>
            </a:r>
          </a:p>
          <a:p>
            <a:pPr algn="l">
              <a:spcAft>
                <a:spcPts val="0"/>
              </a:spcAft>
            </a:pPr>
            <a:r>
              <a:rPr sz="1200" b="1" i="0">
                <a:solidFill>
                  <a:srgbClr val="445569"/>
                </a:solidFill>
                <a:latin typeface="Arial"/>
                <a:ea typeface="맑은 고딕"/>
              </a:rPr>
              <a:t>왜 추천했는가</a:t>
            </a:r>
          </a:p>
        </p:txBody>
      </p:sp>
      <p:sp>
        <p:nvSpPr>
          <p:cNvPr id="49" name="Rounded Rectangle 48"/>
          <p:cNvSpPr/>
          <p:nvPr/>
        </p:nvSpPr>
        <p:spPr>
          <a:xfrm>
            <a:off x="731520" y="2011680"/>
            <a:ext cx="3383280" cy="338328"/>
          </a:xfrm>
          <a:prstGeom prst="roundRect">
            <a:avLst>
              <a:gd name="adj" fmla="val 25000"/>
            </a:avLst>
          </a:prstGeom>
          <a:solidFill>
            <a:srgbClr val="FFFFFF"/>
          </a:solidFill>
          <a:ln>
            <a:noFill/>
          </a:ln>
        </p:spPr>
        <p:txBody>
          <a:bodyPr rtlCol="0" anchor="ctr" wrap="square" lIns="137160" rIns="137160" tIns="27432" bIns="27432">
            <a:noAutofit/>
          </a:bodyPr>
          <a:lstStyle/>
          <a:p>
            <a:pPr algn="l">
              <a:spcAft>
                <a:spcPts val="0"/>
              </a:spcAft>
            </a:pPr>
            <a:r>
              <a:rPr sz="1150" b="0" i="0">
                <a:solidFill>
                  <a:srgbClr val="1A1A1A"/>
                </a:solidFill>
                <a:latin typeface="Arial"/>
                <a:ea typeface="맑은 고딕"/>
              </a:rPr>
              <a:t>작품 설명</a:t>
            </a:r>
          </a:p>
        </p:txBody>
      </p:sp>
      <p:sp>
        <p:nvSpPr>
          <p:cNvPr id="50" name="Rounded Rectangle 49"/>
          <p:cNvSpPr/>
          <p:nvPr/>
        </p:nvSpPr>
        <p:spPr>
          <a:xfrm>
            <a:off x="731520" y="2423160"/>
            <a:ext cx="3383280" cy="338328"/>
          </a:xfrm>
          <a:prstGeom prst="roundRect">
            <a:avLst>
              <a:gd name="adj" fmla="val 25000"/>
            </a:avLst>
          </a:prstGeom>
          <a:solidFill>
            <a:srgbClr val="FFFFFF"/>
          </a:solidFill>
          <a:ln>
            <a:noFill/>
          </a:ln>
        </p:spPr>
        <p:txBody>
          <a:bodyPr rtlCol="0" anchor="ctr" wrap="square" lIns="137160" rIns="137160" tIns="27432" bIns="27432">
            <a:noAutofit/>
          </a:bodyPr>
          <a:lstStyle/>
          <a:p>
            <a:pPr algn="l">
              <a:spcAft>
                <a:spcPts val="0"/>
              </a:spcAft>
            </a:pPr>
            <a:r>
              <a:rPr sz="1150" b="0" i="0">
                <a:solidFill>
                  <a:srgbClr val="1A1A1A"/>
                </a:solidFill>
                <a:latin typeface="Arial"/>
                <a:ea typeface="맑은 고딕"/>
              </a:rPr>
              <a:t>작가</a:t>
            </a:r>
          </a:p>
        </p:txBody>
      </p:sp>
      <p:sp>
        <p:nvSpPr>
          <p:cNvPr id="51" name="Rounded Rectangle 50"/>
          <p:cNvSpPr/>
          <p:nvPr/>
        </p:nvSpPr>
        <p:spPr>
          <a:xfrm>
            <a:off x="731520" y="2834640"/>
            <a:ext cx="3383280" cy="338328"/>
          </a:xfrm>
          <a:prstGeom prst="roundRect">
            <a:avLst>
              <a:gd name="adj" fmla="val 25000"/>
            </a:avLst>
          </a:prstGeom>
          <a:solidFill>
            <a:srgbClr val="FFFFFF"/>
          </a:solidFill>
          <a:ln>
            <a:noFill/>
          </a:ln>
        </p:spPr>
        <p:txBody>
          <a:bodyPr rtlCol="0" anchor="ctr" wrap="square" lIns="137160" rIns="137160" tIns="27432" bIns="27432">
            <a:noAutofit/>
          </a:bodyPr>
          <a:lstStyle/>
          <a:p>
            <a:pPr algn="l">
              <a:spcAft>
                <a:spcPts val="0"/>
              </a:spcAft>
            </a:pPr>
            <a:r>
              <a:rPr sz="1150" b="0" i="0">
                <a:solidFill>
                  <a:srgbClr val="1A1A1A"/>
                </a:solidFill>
                <a:latin typeface="Arial"/>
                <a:ea typeface="맑은 고딕"/>
              </a:rPr>
              <a:t>제작연도</a:t>
            </a:r>
          </a:p>
        </p:txBody>
      </p:sp>
      <p:sp>
        <p:nvSpPr>
          <p:cNvPr id="52" name="Rounded Rectangle 51"/>
          <p:cNvSpPr/>
          <p:nvPr/>
        </p:nvSpPr>
        <p:spPr>
          <a:xfrm>
            <a:off x="731520" y="3246120"/>
            <a:ext cx="3383280" cy="338328"/>
          </a:xfrm>
          <a:prstGeom prst="roundRect">
            <a:avLst>
              <a:gd name="adj" fmla="val 25000"/>
            </a:avLst>
          </a:prstGeom>
          <a:solidFill>
            <a:srgbClr val="FFFFFF"/>
          </a:solidFill>
          <a:ln>
            <a:noFill/>
          </a:ln>
        </p:spPr>
        <p:txBody>
          <a:bodyPr rtlCol="0" anchor="ctr" wrap="square" lIns="137160" rIns="137160" tIns="27432" bIns="27432">
            <a:noAutofit/>
          </a:bodyPr>
          <a:lstStyle/>
          <a:p>
            <a:pPr algn="l">
              <a:spcAft>
                <a:spcPts val="0"/>
              </a:spcAft>
            </a:pPr>
            <a:r>
              <a:rPr sz="1150" b="0" i="0">
                <a:solidFill>
                  <a:srgbClr val="1A1A1A"/>
                </a:solidFill>
                <a:latin typeface="Arial"/>
                <a:ea typeface="맑은 고딕"/>
              </a:rPr>
              <a:t>재료</a:t>
            </a:r>
          </a:p>
        </p:txBody>
      </p:sp>
      <p:sp>
        <p:nvSpPr>
          <p:cNvPr id="53" name="Rounded Rectangle 52"/>
          <p:cNvSpPr/>
          <p:nvPr/>
        </p:nvSpPr>
        <p:spPr>
          <a:xfrm>
            <a:off x="731520" y="3657600"/>
            <a:ext cx="3383280" cy="338328"/>
          </a:xfrm>
          <a:prstGeom prst="roundRect">
            <a:avLst>
              <a:gd name="adj" fmla="val 25000"/>
            </a:avLst>
          </a:prstGeom>
          <a:solidFill>
            <a:srgbClr val="FFFFFF"/>
          </a:solidFill>
          <a:ln>
            <a:noFill/>
          </a:ln>
        </p:spPr>
        <p:txBody>
          <a:bodyPr rtlCol="0" anchor="ctr" wrap="square" lIns="137160" rIns="137160" tIns="27432" bIns="27432">
            <a:noAutofit/>
          </a:bodyPr>
          <a:lstStyle/>
          <a:p>
            <a:pPr algn="l">
              <a:spcAft>
                <a:spcPts val="0"/>
              </a:spcAft>
            </a:pPr>
            <a:r>
              <a:rPr sz="1150" b="0" i="0">
                <a:solidFill>
                  <a:srgbClr val="1A1A1A"/>
                </a:solidFill>
                <a:latin typeface="Arial"/>
                <a:ea typeface="맑은 고딕"/>
              </a:rPr>
              <a:t>작품 근거 (evidence span)</a:t>
            </a:r>
          </a:p>
        </p:txBody>
      </p:sp>
      <p:sp>
        <p:nvSpPr>
          <p:cNvPr id="54" name="Rounded Rectangle 53"/>
          <p:cNvSpPr/>
          <p:nvPr/>
        </p:nvSpPr>
        <p:spPr>
          <a:xfrm>
            <a:off x="7891272" y="1234440"/>
            <a:ext cx="3749039" cy="2926080"/>
          </a:xfrm>
          <a:prstGeom prst="roundRect">
            <a:avLst>
              <a:gd name="adj" fmla="val 5000"/>
            </a:avLst>
          </a:prstGeom>
          <a:solidFill>
            <a:srgbClr val="E6EAF0"/>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5" name="TextBox 54"/>
          <p:cNvSpPr txBox="1"/>
          <p:nvPr/>
        </p:nvSpPr>
        <p:spPr>
          <a:xfrm>
            <a:off x="8074152" y="1307592"/>
            <a:ext cx="3383280" cy="640080"/>
          </a:xfrm>
          <a:prstGeom prst="rect">
            <a:avLst/>
          </a:prstGeom>
          <a:noFill/>
        </p:spPr>
        <p:txBody>
          <a:bodyPr wrap="square" lIns="0" rIns="0" tIns="27432" bIns="27432" anchor="t">
            <a:noAutofit/>
          </a:bodyPr>
          <a:lstStyle/>
          <a:p>
            <a:pPr algn="l">
              <a:spcAft>
                <a:spcPts val="0"/>
              </a:spcAft>
            </a:pPr>
            <a:r>
              <a:rPr sz="1700" b="1" i="0">
                <a:solidFill>
                  <a:srgbClr val="1A1A1A"/>
                </a:solidFill>
                <a:latin typeface="Arial"/>
                <a:ea typeface="맑은 고딕"/>
              </a:rPr>
              <a:t>Exhibition Layer</a:t>
            </a:r>
          </a:p>
          <a:p>
            <a:pPr algn="l">
              <a:spcAft>
                <a:spcPts val="0"/>
              </a:spcAft>
            </a:pPr>
            <a:r>
              <a:rPr sz="1200" b="1" i="0">
                <a:solidFill>
                  <a:srgbClr val="445569"/>
                </a:solidFill>
                <a:latin typeface="Arial"/>
                <a:ea typeface="맑은 고딕"/>
              </a:rPr>
              <a:t>오늘 방문 가능한가</a:t>
            </a:r>
          </a:p>
        </p:txBody>
      </p:sp>
      <p:sp>
        <p:nvSpPr>
          <p:cNvPr id="56" name="Rounded Rectangle 55"/>
          <p:cNvSpPr/>
          <p:nvPr/>
        </p:nvSpPr>
        <p:spPr>
          <a:xfrm>
            <a:off x="8074152" y="2011680"/>
            <a:ext cx="3383280" cy="338328"/>
          </a:xfrm>
          <a:prstGeom prst="roundRect">
            <a:avLst>
              <a:gd name="adj" fmla="val 25000"/>
            </a:avLst>
          </a:prstGeom>
          <a:solidFill>
            <a:srgbClr val="FFFFFF"/>
          </a:solidFill>
          <a:ln>
            <a:noFill/>
          </a:ln>
        </p:spPr>
        <p:txBody>
          <a:bodyPr rtlCol="0" anchor="ctr" wrap="square" lIns="137160" rIns="137160" tIns="27432" bIns="27432">
            <a:noAutofit/>
          </a:bodyPr>
          <a:lstStyle/>
          <a:p>
            <a:pPr algn="l">
              <a:spcAft>
                <a:spcPts val="0"/>
              </a:spcAft>
            </a:pPr>
            <a:r>
              <a:rPr sz="1150" b="0" i="0">
                <a:solidFill>
                  <a:srgbClr val="1A1A1A"/>
                </a:solidFill>
                <a:latin typeface="Arial"/>
                <a:ea typeface="맑은 고딕"/>
              </a:rPr>
              <a:t>전시명</a:t>
            </a:r>
          </a:p>
        </p:txBody>
      </p:sp>
      <p:sp>
        <p:nvSpPr>
          <p:cNvPr id="57" name="Rounded Rectangle 56"/>
          <p:cNvSpPr/>
          <p:nvPr/>
        </p:nvSpPr>
        <p:spPr>
          <a:xfrm>
            <a:off x="8074152" y="2423160"/>
            <a:ext cx="3383280" cy="338328"/>
          </a:xfrm>
          <a:prstGeom prst="roundRect">
            <a:avLst>
              <a:gd name="adj" fmla="val 25000"/>
            </a:avLst>
          </a:prstGeom>
          <a:solidFill>
            <a:srgbClr val="FFFFFF"/>
          </a:solidFill>
          <a:ln>
            <a:noFill/>
          </a:ln>
        </p:spPr>
        <p:txBody>
          <a:bodyPr rtlCol="0" anchor="ctr" wrap="square" lIns="137160" rIns="137160" tIns="27432" bIns="27432">
            <a:noAutofit/>
          </a:bodyPr>
          <a:lstStyle/>
          <a:p>
            <a:pPr algn="l">
              <a:spcAft>
                <a:spcPts val="0"/>
              </a:spcAft>
            </a:pPr>
            <a:r>
              <a:rPr sz="1150" b="0" i="0">
                <a:solidFill>
                  <a:srgbClr val="1A1A1A"/>
                </a:solidFill>
                <a:latin typeface="Arial"/>
                <a:ea typeface="맑은 고딕"/>
              </a:rPr>
              <a:t>장소</a:t>
            </a:r>
          </a:p>
        </p:txBody>
      </p:sp>
      <p:sp>
        <p:nvSpPr>
          <p:cNvPr id="58" name="Rounded Rectangle 57"/>
          <p:cNvSpPr/>
          <p:nvPr/>
        </p:nvSpPr>
        <p:spPr>
          <a:xfrm>
            <a:off x="8074152" y="2834640"/>
            <a:ext cx="3383280" cy="338328"/>
          </a:xfrm>
          <a:prstGeom prst="roundRect">
            <a:avLst>
              <a:gd name="adj" fmla="val 25000"/>
            </a:avLst>
          </a:prstGeom>
          <a:solidFill>
            <a:srgbClr val="FFFFFF"/>
          </a:solidFill>
          <a:ln>
            <a:noFill/>
          </a:ln>
        </p:spPr>
        <p:txBody>
          <a:bodyPr rtlCol="0" anchor="ctr" wrap="square" lIns="137160" rIns="137160" tIns="27432" bIns="27432">
            <a:noAutofit/>
          </a:bodyPr>
          <a:lstStyle/>
          <a:p>
            <a:pPr algn="l">
              <a:spcAft>
                <a:spcPts val="0"/>
              </a:spcAft>
            </a:pPr>
            <a:r>
              <a:rPr sz="1150" b="0" i="0">
                <a:solidFill>
                  <a:srgbClr val="1A1A1A"/>
                </a:solidFill>
                <a:latin typeface="Arial"/>
                <a:ea typeface="맑은 고딕"/>
              </a:rPr>
              <a:t>기간</a:t>
            </a:r>
          </a:p>
        </p:txBody>
      </p:sp>
      <p:sp>
        <p:nvSpPr>
          <p:cNvPr id="59" name="Rounded Rectangle 58"/>
          <p:cNvSpPr/>
          <p:nvPr/>
        </p:nvSpPr>
        <p:spPr>
          <a:xfrm>
            <a:off x="8074152" y="3246120"/>
            <a:ext cx="3383280" cy="338328"/>
          </a:xfrm>
          <a:prstGeom prst="roundRect">
            <a:avLst>
              <a:gd name="adj" fmla="val 25000"/>
            </a:avLst>
          </a:prstGeom>
          <a:solidFill>
            <a:srgbClr val="FFFFFF"/>
          </a:solidFill>
          <a:ln>
            <a:noFill/>
          </a:ln>
        </p:spPr>
        <p:txBody>
          <a:bodyPr rtlCol="0" anchor="ctr" wrap="square" lIns="137160" rIns="137160" tIns="27432" bIns="27432">
            <a:noAutofit/>
          </a:bodyPr>
          <a:lstStyle/>
          <a:p>
            <a:pPr algn="l">
              <a:spcAft>
                <a:spcPts val="0"/>
              </a:spcAft>
            </a:pPr>
            <a:r>
              <a:rPr sz="1150" b="0" i="0">
                <a:solidFill>
                  <a:srgbClr val="1A1A1A"/>
                </a:solidFill>
                <a:latin typeface="Arial"/>
                <a:ea typeface="맑은 고딕"/>
              </a:rPr>
              <a:t>현재성</a:t>
            </a:r>
          </a:p>
        </p:txBody>
      </p:sp>
      <p:sp>
        <p:nvSpPr>
          <p:cNvPr id="60" name="Rounded Rectangle 59"/>
          <p:cNvSpPr/>
          <p:nvPr/>
        </p:nvSpPr>
        <p:spPr>
          <a:xfrm>
            <a:off x="8074152" y="3657600"/>
            <a:ext cx="3383280" cy="338328"/>
          </a:xfrm>
          <a:prstGeom prst="roundRect">
            <a:avLst>
              <a:gd name="adj" fmla="val 25000"/>
            </a:avLst>
          </a:prstGeom>
          <a:solidFill>
            <a:srgbClr val="FFFFFF"/>
          </a:solidFill>
          <a:ln>
            <a:noFill/>
          </a:ln>
        </p:spPr>
        <p:txBody>
          <a:bodyPr rtlCol="0" anchor="ctr" wrap="square" lIns="137160" rIns="137160" tIns="27432" bIns="27432">
            <a:noAutofit/>
          </a:bodyPr>
          <a:lstStyle/>
          <a:p>
            <a:pPr algn="l">
              <a:spcAft>
                <a:spcPts val="0"/>
              </a:spcAft>
            </a:pPr>
            <a:r>
              <a:rPr sz="1150" b="0" i="0">
                <a:solidFill>
                  <a:srgbClr val="1A1A1A"/>
                </a:solidFill>
                <a:latin typeface="Arial"/>
                <a:ea typeface="맑은 고딕"/>
              </a:rPr>
              <a:t>출처 snapshot</a:t>
            </a:r>
          </a:p>
        </p:txBody>
      </p:sp>
      <p:sp>
        <p:nvSpPr>
          <p:cNvPr id="61" name="Rounded Rectangle 60"/>
          <p:cNvSpPr/>
          <p:nvPr/>
        </p:nvSpPr>
        <p:spPr>
          <a:xfrm>
            <a:off x="4617720" y="1234440"/>
            <a:ext cx="2953512" cy="2926080"/>
          </a:xfrm>
          <a:prstGeom prst="roundRect">
            <a:avLst>
              <a:gd name="adj" fmla="val 5000"/>
            </a:avLst>
          </a:prstGeom>
          <a:solidFill>
            <a:srgbClr val="FFFFFF"/>
          </a:solidFill>
          <a:ln w="15875">
            <a:solidFill>
              <a:srgbClr val="445569"/>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2" name="TextBox 61"/>
          <p:cNvSpPr txBox="1"/>
          <p:nvPr/>
        </p:nvSpPr>
        <p:spPr>
          <a:xfrm>
            <a:off x="4754880" y="1298448"/>
            <a:ext cx="2651760" cy="274320"/>
          </a:xfrm>
          <a:prstGeom prst="rect">
            <a:avLst/>
          </a:prstGeom>
          <a:noFill/>
        </p:spPr>
        <p:txBody>
          <a:bodyPr wrap="square" lIns="0" rIns="0" tIns="27432" bIns="27432" anchor="t">
            <a:noAutofit/>
          </a:bodyPr>
          <a:lstStyle/>
          <a:p>
            <a:pPr algn="l">
              <a:spcAft>
                <a:spcPts val="0"/>
              </a:spcAft>
            </a:pPr>
            <a:r>
              <a:rPr sz="1100" b="1" i="0">
                <a:solidFill>
                  <a:srgbClr val="445569"/>
                </a:solidFill>
                <a:latin typeface="Arial"/>
                <a:ea typeface="맑은 고딕"/>
              </a:rPr>
              <a:t>추천 카드</a:t>
            </a:r>
          </a:p>
        </p:txBody>
      </p:sp>
      <p:sp>
        <p:nvSpPr>
          <p:cNvPr id="63" name="TextBox 62"/>
          <p:cNvSpPr txBox="1"/>
          <p:nvPr/>
        </p:nvSpPr>
        <p:spPr>
          <a:xfrm>
            <a:off x="4754880" y="1572768"/>
            <a:ext cx="2697480" cy="640080"/>
          </a:xfrm>
          <a:prstGeom prst="rect">
            <a:avLst/>
          </a:prstGeom>
          <a:noFill/>
        </p:spPr>
        <p:txBody>
          <a:bodyPr wrap="square" lIns="0" rIns="0" tIns="27432" bIns="27432" anchor="t">
            <a:noAutofit/>
          </a:bodyPr>
          <a:lstStyle/>
          <a:p>
            <a:pPr algn="l">
              <a:spcAft>
                <a:spcPts val="0"/>
              </a:spcAft>
            </a:pPr>
            <a:r>
              <a:rPr sz="1500" b="1" i="0">
                <a:solidFill>
                  <a:srgbClr val="1A1A1A"/>
                </a:solidFill>
                <a:latin typeface="Arial"/>
                <a:ea typeface="맑은 고딕"/>
              </a:rPr>
              <a:t>[작품명]</a:t>
            </a:r>
          </a:p>
          <a:p>
            <a:pPr algn="l">
              <a:spcAft>
                <a:spcPts val="0"/>
              </a:spcAft>
            </a:pPr>
            <a:r>
              <a:rPr sz="1050" b="0" i="0">
                <a:solidFill>
                  <a:srgbClr val="6B6B6B"/>
                </a:solidFill>
                <a:latin typeface="Arial"/>
                <a:ea typeface="맑은 고딕"/>
              </a:rPr>
              <a:t>[작가명] · [제작연도] · [재료]</a:t>
            </a:r>
          </a:p>
        </p:txBody>
      </p:sp>
      <p:sp>
        <p:nvSpPr>
          <p:cNvPr id="64" name="Rounded Rectangle 63"/>
          <p:cNvSpPr/>
          <p:nvPr/>
        </p:nvSpPr>
        <p:spPr>
          <a:xfrm>
            <a:off x="4754880" y="2240280"/>
            <a:ext cx="2679192" cy="457200"/>
          </a:xfrm>
          <a:prstGeom prst="roundRect">
            <a:avLst>
              <a:gd name="adj" fmla="val 20000"/>
            </a:avLst>
          </a:prstGeom>
          <a:solidFill>
            <a:srgbClr val="FFF3CC"/>
          </a:solidFill>
          <a:ln>
            <a:noFill/>
          </a:ln>
        </p:spPr>
        <p:txBody>
          <a:bodyPr rtlCol="0" anchor="ctr" wrap="square" lIns="109728" rIns="109728" tIns="27432" bIns="27432">
            <a:noAutofit/>
          </a:bodyPr>
          <a:lstStyle/>
          <a:p>
            <a:pPr algn="l">
              <a:spcAft>
                <a:spcPts val="0"/>
              </a:spcAft>
            </a:pPr>
            <a:r>
              <a:rPr sz="1000" b="1" i="0">
                <a:solidFill>
                  <a:srgbClr val="445569"/>
                </a:solidFill>
                <a:latin typeface="Arial"/>
                <a:ea typeface="맑은 고딕"/>
              </a:rPr>
              <a:t>근거 span  </a:t>
            </a:r>
            <a:r>
              <a:rPr sz="1200" b="1" i="0">
                <a:solidFill>
                  <a:srgbClr val="1A1A1A"/>
                </a:solidFill>
                <a:latin typeface="Arial"/>
                <a:ea typeface="맑은 고딕"/>
              </a:rPr>
              <a:t>“표면이 거친”</a:t>
            </a:r>
          </a:p>
        </p:txBody>
      </p:sp>
      <p:cxnSp>
        <p:nvCxnSpPr>
          <p:cNvPr id="65" name="Connector 64"/>
          <p:cNvCxnSpPr/>
          <p:nvPr/>
        </p:nvCxnSpPr>
        <p:spPr>
          <a:xfrm>
            <a:off x="4754880" y="2852928"/>
            <a:ext cx="2679192" cy="0"/>
          </a:xfrm>
          <a:prstGeom prst="line">
            <a:avLst/>
          </a:prstGeom>
          <a:ln w="12700">
            <a:solidFill>
              <a:srgbClr val="D0D0D0"/>
            </a:solidFill>
          </a:ln>
        </p:spPr>
      </p:cxnSp>
      <p:sp>
        <p:nvSpPr>
          <p:cNvPr id="66" name="TextBox 65"/>
          <p:cNvSpPr txBox="1"/>
          <p:nvPr/>
        </p:nvSpPr>
        <p:spPr>
          <a:xfrm>
            <a:off x="4754880" y="2926080"/>
            <a:ext cx="2697480" cy="548640"/>
          </a:xfrm>
          <a:prstGeom prst="rect">
            <a:avLst/>
          </a:prstGeom>
          <a:noFill/>
        </p:spPr>
        <p:txBody>
          <a:bodyPr wrap="square" lIns="0" rIns="0" tIns="27432" bIns="27432" anchor="t">
            <a:noAutofit/>
          </a:bodyPr>
          <a:lstStyle/>
          <a:p>
            <a:pPr algn="l">
              <a:spcAft>
                <a:spcPts val="0"/>
              </a:spcAft>
            </a:pPr>
            <a:r>
              <a:rPr sz="1300" b="1" i="0">
                <a:solidFill>
                  <a:srgbClr val="1A1A1A"/>
                </a:solidFill>
                <a:latin typeface="Arial"/>
                <a:ea typeface="맑은 고딕"/>
              </a:rPr>
              <a:t>[전시명]</a:t>
            </a:r>
          </a:p>
          <a:p>
            <a:pPr algn="l">
              <a:spcAft>
                <a:spcPts val="0"/>
              </a:spcAft>
            </a:pPr>
            <a:r>
              <a:rPr sz="1050" b="0" i="0">
                <a:solidFill>
                  <a:srgbClr val="6B6B6B"/>
                </a:solidFill>
                <a:latin typeface="Arial"/>
                <a:ea typeface="맑은 고딕"/>
              </a:rPr>
              <a:t>[장소] · [기간]</a:t>
            </a:r>
          </a:p>
        </p:txBody>
      </p:sp>
      <p:sp>
        <p:nvSpPr>
          <p:cNvPr id="67" name="Rounded Rectangle 66"/>
          <p:cNvSpPr/>
          <p:nvPr/>
        </p:nvSpPr>
        <p:spPr>
          <a:xfrm>
            <a:off x="4754880" y="3611880"/>
            <a:ext cx="1188720" cy="310896"/>
          </a:xfrm>
          <a:prstGeom prst="roundRect">
            <a:avLst>
              <a:gd name="adj" fmla="val 30000"/>
            </a:avLst>
          </a:prstGeom>
          <a:solidFill>
            <a:srgbClr val="2E7D5B"/>
          </a:solidFill>
          <a:ln>
            <a:noFill/>
          </a:ln>
        </p:spPr>
        <p:txBody>
          <a:bodyPr rtlCol="0" anchor="ctr" wrap="square" lIns="36576" rIns="36576" tIns="27432" bIns="27432">
            <a:noAutofit/>
          </a:bodyPr>
          <a:lstStyle/>
          <a:p>
            <a:pPr algn="ctr">
              <a:spcAft>
                <a:spcPts val="0"/>
              </a:spcAft>
            </a:pPr>
            <a:r>
              <a:rPr sz="1050" b="1" i="0">
                <a:solidFill>
                  <a:srgbClr val="FFFFFF"/>
                </a:solidFill>
                <a:latin typeface="Arial"/>
                <a:ea typeface="맑은 고딕"/>
              </a:rPr>
              <a:t>VERIFIED</a:t>
            </a:r>
          </a:p>
        </p:txBody>
      </p:sp>
      <p:sp>
        <p:nvSpPr>
          <p:cNvPr id="68" name="TextBox 67"/>
          <p:cNvSpPr txBox="1"/>
          <p:nvPr/>
        </p:nvSpPr>
        <p:spPr>
          <a:xfrm>
            <a:off x="5989320" y="3593592"/>
            <a:ext cx="1508760" cy="365760"/>
          </a:xfrm>
          <a:prstGeom prst="rect">
            <a:avLst/>
          </a:prstGeom>
          <a:noFill/>
        </p:spPr>
        <p:txBody>
          <a:bodyPr wrap="square" lIns="0" rIns="0" tIns="27432" bIns="27432" anchor="ctr">
            <a:noAutofit/>
          </a:bodyPr>
          <a:lstStyle/>
          <a:p>
            <a:pPr algn="l">
              <a:spcAft>
                <a:spcPts val="0"/>
              </a:spcAft>
            </a:pPr>
            <a:r>
              <a:rPr sz="950" b="0" i="0">
                <a:solidFill>
                  <a:srgbClr val="6B6B6B"/>
                </a:solidFill>
                <a:latin typeface="Arial"/>
                <a:ea typeface="맑은 고딕"/>
              </a:rPr>
              <a:t>snapshot 확인됨</a:t>
            </a:r>
          </a:p>
        </p:txBody>
      </p:sp>
      <p:cxnSp>
        <p:nvCxnSpPr>
          <p:cNvPr id="69" name="Connector 68"/>
          <p:cNvCxnSpPr/>
          <p:nvPr/>
        </p:nvCxnSpPr>
        <p:spPr>
          <a:xfrm>
            <a:off x="4315968" y="2011680"/>
            <a:ext cx="283464" cy="0"/>
          </a:xfrm>
          <a:prstGeom prst="line">
            <a:avLst/>
          </a:prstGeom>
          <a:ln w="22225">
            <a:solidFill>
              <a:srgbClr val="445569"/>
            </a:solidFill>
            <a:tailEnd type="triangle" w="med" len="med"/>
          </a:ln>
        </p:spPr>
      </p:cxnSp>
      <p:cxnSp>
        <p:nvCxnSpPr>
          <p:cNvPr id="70" name="Connector 69"/>
          <p:cNvCxnSpPr/>
          <p:nvPr/>
        </p:nvCxnSpPr>
        <p:spPr>
          <a:xfrm flipH="1">
            <a:off x="7589520" y="3200400"/>
            <a:ext cx="283463" cy="0"/>
          </a:xfrm>
          <a:prstGeom prst="line">
            <a:avLst/>
          </a:prstGeom>
          <a:ln w="22225">
            <a:solidFill>
              <a:srgbClr val="445569"/>
            </a:solidFill>
            <a:tailEnd type="triangle" w="med" len="med"/>
          </a:ln>
        </p:spPr>
      </p:cxnSp>
      <p:sp>
        <p:nvSpPr>
          <p:cNvPr id="71" name="Rounded Rectangle 70"/>
          <p:cNvSpPr/>
          <p:nvPr/>
        </p:nvSpPr>
        <p:spPr>
          <a:xfrm>
            <a:off x="548640" y="4389120"/>
            <a:ext cx="3557016" cy="960120"/>
          </a:xfrm>
          <a:prstGeom prst="roundRect">
            <a:avLst>
              <a:gd name="adj" fmla="val 8000"/>
            </a:avLst>
          </a:prstGeom>
          <a:solidFill>
            <a:srgbClr val="FFFFFF"/>
          </a:solidFill>
          <a:ln w="12700">
            <a:solidFill>
              <a:srgbClr val="D0D0D0"/>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2" name="Rounded Rectangle 71"/>
          <p:cNvSpPr/>
          <p:nvPr/>
        </p:nvSpPr>
        <p:spPr>
          <a:xfrm>
            <a:off x="685800" y="4507992"/>
            <a:ext cx="1234440" cy="310896"/>
          </a:xfrm>
          <a:prstGeom prst="roundRect">
            <a:avLst>
              <a:gd name="adj" fmla="val 30000"/>
            </a:avLst>
          </a:prstGeom>
          <a:solidFill>
            <a:srgbClr val="2E7D5B"/>
          </a:solidFill>
          <a:ln>
            <a:noFill/>
          </a:ln>
        </p:spPr>
        <p:txBody>
          <a:bodyPr rtlCol="0" anchor="ctr" wrap="square" lIns="36576" rIns="36576" tIns="27432" bIns="27432">
            <a:noAutofit/>
          </a:bodyPr>
          <a:lstStyle/>
          <a:p>
            <a:pPr algn="ctr">
              <a:spcAft>
                <a:spcPts val="0"/>
              </a:spcAft>
            </a:pPr>
            <a:r>
              <a:rPr sz="1050" b="1" i="0">
                <a:solidFill>
                  <a:srgbClr val="FFFFFF"/>
                </a:solidFill>
                <a:latin typeface="Arial"/>
                <a:ea typeface="맑은 고딕"/>
              </a:rPr>
              <a:t>VERIFIED</a:t>
            </a:r>
          </a:p>
        </p:txBody>
      </p:sp>
      <p:sp>
        <p:nvSpPr>
          <p:cNvPr id="73" name="TextBox 72"/>
          <p:cNvSpPr txBox="1"/>
          <p:nvPr/>
        </p:nvSpPr>
        <p:spPr>
          <a:xfrm>
            <a:off x="685800" y="4846320"/>
            <a:ext cx="3291840" cy="475488"/>
          </a:xfrm>
          <a:prstGeom prst="rect">
            <a:avLst/>
          </a:prstGeom>
          <a:noFill/>
        </p:spPr>
        <p:txBody>
          <a:bodyPr wrap="square" lIns="0" rIns="0" tIns="27432" bIns="27432" anchor="t">
            <a:noAutofit/>
          </a:bodyPr>
          <a:lstStyle/>
          <a:p>
            <a:pPr algn="l">
              <a:spcAft>
                <a:spcPts val="0"/>
              </a:spcAft>
            </a:pPr>
            <a:r>
              <a:rPr sz="1050" b="0" i="0">
                <a:solidFill>
                  <a:srgbClr val="1A1A1A"/>
                </a:solidFill>
                <a:latin typeface="Arial"/>
                <a:ea typeface="맑은 고딕"/>
              </a:rPr>
              <a:t>전시 API에서 조회한 snapshot과 연결된 상태</a:t>
            </a:r>
          </a:p>
        </p:txBody>
      </p:sp>
      <p:sp>
        <p:nvSpPr>
          <p:cNvPr id="74" name="Rounded Rectangle 73"/>
          <p:cNvSpPr/>
          <p:nvPr/>
        </p:nvSpPr>
        <p:spPr>
          <a:xfrm>
            <a:off x="4315968" y="4389120"/>
            <a:ext cx="3557016" cy="960120"/>
          </a:xfrm>
          <a:prstGeom prst="roundRect">
            <a:avLst>
              <a:gd name="adj" fmla="val 8000"/>
            </a:avLst>
          </a:prstGeom>
          <a:solidFill>
            <a:srgbClr val="FFFFFF"/>
          </a:solidFill>
          <a:ln w="12700">
            <a:solidFill>
              <a:srgbClr val="D0D0D0"/>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5" name="Rounded Rectangle 74"/>
          <p:cNvSpPr/>
          <p:nvPr/>
        </p:nvSpPr>
        <p:spPr>
          <a:xfrm>
            <a:off x="4453128" y="4507992"/>
            <a:ext cx="1234440" cy="310896"/>
          </a:xfrm>
          <a:prstGeom prst="roundRect">
            <a:avLst>
              <a:gd name="adj" fmla="val 30000"/>
            </a:avLst>
          </a:prstGeom>
          <a:solidFill>
            <a:srgbClr val="E3A300"/>
          </a:solidFill>
          <a:ln>
            <a:noFill/>
          </a:ln>
        </p:spPr>
        <p:txBody>
          <a:bodyPr rtlCol="0" anchor="ctr" wrap="square" lIns="36576" rIns="36576" tIns="27432" bIns="27432">
            <a:noAutofit/>
          </a:bodyPr>
          <a:lstStyle/>
          <a:p>
            <a:pPr algn="ctr">
              <a:spcAft>
                <a:spcPts val="0"/>
              </a:spcAft>
            </a:pPr>
            <a:r>
              <a:rPr sz="1050" b="1" i="0">
                <a:solidFill>
                  <a:srgbClr val="1A1A1A"/>
                </a:solidFill>
                <a:latin typeface="Arial"/>
                <a:ea typeface="맑은 고딕"/>
              </a:rPr>
              <a:t>CACHED</a:t>
            </a:r>
          </a:p>
        </p:txBody>
      </p:sp>
      <p:sp>
        <p:nvSpPr>
          <p:cNvPr id="76" name="TextBox 75"/>
          <p:cNvSpPr txBox="1"/>
          <p:nvPr/>
        </p:nvSpPr>
        <p:spPr>
          <a:xfrm>
            <a:off x="4453128" y="4846320"/>
            <a:ext cx="3291840" cy="475488"/>
          </a:xfrm>
          <a:prstGeom prst="rect">
            <a:avLst/>
          </a:prstGeom>
          <a:noFill/>
        </p:spPr>
        <p:txBody>
          <a:bodyPr wrap="square" lIns="0" rIns="0" tIns="27432" bIns="27432" anchor="t">
            <a:noAutofit/>
          </a:bodyPr>
          <a:lstStyle/>
          <a:p>
            <a:pPr algn="l">
              <a:spcAft>
                <a:spcPts val="0"/>
              </a:spcAft>
            </a:pPr>
            <a:r>
              <a:rPr sz="1050" b="0" i="0">
                <a:solidFill>
                  <a:srgbClr val="1A1A1A"/>
                </a:solidFill>
                <a:latin typeface="Arial"/>
                <a:ea typeface="맑은 고딕"/>
              </a:rPr>
              <a:t>저장된 snapshot을 유효기간 안에서 재사용 · freshness 표시</a:t>
            </a:r>
          </a:p>
        </p:txBody>
      </p:sp>
      <p:sp>
        <p:nvSpPr>
          <p:cNvPr id="77" name="Rounded Rectangle 76"/>
          <p:cNvSpPr/>
          <p:nvPr/>
        </p:nvSpPr>
        <p:spPr>
          <a:xfrm>
            <a:off x="8083296" y="4389120"/>
            <a:ext cx="3557016" cy="960120"/>
          </a:xfrm>
          <a:prstGeom prst="roundRect">
            <a:avLst>
              <a:gd name="adj" fmla="val 8000"/>
            </a:avLst>
          </a:prstGeom>
          <a:solidFill>
            <a:srgbClr val="FBE4E1"/>
          </a:solidFill>
          <a:ln w="12700">
            <a:solidFill>
              <a:srgbClr val="C8372D"/>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8" name="Rounded Rectangle 77"/>
          <p:cNvSpPr/>
          <p:nvPr/>
        </p:nvSpPr>
        <p:spPr>
          <a:xfrm>
            <a:off x="8220456" y="4507992"/>
            <a:ext cx="1234440" cy="310896"/>
          </a:xfrm>
          <a:prstGeom prst="roundRect">
            <a:avLst>
              <a:gd name="adj" fmla="val 30000"/>
            </a:avLst>
          </a:prstGeom>
          <a:solidFill>
            <a:srgbClr val="C8372D"/>
          </a:solidFill>
          <a:ln>
            <a:noFill/>
          </a:ln>
        </p:spPr>
        <p:txBody>
          <a:bodyPr rtlCol="0" anchor="ctr" wrap="square" lIns="36576" rIns="36576" tIns="27432" bIns="27432">
            <a:noAutofit/>
          </a:bodyPr>
          <a:lstStyle/>
          <a:p>
            <a:pPr algn="ctr">
              <a:spcAft>
                <a:spcPts val="0"/>
              </a:spcAft>
            </a:pPr>
            <a:r>
              <a:rPr sz="1050" b="1" i="0">
                <a:solidFill>
                  <a:srgbClr val="FFFFFF"/>
                </a:solidFill>
                <a:latin typeface="Arial"/>
                <a:ea typeface="맑은 고딕"/>
              </a:rPr>
              <a:t>UNVERIFIED</a:t>
            </a:r>
          </a:p>
        </p:txBody>
      </p:sp>
      <p:sp>
        <p:nvSpPr>
          <p:cNvPr id="79" name="TextBox 78"/>
          <p:cNvSpPr txBox="1"/>
          <p:nvPr/>
        </p:nvSpPr>
        <p:spPr>
          <a:xfrm>
            <a:off x="8220456" y="4846320"/>
            <a:ext cx="3291840" cy="475488"/>
          </a:xfrm>
          <a:prstGeom prst="rect">
            <a:avLst/>
          </a:prstGeom>
          <a:noFill/>
        </p:spPr>
        <p:txBody>
          <a:bodyPr wrap="square" lIns="0" rIns="0" tIns="27432" bIns="27432" anchor="t">
            <a:noAutofit/>
          </a:bodyPr>
          <a:lstStyle/>
          <a:p>
            <a:pPr algn="l">
              <a:spcAft>
                <a:spcPts val="0"/>
              </a:spcAft>
            </a:pPr>
            <a:r>
              <a:rPr sz="1050" b="1" i="0">
                <a:solidFill>
                  <a:srgbClr val="C8372D"/>
                </a:solidFill>
                <a:latin typeface="Arial"/>
                <a:ea typeface="맑은 고딕"/>
              </a:rPr>
              <a:t>확인 불가 — 일정을 생성하지 않고 ‘현재 확인 가능한 전시 정보가 없다’고 명시</a:t>
            </a:r>
          </a:p>
        </p:txBody>
      </p:sp>
      <p:sp>
        <p:nvSpPr>
          <p:cNvPr id="80" name="TextBox 79"/>
          <p:cNvSpPr txBox="1"/>
          <p:nvPr/>
        </p:nvSpPr>
        <p:spPr>
          <a:xfrm>
            <a:off x="548640" y="5577840"/>
            <a:ext cx="1371600" cy="640080"/>
          </a:xfrm>
          <a:prstGeom prst="rect">
            <a:avLst/>
          </a:prstGeom>
          <a:noFill/>
        </p:spPr>
        <p:txBody>
          <a:bodyPr wrap="square" lIns="0" rIns="0" tIns="27432" bIns="27432" anchor="ctr">
            <a:noAutofit/>
          </a:bodyPr>
          <a:lstStyle/>
          <a:p>
            <a:pPr algn="l">
              <a:spcAft>
                <a:spcPts val="0"/>
              </a:spcAft>
            </a:pPr>
            <a:r>
              <a:rPr sz="1300" b="1" i="0">
                <a:solidFill>
                  <a:srgbClr val="1A1A1A"/>
                </a:solidFill>
                <a:latin typeface="Arial"/>
                <a:ea typeface="맑은 고딕"/>
              </a:rPr>
              <a:t>비교 설계</a:t>
            </a:r>
          </a:p>
        </p:txBody>
      </p:sp>
      <p:sp>
        <p:nvSpPr>
          <p:cNvPr id="81" name="Rounded Rectangle 80"/>
          <p:cNvSpPr/>
          <p:nvPr/>
        </p:nvSpPr>
        <p:spPr>
          <a:xfrm>
            <a:off x="1828800" y="5577840"/>
            <a:ext cx="2834640" cy="640080"/>
          </a:xfrm>
          <a:prstGeom prst="roundRect">
            <a:avLst>
              <a:gd name="adj" fmla="val 15000"/>
            </a:avLst>
          </a:prstGeom>
          <a:solidFill>
            <a:srgbClr val="F2F2F2"/>
          </a:solidFill>
          <a:ln>
            <a:noFill/>
          </a:ln>
        </p:spPr>
        <p:txBody>
          <a:bodyPr rtlCol="0" anchor="ctr" wrap="square" lIns="73152" rIns="73152" tIns="27432" bIns="27432">
            <a:noAutofit/>
          </a:bodyPr>
          <a:lstStyle/>
          <a:p>
            <a:pPr algn="ctr">
              <a:spcAft>
                <a:spcPts val="0"/>
              </a:spcAft>
            </a:pPr>
            <a:r>
              <a:rPr sz="1400" b="1" i="0">
                <a:solidFill>
                  <a:srgbClr val="445569"/>
                </a:solidFill>
                <a:latin typeface="Arial"/>
                <a:ea typeface="맑은 고딕"/>
              </a:rPr>
              <a:t>B4R   </a:t>
            </a:r>
            <a:r>
              <a:rPr sz="1200" b="1" i="0">
                <a:solidFill>
                  <a:srgbClr val="1A1A1A"/>
                </a:solidFill>
                <a:latin typeface="Arial"/>
                <a:ea typeface="맑은 고딕"/>
              </a:rPr>
              <a:t>추천목록 R_10 고정</a:t>
            </a:r>
          </a:p>
        </p:txBody>
      </p:sp>
      <p:sp>
        <p:nvSpPr>
          <p:cNvPr id="82" name="Right Arrow 81"/>
          <p:cNvSpPr/>
          <p:nvPr/>
        </p:nvSpPr>
        <p:spPr>
          <a:xfrm>
            <a:off x="4700016" y="5742432"/>
            <a:ext cx="384048" cy="310896"/>
          </a:xfrm>
          <a:prstGeom prst="rightArrow">
            <a:avLst/>
          </a:prstGeom>
          <a:solidFill>
            <a:srgbClr val="FFBD11"/>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83" name="Rounded Rectangle 82"/>
          <p:cNvSpPr/>
          <p:nvPr/>
        </p:nvSpPr>
        <p:spPr>
          <a:xfrm>
            <a:off x="5138928" y="5577840"/>
            <a:ext cx="2834640" cy="640080"/>
          </a:xfrm>
          <a:prstGeom prst="roundRect">
            <a:avLst>
              <a:gd name="adj" fmla="val 15000"/>
            </a:avLst>
          </a:prstGeom>
          <a:solidFill>
            <a:srgbClr val="F2F2F2"/>
          </a:solidFill>
          <a:ln>
            <a:noFill/>
          </a:ln>
        </p:spPr>
        <p:txBody>
          <a:bodyPr rtlCol="0" anchor="ctr" wrap="square" lIns="73152" rIns="73152" tIns="27432" bIns="27432">
            <a:noAutofit/>
          </a:bodyPr>
          <a:lstStyle/>
          <a:p>
            <a:pPr algn="ctr">
              <a:spcAft>
                <a:spcPts val="0"/>
              </a:spcAft>
            </a:pPr>
            <a:r>
              <a:rPr sz="1400" b="1" i="0">
                <a:solidFill>
                  <a:srgbClr val="445569"/>
                </a:solidFill>
                <a:latin typeface="Arial"/>
                <a:ea typeface="맑은 고딕"/>
              </a:rPr>
              <a:t>B5   </a:t>
            </a:r>
            <a:r>
              <a:rPr sz="1200" b="1" i="0">
                <a:solidFill>
                  <a:srgbClr val="1A1A1A"/>
                </a:solidFill>
                <a:latin typeface="Arial"/>
                <a:ea typeface="맑은 고딕"/>
              </a:rPr>
              <a:t>동일 R_10 + grounding 추가</a:t>
            </a:r>
          </a:p>
        </p:txBody>
      </p:sp>
      <p:sp>
        <p:nvSpPr>
          <p:cNvPr id="84" name="Right Arrow 83"/>
          <p:cNvSpPr/>
          <p:nvPr/>
        </p:nvSpPr>
        <p:spPr>
          <a:xfrm>
            <a:off x="8010144" y="5742432"/>
            <a:ext cx="384048" cy="310896"/>
          </a:xfrm>
          <a:prstGeom prst="rightArrow">
            <a:avLst/>
          </a:prstGeom>
          <a:solidFill>
            <a:srgbClr val="FFBD11"/>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85" name="Rounded Rectangle 84"/>
          <p:cNvSpPr/>
          <p:nvPr/>
        </p:nvSpPr>
        <p:spPr>
          <a:xfrm>
            <a:off x="8449056" y="5577840"/>
            <a:ext cx="2834640" cy="640080"/>
          </a:xfrm>
          <a:prstGeom prst="roundRect">
            <a:avLst>
              <a:gd name="adj" fmla="val 15000"/>
            </a:avLst>
          </a:prstGeom>
          <a:solidFill>
            <a:srgbClr val="F2F2F2"/>
          </a:solidFill>
          <a:ln>
            <a:noFill/>
          </a:ln>
        </p:spPr>
        <p:txBody>
          <a:bodyPr rtlCol="0" anchor="ctr" wrap="square" lIns="73152" rIns="73152" tIns="27432" bIns="27432">
            <a:noAutofit/>
          </a:bodyPr>
          <a:lstStyle/>
          <a:p>
            <a:pPr algn="ctr">
              <a:spcAft>
                <a:spcPts val="0"/>
              </a:spcAft>
            </a:pPr>
            <a:r>
              <a:rPr sz="1400" b="1" i="0">
                <a:solidFill>
                  <a:srgbClr val="445569"/>
                </a:solidFill>
                <a:latin typeface="Arial"/>
                <a:ea typeface="맑은 고딕"/>
              </a:rPr>
              <a:t>UCR   </a:t>
            </a:r>
            <a:r>
              <a:rPr sz="1200" b="1" i="0">
                <a:solidFill>
                  <a:srgbClr val="1A1A1A"/>
                </a:solidFill>
                <a:latin typeface="Arial"/>
                <a:ea typeface="맑은 고딕"/>
              </a:rPr>
              <a:t>근거 없는 방문 주장 비율 측정</a:t>
            </a:r>
          </a:p>
        </p:txBody>
      </p:sp>
    </p:spTree>
    <p:extLst>
      <p:ext uri="{BB962C8B-B14F-4D97-AF65-F5344CB8AC3E}">
        <p14:creationId xmlns:p14="http://schemas.microsoft.com/office/powerpoint/2010/main" val="3605434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4"/>
          <p:cNvSpPr txBox="1"/>
          <p:nvPr/>
        </p:nvSpPr>
        <p:spPr>
          <a:xfrm>
            <a:off x="17463" y="-27384"/>
            <a:ext cx="1160462" cy="11079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6600" b="1" dirty="0">
                <a:solidFill>
                  <a:srgbClr val="FFBD11"/>
                </a:solidFill>
                <a:latin typeface="+mj-lt"/>
                <a:ea typeface="Arial"/>
                <a:cs typeface="Arial"/>
                <a:sym typeface="Arial"/>
              </a:rPr>
              <a:t>0</a:t>
            </a:r>
            <a:r>
              <a:rPr lang="en-US" altLang="ko-KR" sz="6600" b="1" dirty="0">
                <a:solidFill>
                  <a:srgbClr val="FFBD11"/>
                </a:solidFill>
                <a:latin typeface="+mj-lt"/>
                <a:ea typeface="Arial"/>
                <a:cs typeface="Arial"/>
                <a:sym typeface="Arial"/>
              </a:rPr>
              <a:t>4</a:t>
            </a:r>
            <a:r>
              <a:rPr lang="ko-KR" sz="4000" b="1" dirty="0">
                <a:solidFill>
                  <a:srgbClr val="445569"/>
                </a:solidFill>
                <a:latin typeface="+mj-lt"/>
                <a:ea typeface="Arial"/>
                <a:cs typeface="Arial"/>
                <a:sym typeface="Arial"/>
              </a:rPr>
              <a:t> </a:t>
            </a:r>
            <a:endParaRPr sz="4000" b="1" dirty="0">
              <a:solidFill>
                <a:srgbClr val="445569"/>
              </a:solidFill>
              <a:latin typeface="+mj-lt"/>
              <a:ea typeface="Arial"/>
              <a:cs typeface="Arial"/>
              <a:sym typeface="Arial"/>
            </a:endParaRPr>
          </a:p>
        </p:txBody>
      </p:sp>
      <p:sp>
        <p:nvSpPr>
          <p:cNvPr id="45" name="Google Shape;45;p4"/>
          <p:cNvSpPr txBox="1"/>
          <p:nvPr/>
        </p:nvSpPr>
        <p:spPr>
          <a:xfrm>
            <a:off x="984110" y="126483"/>
            <a:ext cx="64008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chemeClr val="tx1"/>
                </a:solidFill>
                <a:latin typeface="+mj-lt"/>
                <a:ea typeface="맑은 고딕"/>
                <a:cs typeface="Calibri"/>
                <a:sym typeface="Calibri"/>
              </a:rPr>
              <a:t>프로젝트 수행 과정</a:t>
            </a:r>
            <a:endParaRPr dirty="0">
              <a:solidFill>
                <a:schemeClr val="tx1"/>
              </a:solidFill>
              <a:latin typeface="+mj-lt"/>
            </a:endParaRPr>
          </a:p>
        </p:txBody>
      </p:sp>
      <p:cxnSp>
        <p:nvCxnSpPr>
          <p:cNvPr id="46" name="Google Shape;46;p4"/>
          <p:cNvCxnSpPr>
            <a:cxnSpLocks/>
          </p:cNvCxnSpPr>
          <p:nvPr/>
        </p:nvCxnSpPr>
        <p:spPr>
          <a:xfrm flipV="1">
            <a:off x="1107936" y="526593"/>
            <a:ext cx="10827390" cy="13164"/>
          </a:xfrm>
          <a:prstGeom prst="straightConnector1">
            <a:avLst/>
          </a:prstGeom>
          <a:noFill/>
          <a:ln w="31750" cap="flat" cmpd="sng">
            <a:solidFill>
              <a:srgbClr val="FFBD11"/>
            </a:solidFill>
            <a:prstDash val="solid"/>
            <a:miter lim="800000"/>
            <a:headEnd type="none" w="sm" len="sm"/>
            <a:tailEnd type="none" w="sm" len="sm"/>
          </a:ln>
        </p:spPr>
      </p:cxnSp>
      <p:sp>
        <p:nvSpPr>
          <p:cNvPr id="9" name="Google Shape;124;p8">
            <a:extLst>
              <a:ext uri="{FF2B5EF4-FFF2-40B4-BE49-F238E27FC236}">
                <a16:creationId xmlns:a16="http://schemas.microsoft.com/office/drawing/2014/main" id="{043106DF-ECD6-42C2-8B7A-2D53A210501B}"/>
              </a:ext>
            </a:extLst>
          </p:cNvPr>
          <p:cNvSpPr txBox="1"/>
          <p:nvPr/>
        </p:nvSpPr>
        <p:spPr>
          <a:xfrm>
            <a:off x="1075852" y="615955"/>
            <a:ext cx="108813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rgbClr val="1A1A1A"/>
                </a:solidFill>
                <a:latin typeface="+mj-lt"/>
                <a:ea typeface="맑은 고딕"/>
                <a:cs typeface="Calibri"/>
                <a:sym typeface="Calibri"/>
              </a:rPr>
              <a:t>6주 과정은 데이터보다 평가 가능성을 먼저 쌓는다</a:t>
            </a:r>
            <a:endParaRPr dirty="0">
              <a:solidFill>
                <a:schemeClr val="tx1"/>
              </a:solidFill>
              <a:latin typeface="+mj-lt"/>
            </a:endParaRPr>
          </a:p>
        </p:txBody>
      </p:sp>
      <p:cxnSp>
        <p:nvCxnSpPr>
          <p:cNvPr id="47" name="Connector 46"/>
          <p:cNvCxnSpPr/>
          <p:nvPr/>
        </p:nvCxnSpPr>
        <p:spPr>
          <a:xfrm>
            <a:off x="822960" y="1481328"/>
            <a:ext cx="10561320" cy="0"/>
          </a:xfrm>
          <a:prstGeom prst="line">
            <a:avLst/>
          </a:prstGeom>
          <a:ln w="38100">
            <a:solidFill>
              <a:srgbClr val="FFBD11"/>
            </a:solidFill>
          </a:ln>
        </p:spPr>
      </p:cxnSp>
      <p:sp>
        <p:nvSpPr>
          <p:cNvPr id="48" name="Rounded Rectangle 47"/>
          <p:cNvSpPr/>
          <p:nvPr/>
        </p:nvSpPr>
        <p:spPr>
          <a:xfrm>
            <a:off x="1115568" y="1234440"/>
            <a:ext cx="640080" cy="502920"/>
          </a:xfrm>
          <a:prstGeom prst="roundRect">
            <a:avLst>
              <a:gd name="adj" fmla="val 30000"/>
            </a:avLst>
          </a:prstGeom>
          <a:solidFill>
            <a:srgbClr val="445569"/>
          </a:solidFill>
          <a:ln>
            <a:noFill/>
          </a:ln>
        </p:spPr>
        <p:txBody>
          <a:bodyPr rtlCol="0" anchor="ctr" wrap="square" lIns="0" rIns="0" tIns="27432" bIns="27432">
            <a:noAutofit/>
          </a:bodyPr>
          <a:lstStyle/>
          <a:p>
            <a:pPr algn="ctr">
              <a:spcAft>
                <a:spcPts val="0"/>
              </a:spcAft>
            </a:pPr>
            <a:r>
              <a:rPr sz="1400" b="1" i="0">
                <a:solidFill>
                  <a:srgbClr val="FFFFFF"/>
                </a:solidFill>
                <a:latin typeface="Arial"/>
                <a:ea typeface="맑은 고딕"/>
              </a:rPr>
              <a:t>W1</a:t>
            </a:r>
          </a:p>
        </p:txBody>
      </p:sp>
      <p:sp>
        <p:nvSpPr>
          <p:cNvPr id="49" name="Rounded Rectangle 48"/>
          <p:cNvSpPr/>
          <p:nvPr/>
        </p:nvSpPr>
        <p:spPr>
          <a:xfrm>
            <a:off x="548640" y="1920240"/>
            <a:ext cx="1764792" cy="2103120"/>
          </a:xfrm>
          <a:prstGeom prst="roundRect">
            <a:avLst>
              <a:gd name="adj" fmla="val 6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0" name="TextBox 49"/>
          <p:cNvSpPr txBox="1"/>
          <p:nvPr/>
        </p:nvSpPr>
        <p:spPr>
          <a:xfrm>
            <a:off x="640080" y="1993392"/>
            <a:ext cx="1600200" cy="566928"/>
          </a:xfrm>
          <a:prstGeom prst="rect">
            <a:avLst/>
          </a:prstGeom>
          <a:noFill/>
        </p:spPr>
        <p:txBody>
          <a:bodyPr wrap="square" lIns="18288" rIns="18288" tIns="27432" bIns="27432" anchor="ctr">
            <a:noAutofit/>
          </a:bodyPr>
          <a:lstStyle/>
          <a:p>
            <a:pPr algn="l">
              <a:spcAft>
                <a:spcPts val="0"/>
              </a:spcAft>
            </a:pPr>
            <a:r>
              <a:rPr sz="1300" b="1" i="0">
                <a:solidFill>
                  <a:srgbClr val="1A1A1A"/>
                </a:solidFill>
                <a:latin typeface="Arial"/>
                <a:ea typeface="맑은 고딕"/>
              </a:rPr>
              <a:t>Data Foundation</a:t>
            </a:r>
          </a:p>
        </p:txBody>
      </p:sp>
      <p:sp>
        <p:nvSpPr>
          <p:cNvPr id="51" name="TextBox 50"/>
          <p:cNvSpPr txBox="1"/>
          <p:nvPr/>
        </p:nvSpPr>
        <p:spPr>
          <a:xfrm>
            <a:off x="640080" y="2606040"/>
            <a:ext cx="1627632" cy="1371600"/>
          </a:xfrm>
          <a:prstGeom prst="rect">
            <a:avLst/>
          </a:prstGeom>
          <a:noFill/>
        </p:spPr>
        <p:txBody>
          <a:bodyPr wrap="square" lIns="18288" rIns="18288" tIns="27432" bIns="27432" anchor="t">
            <a:noAutofit/>
          </a:bodyPr>
          <a:lstStyle/>
          <a:p>
            <a:pPr algn="l" marL="164592" indent="-164592">
              <a:spcAft>
                <a:spcPts val="500"/>
              </a:spcAft>
              <a:buChar char="•"/>
            </a:pPr>
            <a:r>
              <a:rPr sz="1200" b="0" i="0">
                <a:solidFill>
                  <a:srgbClr val="1A1A1A"/>
                </a:solidFill>
                <a:latin typeface="Arial"/>
                <a:ea typeface="맑은 고딕"/>
              </a:rPr>
              <a:t>yKa 선정 기준</a:t>
            </a:r>
          </a:p>
          <a:p>
            <a:pPr algn="l" marL="164592" indent="-164592">
              <a:spcAft>
                <a:spcPts val="500"/>
              </a:spcAft>
              <a:buChar char="•"/>
            </a:pPr>
            <a:r>
              <a:rPr sz="1200" b="0" i="0">
                <a:solidFill>
                  <a:srgbClr val="1A1A1A"/>
                </a:solidFill>
                <a:latin typeface="Arial"/>
                <a:ea typeface="맑은 고딕"/>
              </a:rPr>
              <a:t>schema</a:t>
            </a:r>
          </a:p>
          <a:p>
            <a:pPr algn="l" marL="164592" indent="-164592">
              <a:spcAft>
                <a:spcPts val="500"/>
              </a:spcAft>
              <a:buChar char="•"/>
            </a:pPr>
            <a:r>
              <a:rPr sz="1200" b="0" i="0">
                <a:solidFill>
                  <a:srgbClr val="1A1A1A"/>
                </a:solidFill>
                <a:latin typeface="Arial"/>
                <a:ea typeface="맑은 고딕"/>
              </a:rPr>
              <a:t>작품·전시 데이터</a:t>
            </a:r>
          </a:p>
          <a:p>
            <a:pPr algn="l" marL="164592" indent="-164592">
              <a:spcAft>
                <a:spcPts val="500"/>
              </a:spcAft>
              <a:buChar char="•"/>
            </a:pPr>
            <a:r>
              <a:rPr sz="1200" b="0" i="0">
                <a:solidFill>
                  <a:srgbClr val="1A1A1A"/>
                </a:solidFill>
                <a:latin typeface="Arial"/>
                <a:ea typeface="맑은 고딕"/>
              </a:rPr>
              <a:t>Golden Query</a:t>
            </a:r>
          </a:p>
        </p:txBody>
      </p:sp>
      <p:sp>
        <p:nvSpPr>
          <p:cNvPr id="52" name="Rounded Rectangle 51"/>
          <p:cNvSpPr/>
          <p:nvPr/>
        </p:nvSpPr>
        <p:spPr>
          <a:xfrm>
            <a:off x="877824" y="4133087"/>
            <a:ext cx="1097280" cy="274320"/>
          </a:xfrm>
          <a:prstGeom prst="roundRect">
            <a:avLst>
              <a:gd name="adj" fmla="val 30000"/>
            </a:avLst>
          </a:prstGeom>
          <a:solidFill>
            <a:srgbClr val="FFFFFF"/>
          </a:solidFill>
          <a:ln w="12700">
            <a:solidFill>
              <a:srgbClr val="A6A6A6"/>
            </a:solidFill>
          </a:ln>
        </p:spPr>
        <p:txBody>
          <a:bodyPr rtlCol="0" anchor="ctr" wrap="square" lIns="36576" rIns="36576" tIns="27432" bIns="27432">
            <a:noAutofit/>
          </a:bodyPr>
          <a:lstStyle/>
          <a:p>
            <a:pPr algn="ctr">
              <a:spcAft>
                <a:spcPts val="0"/>
              </a:spcAft>
            </a:pPr>
            <a:r>
              <a:rPr sz="1000" b="1" i="0">
                <a:solidFill>
                  <a:srgbClr val="6B6B6B"/>
                </a:solidFill>
                <a:latin typeface="Arial"/>
                <a:ea typeface="맑은 고딕"/>
              </a:rPr>
              <a:t>Planned</a:t>
            </a:r>
          </a:p>
        </p:txBody>
      </p:sp>
      <p:sp>
        <p:nvSpPr>
          <p:cNvPr id="53" name="Rounded Rectangle 52"/>
          <p:cNvSpPr/>
          <p:nvPr/>
        </p:nvSpPr>
        <p:spPr>
          <a:xfrm>
            <a:off x="2980944" y="1234440"/>
            <a:ext cx="640080" cy="502920"/>
          </a:xfrm>
          <a:prstGeom prst="roundRect">
            <a:avLst>
              <a:gd name="adj" fmla="val 30000"/>
            </a:avLst>
          </a:prstGeom>
          <a:solidFill>
            <a:srgbClr val="FFBD11"/>
          </a:solidFill>
          <a:ln>
            <a:noFill/>
          </a:ln>
        </p:spPr>
        <p:txBody>
          <a:bodyPr rtlCol="0" anchor="ctr" wrap="square" lIns="0" rIns="0" tIns="27432" bIns="27432">
            <a:noAutofit/>
          </a:bodyPr>
          <a:lstStyle/>
          <a:p>
            <a:pPr algn="ctr">
              <a:spcAft>
                <a:spcPts val="0"/>
              </a:spcAft>
            </a:pPr>
            <a:r>
              <a:rPr sz="1400" b="1" i="0">
                <a:solidFill>
                  <a:srgbClr val="1A1A1A"/>
                </a:solidFill>
                <a:latin typeface="Arial"/>
                <a:ea typeface="맑은 고딕"/>
              </a:rPr>
              <a:t>W2</a:t>
            </a:r>
          </a:p>
        </p:txBody>
      </p:sp>
      <p:sp>
        <p:nvSpPr>
          <p:cNvPr id="54" name="Rounded Rectangle 53"/>
          <p:cNvSpPr/>
          <p:nvPr/>
        </p:nvSpPr>
        <p:spPr>
          <a:xfrm>
            <a:off x="2414016" y="1920240"/>
            <a:ext cx="1764792" cy="2103120"/>
          </a:xfrm>
          <a:prstGeom prst="roundRect">
            <a:avLst>
              <a:gd name="adj" fmla="val 6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5" name="TextBox 54"/>
          <p:cNvSpPr txBox="1"/>
          <p:nvPr/>
        </p:nvSpPr>
        <p:spPr>
          <a:xfrm>
            <a:off x="2505456" y="1993392"/>
            <a:ext cx="1600200" cy="566928"/>
          </a:xfrm>
          <a:prstGeom prst="rect">
            <a:avLst/>
          </a:prstGeom>
          <a:noFill/>
        </p:spPr>
        <p:txBody>
          <a:bodyPr wrap="square" lIns="18288" rIns="18288" tIns="27432" bIns="27432" anchor="ctr">
            <a:noAutofit/>
          </a:bodyPr>
          <a:lstStyle/>
          <a:p>
            <a:pPr algn="l">
              <a:spcAft>
                <a:spcPts val="0"/>
              </a:spcAft>
            </a:pPr>
            <a:r>
              <a:rPr sz="1300" b="1" i="0">
                <a:solidFill>
                  <a:srgbClr val="1A1A1A"/>
                </a:solidFill>
                <a:latin typeface="Arial"/>
                <a:ea typeface="맑은 고딕"/>
              </a:rPr>
              <a:t>Retrieval Baseline</a:t>
            </a:r>
          </a:p>
        </p:txBody>
      </p:sp>
      <p:sp>
        <p:nvSpPr>
          <p:cNvPr id="56" name="TextBox 55"/>
          <p:cNvSpPr txBox="1"/>
          <p:nvPr/>
        </p:nvSpPr>
        <p:spPr>
          <a:xfrm>
            <a:off x="2505456" y="2606040"/>
            <a:ext cx="1627632" cy="1371600"/>
          </a:xfrm>
          <a:prstGeom prst="rect">
            <a:avLst/>
          </a:prstGeom>
          <a:noFill/>
        </p:spPr>
        <p:txBody>
          <a:bodyPr wrap="square" lIns="18288" rIns="18288" tIns="27432" bIns="27432" anchor="t">
            <a:noAutofit/>
          </a:bodyPr>
          <a:lstStyle/>
          <a:p>
            <a:pPr algn="l" marL="164592" indent="-164592">
              <a:spcAft>
                <a:spcPts val="500"/>
              </a:spcAft>
              <a:buChar char="•"/>
            </a:pPr>
            <a:r>
              <a:rPr sz="1200" b="0" i="0">
                <a:solidFill>
                  <a:srgbClr val="1A1A1A"/>
                </a:solidFill>
                <a:latin typeface="Arial"/>
                <a:ea typeface="맑은 고딕"/>
              </a:rPr>
              <a:t>BM25 · Dense · RRF</a:t>
            </a:r>
          </a:p>
          <a:p>
            <a:pPr algn="l" marL="164592" indent="-164592">
              <a:spcAft>
                <a:spcPts val="500"/>
              </a:spcAft>
              <a:buChar char="•"/>
            </a:pPr>
            <a:r>
              <a:rPr sz="1200" b="0" i="0">
                <a:solidFill>
                  <a:srgbClr val="1A1A1A"/>
                </a:solidFill>
                <a:latin typeface="Arial"/>
                <a:ea typeface="맑은 고딕"/>
              </a:rPr>
              <a:t>extractor</a:t>
            </a:r>
          </a:p>
          <a:p>
            <a:pPr algn="l" marL="164592" indent="-164592">
              <a:spcAft>
                <a:spcPts val="500"/>
              </a:spcAft>
              <a:buChar char="•"/>
            </a:pPr>
            <a:r>
              <a:rPr sz="1200" b="0" i="0">
                <a:solidFill>
                  <a:srgbClr val="1A1A1A"/>
                </a:solidFill>
                <a:latin typeface="Arial"/>
                <a:ea typeface="맑은 고딕"/>
              </a:rPr>
              <a:t>20개 질의 실행</a:t>
            </a:r>
          </a:p>
        </p:txBody>
      </p:sp>
      <p:sp>
        <p:nvSpPr>
          <p:cNvPr id="57" name="Rounded Rectangle 56"/>
          <p:cNvSpPr/>
          <p:nvPr/>
        </p:nvSpPr>
        <p:spPr>
          <a:xfrm>
            <a:off x="2743200" y="4133087"/>
            <a:ext cx="1097280" cy="274320"/>
          </a:xfrm>
          <a:prstGeom prst="roundRect">
            <a:avLst>
              <a:gd name="adj" fmla="val 30000"/>
            </a:avLst>
          </a:prstGeom>
          <a:solidFill>
            <a:srgbClr val="FFFFFF"/>
          </a:solidFill>
          <a:ln w="12700">
            <a:solidFill>
              <a:srgbClr val="A6A6A6"/>
            </a:solidFill>
          </a:ln>
        </p:spPr>
        <p:txBody>
          <a:bodyPr rtlCol="0" anchor="ctr" wrap="square" lIns="36576" rIns="36576" tIns="27432" bIns="27432">
            <a:noAutofit/>
          </a:bodyPr>
          <a:lstStyle/>
          <a:p>
            <a:pPr algn="ctr">
              <a:spcAft>
                <a:spcPts val="0"/>
              </a:spcAft>
            </a:pPr>
            <a:r>
              <a:rPr sz="1000" b="1" i="0">
                <a:solidFill>
                  <a:srgbClr val="6B6B6B"/>
                </a:solidFill>
                <a:latin typeface="Arial"/>
                <a:ea typeface="맑은 고딕"/>
              </a:rPr>
              <a:t>Planned</a:t>
            </a:r>
          </a:p>
        </p:txBody>
      </p:sp>
      <p:sp>
        <p:nvSpPr>
          <p:cNvPr id="58" name="Rounded Rectangle 57"/>
          <p:cNvSpPr/>
          <p:nvPr/>
        </p:nvSpPr>
        <p:spPr>
          <a:xfrm>
            <a:off x="4846320" y="1234440"/>
            <a:ext cx="640080" cy="502920"/>
          </a:xfrm>
          <a:prstGeom prst="roundRect">
            <a:avLst>
              <a:gd name="adj" fmla="val 30000"/>
            </a:avLst>
          </a:prstGeom>
          <a:solidFill>
            <a:srgbClr val="FFBD11"/>
          </a:solidFill>
          <a:ln>
            <a:noFill/>
          </a:ln>
        </p:spPr>
        <p:txBody>
          <a:bodyPr rtlCol="0" anchor="ctr" wrap="square" lIns="0" rIns="0" tIns="27432" bIns="27432">
            <a:noAutofit/>
          </a:bodyPr>
          <a:lstStyle/>
          <a:p>
            <a:pPr algn="ctr">
              <a:spcAft>
                <a:spcPts val="0"/>
              </a:spcAft>
            </a:pPr>
            <a:r>
              <a:rPr sz="1400" b="1" i="0">
                <a:solidFill>
                  <a:srgbClr val="1A1A1A"/>
                </a:solidFill>
                <a:latin typeface="Arial"/>
                <a:ea typeface="맑은 고딕"/>
              </a:rPr>
              <a:t>W3</a:t>
            </a:r>
          </a:p>
        </p:txBody>
      </p:sp>
      <p:sp>
        <p:nvSpPr>
          <p:cNvPr id="59" name="Rounded Rectangle 58"/>
          <p:cNvSpPr/>
          <p:nvPr/>
        </p:nvSpPr>
        <p:spPr>
          <a:xfrm>
            <a:off x="4279392" y="1920240"/>
            <a:ext cx="1764792" cy="2103120"/>
          </a:xfrm>
          <a:prstGeom prst="roundRect">
            <a:avLst>
              <a:gd name="adj" fmla="val 6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0" name="TextBox 59"/>
          <p:cNvSpPr txBox="1"/>
          <p:nvPr/>
        </p:nvSpPr>
        <p:spPr>
          <a:xfrm>
            <a:off x="4370831" y="1993392"/>
            <a:ext cx="1600200" cy="566928"/>
          </a:xfrm>
          <a:prstGeom prst="rect">
            <a:avLst/>
          </a:prstGeom>
          <a:noFill/>
        </p:spPr>
        <p:txBody>
          <a:bodyPr wrap="square" lIns="18288" rIns="18288" tIns="27432" bIns="27432" anchor="ctr">
            <a:noAutofit/>
          </a:bodyPr>
          <a:lstStyle/>
          <a:p>
            <a:pPr algn="l">
              <a:spcAft>
                <a:spcPts val="0"/>
              </a:spcAft>
            </a:pPr>
            <a:r>
              <a:rPr sz="1300" b="1" i="0">
                <a:solidFill>
                  <a:srgbClr val="1A1A1A"/>
                </a:solidFill>
                <a:latin typeface="Arial"/>
                <a:ea typeface="맑은 고딕"/>
              </a:rPr>
              <a:t>Memory</a:t>
            </a:r>
          </a:p>
        </p:txBody>
      </p:sp>
      <p:sp>
        <p:nvSpPr>
          <p:cNvPr id="61" name="TextBox 60"/>
          <p:cNvSpPr txBox="1"/>
          <p:nvPr/>
        </p:nvSpPr>
        <p:spPr>
          <a:xfrm>
            <a:off x="4370831" y="2606040"/>
            <a:ext cx="1627632" cy="1371600"/>
          </a:xfrm>
          <a:prstGeom prst="rect">
            <a:avLst/>
          </a:prstGeom>
          <a:noFill/>
        </p:spPr>
        <p:txBody>
          <a:bodyPr wrap="square" lIns="18288" rIns="18288" tIns="27432" bIns="27432" anchor="t">
            <a:noAutofit/>
          </a:bodyPr>
          <a:lstStyle/>
          <a:p>
            <a:pPr algn="l" marL="164592" indent="-164592">
              <a:spcAft>
                <a:spcPts val="500"/>
              </a:spcAft>
              <a:buChar char="•"/>
            </a:pPr>
            <a:r>
              <a:rPr sz="1200" b="0" i="0">
                <a:solidFill>
                  <a:srgbClr val="1A1A1A"/>
                </a:solidFill>
                <a:latin typeface="Arial"/>
                <a:ea typeface="맑은 고딕"/>
              </a:rPr>
              <a:t>Session Node</a:t>
            </a:r>
          </a:p>
          <a:p>
            <a:pPr algn="l" marL="164592" indent="-164592">
              <a:spcAft>
                <a:spcPts val="500"/>
              </a:spcAft>
              <a:buChar char="•"/>
            </a:pPr>
            <a:r>
              <a:rPr sz="1200" b="0" i="0">
                <a:solidFill>
                  <a:srgbClr val="1A1A1A"/>
                </a:solidFill>
                <a:latin typeface="Arial"/>
                <a:ea typeface="맑은 고딕"/>
              </a:rPr>
              <a:t>Taste Cluster</a:t>
            </a:r>
          </a:p>
          <a:p>
            <a:pPr algn="l" marL="164592" indent="-164592">
              <a:spcAft>
                <a:spcPts val="500"/>
              </a:spcAft>
              <a:buChar char="•"/>
            </a:pPr>
            <a:r>
              <a:rPr sz="1200" b="0" i="0">
                <a:solidFill>
                  <a:srgbClr val="1A1A1A"/>
                </a:solidFill>
                <a:latin typeface="Arial"/>
                <a:ea typeface="맑은 고딕"/>
              </a:rPr>
              <a:t>Context Router</a:t>
            </a:r>
          </a:p>
          <a:p>
            <a:pPr algn="l" marL="164592" indent="-164592">
              <a:spcAft>
                <a:spcPts val="500"/>
              </a:spcAft>
              <a:buChar char="•"/>
            </a:pPr>
            <a:r>
              <a:rPr sz="1200" b="0" i="0">
                <a:solidFill>
                  <a:srgbClr val="1A1A1A"/>
                </a:solidFill>
                <a:latin typeface="Arial"/>
                <a:ea typeface="맑은 고딕"/>
              </a:rPr>
              <a:t>CR@10 · Trec</a:t>
            </a:r>
          </a:p>
        </p:txBody>
      </p:sp>
      <p:sp>
        <p:nvSpPr>
          <p:cNvPr id="62" name="Rounded Rectangle 61"/>
          <p:cNvSpPr/>
          <p:nvPr/>
        </p:nvSpPr>
        <p:spPr>
          <a:xfrm>
            <a:off x="4608576" y="4133087"/>
            <a:ext cx="1097280" cy="274320"/>
          </a:xfrm>
          <a:prstGeom prst="roundRect">
            <a:avLst>
              <a:gd name="adj" fmla="val 30000"/>
            </a:avLst>
          </a:prstGeom>
          <a:solidFill>
            <a:srgbClr val="FFFFFF"/>
          </a:solidFill>
          <a:ln w="12700">
            <a:solidFill>
              <a:srgbClr val="A6A6A6"/>
            </a:solidFill>
          </a:ln>
        </p:spPr>
        <p:txBody>
          <a:bodyPr rtlCol="0" anchor="ctr" wrap="square" lIns="36576" rIns="36576" tIns="27432" bIns="27432">
            <a:noAutofit/>
          </a:bodyPr>
          <a:lstStyle/>
          <a:p>
            <a:pPr algn="ctr">
              <a:spcAft>
                <a:spcPts val="0"/>
              </a:spcAft>
            </a:pPr>
            <a:r>
              <a:rPr sz="1000" b="1" i="0">
                <a:solidFill>
                  <a:srgbClr val="6B6B6B"/>
                </a:solidFill>
                <a:latin typeface="Arial"/>
                <a:ea typeface="맑은 고딕"/>
              </a:rPr>
              <a:t>Planned</a:t>
            </a:r>
          </a:p>
        </p:txBody>
      </p:sp>
      <p:sp>
        <p:nvSpPr>
          <p:cNvPr id="63" name="Rounded Rectangle 62"/>
          <p:cNvSpPr/>
          <p:nvPr/>
        </p:nvSpPr>
        <p:spPr>
          <a:xfrm>
            <a:off x="6711696" y="1234440"/>
            <a:ext cx="640080" cy="502920"/>
          </a:xfrm>
          <a:prstGeom prst="roundRect">
            <a:avLst>
              <a:gd name="adj" fmla="val 30000"/>
            </a:avLst>
          </a:prstGeom>
          <a:solidFill>
            <a:srgbClr val="FFBD11"/>
          </a:solidFill>
          <a:ln>
            <a:noFill/>
          </a:ln>
        </p:spPr>
        <p:txBody>
          <a:bodyPr rtlCol="0" anchor="ctr" wrap="square" lIns="0" rIns="0" tIns="27432" bIns="27432">
            <a:noAutofit/>
          </a:bodyPr>
          <a:lstStyle/>
          <a:p>
            <a:pPr algn="ctr">
              <a:spcAft>
                <a:spcPts val="0"/>
              </a:spcAft>
            </a:pPr>
            <a:r>
              <a:rPr sz="1400" b="1" i="0">
                <a:solidFill>
                  <a:srgbClr val="1A1A1A"/>
                </a:solidFill>
                <a:latin typeface="Arial"/>
                <a:ea typeface="맑은 고딕"/>
              </a:rPr>
              <a:t>W4</a:t>
            </a:r>
          </a:p>
        </p:txBody>
      </p:sp>
      <p:sp>
        <p:nvSpPr>
          <p:cNvPr id="64" name="Rounded Rectangle 63"/>
          <p:cNvSpPr/>
          <p:nvPr/>
        </p:nvSpPr>
        <p:spPr>
          <a:xfrm>
            <a:off x="6144768" y="1920240"/>
            <a:ext cx="1764792" cy="2103120"/>
          </a:xfrm>
          <a:prstGeom prst="roundRect">
            <a:avLst>
              <a:gd name="adj" fmla="val 6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5" name="TextBox 64"/>
          <p:cNvSpPr txBox="1"/>
          <p:nvPr/>
        </p:nvSpPr>
        <p:spPr>
          <a:xfrm>
            <a:off x="6236207" y="1993392"/>
            <a:ext cx="1600200" cy="566928"/>
          </a:xfrm>
          <a:prstGeom prst="rect">
            <a:avLst/>
          </a:prstGeom>
          <a:noFill/>
        </p:spPr>
        <p:txBody>
          <a:bodyPr wrap="square" lIns="18288" rIns="18288" tIns="27432" bIns="27432" anchor="ctr">
            <a:noAutofit/>
          </a:bodyPr>
          <a:lstStyle/>
          <a:p>
            <a:pPr algn="l">
              <a:spcAft>
                <a:spcPts val="0"/>
              </a:spcAft>
            </a:pPr>
            <a:r>
              <a:rPr sz="1300" b="1" i="0">
                <a:solidFill>
                  <a:srgbClr val="1A1A1A"/>
                </a:solidFill>
                <a:latin typeface="Arial"/>
                <a:ea typeface="맑은 고딕"/>
              </a:rPr>
              <a:t>Grounding</a:t>
            </a:r>
          </a:p>
        </p:txBody>
      </p:sp>
      <p:sp>
        <p:nvSpPr>
          <p:cNvPr id="66" name="TextBox 65"/>
          <p:cNvSpPr txBox="1"/>
          <p:nvPr/>
        </p:nvSpPr>
        <p:spPr>
          <a:xfrm>
            <a:off x="6236207" y="2606040"/>
            <a:ext cx="1627632" cy="1371600"/>
          </a:xfrm>
          <a:prstGeom prst="rect">
            <a:avLst/>
          </a:prstGeom>
          <a:noFill/>
        </p:spPr>
        <p:txBody>
          <a:bodyPr wrap="square" lIns="18288" rIns="18288" tIns="27432" bIns="27432" anchor="t">
            <a:noAutofit/>
          </a:bodyPr>
          <a:lstStyle/>
          <a:p>
            <a:pPr algn="l" marL="164592" indent="-164592">
              <a:spcAft>
                <a:spcPts val="500"/>
              </a:spcAft>
              <a:buChar char="•"/>
            </a:pPr>
            <a:r>
              <a:rPr sz="1200" b="0" i="0">
                <a:solidFill>
                  <a:srgbClr val="1A1A1A"/>
                </a:solidFill>
                <a:latin typeface="Arial"/>
                <a:ea typeface="맑은 고딕"/>
              </a:rPr>
              <a:t>전시 API · snapshot</a:t>
            </a:r>
          </a:p>
          <a:p>
            <a:pPr algn="l" marL="164592" indent="-164592">
              <a:spcAft>
                <a:spcPts val="500"/>
              </a:spcAft>
              <a:buChar char="•"/>
            </a:pPr>
            <a:r>
              <a:rPr sz="1200" b="0" i="0">
                <a:solidFill>
                  <a:srgbClr val="1A1A1A"/>
                </a:solidFill>
                <a:latin typeface="Arial"/>
                <a:ea typeface="맑은 고딕"/>
              </a:rPr>
              <a:t>claim whitelist</a:t>
            </a:r>
          </a:p>
          <a:p>
            <a:pPr algn="l" marL="164592" indent="-164592">
              <a:spcAft>
                <a:spcPts val="500"/>
              </a:spcAft>
              <a:buChar char="•"/>
            </a:pPr>
            <a:r>
              <a:rPr sz="1200" b="0" i="0">
                <a:solidFill>
                  <a:srgbClr val="1A1A1A"/>
                </a:solidFill>
                <a:latin typeface="Arial"/>
                <a:ea typeface="맑은 고딕"/>
              </a:rPr>
              <a:t>UCR</a:t>
            </a:r>
          </a:p>
        </p:txBody>
      </p:sp>
      <p:sp>
        <p:nvSpPr>
          <p:cNvPr id="67" name="Rounded Rectangle 66"/>
          <p:cNvSpPr/>
          <p:nvPr/>
        </p:nvSpPr>
        <p:spPr>
          <a:xfrm>
            <a:off x="6473952" y="4133087"/>
            <a:ext cx="1097280" cy="274320"/>
          </a:xfrm>
          <a:prstGeom prst="roundRect">
            <a:avLst>
              <a:gd name="adj" fmla="val 30000"/>
            </a:avLst>
          </a:prstGeom>
          <a:solidFill>
            <a:srgbClr val="FFFFFF"/>
          </a:solidFill>
          <a:ln w="12700">
            <a:solidFill>
              <a:srgbClr val="A6A6A6"/>
            </a:solidFill>
          </a:ln>
        </p:spPr>
        <p:txBody>
          <a:bodyPr rtlCol="0" anchor="ctr" wrap="square" lIns="36576" rIns="36576" tIns="27432" bIns="27432">
            <a:noAutofit/>
          </a:bodyPr>
          <a:lstStyle/>
          <a:p>
            <a:pPr algn="ctr">
              <a:spcAft>
                <a:spcPts val="0"/>
              </a:spcAft>
            </a:pPr>
            <a:r>
              <a:rPr sz="1000" b="1" i="0">
                <a:solidFill>
                  <a:srgbClr val="6B6B6B"/>
                </a:solidFill>
                <a:latin typeface="Arial"/>
                <a:ea typeface="맑은 고딕"/>
              </a:rPr>
              <a:t>Planned</a:t>
            </a:r>
          </a:p>
        </p:txBody>
      </p:sp>
      <p:sp>
        <p:nvSpPr>
          <p:cNvPr id="68" name="Rounded Rectangle 67"/>
          <p:cNvSpPr/>
          <p:nvPr/>
        </p:nvSpPr>
        <p:spPr>
          <a:xfrm>
            <a:off x="8577072" y="1234440"/>
            <a:ext cx="640080" cy="502920"/>
          </a:xfrm>
          <a:prstGeom prst="roundRect">
            <a:avLst>
              <a:gd name="adj" fmla="val 30000"/>
            </a:avLst>
          </a:prstGeom>
          <a:solidFill>
            <a:srgbClr val="FFBD11"/>
          </a:solidFill>
          <a:ln>
            <a:noFill/>
          </a:ln>
        </p:spPr>
        <p:txBody>
          <a:bodyPr rtlCol="0" anchor="ctr" wrap="square" lIns="0" rIns="0" tIns="27432" bIns="27432">
            <a:noAutofit/>
          </a:bodyPr>
          <a:lstStyle/>
          <a:p>
            <a:pPr algn="ctr">
              <a:spcAft>
                <a:spcPts val="0"/>
              </a:spcAft>
            </a:pPr>
            <a:r>
              <a:rPr sz="1400" b="1" i="0">
                <a:solidFill>
                  <a:srgbClr val="1A1A1A"/>
                </a:solidFill>
                <a:latin typeface="Arial"/>
                <a:ea typeface="맑은 고딕"/>
              </a:rPr>
              <a:t>W5</a:t>
            </a:r>
          </a:p>
        </p:txBody>
      </p:sp>
      <p:sp>
        <p:nvSpPr>
          <p:cNvPr id="69" name="Rounded Rectangle 68"/>
          <p:cNvSpPr/>
          <p:nvPr/>
        </p:nvSpPr>
        <p:spPr>
          <a:xfrm>
            <a:off x="8010144" y="1920240"/>
            <a:ext cx="1764792" cy="2103120"/>
          </a:xfrm>
          <a:prstGeom prst="roundRect">
            <a:avLst>
              <a:gd name="adj" fmla="val 6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0" name="TextBox 69"/>
          <p:cNvSpPr txBox="1"/>
          <p:nvPr/>
        </p:nvSpPr>
        <p:spPr>
          <a:xfrm>
            <a:off x="8101583" y="1993392"/>
            <a:ext cx="1600200" cy="566928"/>
          </a:xfrm>
          <a:prstGeom prst="rect">
            <a:avLst/>
          </a:prstGeom>
          <a:noFill/>
        </p:spPr>
        <p:txBody>
          <a:bodyPr wrap="square" lIns="18288" rIns="18288" tIns="27432" bIns="27432" anchor="ctr">
            <a:noAutofit/>
          </a:bodyPr>
          <a:lstStyle/>
          <a:p>
            <a:pPr algn="l">
              <a:spcAft>
                <a:spcPts val="0"/>
              </a:spcAft>
            </a:pPr>
            <a:r>
              <a:rPr sz="1300" b="1" i="0">
                <a:solidFill>
                  <a:srgbClr val="1A1A1A"/>
                </a:solidFill>
                <a:latin typeface="Arial"/>
                <a:ea typeface="맑은 고딕"/>
              </a:rPr>
              <a:t>Controlled Evaluation</a:t>
            </a:r>
          </a:p>
        </p:txBody>
      </p:sp>
      <p:sp>
        <p:nvSpPr>
          <p:cNvPr id="71" name="TextBox 70"/>
          <p:cNvSpPr txBox="1"/>
          <p:nvPr/>
        </p:nvSpPr>
        <p:spPr>
          <a:xfrm>
            <a:off x="8101583" y="2606040"/>
            <a:ext cx="1627632" cy="1371600"/>
          </a:xfrm>
          <a:prstGeom prst="rect">
            <a:avLst/>
          </a:prstGeom>
          <a:noFill/>
        </p:spPr>
        <p:txBody>
          <a:bodyPr wrap="square" lIns="18288" rIns="18288" tIns="27432" bIns="27432" anchor="t">
            <a:noAutofit/>
          </a:bodyPr>
          <a:lstStyle/>
          <a:p>
            <a:pPr algn="l" marL="164592" indent="-164592">
              <a:spcAft>
                <a:spcPts val="500"/>
              </a:spcAft>
              <a:buChar char="•"/>
            </a:pPr>
            <a:r>
              <a:rPr sz="1200" b="0" i="0">
                <a:solidFill>
                  <a:srgbClr val="1A1A1A"/>
                </a:solidFill>
                <a:latin typeface="Arial"/>
                <a:ea typeface="맑은 고딕"/>
              </a:rPr>
              <a:t>B1 · B2 · B4 · B5</a:t>
            </a:r>
          </a:p>
          <a:p>
            <a:pPr algn="l" marL="164592" indent="-164592">
              <a:spcAft>
                <a:spcPts val="500"/>
              </a:spcAft>
              <a:buChar char="•"/>
            </a:pPr>
            <a:r>
              <a:rPr sz="1200" b="0" i="0">
                <a:solidFill>
                  <a:srgbClr val="1A1A1A"/>
                </a:solidFill>
                <a:latin typeface="Arial"/>
                <a:ea typeface="맑은 고딕"/>
              </a:rPr>
              <a:t>formal ladder 확장</a:t>
            </a:r>
          </a:p>
        </p:txBody>
      </p:sp>
      <p:sp>
        <p:nvSpPr>
          <p:cNvPr id="72" name="Rounded Rectangle 71"/>
          <p:cNvSpPr/>
          <p:nvPr/>
        </p:nvSpPr>
        <p:spPr>
          <a:xfrm>
            <a:off x="8339327" y="4133087"/>
            <a:ext cx="1097280" cy="274320"/>
          </a:xfrm>
          <a:prstGeom prst="roundRect">
            <a:avLst>
              <a:gd name="adj" fmla="val 30000"/>
            </a:avLst>
          </a:prstGeom>
          <a:solidFill>
            <a:srgbClr val="FFFFFF"/>
          </a:solidFill>
          <a:ln w="12700">
            <a:solidFill>
              <a:srgbClr val="A6A6A6"/>
            </a:solidFill>
          </a:ln>
        </p:spPr>
        <p:txBody>
          <a:bodyPr rtlCol="0" anchor="ctr" wrap="square" lIns="36576" rIns="36576" tIns="27432" bIns="27432">
            <a:noAutofit/>
          </a:bodyPr>
          <a:lstStyle/>
          <a:p>
            <a:pPr algn="ctr">
              <a:spcAft>
                <a:spcPts val="0"/>
              </a:spcAft>
            </a:pPr>
            <a:r>
              <a:rPr sz="1000" b="1" i="0">
                <a:solidFill>
                  <a:srgbClr val="6B6B6B"/>
                </a:solidFill>
                <a:latin typeface="Arial"/>
                <a:ea typeface="맑은 고딕"/>
              </a:rPr>
              <a:t>Planned</a:t>
            </a:r>
          </a:p>
        </p:txBody>
      </p:sp>
      <p:sp>
        <p:nvSpPr>
          <p:cNvPr id="73" name="Rounded Rectangle 72"/>
          <p:cNvSpPr/>
          <p:nvPr/>
        </p:nvSpPr>
        <p:spPr>
          <a:xfrm>
            <a:off x="10442447" y="1234440"/>
            <a:ext cx="640080" cy="502920"/>
          </a:xfrm>
          <a:prstGeom prst="roundRect">
            <a:avLst>
              <a:gd name="adj" fmla="val 30000"/>
            </a:avLst>
          </a:prstGeom>
          <a:solidFill>
            <a:srgbClr val="FFBD11"/>
          </a:solidFill>
          <a:ln>
            <a:noFill/>
          </a:ln>
        </p:spPr>
        <p:txBody>
          <a:bodyPr rtlCol="0" anchor="ctr" wrap="square" lIns="0" rIns="0" tIns="27432" bIns="27432">
            <a:noAutofit/>
          </a:bodyPr>
          <a:lstStyle/>
          <a:p>
            <a:pPr algn="ctr">
              <a:spcAft>
                <a:spcPts val="0"/>
              </a:spcAft>
            </a:pPr>
            <a:r>
              <a:rPr sz="1400" b="1" i="0">
                <a:solidFill>
                  <a:srgbClr val="1A1A1A"/>
                </a:solidFill>
                <a:latin typeface="Arial"/>
                <a:ea typeface="맑은 고딕"/>
              </a:rPr>
              <a:t>W6</a:t>
            </a:r>
          </a:p>
        </p:txBody>
      </p:sp>
      <p:sp>
        <p:nvSpPr>
          <p:cNvPr id="74" name="Rounded Rectangle 73"/>
          <p:cNvSpPr/>
          <p:nvPr/>
        </p:nvSpPr>
        <p:spPr>
          <a:xfrm>
            <a:off x="9875519" y="1920240"/>
            <a:ext cx="1764792" cy="2103120"/>
          </a:xfrm>
          <a:prstGeom prst="roundRect">
            <a:avLst>
              <a:gd name="adj" fmla="val 6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5" name="TextBox 74"/>
          <p:cNvSpPr txBox="1"/>
          <p:nvPr/>
        </p:nvSpPr>
        <p:spPr>
          <a:xfrm>
            <a:off x="9966959" y="1993392"/>
            <a:ext cx="1600200" cy="566928"/>
          </a:xfrm>
          <a:prstGeom prst="rect">
            <a:avLst/>
          </a:prstGeom>
          <a:noFill/>
        </p:spPr>
        <p:txBody>
          <a:bodyPr wrap="square" lIns="18288" rIns="18288" tIns="27432" bIns="27432" anchor="ctr">
            <a:noAutofit/>
          </a:bodyPr>
          <a:lstStyle/>
          <a:p>
            <a:pPr algn="l">
              <a:spcAft>
                <a:spcPts val="0"/>
              </a:spcAft>
            </a:pPr>
            <a:r>
              <a:rPr sz="1300" b="1" i="0">
                <a:solidFill>
                  <a:srgbClr val="1A1A1A"/>
                </a:solidFill>
                <a:latin typeface="Arial"/>
                <a:ea typeface="맑은 고딕"/>
              </a:rPr>
              <a:t>Demo &amp; Freeze</a:t>
            </a:r>
          </a:p>
        </p:txBody>
      </p:sp>
      <p:sp>
        <p:nvSpPr>
          <p:cNvPr id="76" name="TextBox 75"/>
          <p:cNvSpPr txBox="1"/>
          <p:nvPr/>
        </p:nvSpPr>
        <p:spPr>
          <a:xfrm>
            <a:off x="9966959" y="2606040"/>
            <a:ext cx="1627632" cy="1371600"/>
          </a:xfrm>
          <a:prstGeom prst="rect">
            <a:avLst/>
          </a:prstGeom>
          <a:noFill/>
        </p:spPr>
        <p:txBody>
          <a:bodyPr wrap="square" lIns="18288" rIns="18288" tIns="27432" bIns="27432" anchor="t">
            <a:noAutofit/>
          </a:bodyPr>
          <a:lstStyle/>
          <a:p>
            <a:pPr algn="l" marL="164592" indent="-164592">
              <a:spcAft>
                <a:spcPts val="500"/>
              </a:spcAft>
              <a:buChar char="•"/>
            </a:pPr>
            <a:r>
              <a:rPr sz="1200" b="0" i="0">
                <a:solidFill>
                  <a:srgbClr val="1A1A1A"/>
                </a:solidFill>
                <a:latin typeface="Arial"/>
                <a:ea typeface="맑은 고딕"/>
              </a:rPr>
              <a:t>Streamlit · GitHub</a:t>
            </a:r>
          </a:p>
          <a:p>
            <a:pPr algn="l" marL="164592" indent="-164592">
              <a:spcAft>
                <a:spcPts val="500"/>
              </a:spcAft>
              <a:buChar char="•"/>
            </a:pPr>
            <a:r>
              <a:rPr sz="1200" b="0" i="0">
                <a:solidFill>
                  <a:srgbClr val="1A1A1A"/>
                </a:solidFill>
                <a:latin typeface="Arial"/>
                <a:ea typeface="맑은 고딕"/>
              </a:rPr>
              <a:t>발표자료</a:t>
            </a:r>
          </a:p>
          <a:p>
            <a:pPr algn="l" marL="164592" indent="-164592">
              <a:spcAft>
                <a:spcPts val="500"/>
              </a:spcAft>
              <a:buChar char="•"/>
            </a:pPr>
            <a:r>
              <a:rPr sz="1200" b="0" i="0">
                <a:solidFill>
                  <a:srgbClr val="1A1A1A"/>
                </a:solidFill>
                <a:latin typeface="Arial"/>
                <a:ea typeface="맑은 고딕"/>
              </a:rPr>
              <a:t>fresh clone</a:t>
            </a:r>
          </a:p>
          <a:p>
            <a:pPr algn="l" marL="164592" indent="-164592">
              <a:spcAft>
                <a:spcPts val="500"/>
              </a:spcAft>
              <a:buChar char="•"/>
            </a:pPr>
            <a:r>
              <a:rPr sz="1200" b="0" i="0">
                <a:solidFill>
                  <a:srgbClr val="1A1A1A"/>
                </a:solidFill>
                <a:latin typeface="Arial"/>
                <a:ea typeface="맑은 고딕"/>
              </a:rPr>
              <a:t>최종 평가</a:t>
            </a:r>
          </a:p>
        </p:txBody>
      </p:sp>
      <p:sp>
        <p:nvSpPr>
          <p:cNvPr id="77" name="Rounded Rectangle 76"/>
          <p:cNvSpPr/>
          <p:nvPr/>
        </p:nvSpPr>
        <p:spPr>
          <a:xfrm>
            <a:off x="10204703" y="4133087"/>
            <a:ext cx="1097280" cy="274320"/>
          </a:xfrm>
          <a:prstGeom prst="roundRect">
            <a:avLst>
              <a:gd name="adj" fmla="val 30000"/>
            </a:avLst>
          </a:prstGeom>
          <a:solidFill>
            <a:srgbClr val="FFFFFF"/>
          </a:solidFill>
          <a:ln w="12700">
            <a:solidFill>
              <a:srgbClr val="A6A6A6"/>
            </a:solidFill>
          </a:ln>
        </p:spPr>
        <p:txBody>
          <a:bodyPr rtlCol="0" anchor="ctr" wrap="square" lIns="36576" rIns="36576" tIns="27432" bIns="27432">
            <a:noAutofit/>
          </a:bodyPr>
          <a:lstStyle/>
          <a:p>
            <a:pPr algn="ctr">
              <a:spcAft>
                <a:spcPts val="0"/>
              </a:spcAft>
            </a:pPr>
            <a:r>
              <a:rPr sz="1000" b="1" i="0">
                <a:solidFill>
                  <a:srgbClr val="6B6B6B"/>
                </a:solidFill>
                <a:latin typeface="Arial"/>
                <a:ea typeface="맑은 고딕"/>
              </a:rPr>
              <a:t>Planned</a:t>
            </a:r>
          </a:p>
        </p:txBody>
      </p:sp>
      <p:sp>
        <p:nvSpPr>
          <p:cNvPr id="78" name="Rounded Rectangle 77"/>
          <p:cNvSpPr/>
          <p:nvPr/>
        </p:nvSpPr>
        <p:spPr>
          <a:xfrm>
            <a:off x="548640" y="4617720"/>
            <a:ext cx="11091672" cy="438912"/>
          </a:xfrm>
          <a:prstGeom prst="roundRect">
            <a:avLst>
              <a:gd name="adj" fmla="val 20000"/>
            </a:avLst>
          </a:prstGeom>
          <a:solidFill>
            <a:srgbClr val="E6EAF0"/>
          </a:solidFill>
          <a:ln>
            <a:noFill/>
          </a:ln>
        </p:spPr>
        <p:txBody>
          <a:bodyPr rtlCol="0" anchor="ctr" wrap="square" lIns="137160" rIns="137160" tIns="27432" bIns="27432">
            <a:noAutofit/>
          </a:bodyPr>
          <a:lstStyle/>
          <a:p>
            <a:pPr algn="ctr">
              <a:spcAft>
                <a:spcPts val="0"/>
              </a:spcAft>
            </a:pPr>
            <a:r>
              <a:rPr sz="1200" b="1" i="0">
                <a:solidFill>
                  <a:srgbClr val="445569"/>
                </a:solidFill>
                <a:latin typeface="Arial"/>
                <a:ea typeface="맑은 고딕"/>
              </a:rPr>
              <a:t>주차별 Evidence   </a:t>
            </a:r>
            <a:r>
              <a:rPr sz="1250" b="1" i="0">
                <a:solidFill>
                  <a:srgbClr val="1A1A1A"/>
                </a:solidFill>
                <a:latin typeface="Arial"/>
                <a:ea typeface="맑은 고딕"/>
              </a:rPr>
              <a:t>dataset version · experiment ID · result table</a:t>
            </a:r>
            <a:r>
              <a:rPr sz="1200" b="1" i="0">
                <a:solidFill>
                  <a:srgbClr val="445569"/>
                </a:solidFill>
                <a:latin typeface="Arial"/>
                <a:ea typeface="맑은 고딕"/>
              </a:rPr>
              <a:t>        상태 표기   </a:t>
            </a:r>
            <a:r>
              <a:rPr sz="1200" b="0" i="0">
                <a:solidFill>
                  <a:srgbClr val="1A1A1A"/>
                </a:solidFill>
                <a:latin typeface="Arial"/>
                <a:ea typeface="맑은 고딕"/>
              </a:rPr>
              <a:t>Planned → In progress → Measured  (발표 직전 갱신)</a:t>
            </a:r>
          </a:p>
        </p:txBody>
      </p:sp>
      <p:sp>
        <p:nvSpPr>
          <p:cNvPr id="79" name="Rounded Rectangle 78"/>
          <p:cNvSpPr/>
          <p:nvPr/>
        </p:nvSpPr>
        <p:spPr>
          <a:xfrm>
            <a:off x="548640" y="5257800"/>
            <a:ext cx="11091672" cy="731520"/>
          </a:xfrm>
          <a:prstGeom prst="roundRect">
            <a:avLst>
              <a:gd name="adj" fmla="val 10000"/>
            </a:avLst>
          </a:prstGeom>
          <a:solidFill>
            <a:srgbClr val="FBE4E1"/>
          </a:solidFill>
          <a:ln w="15875">
            <a:solidFill>
              <a:srgbClr val="C8372D"/>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80" name="Oval 79"/>
          <p:cNvSpPr/>
          <p:nvPr/>
        </p:nvSpPr>
        <p:spPr>
          <a:xfrm>
            <a:off x="731520" y="5449824"/>
            <a:ext cx="347472" cy="347472"/>
          </a:xfrm>
          <a:prstGeom prst="ellipse">
            <a:avLst/>
          </a:prstGeom>
          <a:solidFill>
            <a:srgbClr val="C8372D"/>
          </a:solidFill>
          <a:ln>
            <a:noFill/>
          </a:ln>
        </p:spPr>
        <p:txBody>
          <a:bodyPr rtlCol="0" anchor="ctr" wrap="square" lIns="0" rIns="0" tIns="27432" bIns="27432">
            <a:noAutofit/>
          </a:bodyPr>
          <a:lstStyle/>
          <a:p>
            <a:pPr algn="ctr">
              <a:spcAft>
                <a:spcPts val="0"/>
              </a:spcAft>
            </a:pPr>
            <a:r>
              <a:rPr sz="1500" b="1" i="0">
                <a:solidFill>
                  <a:srgbClr val="FFFFFF"/>
                </a:solidFill>
                <a:latin typeface="Arial"/>
                <a:ea typeface="맑은 고딕"/>
              </a:rPr>
              <a:t>!</a:t>
            </a:r>
          </a:p>
        </p:txBody>
      </p:sp>
      <p:sp>
        <p:nvSpPr>
          <p:cNvPr id="81" name="TextBox 80"/>
          <p:cNvSpPr txBox="1"/>
          <p:nvPr/>
        </p:nvSpPr>
        <p:spPr>
          <a:xfrm>
            <a:off x="1188720" y="5294376"/>
            <a:ext cx="10332720" cy="658368"/>
          </a:xfrm>
          <a:prstGeom prst="rect">
            <a:avLst/>
          </a:prstGeom>
          <a:noFill/>
        </p:spPr>
        <p:txBody>
          <a:bodyPr wrap="square" lIns="0" rIns="0" tIns="27432" bIns="27432" anchor="ctr">
            <a:noAutofit/>
          </a:bodyPr>
          <a:lstStyle/>
          <a:p>
            <a:pPr algn="l">
              <a:spcAft>
                <a:spcPts val="0"/>
              </a:spcAft>
            </a:pPr>
            <a:r>
              <a:rPr sz="1200" b="1" i="0">
                <a:solidFill>
                  <a:srgbClr val="C8372D"/>
                </a:solidFill>
                <a:latin typeface="Arial"/>
                <a:ea typeface="맑은 고딕"/>
              </a:rPr>
              <a:t>[PROPOSED]  </a:t>
            </a:r>
            <a:r>
              <a:rPr sz="1300" b="1" i="0">
                <a:solidFill>
                  <a:srgbClr val="1A1A1A"/>
                </a:solidFill>
                <a:latin typeface="Arial"/>
                <a:ea typeface="맑은 고딕"/>
              </a:rPr>
              <a:t>300개 합성 multi-session · 20명 파일럿은 계획된 평가 규모이며, 완료된 실험 표본이 아닙니다.</a:t>
            </a:r>
          </a:p>
          <a:p>
            <a:pPr algn="l">
              <a:spcAft>
                <a:spcPts val="0"/>
              </a:spcAft>
            </a:pPr>
            <a:r>
              <a:rPr sz="1100" b="0" i="0">
                <a:solidFill>
                  <a:srgbClr val="C8372D"/>
                </a:solidFill>
                <a:latin typeface="Arial"/>
                <a:ea typeface="맑은 고딕"/>
              </a:rPr>
              <a:t>실험보다 문서가 앞서지 않도록, 각 항목의 상태를 발표 직전 Measured / Planned로 갱신합니다.</a:t>
            </a:r>
          </a:p>
        </p:txBody>
      </p:sp>
    </p:spTree>
    <p:extLst>
      <p:ext uri="{BB962C8B-B14F-4D97-AF65-F5344CB8AC3E}">
        <p14:creationId xmlns:p14="http://schemas.microsoft.com/office/powerpoint/2010/main" val="3605434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4"/>
          <p:cNvSpPr txBox="1"/>
          <p:nvPr/>
        </p:nvSpPr>
        <p:spPr>
          <a:xfrm>
            <a:off x="17463" y="-27384"/>
            <a:ext cx="1160462" cy="11079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6600" b="1" dirty="0">
                <a:solidFill>
                  <a:srgbClr val="FFBD11"/>
                </a:solidFill>
                <a:latin typeface="+mj-lt"/>
                <a:ea typeface="Arial"/>
                <a:cs typeface="Arial"/>
                <a:sym typeface="Arial"/>
              </a:rPr>
              <a:t>0</a:t>
            </a:r>
            <a:r>
              <a:rPr lang="en-US" altLang="ko-KR" sz="6600" b="1" dirty="0">
                <a:solidFill>
                  <a:srgbClr val="FFBD11"/>
                </a:solidFill>
                <a:latin typeface="+mj-lt"/>
                <a:ea typeface="Arial"/>
                <a:cs typeface="Arial"/>
                <a:sym typeface="Arial"/>
              </a:rPr>
              <a:t>5</a:t>
            </a:r>
            <a:r>
              <a:rPr lang="ko-KR" sz="4000" b="1" dirty="0">
                <a:solidFill>
                  <a:srgbClr val="445569"/>
                </a:solidFill>
                <a:latin typeface="+mj-lt"/>
                <a:ea typeface="Arial"/>
                <a:cs typeface="Arial"/>
                <a:sym typeface="Arial"/>
              </a:rPr>
              <a:t> </a:t>
            </a:r>
            <a:endParaRPr sz="4000" b="1" dirty="0">
              <a:solidFill>
                <a:srgbClr val="445569"/>
              </a:solidFill>
              <a:latin typeface="+mj-lt"/>
              <a:ea typeface="Arial"/>
              <a:cs typeface="Arial"/>
              <a:sym typeface="Arial"/>
            </a:endParaRPr>
          </a:p>
        </p:txBody>
      </p:sp>
      <p:sp>
        <p:nvSpPr>
          <p:cNvPr id="45" name="Google Shape;45;p4"/>
          <p:cNvSpPr txBox="1"/>
          <p:nvPr/>
        </p:nvSpPr>
        <p:spPr>
          <a:xfrm>
            <a:off x="984110" y="126483"/>
            <a:ext cx="64008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chemeClr val="tx1"/>
                </a:solidFill>
                <a:latin typeface="+mj-lt"/>
                <a:ea typeface="맑은 고딕"/>
                <a:cs typeface="Calibri"/>
                <a:sym typeface="Calibri"/>
              </a:rPr>
              <a:t>프로젝트 예상·실측 결과</a:t>
            </a:r>
            <a:endParaRPr dirty="0">
              <a:solidFill>
                <a:schemeClr val="tx1"/>
              </a:solidFill>
              <a:latin typeface="+mj-lt"/>
            </a:endParaRPr>
          </a:p>
        </p:txBody>
      </p:sp>
      <p:cxnSp>
        <p:nvCxnSpPr>
          <p:cNvPr id="46" name="Google Shape;46;p4"/>
          <p:cNvCxnSpPr>
            <a:cxnSpLocks/>
          </p:cNvCxnSpPr>
          <p:nvPr/>
        </p:nvCxnSpPr>
        <p:spPr>
          <a:xfrm flipV="1">
            <a:off x="1107936" y="526593"/>
            <a:ext cx="10827390" cy="13164"/>
          </a:xfrm>
          <a:prstGeom prst="straightConnector1">
            <a:avLst/>
          </a:prstGeom>
          <a:noFill/>
          <a:ln w="31750" cap="flat" cmpd="sng">
            <a:solidFill>
              <a:srgbClr val="FFBD11"/>
            </a:solidFill>
            <a:prstDash val="solid"/>
            <a:miter lim="800000"/>
            <a:headEnd type="none" w="sm" len="sm"/>
            <a:tailEnd type="none" w="sm" len="sm"/>
          </a:ln>
        </p:spPr>
      </p:cxnSp>
      <p:sp>
        <p:nvSpPr>
          <p:cNvPr id="9" name="Google Shape;124;p8">
            <a:extLst>
              <a:ext uri="{FF2B5EF4-FFF2-40B4-BE49-F238E27FC236}">
                <a16:creationId xmlns:a16="http://schemas.microsoft.com/office/drawing/2014/main" id="{043106DF-ECD6-42C2-8B7A-2D53A210501B}"/>
              </a:ext>
            </a:extLst>
          </p:cNvPr>
          <p:cNvSpPr txBox="1"/>
          <p:nvPr/>
        </p:nvSpPr>
        <p:spPr>
          <a:xfrm>
            <a:off x="1075852" y="615955"/>
            <a:ext cx="108813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rgbClr val="1A1A1A"/>
                </a:solidFill>
                <a:latin typeface="+mj-lt"/>
                <a:ea typeface="맑은 고딕"/>
                <a:cs typeface="Calibri"/>
                <a:sym typeface="Calibri"/>
              </a:rPr>
              <a:t>네 개의 숫자로 연구 질문을 검증한다</a:t>
            </a:r>
            <a:endParaRPr dirty="0">
              <a:solidFill>
                <a:schemeClr val="tx1"/>
              </a:solidFill>
              <a:latin typeface="+mj-lt"/>
            </a:endParaRPr>
          </a:p>
        </p:txBody>
      </p:sp>
      <p:sp>
        <p:nvSpPr>
          <p:cNvPr id="47" name="Rounded Rectangle 46"/>
          <p:cNvSpPr/>
          <p:nvPr/>
        </p:nvSpPr>
        <p:spPr>
          <a:xfrm>
            <a:off x="548640" y="1234440"/>
            <a:ext cx="3291840" cy="1938528"/>
          </a:xfrm>
          <a:prstGeom prst="roundRect">
            <a:avLst>
              <a:gd name="adj" fmla="val 5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48" name="TextBox 47"/>
          <p:cNvSpPr txBox="1"/>
          <p:nvPr/>
        </p:nvSpPr>
        <p:spPr>
          <a:xfrm>
            <a:off x="713232" y="1307592"/>
            <a:ext cx="2194560" cy="457200"/>
          </a:xfrm>
          <a:prstGeom prst="rect">
            <a:avLst/>
          </a:prstGeom>
          <a:noFill/>
        </p:spPr>
        <p:txBody>
          <a:bodyPr wrap="square" lIns="0" rIns="0" tIns="27432" bIns="27432" anchor="t">
            <a:noAutofit/>
          </a:bodyPr>
          <a:lstStyle/>
          <a:p>
            <a:pPr algn="l">
              <a:spcAft>
                <a:spcPts val="0"/>
              </a:spcAft>
            </a:pPr>
            <a:r>
              <a:rPr sz="2200" b="1" i="0">
                <a:solidFill>
                  <a:srgbClr val="1A1A1A"/>
                </a:solidFill>
                <a:latin typeface="Arial"/>
                <a:ea typeface="맑은 고딕"/>
              </a:rPr>
              <a:t>NDCG@10</a:t>
            </a:r>
            <a:r>
              <a:rPr sz="2200" b="1" i="0">
                <a:solidFill>
                  <a:srgbClr val="FFBD11"/>
                </a:solidFill>
                <a:latin typeface="Arial"/>
                <a:ea typeface="맑은 고딕"/>
              </a:rPr>
              <a:t>  ↑</a:t>
            </a:r>
          </a:p>
        </p:txBody>
      </p:sp>
      <p:sp>
        <p:nvSpPr>
          <p:cNvPr id="49" name="TextBox 48"/>
          <p:cNvSpPr txBox="1"/>
          <p:nvPr/>
        </p:nvSpPr>
        <p:spPr>
          <a:xfrm>
            <a:off x="2651760" y="1344168"/>
            <a:ext cx="1051560" cy="457200"/>
          </a:xfrm>
          <a:prstGeom prst="rect">
            <a:avLst/>
          </a:prstGeom>
          <a:noFill/>
        </p:spPr>
        <p:txBody>
          <a:bodyPr wrap="square" lIns="0" rIns="0" tIns="27432" bIns="27432" anchor="t">
            <a:noAutofit/>
          </a:bodyPr>
          <a:lstStyle/>
          <a:p>
            <a:pPr algn="r">
              <a:spcAft>
                <a:spcPts val="0"/>
              </a:spcAft>
            </a:pPr>
            <a:r>
              <a:rPr sz="2000" b="1" i="0">
                <a:solidFill>
                  <a:srgbClr val="9A9A9A"/>
                </a:solidFill>
                <a:latin typeface="Arial"/>
                <a:ea typeface="맑은 고딕"/>
              </a:rPr>
              <a:t>TBD</a:t>
            </a:r>
          </a:p>
        </p:txBody>
      </p:sp>
      <p:sp>
        <p:nvSpPr>
          <p:cNvPr id="50" name="TextBox 49"/>
          <p:cNvSpPr txBox="1"/>
          <p:nvPr/>
        </p:nvSpPr>
        <p:spPr>
          <a:xfrm>
            <a:off x="713232" y="1801368"/>
            <a:ext cx="2971800" cy="457200"/>
          </a:xfrm>
          <a:prstGeom prst="rect">
            <a:avLst/>
          </a:prstGeom>
          <a:noFill/>
        </p:spPr>
        <p:txBody>
          <a:bodyPr wrap="square" lIns="0" rIns="0" tIns="27432" bIns="27432" anchor="t">
            <a:noAutofit/>
          </a:bodyPr>
          <a:lstStyle/>
          <a:p>
            <a:pPr algn="l">
              <a:spcAft>
                <a:spcPts val="0"/>
              </a:spcAft>
            </a:pPr>
            <a:r>
              <a:rPr sz="1150" b="0" i="0">
                <a:solidFill>
                  <a:srgbClr val="1A1A1A"/>
                </a:solidFill>
                <a:latin typeface="Arial"/>
                <a:ea typeface="맑은 고딕"/>
              </a:rPr>
              <a:t>개인화 추천 순위 품질</a:t>
            </a:r>
          </a:p>
        </p:txBody>
      </p:sp>
      <p:sp>
        <p:nvSpPr>
          <p:cNvPr id="51" name="Rounded Rectangle 50"/>
          <p:cNvSpPr/>
          <p:nvPr/>
        </p:nvSpPr>
        <p:spPr>
          <a:xfrm>
            <a:off x="713232" y="2295144"/>
            <a:ext cx="1234440" cy="274320"/>
          </a:xfrm>
          <a:prstGeom prst="roundRect">
            <a:avLst>
              <a:gd name="adj" fmla="val 30000"/>
            </a:avLst>
          </a:prstGeom>
          <a:solidFill>
            <a:srgbClr val="FFFFFF"/>
          </a:solidFill>
          <a:ln w="12700">
            <a:solidFill>
              <a:srgbClr val="445569"/>
            </a:solidFill>
          </a:ln>
        </p:spPr>
        <p:txBody>
          <a:bodyPr rtlCol="0" anchor="ctr" wrap="square" lIns="36576" rIns="36576" tIns="27432" bIns="27432">
            <a:noAutofit/>
          </a:bodyPr>
          <a:lstStyle/>
          <a:p>
            <a:pPr algn="ctr">
              <a:spcAft>
                <a:spcPts val="0"/>
              </a:spcAft>
            </a:pPr>
            <a:r>
              <a:rPr sz="1000" b="1" i="0">
                <a:solidFill>
                  <a:srgbClr val="445569"/>
                </a:solidFill>
                <a:latin typeface="Arial"/>
                <a:ea typeface="맑은 고딕"/>
              </a:rPr>
              <a:t>B1 vs B4</a:t>
            </a:r>
          </a:p>
        </p:txBody>
      </p:sp>
      <p:sp>
        <p:nvSpPr>
          <p:cNvPr id="52" name="TextBox 51"/>
          <p:cNvSpPr txBox="1"/>
          <p:nvPr/>
        </p:nvSpPr>
        <p:spPr>
          <a:xfrm>
            <a:off x="713232" y="2624328"/>
            <a:ext cx="3017520" cy="502920"/>
          </a:xfrm>
          <a:prstGeom prst="rect">
            <a:avLst/>
          </a:prstGeom>
          <a:noFill/>
        </p:spPr>
        <p:txBody>
          <a:bodyPr wrap="square" lIns="0" rIns="0" tIns="27432" bIns="27432" anchor="t">
            <a:noAutofit/>
          </a:bodyPr>
          <a:lstStyle/>
          <a:p>
            <a:pPr algn="l">
              <a:spcAft>
                <a:spcPts val="0"/>
              </a:spcAft>
            </a:pPr>
            <a:r>
              <a:rPr sz="1000" b="1" i="0">
                <a:solidFill>
                  <a:srgbClr val="445569"/>
                </a:solidFill>
                <a:latin typeface="Arial"/>
                <a:ea typeface="맑은 고딕"/>
              </a:rPr>
              <a:t>검증  </a:t>
            </a:r>
            <a:r>
              <a:rPr sz="1050" b="0" i="0">
                <a:solidFill>
                  <a:srgbClr val="6B6B6B"/>
                </a:solidFill>
                <a:latin typeface="Arial"/>
                <a:ea typeface="맑은 고딕"/>
              </a:rPr>
              <a:t>장기 미학 메모리가 개인화 순위를 높이는가</a:t>
            </a:r>
          </a:p>
        </p:txBody>
      </p:sp>
      <p:sp>
        <p:nvSpPr>
          <p:cNvPr id="53" name="Rounded Rectangle 52"/>
          <p:cNvSpPr/>
          <p:nvPr/>
        </p:nvSpPr>
        <p:spPr>
          <a:xfrm>
            <a:off x="4023359" y="1234440"/>
            <a:ext cx="3291840" cy="1938528"/>
          </a:xfrm>
          <a:prstGeom prst="roundRect">
            <a:avLst>
              <a:gd name="adj" fmla="val 5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4" name="TextBox 53"/>
          <p:cNvSpPr txBox="1"/>
          <p:nvPr/>
        </p:nvSpPr>
        <p:spPr>
          <a:xfrm>
            <a:off x="4187951" y="1307592"/>
            <a:ext cx="2194560" cy="457200"/>
          </a:xfrm>
          <a:prstGeom prst="rect">
            <a:avLst/>
          </a:prstGeom>
          <a:noFill/>
        </p:spPr>
        <p:txBody>
          <a:bodyPr wrap="square" lIns="0" rIns="0" tIns="27432" bIns="27432" anchor="t">
            <a:noAutofit/>
          </a:bodyPr>
          <a:lstStyle/>
          <a:p>
            <a:pPr algn="l">
              <a:spcAft>
                <a:spcPts val="0"/>
              </a:spcAft>
            </a:pPr>
            <a:r>
              <a:rPr sz="2200" b="1" i="0">
                <a:solidFill>
                  <a:srgbClr val="1A1A1A"/>
                </a:solidFill>
                <a:latin typeface="Arial"/>
                <a:ea typeface="맑은 고딕"/>
              </a:rPr>
              <a:t>CR@10</a:t>
            </a:r>
            <a:r>
              <a:rPr sz="2200" b="1" i="0">
                <a:solidFill>
                  <a:srgbClr val="445569"/>
                </a:solidFill>
                <a:latin typeface="Arial"/>
                <a:ea typeface="맑은 고딕"/>
              </a:rPr>
              <a:t>  ↓</a:t>
            </a:r>
          </a:p>
        </p:txBody>
      </p:sp>
      <p:sp>
        <p:nvSpPr>
          <p:cNvPr id="55" name="TextBox 54"/>
          <p:cNvSpPr txBox="1"/>
          <p:nvPr/>
        </p:nvSpPr>
        <p:spPr>
          <a:xfrm>
            <a:off x="6126479" y="1344168"/>
            <a:ext cx="1051560" cy="457200"/>
          </a:xfrm>
          <a:prstGeom prst="rect">
            <a:avLst/>
          </a:prstGeom>
          <a:noFill/>
        </p:spPr>
        <p:txBody>
          <a:bodyPr wrap="square" lIns="0" rIns="0" tIns="27432" bIns="27432" anchor="t">
            <a:noAutofit/>
          </a:bodyPr>
          <a:lstStyle/>
          <a:p>
            <a:pPr algn="r">
              <a:spcAft>
                <a:spcPts val="0"/>
              </a:spcAft>
            </a:pPr>
            <a:r>
              <a:rPr sz="2000" b="1" i="0">
                <a:solidFill>
                  <a:srgbClr val="9A9A9A"/>
                </a:solidFill>
                <a:latin typeface="Arial"/>
                <a:ea typeface="맑은 고딕"/>
              </a:rPr>
              <a:t>TBD</a:t>
            </a:r>
          </a:p>
        </p:txBody>
      </p:sp>
      <p:sp>
        <p:nvSpPr>
          <p:cNvPr id="56" name="TextBox 55"/>
          <p:cNvSpPr txBox="1"/>
          <p:nvPr/>
        </p:nvSpPr>
        <p:spPr>
          <a:xfrm>
            <a:off x="4187951" y="1801368"/>
            <a:ext cx="2971800" cy="457200"/>
          </a:xfrm>
          <a:prstGeom prst="rect">
            <a:avLst/>
          </a:prstGeom>
          <a:noFill/>
        </p:spPr>
        <p:txBody>
          <a:bodyPr wrap="square" lIns="0" rIns="0" tIns="27432" bIns="27432" anchor="t">
            <a:noAutofit/>
          </a:bodyPr>
          <a:lstStyle/>
          <a:p>
            <a:pPr algn="l">
              <a:spcAft>
                <a:spcPts val="0"/>
              </a:spcAft>
            </a:pPr>
            <a:r>
              <a:rPr sz="1150" b="0" i="0">
                <a:solidFill>
                  <a:srgbClr val="1A1A1A"/>
                </a:solidFill>
                <a:latin typeface="Arial"/>
                <a:ea typeface="맑은 고딕"/>
              </a:rPr>
              <a:t>다른 관람 맥락의 추천이 Top-10에 섞이는 비율</a:t>
            </a:r>
          </a:p>
        </p:txBody>
      </p:sp>
      <p:sp>
        <p:nvSpPr>
          <p:cNvPr id="57" name="Rounded Rectangle 56"/>
          <p:cNvSpPr/>
          <p:nvPr/>
        </p:nvSpPr>
        <p:spPr>
          <a:xfrm>
            <a:off x="4187951" y="2295144"/>
            <a:ext cx="1234440" cy="274320"/>
          </a:xfrm>
          <a:prstGeom prst="roundRect">
            <a:avLst>
              <a:gd name="adj" fmla="val 30000"/>
            </a:avLst>
          </a:prstGeom>
          <a:solidFill>
            <a:srgbClr val="FFFFFF"/>
          </a:solidFill>
          <a:ln w="12700">
            <a:solidFill>
              <a:srgbClr val="445569"/>
            </a:solidFill>
          </a:ln>
        </p:spPr>
        <p:txBody>
          <a:bodyPr rtlCol="0" anchor="ctr" wrap="square" lIns="36576" rIns="36576" tIns="27432" bIns="27432">
            <a:noAutofit/>
          </a:bodyPr>
          <a:lstStyle/>
          <a:p>
            <a:pPr algn="ctr">
              <a:spcAft>
                <a:spcPts val="0"/>
              </a:spcAft>
            </a:pPr>
            <a:r>
              <a:rPr sz="1000" b="1" i="0">
                <a:solidFill>
                  <a:srgbClr val="445569"/>
                </a:solidFill>
                <a:latin typeface="Arial"/>
                <a:ea typeface="맑은 고딕"/>
              </a:rPr>
              <a:t>B2/B3 vs B4</a:t>
            </a:r>
          </a:p>
        </p:txBody>
      </p:sp>
      <p:sp>
        <p:nvSpPr>
          <p:cNvPr id="58" name="TextBox 57"/>
          <p:cNvSpPr txBox="1"/>
          <p:nvPr/>
        </p:nvSpPr>
        <p:spPr>
          <a:xfrm>
            <a:off x="4187951" y="2624328"/>
            <a:ext cx="3017520" cy="502920"/>
          </a:xfrm>
          <a:prstGeom prst="rect">
            <a:avLst/>
          </a:prstGeom>
          <a:noFill/>
        </p:spPr>
        <p:txBody>
          <a:bodyPr wrap="square" lIns="0" rIns="0" tIns="27432" bIns="27432" anchor="t">
            <a:noAutofit/>
          </a:bodyPr>
          <a:lstStyle/>
          <a:p>
            <a:pPr algn="l">
              <a:spcAft>
                <a:spcPts val="0"/>
              </a:spcAft>
            </a:pPr>
            <a:r>
              <a:rPr sz="1000" b="1" i="0">
                <a:solidFill>
                  <a:srgbClr val="445569"/>
                </a:solidFill>
                <a:latin typeface="Arial"/>
                <a:ea typeface="맑은 고딕"/>
              </a:rPr>
              <a:t>검증  </a:t>
            </a:r>
            <a:r>
              <a:rPr sz="1050" b="0" i="0">
                <a:solidFill>
                  <a:srgbClr val="6B6B6B"/>
                </a:solidFill>
                <a:latin typeface="Arial"/>
                <a:ea typeface="맑은 고딕"/>
              </a:rPr>
              <a:t>맥락 분리가 다른 맥락의 혼입을 줄이는가</a:t>
            </a:r>
          </a:p>
        </p:txBody>
      </p:sp>
      <p:sp>
        <p:nvSpPr>
          <p:cNvPr id="59" name="Rounded Rectangle 58"/>
          <p:cNvSpPr/>
          <p:nvPr/>
        </p:nvSpPr>
        <p:spPr>
          <a:xfrm>
            <a:off x="548640" y="3337560"/>
            <a:ext cx="3291840" cy="1938528"/>
          </a:xfrm>
          <a:prstGeom prst="roundRect">
            <a:avLst>
              <a:gd name="adj" fmla="val 5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0" name="TextBox 59"/>
          <p:cNvSpPr txBox="1"/>
          <p:nvPr/>
        </p:nvSpPr>
        <p:spPr>
          <a:xfrm>
            <a:off x="713232" y="3410712"/>
            <a:ext cx="2194560" cy="457200"/>
          </a:xfrm>
          <a:prstGeom prst="rect">
            <a:avLst/>
          </a:prstGeom>
          <a:noFill/>
        </p:spPr>
        <p:txBody>
          <a:bodyPr wrap="square" lIns="0" rIns="0" tIns="27432" bIns="27432" anchor="t">
            <a:noAutofit/>
          </a:bodyPr>
          <a:lstStyle/>
          <a:p>
            <a:pPr algn="l">
              <a:spcAft>
                <a:spcPts val="0"/>
              </a:spcAft>
            </a:pPr>
            <a:r>
              <a:rPr sz="2200" b="1" i="0">
                <a:solidFill>
                  <a:srgbClr val="1A1A1A"/>
                </a:solidFill>
                <a:latin typeface="Arial"/>
                <a:ea typeface="맑은 고딕"/>
              </a:rPr>
              <a:t>Trec</a:t>
            </a:r>
            <a:r>
              <a:rPr sz="2200" b="1" i="0">
                <a:solidFill>
                  <a:srgbClr val="445569"/>
                </a:solidFill>
                <a:latin typeface="Arial"/>
                <a:ea typeface="맑은 고딕"/>
              </a:rPr>
              <a:t>  ↓</a:t>
            </a:r>
          </a:p>
        </p:txBody>
      </p:sp>
      <p:sp>
        <p:nvSpPr>
          <p:cNvPr id="61" name="TextBox 60"/>
          <p:cNvSpPr txBox="1"/>
          <p:nvPr/>
        </p:nvSpPr>
        <p:spPr>
          <a:xfrm>
            <a:off x="2651760" y="3447288"/>
            <a:ext cx="1051560" cy="457200"/>
          </a:xfrm>
          <a:prstGeom prst="rect">
            <a:avLst/>
          </a:prstGeom>
          <a:noFill/>
        </p:spPr>
        <p:txBody>
          <a:bodyPr wrap="square" lIns="0" rIns="0" tIns="27432" bIns="27432" anchor="t">
            <a:noAutofit/>
          </a:bodyPr>
          <a:lstStyle/>
          <a:p>
            <a:pPr algn="r">
              <a:spcAft>
                <a:spcPts val="0"/>
              </a:spcAft>
            </a:pPr>
            <a:r>
              <a:rPr sz="2000" b="1" i="0">
                <a:solidFill>
                  <a:srgbClr val="9A9A9A"/>
                </a:solidFill>
                <a:latin typeface="Arial"/>
                <a:ea typeface="맑은 고딕"/>
              </a:rPr>
              <a:t>TBD</a:t>
            </a:r>
          </a:p>
        </p:txBody>
      </p:sp>
      <p:sp>
        <p:nvSpPr>
          <p:cNvPr id="62" name="TextBox 61"/>
          <p:cNvSpPr txBox="1"/>
          <p:nvPr/>
        </p:nvSpPr>
        <p:spPr>
          <a:xfrm>
            <a:off x="713232" y="3904487"/>
            <a:ext cx="2971800" cy="457200"/>
          </a:xfrm>
          <a:prstGeom prst="rect">
            <a:avLst/>
          </a:prstGeom>
          <a:noFill/>
        </p:spPr>
        <p:txBody>
          <a:bodyPr wrap="square" lIns="0" rIns="0" tIns="27432" bIns="27432" anchor="t">
            <a:noAutofit/>
          </a:bodyPr>
          <a:lstStyle/>
          <a:p>
            <a:pPr algn="l">
              <a:spcAft>
                <a:spcPts val="0"/>
              </a:spcAft>
            </a:pPr>
            <a:r>
              <a:rPr sz="1150" b="0" i="0">
                <a:solidFill>
                  <a:srgbClr val="1A1A1A"/>
                </a:solidFill>
                <a:latin typeface="Arial"/>
                <a:ea typeface="맑은 고딕"/>
              </a:rPr>
              <a:t>취향 전환 후 새 취향으로 회복하는 턴·세션 수</a:t>
            </a:r>
          </a:p>
        </p:txBody>
      </p:sp>
      <p:sp>
        <p:nvSpPr>
          <p:cNvPr id="63" name="Rounded Rectangle 62"/>
          <p:cNvSpPr/>
          <p:nvPr/>
        </p:nvSpPr>
        <p:spPr>
          <a:xfrm>
            <a:off x="713232" y="4398264"/>
            <a:ext cx="1234440" cy="274320"/>
          </a:xfrm>
          <a:prstGeom prst="roundRect">
            <a:avLst>
              <a:gd name="adj" fmla="val 30000"/>
            </a:avLst>
          </a:prstGeom>
          <a:solidFill>
            <a:srgbClr val="FFFFFF"/>
          </a:solidFill>
          <a:ln w="12700">
            <a:solidFill>
              <a:srgbClr val="445569"/>
            </a:solidFill>
          </a:ln>
        </p:spPr>
        <p:txBody>
          <a:bodyPr rtlCol="0" anchor="ctr" wrap="square" lIns="36576" rIns="36576" tIns="27432" bIns="27432">
            <a:noAutofit/>
          </a:bodyPr>
          <a:lstStyle/>
          <a:p>
            <a:pPr algn="ctr">
              <a:spcAft>
                <a:spcPts val="0"/>
              </a:spcAft>
            </a:pPr>
            <a:r>
              <a:rPr sz="1000" b="1" i="0">
                <a:solidFill>
                  <a:srgbClr val="445569"/>
                </a:solidFill>
                <a:latin typeface="Arial"/>
                <a:ea typeface="맑은 고딕"/>
              </a:rPr>
              <a:t>B2/B3 vs B4</a:t>
            </a:r>
          </a:p>
        </p:txBody>
      </p:sp>
      <p:sp>
        <p:nvSpPr>
          <p:cNvPr id="64" name="TextBox 63"/>
          <p:cNvSpPr txBox="1"/>
          <p:nvPr/>
        </p:nvSpPr>
        <p:spPr>
          <a:xfrm>
            <a:off x="713232" y="4727448"/>
            <a:ext cx="3017520" cy="502920"/>
          </a:xfrm>
          <a:prstGeom prst="rect">
            <a:avLst/>
          </a:prstGeom>
          <a:noFill/>
        </p:spPr>
        <p:txBody>
          <a:bodyPr wrap="square" lIns="0" rIns="0" tIns="27432" bIns="27432" anchor="t">
            <a:noAutofit/>
          </a:bodyPr>
          <a:lstStyle/>
          <a:p>
            <a:pPr algn="l">
              <a:spcAft>
                <a:spcPts val="0"/>
              </a:spcAft>
            </a:pPr>
            <a:r>
              <a:rPr sz="1000" b="1" i="0">
                <a:solidFill>
                  <a:srgbClr val="445569"/>
                </a:solidFill>
                <a:latin typeface="Arial"/>
                <a:ea typeface="맑은 고딕"/>
              </a:rPr>
              <a:t>검증  </a:t>
            </a:r>
            <a:r>
              <a:rPr sz="1050" b="0" i="0">
                <a:solidFill>
                  <a:srgbClr val="6B6B6B"/>
                </a:solidFill>
                <a:latin typeface="Arial"/>
                <a:ea typeface="맑은 고딕"/>
              </a:rPr>
              <a:t>취향이 바뀌면 새 취향을 빨리 따라가는가</a:t>
            </a:r>
          </a:p>
        </p:txBody>
      </p:sp>
      <p:sp>
        <p:nvSpPr>
          <p:cNvPr id="65" name="Rounded Rectangle 64"/>
          <p:cNvSpPr/>
          <p:nvPr/>
        </p:nvSpPr>
        <p:spPr>
          <a:xfrm>
            <a:off x="4023359" y="3337560"/>
            <a:ext cx="3291840" cy="1938528"/>
          </a:xfrm>
          <a:prstGeom prst="roundRect">
            <a:avLst>
              <a:gd name="adj" fmla="val 5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6" name="TextBox 65"/>
          <p:cNvSpPr txBox="1"/>
          <p:nvPr/>
        </p:nvSpPr>
        <p:spPr>
          <a:xfrm>
            <a:off x="4187951" y="3410712"/>
            <a:ext cx="2194560" cy="457200"/>
          </a:xfrm>
          <a:prstGeom prst="rect">
            <a:avLst/>
          </a:prstGeom>
          <a:noFill/>
        </p:spPr>
        <p:txBody>
          <a:bodyPr wrap="square" lIns="0" rIns="0" tIns="27432" bIns="27432" anchor="t">
            <a:noAutofit/>
          </a:bodyPr>
          <a:lstStyle/>
          <a:p>
            <a:pPr algn="l">
              <a:spcAft>
                <a:spcPts val="0"/>
              </a:spcAft>
            </a:pPr>
            <a:r>
              <a:rPr sz="2200" b="1" i="0">
                <a:solidFill>
                  <a:srgbClr val="1A1A1A"/>
                </a:solidFill>
                <a:latin typeface="Arial"/>
                <a:ea typeface="맑은 고딕"/>
              </a:rPr>
              <a:t>UCR</a:t>
            </a:r>
            <a:r>
              <a:rPr sz="2200" b="1" i="0">
                <a:solidFill>
                  <a:srgbClr val="445569"/>
                </a:solidFill>
                <a:latin typeface="Arial"/>
                <a:ea typeface="맑은 고딕"/>
              </a:rPr>
              <a:t>  ↓</a:t>
            </a:r>
          </a:p>
        </p:txBody>
      </p:sp>
      <p:sp>
        <p:nvSpPr>
          <p:cNvPr id="67" name="TextBox 66"/>
          <p:cNvSpPr txBox="1"/>
          <p:nvPr/>
        </p:nvSpPr>
        <p:spPr>
          <a:xfrm>
            <a:off x="6126479" y="3447288"/>
            <a:ext cx="1051560" cy="457200"/>
          </a:xfrm>
          <a:prstGeom prst="rect">
            <a:avLst/>
          </a:prstGeom>
          <a:noFill/>
        </p:spPr>
        <p:txBody>
          <a:bodyPr wrap="square" lIns="0" rIns="0" tIns="27432" bIns="27432" anchor="t">
            <a:noAutofit/>
          </a:bodyPr>
          <a:lstStyle/>
          <a:p>
            <a:pPr algn="r">
              <a:spcAft>
                <a:spcPts val="0"/>
              </a:spcAft>
            </a:pPr>
            <a:r>
              <a:rPr sz="2000" b="1" i="0">
                <a:solidFill>
                  <a:srgbClr val="9A9A9A"/>
                </a:solidFill>
                <a:latin typeface="Arial"/>
                <a:ea typeface="맑은 고딕"/>
              </a:rPr>
              <a:t>TBD</a:t>
            </a:r>
          </a:p>
        </p:txBody>
      </p:sp>
      <p:sp>
        <p:nvSpPr>
          <p:cNvPr id="68" name="TextBox 67"/>
          <p:cNvSpPr txBox="1"/>
          <p:nvPr/>
        </p:nvSpPr>
        <p:spPr>
          <a:xfrm>
            <a:off x="4187951" y="3904487"/>
            <a:ext cx="2971800" cy="457200"/>
          </a:xfrm>
          <a:prstGeom prst="rect">
            <a:avLst/>
          </a:prstGeom>
          <a:noFill/>
        </p:spPr>
        <p:txBody>
          <a:bodyPr wrap="square" lIns="0" rIns="0" tIns="27432" bIns="27432" anchor="t">
            <a:noAutofit/>
          </a:bodyPr>
          <a:lstStyle/>
          <a:p>
            <a:pPr algn="l">
              <a:spcAft>
                <a:spcPts val="0"/>
              </a:spcAft>
            </a:pPr>
            <a:r>
              <a:rPr sz="1150" b="0" i="0">
                <a:solidFill>
                  <a:srgbClr val="1A1A1A"/>
                </a:solidFill>
                <a:latin typeface="Arial"/>
                <a:ea typeface="맑은 고딕"/>
              </a:rPr>
              <a:t>근거 없는 전시·방문 주장의 비율</a:t>
            </a:r>
          </a:p>
        </p:txBody>
      </p:sp>
      <p:sp>
        <p:nvSpPr>
          <p:cNvPr id="69" name="Rounded Rectangle 68"/>
          <p:cNvSpPr/>
          <p:nvPr/>
        </p:nvSpPr>
        <p:spPr>
          <a:xfrm>
            <a:off x="4187951" y="4398264"/>
            <a:ext cx="1234440" cy="274320"/>
          </a:xfrm>
          <a:prstGeom prst="roundRect">
            <a:avLst>
              <a:gd name="adj" fmla="val 30000"/>
            </a:avLst>
          </a:prstGeom>
          <a:solidFill>
            <a:srgbClr val="FFFFFF"/>
          </a:solidFill>
          <a:ln w="12700">
            <a:solidFill>
              <a:srgbClr val="445569"/>
            </a:solidFill>
          </a:ln>
        </p:spPr>
        <p:txBody>
          <a:bodyPr rtlCol="0" anchor="ctr" wrap="square" lIns="36576" rIns="36576" tIns="27432" bIns="27432">
            <a:noAutofit/>
          </a:bodyPr>
          <a:lstStyle/>
          <a:p>
            <a:pPr algn="ctr">
              <a:spcAft>
                <a:spcPts val="0"/>
              </a:spcAft>
            </a:pPr>
            <a:r>
              <a:rPr sz="1000" b="1" i="0">
                <a:solidFill>
                  <a:srgbClr val="445569"/>
                </a:solidFill>
                <a:latin typeface="Arial"/>
                <a:ea typeface="맑은 고딕"/>
              </a:rPr>
              <a:t>B4R vs B5</a:t>
            </a:r>
          </a:p>
        </p:txBody>
      </p:sp>
      <p:sp>
        <p:nvSpPr>
          <p:cNvPr id="70" name="TextBox 69"/>
          <p:cNvSpPr txBox="1"/>
          <p:nvPr/>
        </p:nvSpPr>
        <p:spPr>
          <a:xfrm>
            <a:off x="4187951" y="4727448"/>
            <a:ext cx="3017520" cy="502920"/>
          </a:xfrm>
          <a:prstGeom prst="rect">
            <a:avLst/>
          </a:prstGeom>
          <a:noFill/>
        </p:spPr>
        <p:txBody>
          <a:bodyPr wrap="square" lIns="0" rIns="0" tIns="27432" bIns="27432" anchor="t">
            <a:noAutofit/>
          </a:bodyPr>
          <a:lstStyle/>
          <a:p>
            <a:pPr algn="l">
              <a:spcAft>
                <a:spcPts val="0"/>
              </a:spcAft>
            </a:pPr>
            <a:r>
              <a:rPr sz="1000" b="1" i="0">
                <a:solidFill>
                  <a:srgbClr val="445569"/>
                </a:solidFill>
                <a:latin typeface="Arial"/>
                <a:ea typeface="맑은 고딕"/>
              </a:rPr>
              <a:t>검증  </a:t>
            </a:r>
            <a:r>
              <a:rPr sz="1050" b="0" i="0">
                <a:solidFill>
                  <a:srgbClr val="6B6B6B"/>
                </a:solidFill>
                <a:latin typeface="Arial"/>
                <a:ea typeface="맑은 고딕"/>
              </a:rPr>
              <a:t>grounding이 근거 없는 방문 주장을 줄이는가</a:t>
            </a:r>
          </a:p>
        </p:txBody>
      </p:sp>
      <p:sp>
        <p:nvSpPr>
          <p:cNvPr id="71" name="Rounded Rectangle 70"/>
          <p:cNvSpPr/>
          <p:nvPr/>
        </p:nvSpPr>
        <p:spPr>
          <a:xfrm>
            <a:off x="7680960" y="1234440"/>
            <a:ext cx="3959352" cy="4041648"/>
          </a:xfrm>
          <a:prstGeom prst="roundRect">
            <a:avLst>
              <a:gd name="adj" fmla="val 4000"/>
            </a:avLst>
          </a:prstGeom>
          <a:solidFill>
            <a:srgbClr val="FFFFFF"/>
          </a:solidFill>
          <a:ln w="12700">
            <a:solidFill>
              <a:srgbClr val="D0D0D0"/>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72" name="TextBox 71"/>
          <p:cNvSpPr txBox="1"/>
          <p:nvPr/>
        </p:nvSpPr>
        <p:spPr>
          <a:xfrm>
            <a:off x="7863840" y="1325880"/>
            <a:ext cx="3657600" cy="365760"/>
          </a:xfrm>
          <a:prstGeom prst="rect">
            <a:avLst/>
          </a:prstGeom>
          <a:noFill/>
        </p:spPr>
        <p:txBody>
          <a:bodyPr wrap="square" lIns="0" rIns="0" tIns="27432" bIns="27432" anchor="t">
            <a:noAutofit/>
          </a:bodyPr>
          <a:lstStyle/>
          <a:p>
            <a:pPr algn="l">
              <a:spcAft>
                <a:spcPts val="0"/>
              </a:spcAft>
            </a:pPr>
            <a:r>
              <a:rPr sz="1350" b="1" i="0">
                <a:solidFill>
                  <a:srgbClr val="1A1A1A"/>
                </a:solidFill>
                <a:latin typeface="Arial"/>
                <a:ea typeface="맑은 고딕"/>
              </a:rPr>
              <a:t>비교 조건 → Primary metric</a:t>
            </a:r>
          </a:p>
        </p:txBody>
      </p:sp>
      <p:sp>
        <p:nvSpPr>
          <p:cNvPr id="73" name="Rounded Rectangle 72"/>
          <p:cNvSpPr/>
          <p:nvPr/>
        </p:nvSpPr>
        <p:spPr>
          <a:xfrm>
            <a:off x="7863840" y="1783080"/>
            <a:ext cx="1600200" cy="384048"/>
          </a:xfrm>
          <a:prstGeom prst="roundRect">
            <a:avLst>
              <a:gd name="adj" fmla="val 25000"/>
            </a:avLst>
          </a:prstGeom>
          <a:solidFill>
            <a:srgbClr val="E6EAF0"/>
          </a:solidFill>
          <a:ln>
            <a:noFill/>
          </a:ln>
        </p:spPr>
        <p:txBody>
          <a:bodyPr rtlCol="0" anchor="ctr" wrap="square" lIns="0" rIns="0" tIns="27432" bIns="27432">
            <a:noAutofit/>
          </a:bodyPr>
          <a:lstStyle/>
          <a:p>
            <a:pPr algn="ctr">
              <a:spcAft>
                <a:spcPts val="0"/>
              </a:spcAft>
            </a:pPr>
            <a:r>
              <a:rPr sz="1150" b="1" i="0">
                <a:solidFill>
                  <a:srgbClr val="1A1A1A"/>
                </a:solidFill>
                <a:latin typeface="Arial"/>
                <a:ea typeface="맑은 고딕"/>
              </a:rPr>
              <a:t>B1 vs B4</a:t>
            </a:r>
          </a:p>
        </p:txBody>
      </p:sp>
      <p:cxnSp>
        <p:nvCxnSpPr>
          <p:cNvPr id="74" name="Connector 73"/>
          <p:cNvCxnSpPr/>
          <p:nvPr/>
        </p:nvCxnSpPr>
        <p:spPr>
          <a:xfrm>
            <a:off x="9509760" y="1975104"/>
            <a:ext cx="320040" cy="0"/>
          </a:xfrm>
          <a:prstGeom prst="line">
            <a:avLst/>
          </a:prstGeom>
          <a:ln w="15875">
            <a:solidFill>
              <a:srgbClr val="445569"/>
            </a:solidFill>
            <a:tailEnd type="triangle" w="med" len="med"/>
          </a:ln>
        </p:spPr>
      </p:cxnSp>
      <p:sp>
        <p:nvSpPr>
          <p:cNvPr id="75" name="TextBox 74"/>
          <p:cNvSpPr txBox="1"/>
          <p:nvPr/>
        </p:nvSpPr>
        <p:spPr>
          <a:xfrm>
            <a:off x="9875520" y="1783080"/>
            <a:ext cx="1691640" cy="384048"/>
          </a:xfrm>
          <a:prstGeom prst="rect">
            <a:avLst/>
          </a:prstGeom>
          <a:noFill/>
        </p:spPr>
        <p:txBody>
          <a:bodyPr wrap="square" lIns="0" rIns="0" tIns="27432" bIns="27432" anchor="ctr">
            <a:noAutofit/>
          </a:bodyPr>
          <a:lstStyle/>
          <a:p>
            <a:pPr algn="l">
              <a:spcAft>
                <a:spcPts val="0"/>
              </a:spcAft>
            </a:pPr>
            <a:r>
              <a:rPr sz="1200" b="1" i="0">
                <a:solidFill>
                  <a:srgbClr val="1A1A1A"/>
                </a:solidFill>
                <a:latin typeface="Arial"/>
                <a:ea typeface="맑은 고딕"/>
              </a:rPr>
              <a:t>NDCG@10</a:t>
            </a:r>
          </a:p>
        </p:txBody>
      </p:sp>
      <p:sp>
        <p:nvSpPr>
          <p:cNvPr id="76" name="Rounded Rectangle 75"/>
          <p:cNvSpPr/>
          <p:nvPr/>
        </p:nvSpPr>
        <p:spPr>
          <a:xfrm>
            <a:off x="7863840" y="2258568"/>
            <a:ext cx="1600200" cy="384048"/>
          </a:xfrm>
          <a:prstGeom prst="roundRect">
            <a:avLst>
              <a:gd name="adj" fmla="val 25000"/>
            </a:avLst>
          </a:prstGeom>
          <a:solidFill>
            <a:srgbClr val="E6EAF0"/>
          </a:solidFill>
          <a:ln>
            <a:noFill/>
          </a:ln>
        </p:spPr>
        <p:txBody>
          <a:bodyPr rtlCol="0" anchor="ctr" wrap="square" lIns="0" rIns="0" tIns="27432" bIns="27432">
            <a:noAutofit/>
          </a:bodyPr>
          <a:lstStyle/>
          <a:p>
            <a:pPr algn="ctr">
              <a:spcAft>
                <a:spcPts val="0"/>
              </a:spcAft>
            </a:pPr>
            <a:r>
              <a:rPr sz="1150" b="1" i="0">
                <a:solidFill>
                  <a:srgbClr val="1A1A1A"/>
                </a:solidFill>
                <a:latin typeface="Arial"/>
                <a:ea typeface="맑은 고딕"/>
              </a:rPr>
              <a:t>B2/B3 vs B4</a:t>
            </a:r>
          </a:p>
        </p:txBody>
      </p:sp>
      <p:cxnSp>
        <p:nvCxnSpPr>
          <p:cNvPr id="77" name="Connector 76"/>
          <p:cNvCxnSpPr/>
          <p:nvPr/>
        </p:nvCxnSpPr>
        <p:spPr>
          <a:xfrm>
            <a:off x="9509760" y="2450591"/>
            <a:ext cx="320040" cy="0"/>
          </a:xfrm>
          <a:prstGeom prst="line">
            <a:avLst/>
          </a:prstGeom>
          <a:ln w="15875">
            <a:solidFill>
              <a:srgbClr val="445569"/>
            </a:solidFill>
            <a:tailEnd type="triangle" w="med" len="med"/>
          </a:ln>
        </p:spPr>
      </p:cxnSp>
      <p:sp>
        <p:nvSpPr>
          <p:cNvPr id="78" name="TextBox 77"/>
          <p:cNvSpPr txBox="1"/>
          <p:nvPr/>
        </p:nvSpPr>
        <p:spPr>
          <a:xfrm>
            <a:off x="9875520" y="2258568"/>
            <a:ext cx="1691640" cy="384048"/>
          </a:xfrm>
          <a:prstGeom prst="rect">
            <a:avLst/>
          </a:prstGeom>
          <a:noFill/>
        </p:spPr>
        <p:txBody>
          <a:bodyPr wrap="square" lIns="0" rIns="0" tIns="27432" bIns="27432" anchor="ctr">
            <a:noAutofit/>
          </a:bodyPr>
          <a:lstStyle/>
          <a:p>
            <a:pPr algn="l">
              <a:spcAft>
                <a:spcPts val="0"/>
              </a:spcAft>
            </a:pPr>
            <a:r>
              <a:rPr sz="1200" b="1" i="0">
                <a:solidFill>
                  <a:srgbClr val="1A1A1A"/>
                </a:solidFill>
                <a:latin typeface="Arial"/>
                <a:ea typeface="맑은 고딕"/>
              </a:rPr>
              <a:t>CR@10 · Trec</a:t>
            </a:r>
          </a:p>
        </p:txBody>
      </p:sp>
      <p:sp>
        <p:nvSpPr>
          <p:cNvPr id="79" name="Rounded Rectangle 78"/>
          <p:cNvSpPr/>
          <p:nvPr/>
        </p:nvSpPr>
        <p:spPr>
          <a:xfrm>
            <a:off x="7863840" y="2734056"/>
            <a:ext cx="1600200" cy="384048"/>
          </a:xfrm>
          <a:prstGeom prst="roundRect">
            <a:avLst>
              <a:gd name="adj" fmla="val 25000"/>
            </a:avLst>
          </a:prstGeom>
          <a:solidFill>
            <a:srgbClr val="E6EAF0"/>
          </a:solidFill>
          <a:ln>
            <a:noFill/>
          </a:ln>
        </p:spPr>
        <p:txBody>
          <a:bodyPr rtlCol="0" anchor="ctr" wrap="square" lIns="0" rIns="0" tIns="27432" bIns="27432">
            <a:noAutofit/>
          </a:bodyPr>
          <a:lstStyle/>
          <a:p>
            <a:pPr algn="ctr">
              <a:spcAft>
                <a:spcPts val="0"/>
              </a:spcAft>
            </a:pPr>
            <a:r>
              <a:rPr sz="1150" b="1" i="0">
                <a:solidFill>
                  <a:srgbClr val="1A1A1A"/>
                </a:solidFill>
                <a:latin typeface="Arial"/>
                <a:ea typeface="맑은 고딕"/>
              </a:rPr>
              <a:t>B4R vs B5</a:t>
            </a:r>
          </a:p>
        </p:txBody>
      </p:sp>
      <p:cxnSp>
        <p:nvCxnSpPr>
          <p:cNvPr id="80" name="Connector 79"/>
          <p:cNvCxnSpPr/>
          <p:nvPr/>
        </p:nvCxnSpPr>
        <p:spPr>
          <a:xfrm>
            <a:off x="9509760" y="2926080"/>
            <a:ext cx="320040" cy="0"/>
          </a:xfrm>
          <a:prstGeom prst="line">
            <a:avLst/>
          </a:prstGeom>
          <a:ln w="15875">
            <a:solidFill>
              <a:srgbClr val="445569"/>
            </a:solidFill>
            <a:tailEnd type="triangle" w="med" len="med"/>
          </a:ln>
        </p:spPr>
      </p:cxnSp>
      <p:sp>
        <p:nvSpPr>
          <p:cNvPr id="81" name="TextBox 80"/>
          <p:cNvSpPr txBox="1"/>
          <p:nvPr/>
        </p:nvSpPr>
        <p:spPr>
          <a:xfrm>
            <a:off x="9875520" y="2734056"/>
            <a:ext cx="1691640" cy="384048"/>
          </a:xfrm>
          <a:prstGeom prst="rect">
            <a:avLst/>
          </a:prstGeom>
          <a:noFill/>
        </p:spPr>
        <p:txBody>
          <a:bodyPr wrap="square" lIns="0" rIns="0" tIns="27432" bIns="27432" anchor="ctr">
            <a:noAutofit/>
          </a:bodyPr>
          <a:lstStyle/>
          <a:p>
            <a:pPr algn="l">
              <a:spcAft>
                <a:spcPts val="0"/>
              </a:spcAft>
            </a:pPr>
            <a:r>
              <a:rPr sz="1200" b="1" i="0">
                <a:solidFill>
                  <a:srgbClr val="1A1A1A"/>
                </a:solidFill>
                <a:latin typeface="Arial"/>
                <a:ea typeface="맑은 고딕"/>
              </a:rPr>
              <a:t>UCR</a:t>
            </a:r>
          </a:p>
        </p:txBody>
      </p:sp>
      <p:sp>
        <p:nvSpPr>
          <p:cNvPr id="82" name="TextBox 81"/>
          <p:cNvSpPr txBox="1"/>
          <p:nvPr/>
        </p:nvSpPr>
        <p:spPr>
          <a:xfrm>
            <a:off x="7863840" y="3310128"/>
            <a:ext cx="3657600" cy="320040"/>
          </a:xfrm>
          <a:prstGeom prst="rect">
            <a:avLst/>
          </a:prstGeom>
          <a:noFill/>
        </p:spPr>
        <p:txBody>
          <a:bodyPr wrap="square" lIns="0" rIns="0" tIns="27432" bIns="27432" anchor="t">
            <a:noAutofit/>
          </a:bodyPr>
          <a:lstStyle/>
          <a:p>
            <a:pPr algn="l">
              <a:spcAft>
                <a:spcPts val="0"/>
              </a:spcAft>
            </a:pPr>
            <a:r>
              <a:rPr sz="1350" b="1" i="0">
                <a:solidFill>
                  <a:srgbClr val="1A1A1A"/>
                </a:solidFill>
                <a:latin typeface="Arial"/>
                <a:ea typeface="맑은 고딕"/>
              </a:rPr>
              <a:t>통계 계획</a:t>
            </a:r>
          </a:p>
        </p:txBody>
      </p:sp>
      <p:sp>
        <p:nvSpPr>
          <p:cNvPr id="83" name="TextBox 82"/>
          <p:cNvSpPr txBox="1"/>
          <p:nvPr/>
        </p:nvSpPr>
        <p:spPr>
          <a:xfrm>
            <a:off x="7863840" y="3639312"/>
            <a:ext cx="3657600" cy="1554480"/>
          </a:xfrm>
          <a:prstGeom prst="rect">
            <a:avLst/>
          </a:prstGeom>
          <a:noFill/>
        </p:spPr>
        <p:txBody>
          <a:bodyPr wrap="square" lIns="0" rIns="0" tIns="27432" bIns="27432" anchor="t">
            <a:noAutofit/>
          </a:bodyPr>
          <a:lstStyle/>
          <a:p>
            <a:pPr algn="l" marL="164592" indent="-164592">
              <a:spcAft>
                <a:spcPts val="500"/>
              </a:spcAft>
              <a:buChar char="•"/>
            </a:pPr>
            <a:r>
              <a:rPr sz="1150" b="0" i="0">
                <a:solidFill>
                  <a:srgbClr val="1A1A1A"/>
                </a:solidFill>
                <a:latin typeface="Arial"/>
                <a:ea typeface="맑은 고딕"/>
              </a:rPr>
              <a:t>Paired design — 동일 사용자 · seed · 전시 snapshot</a:t>
            </a:r>
          </a:p>
          <a:p>
            <a:pPr algn="l" marL="164592" indent="-164592">
              <a:spcAft>
                <a:spcPts val="500"/>
              </a:spcAft>
              <a:buChar char="•"/>
            </a:pPr>
            <a:r>
              <a:rPr sz="1150" b="0" i="0">
                <a:solidFill>
                  <a:srgbClr val="1A1A1A"/>
                </a:solidFill>
                <a:latin typeface="Arial"/>
                <a:ea typeface="맑은 고딕"/>
              </a:rPr>
              <a:t>한 비교에서 바뀌는 모듈은 하나로 제한</a:t>
            </a:r>
          </a:p>
          <a:p>
            <a:pPr algn="l" marL="164592" indent="-164592">
              <a:spcAft>
                <a:spcPts val="500"/>
              </a:spcAft>
              <a:buChar char="•"/>
            </a:pPr>
            <a:r>
              <a:rPr sz="1150" b="0" i="0">
                <a:solidFill>
                  <a:srgbClr val="1A1A1A"/>
                </a:solidFill>
                <a:latin typeface="Arial"/>
                <a:ea typeface="맑은 고딕"/>
              </a:rPr>
              <a:t>평균 + 95% CI + 오류 사례를 함께 보고</a:t>
            </a:r>
          </a:p>
        </p:txBody>
      </p:sp>
      <p:sp>
        <p:nvSpPr>
          <p:cNvPr id="84" name="Rounded Rectangle 83"/>
          <p:cNvSpPr/>
          <p:nvPr/>
        </p:nvSpPr>
        <p:spPr>
          <a:xfrm>
            <a:off x="548640" y="5532120"/>
            <a:ext cx="11091672" cy="658368"/>
          </a:xfrm>
          <a:prstGeom prst="roundRect">
            <a:avLst>
              <a:gd name="adj" fmla="val 15000"/>
            </a:avLst>
          </a:prstGeom>
          <a:solidFill>
            <a:srgbClr val="FFF3CC"/>
          </a:solidFill>
          <a:ln>
            <a:noFill/>
          </a:ln>
        </p:spPr>
        <p:txBody>
          <a:bodyPr rtlCol="0" anchor="ctr" wrap="square" lIns="182880" rIns="182880" tIns="27432" bIns="27432">
            <a:noAutofit/>
          </a:bodyPr>
          <a:lstStyle/>
          <a:p>
            <a:pPr algn="ctr">
              <a:spcAft>
                <a:spcPts val="0"/>
              </a:spcAft>
            </a:pPr>
            <a:r>
              <a:rPr sz="1300" b="1" i="0">
                <a:solidFill>
                  <a:srgbClr val="1A1A1A"/>
                </a:solidFill>
                <a:latin typeface="Arial"/>
                <a:ea typeface="맑은 고딕"/>
              </a:rPr>
              <a:t>결과 입력 전 모든 값은 TBD / [TO-MEASURE]</a:t>
            </a:r>
            <a:r>
              <a:rPr sz="1200" b="0" i="0">
                <a:solidFill>
                  <a:srgbClr val="6B6B6B"/>
                </a:solidFill>
                <a:latin typeface="Arial"/>
                <a:ea typeface="맑은 고딕"/>
              </a:rPr>
              <a:t>      ↑ 높을수록 좋음 · ↓ 낮을수록 좋음</a:t>
            </a:r>
          </a:p>
        </p:txBody>
      </p:sp>
    </p:spTree>
    <p:extLst>
      <p:ext uri="{BB962C8B-B14F-4D97-AF65-F5344CB8AC3E}">
        <p14:creationId xmlns:p14="http://schemas.microsoft.com/office/powerpoint/2010/main" val="3605434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4"/>
          <p:cNvSpPr txBox="1"/>
          <p:nvPr/>
        </p:nvSpPr>
        <p:spPr>
          <a:xfrm>
            <a:off x="17463" y="-27384"/>
            <a:ext cx="1160462" cy="11079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6600" b="1" dirty="0">
                <a:solidFill>
                  <a:srgbClr val="FFBD11"/>
                </a:solidFill>
                <a:latin typeface="+mj-lt"/>
                <a:ea typeface="Arial"/>
                <a:cs typeface="Arial"/>
                <a:sym typeface="Arial"/>
              </a:rPr>
              <a:t>0</a:t>
            </a:r>
            <a:r>
              <a:rPr lang="en-US" altLang="ko-KR" sz="6600" b="1" dirty="0">
                <a:solidFill>
                  <a:srgbClr val="FFBD11"/>
                </a:solidFill>
                <a:latin typeface="+mj-lt"/>
                <a:ea typeface="Arial"/>
                <a:cs typeface="Arial"/>
                <a:sym typeface="Arial"/>
              </a:rPr>
              <a:t>5</a:t>
            </a:r>
            <a:r>
              <a:rPr lang="ko-KR" sz="4000" b="1" dirty="0">
                <a:solidFill>
                  <a:srgbClr val="445569"/>
                </a:solidFill>
                <a:latin typeface="+mj-lt"/>
                <a:ea typeface="Arial"/>
                <a:cs typeface="Arial"/>
                <a:sym typeface="Arial"/>
              </a:rPr>
              <a:t> </a:t>
            </a:r>
            <a:endParaRPr sz="4000" b="1" dirty="0">
              <a:solidFill>
                <a:srgbClr val="445569"/>
              </a:solidFill>
              <a:latin typeface="+mj-lt"/>
              <a:ea typeface="Arial"/>
              <a:cs typeface="Arial"/>
              <a:sym typeface="Arial"/>
            </a:endParaRPr>
          </a:p>
        </p:txBody>
      </p:sp>
      <p:sp>
        <p:nvSpPr>
          <p:cNvPr id="45" name="Google Shape;45;p4"/>
          <p:cNvSpPr txBox="1"/>
          <p:nvPr/>
        </p:nvSpPr>
        <p:spPr>
          <a:xfrm>
            <a:off x="984110" y="126483"/>
            <a:ext cx="64008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chemeClr val="tx1"/>
                </a:solidFill>
                <a:latin typeface="+mj-lt"/>
                <a:ea typeface="맑은 고딕"/>
                <a:cs typeface="Calibri"/>
                <a:sym typeface="Calibri"/>
              </a:rPr>
              <a:t>프로젝트 예상·실측 결과</a:t>
            </a:r>
            <a:endParaRPr dirty="0">
              <a:solidFill>
                <a:schemeClr val="tx1"/>
              </a:solidFill>
              <a:latin typeface="+mj-lt"/>
            </a:endParaRPr>
          </a:p>
        </p:txBody>
      </p:sp>
      <p:cxnSp>
        <p:nvCxnSpPr>
          <p:cNvPr id="46" name="Google Shape;46;p4"/>
          <p:cNvCxnSpPr>
            <a:cxnSpLocks/>
          </p:cNvCxnSpPr>
          <p:nvPr/>
        </p:nvCxnSpPr>
        <p:spPr>
          <a:xfrm flipV="1">
            <a:off x="1107936" y="526593"/>
            <a:ext cx="10827390" cy="13164"/>
          </a:xfrm>
          <a:prstGeom prst="straightConnector1">
            <a:avLst/>
          </a:prstGeom>
          <a:noFill/>
          <a:ln w="31750" cap="flat" cmpd="sng">
            <a:solidFill>
              <a:srgbClr val="FFBD11"/>
            </a:solidFill>
            <a:prstDash val="solid"/>
            <a:miter lim="800000"/>
            <a:headEnd type="none" w="sm" len="sm"/>
            <a:tailEnd type="none" w="sm" len="sm"/>
          </a:ln>
        </p:spPr>
      </p:cxnSp>
      <p:sp>
        <p:nvSpPr>
          <p:cNvPr id="9" name="Google Shape;124;p8">
            <a:extLst>
              <a:ext uri="{FF2B5EF4-FFF2-40B4-BE49-F238E27FC236}">
                <a16:creationId xmlns:a16="http://schemas.microsoft.com/office/drawing/2014/main" id="{043106DF-ECD6-42C2-8B7A-2D53A210501B}"/>
              </a:ext>
            </a:extLst>
          </p:cNvPr>
          <p:cNvSpPr txBox="1"/>
          <p:nvPr/>
        </p:nvSpPr>
        <p:spPr>
          <a:xfrm>
            <a:off x="1075852" y="615955"/>
            <a:ext cx="108813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rgbClr val="1A1A1A"/>
                </a:solidFill>
                <a:latin typeface="+mj-lt"/>
                <a:ea typeface="맑은 고딕"/>
                <a:cs typeface="Calibri"/>
                <a:sym typeface="Calibri"/>
              </a:rPr>
              <a:t>결과표는 성과를 과장하지 않도록 설계한다</a:t>
            </a:r>
            <a:endParaRPr dirty="0">
              <a:solidFill>
                <a:schemeClr val="tx1"/>
              </a:solidFill>
              <a:latin typeface="+mj-lt"/>
            </a:endParaRPr>
          </a:p>
        </p:txBody>
      </p:sp>
      <p:sp>
        <p:nvSpPr>
          <p:cNvPr id="47" name="TextBox 46"/>
          <p:cNvSpPr txBox="1"/>
          <p:nvPr/>
        </p:nvSpPr>
        <p:spPr>
          <a:xfrm>
            <a:off x="548640" y="1188720"/>
            <a:ext cx="7315200" cy="320040"/>
          </a:xfrm>
          <a:prstGeom prst="rect">
            <a:avLst/>
          </a:prstGeom>
          <a:noFill/>
        </p:spPr>
        <p:txBody>
          <a:bodyPr wrap="square" lIns="0" rIns="0" tIns="27432" bIns="27432" anchor="t">
            <a:noAutofit/>
          </a:bodyPr>
          <a:lstStyle/>
          <a:p>
            <a:pPr algn="l">
              <a:spcAft>
                <a:spcPts val="0"/>
              </a:spcAft>
            </a:pPr>
            <a:r>
              <a:rPr sz="1300" b="1" i="0">
                <a:solidFill>
                  <a:srgbClr val="445569"/>
                </a:solidFill>
                <a:latin typeface="Arial"/>
                <a:ea typeface="맑은 고딕"/>
              </a:rPr>
              <a:t>최종 결과표 목업</a:t>
            </a:r>
          </a:p>
        </p:txBody>
      </p:sp>
      <p:graphicFrame>
        <p:nvGraphicFramePr>
          <p:cNvPr id="48" name="Table 47"/>
          <p:cNvGraphicFramePr>
            <a:graphicFrameLocks noGrp="1"/>
          </p:cNvGraphicFramePr>
          <p:nvPr/>
        </p:nvGraphicFramePr>
        <p:xfrm>
          <a:off x="548640" y="1554480"/>
          <a:ext cx="7315200" cy="2377440"/>
        </p:xfrm>
        <a:graphic>
          <a:graphicData uri="http://schemas.openxmlformats.org/drawingml/2006/table">
            <a:tbl>
              <a:tblPr firstRow="0" bandRow="0">
                <a:tableStyleId>{5C22544A-7EE6-4342-B048-85BDC9FD1C3A}</a:tableStyleId>
              </a:tblPr>
              <a:tblGrid>
                <a:gridCol w="1188720"/>
                <a:gridCol w="1234440"/>
                <a:gridCol w="914400"/>
                <a:gridCol w="914400"/>
                <a:gridCol w="777240"/>
                <a:gridCol w="914400"/>
                <a:gridCol w="1371600"/>
              </a:tblGrid>
              <a:tr h="475488">
                <a:tc>
                  <a:txBody>
                    <a:bodyPr wrap="square" lIns="36576" rIns="36576" tIns="27432" bIns="27432" anchor="ctr">
                      <a:noAutofit/>
                    </a:bodyPr>
                    <a:lstStyle/>
                    <a:p>
                      <a:pPr algn="ctr">
                        <a:spcAft>
                          <a:spcPts val="0"/>
                        </a:spcAft>
                      </a:pPr>
                      <a:r>
                        <a:rPr sz="1200" b="1" i="0">
                          <a:solidFill>
                            <a:srgbClr val="FFFFFF"/>
                          </a:solidFill>
                          <a:latin typeface="Arial"/>
                          <a:ea typeface="맑은 고딕"/>
                        </a:rPr>
                        <a:t>Metric</a:t>
                      </a:r>
                    </a:p>
                  </a:txBody>
                  <a:tcPr anchor="ctr">
                    <a:solidFill>
                      <a:srgbClr val="000000"/>
                    </a:solidFill>
                  </a:tcPr>
                </a:tc>
                <a:tc>
                  <a:txBody>
                    <a:bodyPr wrap="square" lIns="36576" rIns="36576" tIns="27432" bIns="27432" anchor="ctr">
                      <a:noAutofit/>
                    </a:bodyPr>
                    <a:lstStyle/>
                    <a:p>
                      <a:pPr algn="ctr">
                        <a:spcAft>
                          <a:spcPts val="0"/>
                        </a:spcAft>
                      </a:pPr>
                      <a:r>
                        <a:rPr sz="1200" b="1" i="0">
                          <a:solidFill>
                            <a:srgbClr val="FFFFFF"/>
                          </a:solidFill>
                          <a:latin typeface="Arial"/>
                          <a:ea typeface="맑은 고딕"/>
                        </a:rPr>
                        <a:t>비교</a:t>
                      </a:r>
                    </a:p>
                  </a:txBody>
                  <a:tcPr anchor="ctr">
                    <a:solidFill>
                      <a:srgbClr val="000000"/>
                    </a:solidFill>
                  </a:tcPr>
                </a:tc>
                <a:tc>
                  <a:txBody>
                    <a:bodyPr wrap="square" lIns="36576" rIns="36576" tIns="27432" bIns="27432" anchor="ctr">
                      <a:noAutofit/>
                    </a:bodyPr>
                    <a:lstStyle/>
                    <a:p>
                      <a:pPr algn="ctr">
                        <a:spcAft>
                          <a:spcPts val="0"/>
                        </a:spcAft>
                      </a:pPr>
                      <a:r>
                        <a:rPr sz="1200" b="1" i="0">
                          <a:solidFill>
                            <a:srgbClr val="FFFFFF"/>
                          </a:solidFill>
                          <a:latin typeface="Arial"/>
                          <a:ea typeface="맑은 고딕"/>
                        </a:rPr>
                        <a:t>Baseline</a:t>
                      </a:r>
                    </a:p>
                  </a:txBody>
                  <a:tcPr anchor="ctr">
                    <a:solidFill>
                      <a:srgbClr val="000000"/>
                    </a:solidFill>
                  </a:tcPr>
                </a:tc>
                <a:tc>
                  <a:txBody>
                    <a:bodyPr wrap="square" lIns="36576" rIns="36576" tIns="27432" bIns="27432" anchor="ctr">
                      <a:noAutofit/>
                    </a:bodyPr>
                    <a:lstStyle/>
                    <a:p>
                      <a:pPr algn="ctr">
                        <a:spcAft>
                          <a:spcPts val="0"/>
                        </a:spcAft>
                      </a:pPr>
                      <a:r>
                        <a:rPr sz="1200" b="1" i="0">
                          <a:solidFill>
                            <a:srgbClr val="FFFFFF"/>
                          </a:solidFill>
                          <a:latin typeface="Arial"/>
                          <a:ea typeface="맑은 고딕"/>
                        </a:rPr>
                        <a:t>Proposed</a:t>
                      </a:r>
                    </a:p>
                  </a:txBody>
                  <a:tcPr anchor="ctr">
                    <a:solidFill>
                      <a:srgbClr val="000000"/>
                    </a:solidFill>
                  </a:tcPr>
                </a:tc>
                <a:tc>
                  <a:txBody>
                    <a:bodyPr wrap="square" lIns="36576" rIns="36576" tIns="27432" bIns="27432" anchor="ctr">
                      <a:noAutofit/>
                    </a:bodyPr>
                    <a:lstStyle/>
                    <a:p>
                      <a:pPr algn="ctr">
                        <a:spcAft>
                          <a:spcPts val="0"/>
                        </a:spcAft>
                      </a:pPr>
                      <a:r>
                        <a:rPr sz="1200" b="1" i="0">
                          <a:solidFill>
                            <a:srgbClr val="FFFFFF"/>
                          </a:solidFill>
                          <a:latin typeface="Arial"/>
                          <a:ea typeface="맑은 고딕"/>
                        </a:rPr>
                        <a:t>Delta</a:t>
                      </a:r>
                    </a:p>
                  </a:txBody>
                  <a:tcPr anchor="ctr">
                    <a:solidFill>
                      <a:srgbClr val="000000"/>
                    </a:solidFill>
                  </a:tcPr>
                </a:tc>
                <a:tc>
                  <a:txBody>
                    <a:bodyPr wrap="square" lIns="36576" rIns="36576" tIns="27432" bIns="27432" anchor="ctr">
                      <a:noAutofit/>
                    </a:bodyPr>
                    <a:lstStyle/>
                    <a:p>
                      <a:pPr algn="ctr">
                        <a:spcAft>
                          <a:spcPts val="0"/>
                        </a:spcAft>
                      </a:pPr>
                      <a:r>
                        <a:rPr sz="1200" b="1" i="0">
                          <a:solidFill>
                            <a:srgbClr val="FFFFFF"/>
                          </a:solidFill>
                          <a:latin typeface="Arial"/>
                          <a:ea typeface="맑은 고딕"/>
                        </a:rPr>
                        <a:t>95% CI</a:t>
                      </a:r>
                    </a:p>
                  </a:txBody>
                  <a:tcPr anchor="ctr">
                    <a:solidFill>
                      <a:srgbClr val="000000"/>
                    </a:solidFill>
                  </a:tcPr>
                </a:tc>
                <a:tc>
                  <a:txBody>
                    <a:bodyPr wrap="square" lIns="36576" rIns="36576" tIns="27432" bIns="27432" anchor="ctr">
                      <a:noAutofit/>
                    </a:bodyPr>
                    <a:lstStyle/>
                    <a:p>
                      <a:pPr algn="ctr">
                        <a:spcAft>
                          <a:spcPts val="0"/>
                        </a:spcAft>
                      </a:pPr>
                      <a:r>
                        <a:rPr sz="1200" b="1" i="0">
                          <a:solidFill>
                            <a:srgbClr val="FFFFFF"/>
                          </a:solidFill>
                          <a:latin typeface="Arial"/>
                          <a:ea typeface="맑은 고딕"/>
                        </a:rPr>
                        <a:t>Status</a:t>
                      </a:r>
                    </a:p>
                  </a:txBody>
                  <a:tcPr anchor="ctr">
                    <a:solidFill>
                      <a:srgbClr val="000000"/>
                    </a:solidFill>
                  </a:tcPr>
                </a:tc>
              </a:tr>
              <a:tr h="475488">
                <a:tc>
                  <a:txBody>
                    <a:bodyPr wrap="square" lIns="36576" rIns="36576" tIns="27432" bIns="27432" anchor="ctr">
                      <a:noAutofit/>
                    </a:bodyPr>
                    <a:lstStyle/>
                    <a:p>
                      <a:pPr algn="ctr">
                        <a:spcAft>
                          <a:spcPts val="0"/>
                        </a:spcAft>
                      </a:pPr>
                      <a:r>
                        <a:rPr sz="1150" b="1" i="0">
                          <a:solidFill>
                            <a:srgbClr val="1A1A1A"/>
                          </a:solidFill>
                          <a:latin typeface="Arial"/>
                          <a:ea typeface="맑은 고딕"/>
                        </a:rPr>
                        <a:t>NDCG@10 ↑</a:t>
                      </a:r>
                    </a:p>
                  </a:txBody>
                  <a:tcPr anchor="ctr">
                    <a:solidFill>
                      <a:srgbClr val="F2F2F2"/>
                    </a:solidFill>
                  </a:tcPr>
                </a:tc>
                <a:tc>
                  <a:txBody>
                    <a:bodyPr wrap="square" lIns="36576" rIns="36576" tIns="27432" bIns="27432" anchor="ctr">
                      <a:noAutofit/>
                    </a:bodyPr>
                    <a:lstStyle/>
                    <a:p>
                      <a:pPr algn="ctr">
                        <a:spcAft>
                          <a:spcPts val="0"/>
                        </a:spcAft>
                      </a:pPr>
                      <a:r>
                        <a:rPr sz="1150" b="0" i="0">
                          <a:solidFill>
                            <a:srgbClr val="1A1A1A"/>
                          </a:solidFill>
                          <a:latin typeface="Arial"/>
                          <a:ea typeface="맑은 고딕"/>
                        </a:rPr>
                        <a:t>B1 vs B4</a:t>
                      </a:r>
                    </a:p>
                  </a:txBody>
                  <a:tcPr anchor="ctr">
                    <a:solidFill>
                      <a:srgbClr val="F2F2F2"/>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2F2F2"/>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2F2F2"/>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2F2F2"/>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2F2F2"/>
                    </a:solidFill>
                  </a:tcPr>
                </a:tc>
                <a:tc>
                  <a:txBody>
                    <a:bodyPr wrap="square" lIns="36576" rIns="36576" tIns="27432" bIns="27432" anchor="ctr">
                      <a:noAutofit/>
                    </a:bodyPr>
                    <a:lstStyle/>
                    <a:p>
                      <a:pPr algn="ctr">
                        <a:spcAft>
                          <a:spcPts val="0"/>
                        </a:spcAft>
                      </a:pPr>
                      <a:r>
                        <a:rPr sz="1050" b="1" i="0">
                          <a:solidFill>
                            <a:srgbClr val="6B6B6B"/>
                          </a:solidFill>
                          <a:latin typeface="Arial"/>
                          <a:ea typeface="맑은 고딕"/>
                        </a:rPr>
                        <a:t>[TO-MEASURE]</a:t>
                      </a:r>
                    </a:p>
                  </a:txBody>
                  <a:tcPr anchor="ctr">
                    <a:solidFill>
                      <a:srgbClr val="F2F2F2"/>
                    </a:solidFill>
                  </a:tcPr>
                </a:tc>
              </a:tr>
              <a:tr h="475488">
                <a:tc>
                  <a:txBody>
                    <a:bodyPr wrap="square" lIns="36576" rIns="36576" tIns="27432" bIns="27432" anchor="ctr">
                      <a:noAutofit/>
                    </a:bodyPr>
                    <a:lstStyle/>
                    <a:p>
                      <a:pPr algn="ctr">
                        <a:spcAft>
                          <a:spcPts val="0"/>
                        </a:spcAft>
                      </a:pPr>
                      <a:r>
                        <a:rPr sz="1150" b="1" i="0">
                          <a:solidFill>
                            <a:srgbClr val="1A1A1A"/>
                          </a:solidFill>
                          <a:latin typeface="Arial"/>
                          <a:ea typeface="맑은 고딕"/>
                        </a:rPr>
                        <a:t>CR@10 ↓</a:t>
                      </a:r>
                    </a:p>
                  </a:txBody>
                  <a:tcPr anchor="ctr">
                    <a:solidFill>
                      <a:srgbClr val="FFFFFF"/>
                    </a:solidFill>
                  </a:tcPr>
                </a:tc>
                <a:tc>
                  <a:txBody>
                    <a:bodyPr wrap="square" lIns="36576" rIns="36576" tIns="27432" bIns="27432" anchor="ctr">
                      <a:noAutofit/>
                    </a:bodyPr>
                    <a:lstStyle/>
                    <a:p>
                      <a:pPr algn="ctr">
                        <a:spcAft>
                          <a:spcPts val="0"/>
                        </a:spcAft>
                      </a:pPr>
                      <a:r>
                        <a:rPr sz="1150" b="0" i="0">
                          <a:solidFill>
                            <a:srgbClr val="1A1A1A"/>
                          </a:solidFill>
                          <a:latin typeface="Arial"/>
                          <a:ea typeface="맑은 고딕"/>
                        </a:rPr>
                        <a:t>B2/B3 vs B4</a:t>
                      </a:r>
                    </a:p>
                  </a:txBody>
                  <a:tcPr anchor="ctr">
                    <a:solidFill>
                      <a:srgbClr val="FFFFFF"/>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FFFFF"/>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FFFFF"/>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FFFFF"/>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FFFFF"/>
                    </a:solidFill>
                  </a:tcPr>
                </a:tc>
                <a:tc>
                  <a:txBody>
                    <a:bodyPr wrap="square" lIns="36576" rIns="36576" tIns="27432" bIns="27432" anchor="ctr">
                      <a:noAutofit/>
                    </a:bodyPr>
                    <a:lstStyle/>
                    <a:p>
                      <a:pPr algn="ctr">
                        <a:spcAft>
                          <a:spcPts val="0"/>
                        </a:spcAft>
                      </a:pPr>
                      <a:r>
                        <a:rPr sz="1050" b="1" i="0">
                          <a:solidFill>
                            <a:srgbClr val="6B6B6B"/>
                          </a:solidFill>
                          <a:latin typeface="Arial"/>
                          <a:ea typeface="맑은 고딕"/>
                        </a:rPr>
                        <a:t>[TO-MEASURE]</a:t>
                      </a:r>
                    </a:p>
                  </a:txBody>
                  <a:tcPr anchor="ctr">
                    <a:solidFill>
                      <a:srgbClr val="FFFFFF"/>
                    </a:solidFill>
                  </a:tcPr>
                </a:tc>
              </a:tr>
              <a:tr h="475488">
                <a:tc>
                  <a:txBody>
                    <a:bodyPr wrap="square" lIns="36576" rIns="36576" tIns="27432" bIns="27432" anchor="ctr">
                      <a:noAutofit/>
                    </a:bodyPr>
                    <a:lstStyle/>
                    <a:p>
                      <a:pPr algn="ctr">
                        <a:spcAft>
                          <a:spcPts val="0"/>
                        </a:spcAft>
                      </a:pPr>
                      <a:r>
                        <a:rPr sz="1150" b="1" i="0">
                          <a:solidFill>
                            <a:srgbClr val="1A1A1A"/>
                          </a:solidFill>
                          <a:latin typeface="Arial"/>
                          <a:ea typeface="맑은 고딕"/>
                        </a:rPr>
                        <a:t>Trec ↓</a:t>
                      </a:r>
                    </a:p>
                  </a:txBody>
                  <a:tcPr anchor="ctr">
                    <a:solidFill>
                      <a:srgbClr val="F2F2F2"/>
                    </a:solidFill>
                  </a:tcPr>
                </a:tc>
                <a:tc>
                  <a:txBody>
                    <a:bodyPr wrap="square" lIns="36576" rIns="36576" tIns="27432" bIns="27432" anchor="ctr">
                      <a:noAutofit/>
                    </a:bodyPr>
                    <a:lstStyle/>
                    <a:p>
                      <a:pPr algn="ctr">
                        <a:spcAft>
                          <a:spcPts val="0"/>
                        </a:spcAft>
                      </a:pPr>
                      <a:r>
                        <a:rPr sz="1150" b="0" i="0">
                          <a:solidFill>
                            <a:srgbClr val="1A1A1A"/>
                          </a:solidFill>
                          <a:latin typeface="Arial"/>
                          <a:ea typeface="맑은 고딕"/>
                        </a:rPr>
                        <a:t>B2/B3 vs B4</a:t>
                      </a:r>
                    </a:p>
                  </a:txBody>
                  <a:tcPr anchor="ctr">
                    <a:solidFill>
                      <a:srgbClr val="F2F2F2"/>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2F2F2"/>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2F2F2"/>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2F2F2"/>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2F2F2"/>
                    </a:solidFill>
                  </a:tcPr>
                </a:tc>
                <a:tc>
                  <a:txBody>
                    <a:bodyPr wrap="square" lIns="36576" rIns="36576" tIns="27432" bIns="27432" anchor="ctr">
                      <a:noAutofit/>
                    </a:bodyPr>
                    <a:lstStyle/>
                    <a:p>
                      <a:pPr algn="ctr">
                        <a:spcAft>
                          <a:spcPts val="0"/>
                        </a:spcAft>
                      </a:pPr>
                      <a:r>
                        <a:rPr sz="1050" b="1" i="0">
                          <a:solidFill>
                            <a:srgbClr val="6B6B6B"/>
                          </a:solidFill>
                          <a:latin typeface="Arial"/>
                          <a:ea typeface="맑은 고딕"/>
                        </a:rPr>
                        <a:t>[TO-MEASURE]</a:t>
                      </a:r>
                    </a:p>
                  </a:txBody>
                  <a:tcPr anchor="ctr">
                    <a:solidFill>
                      <a:srgbClr val="F2F2F2"/>
                    </a:solidFill>
                  </a:tcPr>
                </a:tc>
              </a:tr>
              <a:tr h="475488">
                <a:tc>
                  <a:txBody>
                    <a:bodyPr wrap="square" lIns="36576" rIns="36576" tIns="27432" bIns="27432" anchor="ctr">
                      <a:noAutofit/>
                    </a:bodyPr>
                    <a:lstStyle/>
                    <a:p>
                      <a:pPr algn="ctr">
                        <a:spcAft>
                          <a:spcPts val="0"/>
                        </a:spcAft>
                      </a:pPr>
                      <a:r>
                        <a:rPr sz="1150" b="1" i="0">
                          <a:solidFill>
                            <a:srgbClr val="1A1A1A"/>
                          </a:solidFill>
                          <a:latin typeface="Arial"/>
                          <a:ea typeface="맑은 고딕"/>
                        </a:rPr>
                        <a:t>UCR ↓</a:t>
                      </a:r>
                    </a:p>
                  </a:txBody>
                  <a:tcPr anchor="ctr">
                    <a:solidFill>
                      <a:srgbClr val="FFFFFF"/>
                    </a:solidFill>
                  </a:tcPr>
                </a:tc>
                <a:tc>
                  <a:txBody>
                    <a:bodyPr wrap="square" lIns="36576" rIns="36576" tIns="27432" bIns="27432" anchor="ctr">
                      <a:noAutofit/>
                    </a:bodyPr>
                    <a:lstStyle/>
                    <a:p>
                      <a:pPr algn="ctr">
                        <a:spcAft>
                          <a:spcPts val="0"/>
                        </a:spcAft>
                      </a:pPr>
                      <a:r>
                        <a:rPr sz="1150" b="0" i="0">
                          <a:solidFill>
                            <a:srgbClr val="1A1A1A"/>
                          </a:solidFill>
                          <a:latin typeface="Arial"/>
                          <a:ea typeface="맑은 고딕"/>
                        </a:rPr>
                        <a:t>B4R vs B5</a:t>
                      </a:r>
                    </a:p>
                  </a:txBody>
                  <a:tcPr anchor="ctr">
                    <a:solidFill>
                      <a:srgbClr val="FFFFFF"/>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FFFFF"/>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FFFFF"/>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FFFFF"/>
                    </a:solidFill>
                  </a:tcPr>
                </a:tc>
                <a:tc>
                  <a:txBody>
                    <a:bodyPr wrap="square" lIns="36576" rIns="36576" tIns="27432" bIns="27432" anchor="ctr">
                      <a:noAutofit/>
                    </a:bodyPr>
                    <a:lstStyle/>
                    <a:p>
                      <a:pPr algn="ctr">
                        <a:spcAft>
                          <a:spcPts val="0"/>
                        </a:spcAft>
                      </a:pPr>
                      <a:r>
                        <a:rPr sz="1150" b="0" i="0">
                          <a:solidFill>
                            <a:srgbClr val="8C8C8C"/>
                          </a:solidFill>
                          <a:latin typeface="Arial"/>
                          <a:ea typeface="맑은 고딕"/>
                        </a:rPr>
                        <a:t>TBD</a:t>
                      </a:r>
                    </a:p>
                  </a:txBody>
                  <a:tcPr anchor="ctr">
                    <a:solidFill>
                      <a:srgbClr val="FFFFFF"/>
                    </a:solidFill>
                  </a:tcPr>
                </a:tc>
                <a:tc>
                  <a:txBody>
                    <a:bodyPr wrap="square" lIns="36576" rIns="36576" tIns="27432" bIns="27432" anchor="ctr">
                      <a:noAutofit/>
                    </a:bodyPr>
                    <a:lstStyle/>
                    <a:p>
                      <a:pPr algn="ctr">
                        <a:spcAft>
                          <a:spcPts val="0"/>
                        </a:spcAft>
                      </a:pPr>
                      <a:r>
                        <a:rPr sz="1050" b="1" i="0">
                          <a:solidFill>
                            <a:srgbClr val="6B6B6B"/>
                          </a:solidFill>
                          <a:latin typeface="Arial"/>
                          <a:ea typeface="맑은 고딕"/>
                        </a:rPr>
                        <a:t>[TO-MEASURE]</a:t>
                      </a:r>
                    </a:p>
                  </a:txBody>
                  <a:tcPr anchor="ctr">
                    <a:solidFill>
                      <a:srgbClr val="FFFFFF"/>
                    </a:solidFill>
                  </a:tcPr>
                </a:tc>
              </a:tr>
            </a:tbl>
          </a:graphicData>
        </a:graphic>
      </p:graphicFrame>
      <p:sp>
        <p:nvSpPr>
          <p:cNvPr id="49" name="TextBox 48"/>
          <p:cNvSpPr txBox="1"/>
          <p:nvPr/>
        </p:nvSpPr>
        <p:spPr>
          <a:xfrm>
            <a:off x="548640" y="3977639"/>
            <a:ext cx="7315200" cy="274320"/>
          </a:xfrm>
          <a:prstGeom prst="rect">
            <a:avLst/>
          </a:prstGeom>
          <a:noFill/>
        </p:spPr>
        <p:txBody>
          <a:bodyPr wrap="square" lIns="0" rIns="0" tIns="27432" bIns="27432" anchor="t">
            <a:noAutofit/>
          </a:bodyPr>
          <a:lstStyle/>
          <a:p>
            <a:pPr algn="l">
              <a:spcAft>
                <a:spcPts val="0"/>
              </a:spcAft>
            </a:pPr>
            <a:r>
              <a:rPr sz="1050" b="0" i="0">
                <a:solidFill>
                  <a:srgbClr val="6B6B6B"/>
                </a:solidFill>
                <a:latin typeface="Arial"/>
                <a:ea typeface="맑은 고딕"/>
              </a:rPr>
              <a:t>값이 없는 칸은 TBD 그대로 두고, 색상은 중립으로 유지합니다.</a:t>
            </a:r>
          </a:p>
        </p:txBody>
      </p:sp>
      <p:sp>
        <p:nvSpPr>
          <p:cNvPr id="50" name="Rounded Rectangle 49"/>
          <p:cNvSpPr/>
          <p:nvPr/>
        </p:nvSpPr>
        <p:spPr>
          <a:xfrm>
            <a:off x="8229600" y="1234440"/>
            <a:ext cx="3410712" cy="3017520"/>
          </a:xfrm>
          <a:prstGeom prst="roundRect">
            <a:avLst>
              <a:gd name="adj" fmla="val 5000"/>
            </a:avLst>
          </a:prstGeom>
          <a:solidFill>
            <a:srgbClr val="FFFFFF"/>
          </a:solidFill>
          <a:ln w="12700">
            <a:solidFill>
              <a:srgbClr val="D0D0D0"/>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1" name="TextBox 50"/>
          <p:cNvSpPr txBox="1"/>
          <p:nvPr/>
        </p:nvSpPr>
        <p:spPr>
          <a:xfrm>
            <a:off x="8412480" y="1325880"/>
            <a:ext cx="3108960" cy="320040"/>
          </a:xfrm>
          <a:prstGeom prst="rect">
            <a:avLst/>
          </a:prstGeom>
          <a:noFill/>
        </p:spPr>
        <p:txBody>
          <a:bodyPr wrap="square" lIns="0" rIns="0" tIns="27432" bIns="27432" anchor="t">
            <a:noAutofit/>
          </a:bodyPr>
          <a:lstStyle/>
          <a:p>
            <a:pPr algn="l">
              <a:spcAft>
                <a:spcPts val="0"/>
              </a:spcAft>
            </a:pPr>
            <a:r>
              <a:rPr sz="1350" b="1" i="0">
                <a:solidFill>
                  <a:srgbClr val="1A1A1A"/>
                </a:solidFill>
                <a:latin typeface="Arial"/>
                <a:ea typeface="맑은 고딕"/>
              </a:rPr>
              <a:t>상태 라벨</a:t>
            </a:r>
          </a:p>
        </p:txBody>
      </p:sp>
      <p:sp>
        <p:nvSpPr>
          <p:cNvPr id="52" name="Rounded Rectangle 51"/>
          <p:cNvSpPr/>
          <p:nvPr/>
        </p:nvSpPr>
        <p:spPr>
          <a:xfrm>
            <a:off x="8412480" y="1783080"/>
            <a:ext cx="1417320" cy="384048"/>
          </a:xfrm>
          <a:prstGeom prst="roundRect">
            <a:avLst>
              <a:gd name="adj" fmla="val 30000"/>
            </a:avLst>
          </a:prstGeom>
          <a:solidFill>
            <a:srgbClr val="445569"/>
          </a:solidFill>
          <a:ln>
            <a:noFill/>
          </a:ln>
        </p:spPr>
        <p:txBody>
          <a:bodyPr rtlCol="0" anchor="ctr" wrap="square" lIns="36576" rIns="36576" tIns="27432" bIns="27432">
            <a:noAutofit/>
          </a:bodyPr>
          <a:lstStyle/>
          <a:p>
            <a:pPr algn="ctr">
              <a:spcAft>
                <a:spcPts val="0"/>
              </a:spcAft>
            </a:pPr>
            <a:r>
              <a:rPr sz="1050" b="1" i="0">
                <a:solidFill>
                  <a:srgbClr val="FFFFFF"/>
                </a:solidFill>
                <a:latin typeface="Arial"/>
                <a:ea typeface="맑은 고딕"/>
              </a:rPr>
              <a:t>[SOURCE]</a:t>
            </a:r>
          </a:p>
        </p:txBody>
      </p:sp>
      <p:sp>
        <p:nvSpPr>
          <p:cNvPr id="53" name="TextBox 52"/>
          <p:cNvSpPr txBox="1"/>
          <p:nvPr/>
        </p:nvSpPr>
        <p:spPr>
          <a:xfrm>
            <a:off x="9921240" y="1783080"/>
            <a:ext cx="1645920" cy="384048"/>
          </a:xfrm>
          <a:prstGeom prst="rect">
            <a:avLst/>
          </a:prstGeom>
          <a:noFill/>
        </p:spPr>
        <p:txBody>
          <a:bodyPr wrap="square" lIns="0" rIns="0" tIns="27432" bIns="27432" anchor="ctr">
            <a:noAutofit/>
          </a:bodyPr>
          <a:lstStyle/>
          <a:p>
            <a:pPr algn="l">
              <a:spcAft>
                <a:spcPts val="0"/>
              </a:spcAft>
            </a:pPr>
            <a:r>
              <a:rPr sz="1200" b="0" i="0">
                <a:solidFill>
                  <a:srgbClr val="1A1A1A"/>
                </a:solidFill>
                <a:latin typeface="Arial"/>
                <a:ea typeface="맑은 고딕"/>
              </a:rPr>
              <a:t>문서 근거</a:t>
            </a:r>
          </a:p>
        </p:txBody>
      </p:sp>
      <p:sp>
        <p:nvSpPr>
          <p:cNvPr id="54" name="Rounded Rectangle 53"/>
          <p:cNvSpPr/>
          <p:nvPr/>
        </p:nvSpPr>
        <p:spPr>
          <a:xfrm>
            <a:off x="8412480" y="2368296"/>
            <a:ext cx="1417320" cy="384048"/>
          </a:xfrm>
          <a:prstGeom prst="roundRect">
            <a:avLst>
              <a:gd name="adj" fmla="val 30000"/>
            </a:avLst>
          </a:prstGeom>
          <a:solidFill>
            <a:srgbClr val="FFBD11"/>
          </a:solidFill>
          <a:ln>
            <a:noFill/>
          </a:ln>
        </p:spPr>
        <p:txBody>
          <a:bodyPr rtlCol="0" anchor="ctr" wrap="square" lIns="36576" rIns="36576" tIns="27432" bIns="27432">
            <a:noAutofit/>
          </a:bodyPr>
          <a:lstStyle/>
          <a:p>
            <a:pPr algn="ctr">
              <a:spcAft>
                <a:spcPts val="0"/>
              </a:spcAft>
            </a:pPr>
            <a:r>
              <a:rPr sz="1050" b="1" i="0">
                <a:solidFill>
                  <a:srgbClr val="1A1A1A"/>
                </a:solidFill>
                <a:latin typeface="Arial"/>
                <a:ea typeface="맑은 고딕"/>
              </a:rPr>
              <a:t>[PROPOSED]</a:t>
            </a:r>
          </a:p>
        </p:txBody>
      </p:sp>
      <p:sp>
        <p:nvSpPr>
          <p:cNvPr id="55" name="TextBox 54"/>
          <p:cNvSpPr txBox="1"/>
          <p:nvPr/>
        </p:nvSpPr>
        <p:spPr>
          <a:xfrm>
            <a:off x="9921240" y="2368296"/>
            <a:ext cx="1645920" cy="384048"/>
          </a:xfrm>
          <a:prstGeom prst="rect">
            <a:avLst/>
          </a:prstGeom>
          <a:noFill/>
        </p:spPr>
        <p:txBody>
          <a:bodyPr wrap="square" lIns="0" rIns="0" tIns="27432" bIns="27432" anchor="ctr">
            <a:noAutofit/>
          </a:bodyPr>
          <a:lstStyle/>
          <a:p>
            <a:pPr algn="l">
              <a:spcAft>
                <a:spcPts val="0"/>
              </a:spcAft>
            </a:pPr>
            <a:r>
              <a:rPr sz="1200" b="0" i="0">
                <a:solidFill>
                  <a:srgbClr val="1A1A1A"/>
                </a:solidFill>
                <a:latin typeface="Arial"/>
                <a:ea typeface="맑은 고딕"/>
              </a:rPr>
              <a:t>계획값 · 목표값</a:t>
            </a:r>
          </a:p>
        </p:txBody>
      </p:sp>
      <p:sp>
        <p:nvSpPr>
          <p:cNvPr id="56" name="Rounded Rectangle 55"/>
          <p:cNvSpPr/>
          <p:nvPr/>
        </p:nvSpPr>
        <p:spPr>
          <a:xfrm>
            <a:off x="8412480" y="2953512"/>
            <a:ext cx="1417320" cy="384048"/>
          </a:xfrm>
          <a:prstGeom prst="roundRect">
            <a:avLst>
              <a:gd name="adj" fmla="val 30000"/>
            </a:avLst>
          </a:prstGeom>
          <a:solidFill>
            <a:srgbClr val="D0D0D0"/>
          </a:solidFill>
          <a:ln>
            <a:noFill/>
          </a:ln>
        </p:spPr>
        <p:txBody>
          <a:bodyPr rtlCol="0" anchor="ctr" wrap="square" lIns="36576" rIns="36576" tIns="27432" bIns="27432">
            <a:noAutofit/>
          </a:bodyPr>
          <a:lstStyle/>
          <a:p>
            <a:pPr algn="ctr">
              <a:spcAft>
                <a:spcPts val="0"/>
              </a:spcAft>
            </a:pPr>
            <a:r>
              <a:rPr sz="1050" b="1" i="0">
                <a:solidFill>
                  <a:srgbClr val="1A1A1A"/>
                </a:solidFill>
                <a:latin typeface="Arial"/>
                <a:ea typeface="맑은 고딕"/>
              </a:rPr>
              <a:t>[TO-MEASURE]</a:t>
            </a:r>
          </a:p>
        </p:txBody>
      </p:sp>
      <p:sp>
        <p:nvSpPr>
          <p:cNvPr id="57" name="TextBox 56"/>
          <p:cNvSpPr txBox="1"/>
          <p:nvPr/>
        </p:nvSpPr>
        <p:spPr>
          <a:xfrm>
            <a:off x="9921240" y="2953512"/>
            <a:ext cx="1645920" cy="384048"/>
          </a:xfrm>
          <a:prstGeom prst="rect">
            <a:avLst/>
          </a:prstGeom>
          <a:noFill/>
        </p:spPr>
        <p:txBody>
          <a:bodyPr wrap="square" lIns="0" rIns="0" tIns="27432" bIns="27432" anchor="ctr">
            <a:noAutofit/>
          </a:bodyPr>
          <a:lstStyle/>
          <a:p>
            <a:pPr algn="l">
              <a:spcAft>
                <a:spcPts val="0"/>
              </a:spcAft>
            </a:pPr>
            <a:r>
              <a:rPr sz="1200" b="0" i="0">
                <a:solidFill>
                  <a:srgbClr val="1A1A1A"/>
                </a:solidFill>
                <a:latin typeface="Arial"/>
                <a:ea typeface="맑은 고딕"/>
              </a:rPr>
              <a:t>실험 대기값</a:t>
            </a:r>
          </a:p>
        </p:txBody>
      </p:sp>
      <p:sp>
        <p:nvSpPr>
          <p:cNvPr id="58" name="Rounded Rectangle 57"/>
          <p:cNvSpPr/>
          <p:nvPr/>
        </p:nvSpPr>
        <p:spPr>
          <a:xfrm>
            <a:off x="8412480" y="3538728"/>
            <a:ext cx="1417320" cy="384048"/>
          </a:xfrm>
          <a:prstGeom prst="roundRect">
            <a:avLst>
              <a:gd name="adj" fmla="val 30000"/>
            </a:avLst>
          </a:prstGeom>
          <a:solidFill>
            <a:srgbClr val="FFFFFF"/>
          </a:solidFill>
          <a:ln w="12700">
            <a:solidFill>
              <a:srgbClr val="445569"/>
            </a:solidFill>
            <a:prstDash val="dash"/>
          </a:ln>
        </p:spPr>
        <p:txBody>
          <a:bodyPr rtlCol="0" anchor="ctr" wrap="square" lIns="36576" rIns="36576" tIns="27432" bIns="27432">
            <a:noAutofit/>
          </a:bodyPr>
          <a:lstStyle/>
          <a:p>
            <a:pPr algn="ctr">
              <a:spcAft>
                <a:spcPts val="0"/>
              </a:spcAft>
            </a:pPr>
            <a:r>
              <a:rPr sz="1050" b="1" i="0">
                <a:solidFill>
                  <a:srgbClr val="445569"/>
                </a:solidFill>
                <a:latin typeface="Arial"/>
                <a:ea typeface="맑은 고딕"/>
              </a:rPr>
              <a:t>[INPUT]</a:t>
            </a:r>
          </a:p>
        </p:txBody>
      </p:sp>
      <p:sp>
        <p:nvSpPr>
          <p:cNvPr id="59" name="TextBox 58"/>
          <p:cNvSpPr txBox="1"/>
          <p:nvPr/>
        </p:nvSpPr>
        <p:spPr>
          <a:xfrm>
            <a:off x="9921240" y="3538728"/>
            <a:ext cx="1645920" cy="384048"/>
          </a:xfrm>
          <a:prstGeom prst="rect">
            <a:avLst/>
          </a:prstGeom>
          <a:noFill/>
        </p:spPr>
        <p:txBody>
          <a:bodyPr wrap="square" lIns="0" rIns="0" tIns="27432" bIns="27432" anchor="ctr">
            <a:noAutofit/>
          </a:bodyPr>
          <a:lstStyle/>
          <a:p>
            <a:pPr algn="l">
              <a:spcAft>
                <a:spcPts val="0"/>
              </a:spcAft>
            </a:pPr>
            <a:r>
              <a:rPr sz="1200" b="0" i="0">
                <a:solidFill>
                  <a:srgbClr val="1A1A1A"/>
                </a:solidFill>
                <a:latin typeface="Arial"/>
                <a:ea typeface="맑은 고딕"/>
              </a:rPr>
              <a:t>사용자 입력 항목</a:t>
            </a:r>
          </a:p>
        </p:txBody>
      </p:sp>
      <p:sp>
        <p:nvSpPr>
          <p:cNvPr id="60" name="Rounded Rectangle 59"/>
          <p:cNvSpPr/>
          <p:nvPr/>
        </p:nvSpPr>
        <p:spPr>
          <a:xfrm>
            <a:off x="548640" y="4389120"/>
            <a:ext cx="7223760" cy="1097280"/>
          </a:xfrm>
          <a:prstGeom prst="roundRect">
            <a:avLst>
              <a:gd name="adj" fmla="val 7000"/>
            </a:avLst>
          </a:prstGeom>
          <a:solidFill>
            <a:srgbClr val="FFF3CC"/>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1" name="TextBox 60"/>
          <p:cNvSpPr txBox="1"/>
          <p:nvPr/>
        </p:nvSpPr>
        <p:spPr>
          <a:xfrm>
            <a:off x="731520" y="4443984"/>
            <a:ext cx="6858000" cy="320040"/>
          </a:xfrm>
          <a:prstGeom prst="rect">
            <a:avLst/>
          </a:prstGeom>
          <a:noFill/>
        </p:spPr>
        <p:txBody>
          <a:bodyPr wrap="square" lIns="0" rIns="0" tIns="27432" bIns="27432" anchor="t">
            <a:noAutofit/>
          </a:bodyPr>
          <a:lstStyle/>
          <a:p>
            <a:pPr algn="l">
              <a:spcAft>
                <a:spcPts val="0"/>
              </a:spcAft>
            </a:pPr>
            <a:r>
              <a:rPr sz="1250" b="1" i="0">
                <a:solidFill>
                  <a:srgbClr val="1A1A1A"/>
                </a:solidFill>
                <a:latin typeface="Arial"/>
                <a:ea typeface="맑은 고딕"/>
              </a:rPr>
              <a:t>목표값 예시  </a:t>
            </a:r>
            <a:r>
              <a:rPr sz="1050" b="1" i="0">
                <a:solidFill>
                  <a:srgbClr val="445569"/>
                </a:solidFill>
                <a:latin typeface="Arial"/>
                <a:ea typeface="맑은 고딕"/>
              </a:rPr>
              <a:t>[PROPOSED] · 초기 목표이며 실측값이 아님</a:t>
            </a:r>
          </a:p>
        </p:txBody>
      </p:sp>
      <p:sp>
        <p:nvSpPr>
          <p:cNvPr id="62" name="Rounded Rectangle 61"/>
          <p:cNvSpPr/>
          <p:nvPr/>
        </p:nvSpPr>
        <p:spPr>
          <a:xfrm>
            <a:off x="731520" y="4892040"/>
            <a:ext cx="2103120" cy="457200"/>
          </a:xfrm>
          <a:prstGeom prst="roundRect">
            <a:avLst>
              <a:gd name="adj" fmla="val 30000"/>
            </a:avLst>
          </a:prstGeom>
          <a:solidFill>
            <a:srgbClr val="FFFFFF"/>
          </a:solidFill>
          <a:ln w="12700">
            <a:solidFill>
              <a:srgbClr val="FFBD11"/>
            </a:solidFill>
          </a:ln>
        </p:spPr>
        <p:txBody>
          <a:bodyPr rtlCol="0" anchor="ctr" wrap="square" lIns="36576" rIns="36576" tIns="27432" bIns="27432">
            <a:noAutofit/>
          </a:bodyPr>
          <a:lstStyle/>
          <a:p>
            <a:pPr algn="ctr">
              <a:spcAft>
                <a:spcPts val="0"/>
              </a:spcAft>
            </a:pPr>
            <a:r>
              <a:rPr sz="1350" b="1" i="0">
                <a:solidFill>
                  <a:srgbClr val="1A1A1A"/>
                </a:solidFill>
                <a:latin typeface="Arial"/>
                <a:ea typeface="맑은 고딕"/>
              </a:rPr>
              <a:t>Extraction F1 ≥ 0.75</a:t>
            </a:r>
          </a:p>
        </p:txBody>
      </p:sp>
      <p:sp>
        <p:nvSpPr>
          <p:cNvPr id="63" name="Rounded Rectangle 62"/>
          <p:cNvSpPr/>
          <p:nvPr/>
        </p:nvSpPr>
        <p:spPr>
          <a:xfrm>
            <a:off x="3017520" y="4892040"/>
            <a:ext cx="2103120" cy="457200"/>
          </a:xfrm>
          <a:prstGeom prst="roundRect">
            <a:avLst>
              <a:gd name="adj" fmla="val 30000"/>
            </a:avLst>
          </a:prstGeom>
          <a:solidFill>
            <a:srgbClr val="FFFFFF"/>
          </a:solidFill>
          <a:ln w="12700">
            <a:solidFill>
              <a:srgbClr val="FFBD11"/>
            </a:solidFill>
          </a:ln>
        </p:spPr>
        <p:txBody>
          <a:bodyPr rtlCol="0" anchor="ctr" wrap="square" lIns="36576" rIns="36576" tIns="27432" bIns="27432">
            <a:noAutofit/>
          </a:bodyPr>
          <a:lstStyle/>
          <a:p>
            <a:pPr algn="ctr">
              <a:spcAft>
                <a:spcPts val="0"/>
              </a:spcAft>
            </a:pPr>
            <a:r>
              <a:rPr sz="1350" b="1" i="0">
                <a:solidFill>
                  <a:srgbClr val="1A1A1A"/>
                </a:solidFill>
                <a:latin typeface="Arial"/>
                <a:ea typeface="맑은 고딕"/>
              </a:rPr>
              <a:t>CR@10 ≤ 0.10</a:t>
            </a:r>
          </a:p>
        </p:txBody>
      </p:sp>
      <p:sp>
        <p:nvSpPr>
          <p:cNvPr id="64" name="Rounded Rectangle 63"/>
          <p:cNvSpPr/>
          <p:nvPr/>
        </p:nvSpPr>
        <p:spPr>
          <a:xfrm>
            <a:off x="5303520" y="4892040"/>
            <a:ext cx="2103120" cy="457200"/>
          </a:xfrm>
          <a:prstGeom prst="roundRect">
            <a:avLst>
              <a:gd name="adj" fmla="val 30000"/>
            </a:avLst>
          </a:prstGeom>
          <a:solidFill>
            <a:srgbClr val="FFFFFF"/>
          </a:solidFill>
          <a:ln w="12700">
            <a:solidFill>
              <a:srgbClr val="FFBD11"/>
            </a:solidFill>
          </a:ln>
        </p:spPr>
        <p:txBody>
          <a:bodyPr rtlCol="0" anchor="ctr" wrap="square" lIns="36576" rIns="36576" tIns="27432" bIns="27432">
            <a:noAutofit/>
          </a:bodyPr>
          <a:lstStyle/>
          <a:p>
            <a:pPr algn="ctr">
              <a:spcAft>
                <a:spcPts val="0"/>
              </a:spcAft>
            </a:pPr>
            <a:r>
              <a:rPr sz="1350" b="1" i="0">
                <a:solidFill>
                  <a:srgbClr val="1A1A1A"/>
                </a:solidFill>
                <a:latin typeface="Arial"/>
                <a:ea typeface="맑은 고딕"/>
              </a:rPr>
              <a:t>p95 ≤ 6초</a:t>
            </a:r>
          </a:p>
        </p:txBody>
      </p:sp>
      <p:sp>
        <p:nvSpPr>
          <p:cNvPr id="65" name="Rounded Rectangle 64"/>
          <p:cNvSpPr/>
          <p:nvPr/>
        </p:nvSpPr>
        <p:spPr>
          <a:xfrm>
            <a:off x="8001000" y="4389120"/>
            <a:ext cx="3639312" cy="1097280"/>
          </a:xfrm>
          <a:prstGeom prst="roundRect">
            <a:avLst>
              <a:gd name="adj" fmla="val 7000"/>
            </a:avLst>
          </a:prstGeom>
          <a:solidFill>
            <a:srgbClr val="FBE4E1"/>
          </a:solidFill>
          <a:ln w="12700">
            <a:solidFill>
              <a:srgbClr val="C8372D"/>
            </a:solid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66" name="TextBox 65"/>
          <p:cNvSpPr txBox="1"/>
          <p:nvPr/>
        </p:nvSpPr>
        <p:spPr>
          <a:xfrm>
            <a:off x="8183879" y="4443984"/>
            <a:ext cx="3291840" cy="320040"/>
          </a:xfrm>
          <a:prstGeom prst="rect">
            <a:avLst/>
          </a:prstGeom>
          <a:noFill/>
        </p:spPr>
        <p:txBody>
          <a:bodyPr wrap="square" lIns="0" rIns="0" tIns="27432" bIns="27432" anchor="t">
            <a:noAutofit/>
          </a:bodyPr>
          <a:lstStyle/>
          <a:p>
            <a:pPr algn="l">
              <a:spcAft>
                <a:spcPts val="0"/>
              </a:spcAft>
            </a:pPr>
            <a:r>
              <a:rPr sz="1250" b="1" i="0">
                <a:solidFill>
                  <a:srgbClr val="C8372D"/>
                </a:solidFill>
                <a:latin typeface="Arial"/>
                <a:ea typeface="맑은 고딕"/>
              </a:rPr>
              <a:t>결과 입력 전 금지 표현</a:t>
            </a:r>
          </a:p>
        </p:txBody>
      </p:sp>
      <p:sp>
        <p:nvSpPr>
          <p:cNvPr id="67" name="TextBox 66"/>
          <p:cNvSpPr txBox="1"/>
          <p:nvPr/>
        </p:nvSpPr>
        <p:spPr>
          <a:xfrm>
            <a:off x="8183879" y="4846320"/>
            <a:ext cx="3337560" cy="502920"/>
          </a:xfrm>
          <a:prstGeom prst="rect">
            <a:avLst/>
          </a:prstGeom>
          <a:noFill/>
        </p:spPr>
        <p:txBody>
          <a:bodyPr wrap="square" lIns="0" rIns="0" tIns="27432" bIns="27432" anchor="ctr">
            <a:noAutofit/>
          </a:bodyPr>
          <a:lstStyle/>
          <a:p>
            <a:pPr algn="l">
              <a:spcAft>
                <a:spcPts val="0"/>
              </a:spcAft>
            </a:pPr>
            <a:r>
              <a:rPr sz="1500" b="1" i="0" strike="sngStrike">
                <a:solidFill>
                  <a:srgbClr val="1A1A1A"/>
                </a:solidFill>
                <a:latin typeface="Arial"/>
                <a:ea typeface="맑은 고딕"/>
              </a:rPr>
              <a:t>향상</a:t>
            </a:r>
            <a:r>
              <a:rPr sz="1500" b="0" i="0">
                <a:solidFill>
                  <a:srgbClr val="6B6B6B"/>
                </a:solidFill>
                <a:latin typeface="Arial"/>
                <a:ea typeface="맑은 고딕"/>
              </a:rPr>
              <a:t>  ·  </a:t>
            </a:r>
            <a:r>
              <a:rPr sz="1500" b="1" i="0" strike="sngStrike">
                <a:solidFill>
                  <a:srgbClr val="1A1A1A"/>
                </a:solidFill>
                <a:latin typeface="Arial"/>
                <a:ea typeface="맑은 고딕"/>
              </a:rPr>
              <a:t>개선</a:t>
            </a:r>
            <a:r>
              <a:rPr sz="1500" b="0" i="0">
                <a:solidFill>
                  <a:srgbClr val="6B6B6B"/>
                </a:solidFill>
                <a:latin typeface="Arial"/>
                <a:ea typeface="맑은 고딕"/>
              </a:rPr>
              <a:t>  ·  </a:t>
            </a:r>
            <a:r>
              <a:rPr sz="1500" b="1" i="0" strike="sngStrike">
                <a:solidFill>
                  <a:srgbClr val="1A1A1A"/>
                </a:solidFill>
                <a:latin typeface="Arial"/>
                <a:ea typeface="맑은 고딕"/>
              </a:rPr>
              <a:t>유의한 차이</a:t>
            </a:r>
            <a:r>
              <a:rPr sz="1500" b="0" i="0">
                <a:solidFill>
                  <a:srgbClr val="6B6B6B"/>
                </a:solidFill>
                <a:latin typeface="Arial"/>
                <a:ea typeface="맑은 고딕"/>
              </a:rPr>
              <a:t>  ·  </a:t>
            </a:r>
            <a:r>
              <a:rPr sz="1500" b="1" i="0" strike="sngStrike">
                <a:solidFill>
                  <a:srgbClr val="1A1A1A"/>
                </a:solidFill>
                <a:latin typeface="Arial"/>
                <a:ea typeface="맑은 고딕"/>
              </a:rPr>
              <a:t>달성</a:t>
            </a:r>
          </a:p>
        </p:txBody>
      </p:sp>
      <p:sp>
        <p:nvSpPr>
          <p:cNvPr id="68" name="TextBox 67"/>
          <p:cNvSpPr txBox="1"/>
          <p:nvPr/>
        </p:nvSpPr>
        <p:spPr>
          <a:xfrm>
            <a:off x="548640" y="5650992"/>
            <a:ext cx="2194560" cy="548640"/>
          </a:xfrm>
          <a:prstGeom prst="rect">
            <a:avLst/>
          </a:prstGeom>
          <a:noFill/>
        </p:spPr>
        <p:txBody>
          <a:bodyPr wrap="square" lIns="0" rIns="0" tIns="27432" bIns="27432" anchor="ctr">
            <a:noAutofit/>
          </a:bodyPr>
          <a:lstStyle/>
          <a:p>
            <a:pPr algn="l">
              <a:spcAft>
                <a:spcPts val="0"/>
              </a:spcAft>
            </a:pPr>
            <a:r>
              <a:rPr sz="1250" b="1" i="0">
                <a:solidFill>
                  <a:srgbClr val="1A1A1A"/>
                </a:solidFill>
                <a:latin typeface="Arial"/>
                <a:ea typeface="맑은 고딕"/>
              </a:rPr>
              <a:t>최종 표 필수 항목</a:t>
            </a:r>
          </a:p>
        </p:txBody>
      </p:sp>
      <p:sp>
        <p:nvSpPr>
          <p:cNvPr id="69" name="Rounded Rectangle 68"/>
          <p:cNvSpPr/>
          <p:nvPr/>
        </p:nvSpPr>
        <p:spPr>
          <a:xfrm>
            <a:off x="2423160" y="5715000"/>
            <a:ext cx="585216" cy="411480"/>
          </a:xfrm>
          <a:prstGeom prst="roundRect">
            <a:avLst>
              <a:gd name="adj" fmla="val 30000"/>
            </a:avLst>
          </a:prstGeom>
          <a:solidFill>
            <a:srgbClr val="F2F2F2"/>
          </a:solidFill>
          <a:ln>
            <a:noFill/>
          </a:ln>
        </p:spPr>
        <p:txBody>
          <a:bodyPr rtlCol="0" anchor="ctr" wrap="square" lIns="36576" rIns="36576" tIns="27432" bIns="27432">
            <a:noAutofit/>
          </a:bodyPr>
          <a:lstStyle/>
          <a:p>
            <a:pPr algn="ctr">
              <a:spcAft>
                <a:spcPts val="0"/>
              </a:spcAft>
            </a:pPr>
            <a:r>
              <a:rPr sz="1150" b="1" i="0">
                <a:solidFill>
                  <a:srgbClr val="1A1A1A"/>
                </a:solidFill>
                <a:latin typeface="Arial"/>
                <a:ea typeface="맑은 고딕"/>
              </a:rPr>
              <a:t>조건</a:t>
            </a:r>
          </a:p>
        </p:txBody>
      </p:sp>
      <p:sp>
        <p:nvSpPr>
          <p:cNvPr id="70" name="Rounded Rectangle 69"/>
          <p:cNvSpPr/>
          <p:nvPr/>
        </p:nvSpPr>
        <p:spPr>
          <a:xfrm>
            <a:off x="3099815" y="5715000"/>
            <a:ext cx="1207008" cy="411480"/>
          </a:xfrm>
          <a:prstGeom prst="roundRect">
            <a:avLst>
              <a:gd name="adj" fmla="val 30000"/>
            </a:avLst>
          </a:prstGeom>
          <a:solidFill>
            <a:srgbClr val="F2F2F2"/>
          </a:solidFill>
          <a:ln>
            <a:noFill/>
          </a:ln>
        </p:spPr>
        <p:txBody>
          <a:bodyPr rtlCol="0" anchor="ctr" wrap="square" lIns="36576" rIns="36576" tIns="27432" bIns="27432">
            <a:noAutofit/>
          </a:bodyPr>
          <a:lstStyle/>
          <a:p>
            <a:pPr algn="ctr">
              <a:spcAft>
                <a:spcPts val="0"/>
              </a:spcAft>
            </a:pPr>
            <a:r>
              <a:rPr sz="1150" b="1" i="0">
                <a:solidFill>
                  <a:srgbClr val="1A1A1A"/>
                </a:solidFill>
                <a:latin typeface="Arial"/>
                <a:ea typeface="맑은 고딕"/>
              </a:rPr>
              <a:t>데이터 버전</a:t>
            </a:r>
          </a:p>
        </p:txBody>
      </p:sp>
      <p:sp>
        <p:nvSpPr>
          <p:cNvPr id="71" name="Rounded Rectangle 70"/>
          <p:cNvSpPr/>
          <p:nvPr/>
        </p:nvSpPr>
        <p:spPr>
          <a:xfrm>
            <a:off x="4398264" y="5715000"/>
            <a:ext cx="896112" cy="411480"/>
          </a:xfrm>
          <a:prstGeom prst="roundRect">
            <a:avLst>
              <a:gd name="adj" fmla="val 30000"/>
            </a:avLst>
          </a:prstGeom>
          <a:solidFill>
            <a:srgbClr val="F2F2F2"/>
          </a:solidFill>
          <a:ln>
            <a:noFill/>
          </a:ln>
        </p:spPr>
        <p:txBody>
          <a:bodyPr rtlCol="0" anchor="ctr" wrap="square" lIns="36576" rIns="36576" tIns="27432" bIns="27432">
            <a:noAutofit/>
          </a:bodyPr>
          <a:lstStyle/>
          <a:p>
            <a:pPr algn="ctr">
              <a:spcAft>
                <a:spcPts val="0"/>
              </a:spcAft>
            </a:pPr>
            <a:r>
              <a:rPr sz="1150" b="1" i="0">
                <a:solidFill>
                  <a:srgbClr val="1A1A1A"/>
                </a:solidFill>
                <a:latin typeface="Arial"/>
                <a:ea typeface="맑은 고딕"/>
              </a:rPr>
              <a:t>표본 수</a:t>
            </a:r>
          </a:p>
        </p:txBody>
      </p:sp>
      <p:sp>
        <p:nvSpPr>
          <p:cNvPr id="72" name="Rounded Rectangle 71"/>
          <p:cNvSpPr/>
          <p:nvPr/>
        </p:nvSpPr>
        <p:spPr>
          <a:xfrm>
            <a:off x="5385816" y="5715000"/>
            <a:ext cx="685800" cy="411480"/>
          </a:xfrm>
          <a:prstGeom prst="roundRect">
            <a:avLst>
              <a:gd name="adj" fmla="val 30000"/>
            </a:avLst>
          </a:prstGeom>
          <a:solidFill>
            <a:srgbClr val="F2F2F2"/>
          </a:solidFill>
          <a:ln>
            <a:noFill/>
          </a:ln>
        </p:spPr>
        <p:txBody>
          <a:bodyPr rtlCol="0" anchor="ctr" wrap="square" lIns="36576" rIns="36576" tIns="27432" bIns="27432">
            <a:noAutofit/>
          </a:bodyPr>
          <a:lstStyle/>
          <a:p>
            <a:pPr algn="ctr">
              <a:spcAft>
                <a:spcPts val="0"/>
              </a:spcAft>
            </a:pPr>
            <a:r>
              <a:rPr sz="1150" b="1" i="0">
                <a:solidFill>
                  <a:srgbClr val="1A1A1A"/>
                </a:solidFill>
                <a:latin typeface="Arial"/>
                <a:ea typeface="맑은 고딕"/>
              </a:rPr>
              <a:t>seed</a:t>
            </a:r>
          </a:p>
        </p:txBody>
      </p:sp>
      <p:sp>
        <p:nvSpPr>
          <p:cNvPr id="73" name="Rounded Rectangle 72"/>
          <p:cNvSpPr/>
          <p:nvPr/>
        </p:nvSpPr>
        <p:spPr>
          <a:xfrm>
            <a:off x="6163055" y="5715000"/>
            <a:ext cx="585216" cy="411480"/>
          </a:xfrm>
          <a:prstGeom prst="roundRect">
            <a:avLst>
              <a:gd name="adj" fmla="val 30000"/>
            </a:avLst>
          </a:prstGeom>
          <a:solidFill>
            <a:srgbClr val="F2F2F2"/>
          </a:solidFill>
          <a:ln>
            <a:noFill/>
          </a:ln>
        </p:spPr>
        <p:txBody>
          <a:bodyPr rtlCol="0" anchor="ctr" wrap="square" lIns="36576" rIns="36576" tIns="27432" bIns="27432">
            <a:noAutofit/>
          </a:bodyPr>
          <a:lstStyle/>
          <a:p>
            <a:pPr algn="ctr">
              <a:spcAft>
                <a:spcPts val="0"/>
              </a:spcAft>
            </a:pPr>
            <a:r>
              <a:rPr sz="1150" b="1" i="0">
                <a:solidFill>
                  <a:srgbClr val="1A1A1A"/>
                </a:solidFill>
                <a:latin typeface="Arial"/>
                <a:ea typeface="맑은 고딕"/>
              </a:rPr>
              <a:t>평균</a:t>
            </a:r>
          </a:p>
        </p:txBody>
      </p:sp>
      <p:sp>
        <p:nvSpPr>
          <p:cNvPr id="74" name="Rounded Rectangle 73"/>
          <p:cNvSpPr/>
          <p:nvPr/>
        </p:nvSpPr>
        <p:spPr>
          <a:xfrm>
            <a:off x="6839712" y="5715000"/>
            <a:ext cx="685800" cy="411480"/>
          </a:xfrm>
          <a:prstGeom prst="roundRect">
            <a:avLst>
              <a:gd name="adj" fmla="val 30000"/>
            </a:avLst>
          </a:prstGeom>
          <a:solidFill>
            <a:srgbClr val="F2F2F2"/>
          </a:solidFill>
          <a:ln>
            <a:noFill/>
          </a:ln>
        </p:spPr>
        <p:txBody>
          <a:bodyPr rtlCol="0" anchor="ctr" wrap="square" lIns="36576" rIns="36576" tIns="27432" bIns="27432">
            <a:noAutofit/>
          </a:bodyPr>
          <a:lstStyle/>
          <a:p>
            <a:pPr algn="ctr">
              <a:spcAft>
                <a:spcPts val="0"/>
              </a:spcAft>
            </a:pPr>
            <a:r>
              <a:rPr sz="1150" b="1" i="0">
                <a:solidFill>
                  <a:srgbClr val="1A1A1A"/>
                </a:solidFill>
                <a:latin typeface="Arial"/>
                <a:ea typeface="맑은 고딕"/>
              </a:rPr>
              <a:t>95% CI</a:t>
            </a:r>
          </a:p>
        </p:txBody>
      </p:sp>
      <p:sp>
        <p:nvSpPr>
          <p:cNvPr id="75" name="Rounded Rectangle 74"/>
          <p:cNvSpPr/>
          <p:nvPr/>
        </p:nvSpPr>
        <p:spPr>
          <a:xfrm>
            <a:off x="7616952" y="5715000"/>
            <a:ext cx="1051560" cy="411480"/>
          </a:xfrm>
          <a:prstGeom prst="roundRect">
            <a:avLst>
              <a:gd name="adj" fmla="val 30000"/>
            </a:avLst>
          </a:prstGeom>
          <a:solidFill>
            <a:srgbClr val="F2F2F2"/>
          </a:solidFill>
          <a:ln>
            <a:noFill/>
          </a:ln>
        </p:spPr>
        <p:txBody>
          <a:bodyPr rtlCol="0" anchor="ctr" wrap="square" lIns="36576" rIns="36576" tIns="27432" bIns="27432">
            <a:noAutofit/>
          </a:bodyPr>
          <a:lstStyle/>
          <a:p>
            <a:pPr algn="ctr">
              <a:spcAft>
                <a:spcPts val="0"/>
              </a:spcAft>
            </a:pPr>
            <a:r>
              <a:rPr sz="1150" b="1" i="0">
                <a:solidFill>
                  <a:srgbClr val="1A1A1A"/>
                </a:solidFill>
                <a:latin typeface="Arial"/>
                <a:ea typeface="맑은 고딕"/>
              </a:rPr>
              <a:t>상태 라벨</a:t>
            </a:r>
          </a:p>
        </p:txBody>
      </p:sp>
      <p:sp>
        <p:nvSpPr>
          <p:cNvPr id="76" name="Rounded Rectangle 75"/>
          <p:cNvSpPr/>
          <p:nvPr/>
        </p:nvSpPr>
        <p:spPr>
          <a:xfrm>
            <a:off x="8759952" y="5715000"/>
            <a:ext cx="1517904" cy="411480"/>
          </a:xfrm>
          <a:prstGeom prst="roundRect">
            <a:avLst>
              <a:gd name="adj" fmla="val 30000"/>
            </a:avLst>
          </a:prstGeom>
          <a:solidFill>
            <a:srgbClr val="F2F2F2"/>
          </a:solidFill>
          <a:ln>
            <a:noFill/>
          </a:ln>
        </p:spPr>
        <p:txBody>
          <a:bodyPr rtlCol="0" anchor="ctr" wrap="square" lIns="36576" rIns="36576" tIns="27432" bIns="27432">
            <a:noAutofit/>
          </a:bodyPr>
          <a:lstStyle/>
          <a:p>
            <a:pPr algn="ctr">
              <a:spcAft>
                <a:spcPts val="0"/>
              </a:spcAft>
            </a:pPr>
            <a:r>
              <a:rPr sz="1150" b="1" i="0">
                <a:solidFill>
                  <a:srgbClr val="1A1A1A"/>
                </a:solidFill>
                <a:latin typeface="Arial"/>
                <a:ea typeface="맑은 고딕"/>
              </a:rPr>
              <a:t>오류 사례 링크</a:t>
            </a:r>
          </a:p>
        </p:txBody>
      </p:sp>
    </p:spTree>
    <p:extLst>
      <p:ext uri="{BB962C8B-B14F-4D97-AF65-F5344CB8AC3E}">
        <p14:creationId xmlns:p14="http://schemas.microsoft.com/office/powerpoint/2010/main" val="3605434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4"/>
          <p:cNvSpPr txBox="1"/>
          <p:nvPr/>
        </p:nvSpPr>
        <p:spPr>
          <a:xfrm>
            <a:off x="17463" y="-27384"/>
            <a:ext cx="1160462" cy="11079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6600" b="1" dirty="0">
                <a:solidFill>
                  <a:srgbClr val="FFBD11"/>
                </a:solidFill>
                <a:latin typeface="+mj-lt"/>
                <a:ea typeface="Arial"/>
                <a:cs typeface="Arial"/>
                <a:sym typeface="Arial"/>
              </a:rPr>
              <a:t>0</a:t>
            </a:r>
            <a:r>
              <a:rPr lang="en-US" altLang="ko-KR" sz="6600" b="1" dirty="0">
                <a:solidFill>
                  <a:srgbClr val="FFBD11"/>
                </a:solidFill>
                <a:latin typeface="+mj-lt"/>
                <a:ea typeface="Arial"/>
                <a:cs typeface="Arial"/>
                <a:sym typeface="Arial"/>
              </a:rPr>
              <a:t>6</a:t>
            </a:r>
            <a:r>
              <a:rPr lang="ko-KR" sz="4000" b="1" dirty="0">
                <a:solidFill>
                  <a:srgbClr val="445569"/>
                </a:solidFill>
                <a:latin typeface="+mj-lt"/>
                <a:ea typeface="Arial"/>
                <a:cs typeface="Arial"/>
                <a:sym typeface="Arial"/>
              </a:rPr>
              <a:t> </a:t>
            </a:r>
            <a:endParaRPr sz="4000" b="1" dirty="0">
              <a:solidFill>
                <a:srgbClr val="445569"/>
              </a:solidFill>
              <a:latin typeface="+mj-lt"/>
              <a:ea typeface="Arial"/>
              <a:cs typeface="Arial"/>
              <a:sym typeface="Arial"/>
            </a:endParaRPr>
          </a:p>
        </p:txBody>
      </p:sp>
      <p:sp>
        <p:nvSpPr>
          <p:cNvPr id="45" name="Google Shape;45;p4"/>
          <p:cNvSpPr txBox="1"/>
          <p:nvPr/>
        </p:nvSpPr>
        <p:spPr>
          <a:xfrm>
            <a:off x="984110" y="126483"/>
            <a:ext cx="6400800" cy="40006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chemeClr val="tx1"/>
                </a:solidFill>
                <a:latin typeface="+mj-lt"/>
                <a:ea typeface="맑은 고딕"/>
                <a:cs typeface="Calibri"/>
                <a:sym typeface="Calibri"/>
              </a:rPr>
              <a:t>느낀 점 &amp; 추후 계획</a:t>
            </a:r>
            <a:endParaRPr dirty="0">
              <a:solidFill>
                <a:schemeClr val="tx1"/>
              </a:solidFill>
              <a:latin typeface="+mj-lt"/>
            </a:endParaRPr>
          </a:p>
        </p:txBody>
      </p:sp>
      <p:cxnSp>
        <p:nvCxnSpPr>
          <p:cNvPr id="46" name="Google Shape;46;p4"/>
          <p:cNvCxnSpPr>
            <a:cxnSpLocks/>
          </p:cNvCxnSpPr>
          <p:nvPr/>
        </p:nvCxnSpPr>
        <p:spPr>
          <a:xfrm flipV="1">
            <a:off x="1107936" y="526593"/>
            <a:ext cx="10827390" cy="13164"/>
          </a:xfrm>
          <a:prstGeom prst="straightConnector1">
            <a:avLst/>
          </a:prstGeom>
          <a:noFill/>
          <a:ln w="31750" cap="flat" cmpd="sng">
            <a:solidFill>
              <a:srgbClr val="FFBD11"/>
            </a:solidFill>
            <a:prstDash val="solid"/>
            <a:miter lim="800000"/>
            <a:headEnd type="none" w="sm" len="sm"/>
            <a:tailEnd type="none" w="sm" len="sm"/>
          </a:ln>
        </p:spPr>
      </p:cxnSp>
      <p:sp>
        <p:nvSpPr>
          <p:cNvPr id="9" name="Google Shape;124;p8">
            <a:extLst>
              <a:ext uri="{FF2B5EF4-FFF2-40B4-BE49-F238E27FC236}">
                <a16:creationId xmlns:a16="http://schemas.microsoft.com/office/drawing/2014/main" id="{043106DF-ECD6-42C2-8B7A-2D53A210501B}"/>
              </a:ext>
            </a:extLst>
          </p:cNvPr>
          <p:cNvSpPr txBox="1"/>
          <p:nvPr/>
        </p:nvSpPr>
        <p:spPr>
          <a:xfrm>
            <a:off x="1075852" y="615955"/>
            <a:ext cx="1088136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ko-KR" sz="2000" b="1" dirty="0">
                <a:solidFill>
                  <a:srgbClr val="1A1A1A"/>
                </a:solidFill>
                <a:latin typeface="+mj-lt"/>
                <a:ea typeface="맑은 고딕"/>
                <a:cs typeface="Calibri"/>
                <a:sym typeface="Calibri"/>
              </a:rPr>
              <a:t>좋은 큐레이션은 더 많이 기억하는 것이 아니라, 맞게 기억하는 것이다</a:t>
            </a:r>
            <a:endParaRPr dirty="0">
              <a:solidFill>
                <a:schemeClr val="tx1"/>
              </a:solidFill>
              <a:latin typeface="+mj-lt"/>
            </a:endParaRPr>
          </a:p>
        </p:txBody>
      </p:sp>
      <p:sp>
        <p:nvSpPr>
          <p:cNvPr id="47" name="Rounded Rectangle 46"/>
          <p:cNvSpPr/>
          <p:nvPr/>
        </p:nvSpPr>
        <p:spPr>
          <a:xfrm>
            <a:off x="548640" y="1280160"/>
            <a:ext cx="5669280" cy="960120"/>
          </a:xfrm>
          <a:prstGeom prst="roundRect">
            <a:avLst>
              <a:gd name="adj" fmla="val 8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48" name="Rounded Rectangle 47"/>
          <p:cNvSpPr/>
          <p:nvPr/>
        </p:nvSpPr>
        <p:spPr>
          <a:xfrm>
            <a:off x="685800" y="1463039"/>
            <a:ext cx="1188720" cy="594360"/>
          </a:xfrm>
          <a:prstGeom prst="roundRect">
            <a:avLst>
              <a:gd name="adj" fmla="val 20000"/>
            </a:avLst>
          </a:prstGeom>
          <a:solidFill>
            <a:srgbClr val="445569"/>
          </a:solidFill>
          <a:ln>
            <a:noFill/>
          </a:ln>
        </p:spPr>
        <p:txBody>
          <a:bodyPr rtlCol="0" anchor="ctr" wrap="square" lIns="0" rIns="0" tIns="27432" bIns="27432">
            <a:noAutofit/>
          </a:bodyPr>
          <a:lstStyle/>
          <a:p>
            <a:pPr algn="ctr">
              <a:spcAft>
                <a:spcPts val="0"/>
              </a:spcAft>
            </a:pPr>
            <a:r>
              <a:rPr sz="1400" b="1" i="0">
                <a:solidFill>
                  <a:srgbClr val="FFFFFF"/>
                </a:solidFill>
                <a:latin typeface="Arial"/>
                <a:ea typeface="맑은 고딕"/>
              </a:rPr>
              <a:t>Keep</a:t>
            </a:r>
          </a:p>
        </p:txBody>
      </p:sp>
      <p:sp>
        <p:nvSpPr>
          <p:cNvPr id="49" name="TextBox 48"/>
          <p:cNvSpPr txBox="1"/>
          <p:nvPr/>
        </p:nvSpPr>
        <p:spPr>
          <a:xfrm>
            <a:off x="2057400" y="1353312"/>
            <a:ext cx="4069080" cy="822960"/>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배운 점 1</a:t>
            </a:r>
          </a:p>
          <a:p>
            <a:pPr algn="l">
              <a:spcAft>
                <a:spcPts val="0"/>
              </a:spcAft>
            </a:pPr>
            <a:r>
              <a:rPr sz="1400" b="1" i="0">
                <a:solidFill>
                  <a:srgbClr val="1A1A1A"/>
                </a:solidFill>
                <a:latin typeface="Arial"/>
                <a:ea typeface="맑은 고딕"/>
              </a:rPr>
              <a:t>기능 수보다 귀속 가능한 실험 설계가 먼저다</a:t>
            </a:r>
          </a:p>
        </p:txBody>
      </p:sp>
      <p:sp>
        <p:nvSpPr>
          <p:cNvPr id="50" name="Rounded Rectangle 49"/>
          <p:cNvSpPr/>
          <p:nvPr/>
        </p:nvSpPr>
        <p:spPr>
          <a:xfrm>
            <a:off x="548640" y="2395728"/>
            <a:ext cx="5669280" cy="960120"/>
          </a:xfrm>
          <a:prstGeom prst="roundRect">
            <a:avLst>
              <a:gd name="adj" fmla="val 8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1" name="Rounded Rectangle 50"/>
          <p:cNvSpPr/>
          <p:nvPr/>
        </p:nvSpPr>
        <p:spPr>
          <a:xfrm>
            <a:off x="685800" y="2578608"/>
            <a:ext cx="1188720" cy="594360"/>
          </a:xfrm>
          <a:prstGeom prst="roundRect">
            <a:avLst>
              <a:gd name="adj" fmla="val 20000"/>
            </a:avLst>
          </a:prstGeom>
          <a:solidFill>
            <a:srgbClr val="C8372D"/>
          </a:solidFill>
          <a:ln>
            <a:noFill/>
          </a:ln>
        </p:spPr>
        <p:txBody>
          <a:bodyPr rtlCol="0" anchor="ctr" wrap="square" lIns="0" rIns="0" tIns="27432" bIns="27432">
            <a:noAutofit/>
          </a:bodyPr>
          <a:lstStyle/>
          <a:p>
            <a:pPr algn="ctr">
              <a:spcAft>
                <a:spcPts val="0"/>
              </a:spcAft>
            </a:pPr>
            <a:r>
              <a:rPr sz="1400" b="1" i="0">
                <a:solidFill>
                  <a:srgbClr val="FFFFFF"/>
                </a:solidFill>
                <a:latin typeface="Arial"/>
                <a:ea typeface="맑은 고딕"/>
              </a:rPr>
              <a:t>Problem</a:t>
            </a:r>
          </a:p>
        </p:txBody>
      </p:sp>
      <p:sp>
        <p:nvSpPr>
          <p:cNvPr id="52" name="TextBox 51"/>
          <p:cNvSpPr txBox="1"/>
          <p:nvPr/>
        </p:nvSpPr>
        <p:spPr>
          <a:xfrm>
            <a:off x="2057400" y="2468880"/>
            <a:ext cx="4069080" cy="822960"/>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배운 점 2</a:t>
            </a:r>
          </a:p>
          <a:p>
            <a:pPr algn="l">
              <a:spcAft>
                <a:spcPts val="0"/>
              </a:spcAft>
            </a:pPr>
            <a:r>
              <a:rPr sz="1400" b="1" i="0">
                <a:solidFill>
                  <a:srgbClr val="1A1A1A"/>
                </a:solidFill>
                <a:latin typeface="Arial"/>
                <a:ea typeface="맑은 고딕"/>
              </a:rPr>
              <a:t>관람객의 말은 취향이 아니라 맥락까지 포함한다</a:t>
            </a:r>
          </a:p>
        </p:txBody>
      </p:sp>
      <p:sp>
        <p:nvSpPr>
          <p:cNvPr id="53" name="Rounded Rectangle 52"/>
          <p:cNvSpPr/>
          <p:nvPr/>
        </p:nvSpPr>
        <p:spPr>
          <a:xfrm>
            <a:off x="548640" y="3511296"/>
            <a:ext cx="5669280" cy="960120"/>
          </a:xfrm>
          <a:prstGeom prst="roundRect">
            <a:avLst>
              <a:gd name="adj" fmla="val 8000"/>
            </a:avLst>
          </a:prstGeom>
          <a:solidFill>
            <a:srgbClr val="F2F2F2"/>
          </a:solidFill>
          <a:ln>
            <a:noFill/>
          </a:ln>
        </p:spPr>
        <p:txBody>
          <a:bodyPr rtlCol="0" anchor="t" wrap="square" lIns="54864" rIns="54864" tIns="27432" bIns="27432">
            <a:noAutofit/>
          </a:bodyPr>
          <a:lstStyle/>
          <a:p>
            <a:pPr algn="l">
              <a:spcAft>
                <a:spcPts val="0"/>
              </a:spcAft>
            </a:pPr>
            <a:r>
              <a:rPr sz="800" b="0" i="0">
                <a:solidFill>
                  <a:srgbClr val="1A1A1A"/>
                </a:solidFill>
                <a:latin typeface="Arial"/>
                <a:ea typeface="맑은 고딕"/>
              </a:rPr>
              <a:t/>
            </a:r>
          </a:p>
        </p:txBody>
      </p:sp>
      <p:sp>
        <p:nvSpPr>
          <p:cNvPr id="54" name="Rounded Rectangle 53"/>
          <p:cNvSpPr/>
          <p:nvPr/>
        </p:nvSpPr>
        <p:spPr>
          <a:xfrm>
            <a:off x="685800" y="3694176"/>
            <a:ext cx="1188720" cy="594360"/>
          </a:xfrm>
          <a:prstGeom prst="roundRect">
            <a:avLst>
              <a:gd name="adj" fmla="val 20000"/>
            </a:avLst>
          </a:prstGeom>
          <a:solidFill>
            <a:srgbClr val="FFBD11"/>
          </a:solidFill>
          <a:ln>
            <a:noFill/>
          </a:ln>
        </p:spPr>
        <p:txBody>
          <a:bodyPr rtlCol="0" anchor="ctr" wrap="square" lIns="0" rIns="0" tIns="27432" bIns="27432">
            <a:noAutofit/>
          </a:bodyPr>
          <a:lstStyle/>
          <a:p>
            <a:pPr algn="ctr">
              <a:spcAft>
                <a:spcPts val="0"/>
              </a:spcAft>
            </a:pPr>
            <a:r>
              <a:rPr sz="1400" b="1" i="0">
                <a:solidFill>
                  <a:srgbClr val="1A1A1A"/>
                </a:solidFill>
                <a:latin typeface="Arial"/>
                <a:ea typeface="맑은 고딕"/>
              </a:rPr>
              <a:t>Try</a:t>
            </a:r>
          </a:p>
        </p:txBody>
      </p:sp>
      <p:sp>
        <p:nvSpPr>
          <p:cNvPr id="55" name="TextBox 54"/>
          <p:cNvSpPr txBox="1"/>
          <p:nvPr/>
        </p:nvSpPr>
        <p:spPr>
          <a:xfrm>
            <a:off x="2057400" y="3584448"/>
            <a:ext cx="4069080" cy="822960"/>
          </a:xfrm>
          <a:prstGeom prst="rect">
            <a:avLst/>
          </a:prstGeom>
          <a:noFill/>
        </p:spPr>
        <p:txBody>
          <a:bodyPr wrap="square" lIns="0" rIns="0" tIns="27432" bIns="27432" anchor="ctr">
            <a:noAutofit/>
          </a:bodyPr>
          <a:lstStyle/>
          <a:p>
            <a:pPr algn="l">
              <a:spcAft>
                <a:spcPts val="0"/>
              </a:spcAft>
            </a:pPr>
            <a:r>
              <a:rPr sz="1050" b="1" i="0">
                <a:solidFill>
                  <a:srgbClr val="445569"/>
                </a:solidFill>
                <a:latin typeface="Arial"/>
                <a:ea typeface="맑은 고딕"/>
              </a:rPr>
              <a:t>배운 점 3</a:t>
            </a:r>
          </a:p>
          <a:p>
            <a:pPr algn="l">
              <a:spcAft>
                <a:spcPts val="0"/>
              </a:spcAft>
            </a:pPr>
            <a:r>
              <a:rPr sz="1400" b="1" i="0">
                <a:solidFill>
                  <a:srgbClr val="1A1A1A"/>
                </a:solidFill>
                <a:latin typeface="Arial"/>
                <a:ea typeface="맑은 고딕"/>
              </a:rPr>
              <a:t>추천 설명과 방문 정보는 서로 다른 근거층이 필요하다</a:t>
            </a:r>
          </a:p>
        </p:txBody>
      </p:sp>
      <p:sp>
        <p:nvSpPr>
          <p:cNvPr id="56" name="TextBox 55"/>
          <p:cNvSpPr txBox="1"/>
          <p:nvPr/>
        </p:nvSpPr>
        <p:spPr>
          <a:xfrm>
            <a:off x="6583680" y="1234440"/>
            <a:ext cx="5029200" cy="320040"/>
          </a:xfrm>
          <a:prstGeom prst="rect">
            <a:avLst/>
          </a:prstGeom>
          <a:noFill/>
        </p:spPr>
        <p:txBody>
          <a:bodyPr wrap="square" lIns="0" rIns="0" tIns="27432" bIns="27432" anchor="t">
            <a:noAutofit/>
          </a:bodyPr>
          <a:lstStyle/>
          <a:p>
            <a:pPr algn="l">
              <a:spcAft>
                <a:spcPts val="0"/>
              </a:spcAft>
            </a:pPr>
            <a:r>
              <a:rPr sz="1350" b="1" i="0">
                <a:solidFill>
                  <a:srgbClr val="445569"/>
                </a:solidFill>
                <a:latin typeface="Arial"/>
                <a:ea typeface="맑은 고딕"/>
              </a:rPr>
              <a:t>Next-step ladder</a:t>
            </a:r>
          </a:p>
        </p:txBody>
      </p:sp>
      <p:sp>
        <p:nvSpPr>
          <p:cNvPr id="57" name="Rounded Rectangle 56"/>
          <p:cNvSpPr/>
          <p:nvPr/>
        </p:nvSpPr>
        <p:spPr>
          <a:xfrm>
            <a:off x="6583680" y="4160520"/>
            <a:ext cx="2770632" cy="429768"/>
          </a:xfrm>
          <a:prstGeom prst="roundRect">
            <a:avLst>
              <a:gd name="adj" fmla="val 20000"/>
            </a:avLst>
          </a:prstGeom>
          <a:solidFill>
            <a:srgbClr val="EDEDED"/>
          </a:solidFill>
          <a:ln>
            <a:noFill/>
          </a:ln>
        </p:spPr>
        <p:txBody>
          <a:bodyPr rtlCol="0" anchor="ctr" wrap="square" lIns="128016" rIns="128016" tIns="27432" bIns="27432">
            <a:noAutofit/>
          </a:bodyPr>
          <a:lstStyle/>
          <a:p>
            <a:pPr algn="l">
              <a:spcAft>
                <a:spcPts val="0"/>
              </a:spcAft>
            </a:pPr>
            <a:r>
              <a:rPr sz="1200" b="1" i="0">
                <a:solidFill>
                  <a:srgbClr val="445569"/>
                </a:solidFill>
                <a:latin typeface="Arial"/>
                <a:ea typeface="맑은 고딕"/>
              </a:rPr>
              <a:t>1  </a:t>
            </a:r>
            <a:r>
              <a:rPr sz="1250" b="1" i="0">
                <a:solidFill>
                  <a:srgbClr val="1A1A1A"/>
                </a:solidFill>
                <a:latin typeface="Arial"/>
                <a:ea typeface="맑은 고딕"/>
              </a:rPr>
              <a:t>yKa dataset definition</a:t>
            </a:r>
          </a:p>
        </p:txBody>
      </p:sp>
      <p:sp>
        <p:nvSpPr>
          <p:cNvPr id="58" name="Rounded Rectangle 57"/>
          <p:cNvSpPr/>
          <p:nvPr/>
        </p:nvSpPr>
        <p:spPr>
          <a:xfrm>
            <a:off x="7040880" y="3639312"/>
            <a:ext cx="2770632" cy="429768"/>
          </a:xfrm>
          <a:prstGeom prst="roundRect">
            <a:avLst>
              <a:gd name="adj" fmla="val 20000"/>
            </a:avLst>
          </a:prstGeom>
          <a:solidFill>
            <a:srgbClr val="E4E4E4"/>
          </a:solidFill>
          <a:ln>
            <a:noFill/>
          </a:ln>
        </p:spPr>
        <p:txBody>
          <a:bodyPr rtlCol="0" anchor="ctr" wrap="square" lIns="128016" rIns="128016" tIns="27432" bIns="27432">
            <a:noAutofit/>
          </a:bodyPr>
          <a:lstStyle/>
          <a:p>
            <a:pPr algn="l">
              <a:spcAft>
                <a:spcPts val="0"/>
              </a:spcAft>
            </a:pPr>
            <a:r>
              <a:rPr sz="1200" b="1" i="0">
                <a:solidFill>
                  <a:srgbClr val="445569"/>
                </a:solidFill>
                <a:latin typeface="Arial"/>
                <a:ea typeface="맑은 고딕"/>
              </a:rPr>
              <a:t>2  </a:t>
            </a:r>
            <a:r>
              <a:rPr sz="1250" b="1" i="0">
                <a:solidFill>
                  <a:srgbClr val="1A1A1A"/>
                </a:solidFill>
                <a:latin typeface="Arial"/>
                <a:ea typeface="맑은 고딕"/>
              </a:rPr>
              <a:t>Golden Set</a:t>
            </a:r>
          </a:p>
        </p:txBody>
      </p:sp>
      <p:sp>
        <p:nvSpPr>
          <p:cNvPr id="59" name="Rounded Rectangle 58"/>
          <p:cNvSpPr/>
          <p:nvPr/>
        </p:nvSpPr>
        <p:spPr>
          <a:xfrm>
            <a:off x="7498079" y="3118104"/>
            <a:ext cx="2770632" cy="429768"/>
          </a:xfrm>
          <a:prstGeom prst="roundRect">
            <a:avLst>
              <a:gd name="adj" fmla="val 20000"/>
            </a:avLst>
          </a:prstGeom>
          <a:solidFill>
            <a:srgbClr val="F9E8B5"/>
          </a:solidFill>
          <a:ln>
            <a:noFill/>
          </a:ln>
        </p:spPr>
        <p:txBody>
          <a:bodyPr rtlCol="0" anchor="ctr" wrap="square" lIns="128016" rIns="128016" tIns="27432" bIns="27432">
            <a:noAutofit/>
          </a:bodyPr>
          <a:lstStyle/>
          <a:p>
            <a:pPr algn="l">
              <a:spcAft>
                <a:spcPts val="0"/>
              </a:spcAft>
            </a:pPr>
            <a:r>
              <a:rPr sz="1200" b="1" i="0">
                <a:solidFill>
                  <a:srgbClr val="445569"/>
                </a:solidFill>
                <a:latin typeface="Arial"/>
                <a:ea typeface="맑은 고딕"/>
              </a:rPr>
              <a:t>3  </a:t>
            </a:r>
            <a:r>
              <a:rPr sz="1250" b="1" i="0">
                <a:solidFill>
                  <a:srgbClr val="1A1A1A"/>
                </a:solidFill>
                <a:latin typeface="Arial"/>
                <a:ea typeface="맑은 고딕"/>
              </a:rPr>
              <a:t>baseline 실측</a:t>
            </a:r>
          </a:p>
        </p:txBody>
      </p:sp>
      <p:sp>
        <p:nvSpPr>
          <p:cNvPr id="60" name="Rounded Rectangle 59"/>
          <p:cNvSpPr/>
          <p:nvPr/>
        </p:nvSpPr>
        <p:spPr>
          <a:xfrm>
            <a:off x="7955279" y="2596896"/>
            <a:ext cx="2770632" cy="429768"/>
          </a:xfrm>
          <a:prstGeom prst="roundRect">
            <a:avLst>
              <a:gd name="adj" fmla="val 20000"/>
            </a:avLst>
          </a:prstGeom>
          <a:solidFill>
            <a:srgbClr val="FBDF8A"/>
          </a:solidFill>
          <a:ln>
            <a:noFill/>
          </a:ln>
        </p:spPr>
        <p:txBody>
          <a:bodyPr rtlCol="0" anchor="ctr" wrap="square" lIns="128016" rIns="128016" tIns="27432" bIns="27432">
            <a:noAutofit/>
          </a:bodyPr>
          <a:lstStyle/>
          <a:p>
            <a:pPr algn="l">
              <a:spcAft>
                <a:spcPts val="0"/>
              </a:spcAft>
            </a:pPr>
            <a:r>
              <a:rPr sz="1200" b="1" i="0">
                <a:solidFill>
                  <a:srgbClr val="445569"/>
                </a:solidFill>
                <a:latin typeface="Arial"/>
                <a:ea typeface="맑은 고딕"/>
              </a:rPr>
              <a:t>4  </a:t>
            </a:r>
            <a:r>
              <a:rPr sz="1250" b="1" i="0">
                <a:solidFill>
                  <a:srgbClr val="1A1A1A"/>
                </a:solidFill>
                <a:latin typeface="Arial"/>
                <a:ea typeface="맑은 고딕"/>
              </a:rPr>
              <a:t>memory ablation</a:t>
            </a:r>
          </a:p>
        </p:txBody>
      </p:sp>
      <p:sp>
        <p:nvSpPr>
          <p:cNvPr id="61" name="Rounded Rectangle 60"/>
          <p:cNvSpPr/>
          <p:nvPr/>
        </p:nvSpPr>
        <p:spPr>
          <a:xfrm>
            <a:off x="8412480" y="2075688"/>
            <a:ext cx="2770632" cy="429768"/>
          </a:xfrm>
          <a:prstGeom prst="roundRect">
            <a:avLst>
              <a:gd name="adj" fmla="val 20000"/>
            </a:avLst>
          </a:prstGeom>
          <a:solidFill>
            <a:srgbClr val="FDD35E"/>
          </a:solidFill>
          <a:ln>
            <a:noFill/>
          </a:ln>
        </p:spPr>
        <p:txBody>
          <a:bodyPr rtlCol="0" anchor="ctr" wrap="square" lIns="128016" rIns="128016" tIns="27432" bIns="27432">
            <a:noAutofit/>
          </a:bodyPr>
          <a:lstStyle/>
          <a:p>
            <a:pPr algn="l">
              <a:spcAft>
                <a:spcPts val="0"/>
              </a:spcAft>
            </a:pPr>
            <a:r>
              <a:rPr sz="1200" b="1" i="0">
                <a:solidFill>
                  <a:srgbClr val="445569"/>
                </a:solidFill>
                <a:latin typeface="Arial"/>
                <a:ea typeface="맑은 고딕"/>
              </a:rPr>
              <a:t>5  </a:t>
            </a:r>
            <a:r>
              <a:rPr sz="1250" b="1" i="0">
                <a:solidFill>
                  <a:srgbClr val="1A1A1A"/>
                </a:solidFill>
                <a:latin typeface="Arial"/>
                <a:ea typeface="맑은 고딕"/>
              </a:rPr>
              <a:t>grounding audit</a:t>
            </a:r>
          </a:p>
        </p:txBody>
      </p:sp>
      <p:sp>
        <p:nvSpPr>
          <p:cNvPr id="62" name="Rounded Rectangle 61"/>
          <p:cNvSpPr/>
          <p:nvPr/>
        </p:nvSpPr>
        <p:spPr>
          <a:xfrm>
            <a:off x="8869680" y="1554480"/>
            <a:ext cx="2770632" cy="429768"/>
          </a:xfrm>
          <a:prstGeom prst="roundRect">
            <a:avLst>
              <a:gd name="adj" fmla="val 20000"/>
            </a:avLst>
          </a:prstGeom>
          <a:solidFill>
            <a:srgbClr val="FFBD11"/>
          </a:solidFill>
          <a:ln>
            <a:noFill/>
          </a:ln>
        </p:spPr>
        <p:txBody>
          <a:bodyPr rtlCol="0" anchor="ctr" wrap="square" lIns="128016" rIns="128016" tIns="27432" bIns="27432">
            <a:noAutofit/>
          </a:bodyPr>
          <a:lstStyle/>
          <a:p>
            <a:pPr algn="l">
              <a:spcAft>
                <a:spcPts val="0"/>
              </a:spcAft>
            </a:pPr>
            <a:r>
              <a:rPr sz="1200" b="1" i="0">
                <a:solidFill>
                  <a:srgbClr val="445569"/>
                </a:solidFill>
                <a:latin typeface="Arial"/>
                <a:ea typeface="맑은 고딕"/>
              </a:rPr>
              <a:t>6  </a:t>
            </a:r>
            <a:r>
              <a:rPr sz="1250" b="1" i="0">
                <a:solidFill>
                  <a:srgbClr val="1A1A1A"/>
                </a:solidFill>
                <a:latin typeface="Arial"/>
                <a:ea typeface="맑은 고딕"/>
              </a:rPr>
              <a:t>공개 가능한 Demo</a:t>
            </a:r>
          </a:p>
        </p:txBody>
      </p:sp>
      <p:sp>
        <p:nvSpPr>
          <p:cNvPr id="63" name="Rounded Rectangle 62"/>
          <p:cNvSpPr/>
          <p:nvPr/>
        </p:nvSpPr>
        <p:spPr>
          <a:xfrm>
            <a:off x="548640" y="4846320"/>
            <a:ext cx="11091672" cy="914400"/>
          </a:xfrm>
          <a:prstGeom prst="roundRect">
            <a:avLst>
              <a:gd name="adj" fmla="val 10000"/>
            </a:avLst>
          </a:prstGeom>
          <a:solidFill>
            <a:srgbClr val="445569"/>
          </a:solidFill>
          <a:ln>
            <a:noFill/>
          </a:ln>
        </p:spPr>
        <p:txBody>
          <a:bodyPr rtlCol="0" anchor="ctr" wrap="square" lIns="182880" rIns="182880" tIns="27432" bIns="27432">
            <a:noAutofit/>
          </a:bodyPr>
          <a:lstStyle/>
          <a:p>
            <a:pPr algn="ctr">
              <a:spcAft>
                <a:spcPts val="0"/>
              </a:spcAft>
            </a:pPr>
            <a:r>
              <a:rPr sz="2000" b="1" i="0">
                <a:solidFill>
                  <a:srgbClr val="FFFFFF"/>
                </a:solidFill>
                <a:latin typeface="Arial"/>
                <a:ea typeface="맑은 고딕"/>
              </a:rPr>
              <a:t>감각을 존중하고, 맥락을 분리하고, 근거가 없으면 모른다고 말하는 AI 큐레이터</a:t>
            </a:r>
          </a:p>
        </p:txBody>
      </p:sp>
      <p:sp>
        <p:nvSpPr>
          <p:cNvPr id="64" name="TextBox 63"/>
          <p:cNvSpPr txBox="1"/>
          <p:nvPr/>
        </p:nvSpPr>
        <p:spPr>
          <a:xfrm>
            <a:off x="548640" y="5870448"/>
            <a:ext cx="11064240" cy="320040"/>
          </a:xfrm>
          <a:prstGeom prst="rect">
            <a:avLst/>
          </a:prstGeom>
          <a:noFill/>
        </p:spPr>
        <p:txBody>
          <a:bodyPr wrap="square" lIns="0" rIns="0" tIns="27432" bIns="27432" anchor="t">
            <a:noAutofit/>
          </a:bodyPr>
          <a:lstStyle/>
          <a:p>
            <a:pPr algn="l">
              <a:spcAft>
                <a:spcPts val="0"/>
              </a:spcAft>
            </a:pPr>
            <a:r>
              <a:rPr sz="1100" b="1" i="0">
                <a:solidFill>
                  <a:srgbClr val="445569"/>
                </a:solidFill>
                <a:latin typeface="Arial"/>
                <a:ea typeface="맑은 고딕"/>
              </a:rPr>
              <a:t>GitHub · Demo · QR   </a:t>
            </a:r>
            <a:r>
              <a:rPr sz="1100" b="0" i="0">
                <a:solidFill>
                  <a:srgbClr val="6B6B6B"/>
                </a:solidFill>
                <a:latin typeface="Arial"/>
                <a:ea typeface="맑은 고딕"/>
              </a:rPr>
              <a:t>[INPUT] 실제 공개 URL 확정 후 삽입</a:t>
            </a:r>
          </a:p>
        </p:txBody>
      </p:sp>
    </p:spTree>
    <p:extLst>
      <p:ext uri="{BB962C8B-B14F-4D97-AF65-F5344CB8AC3E}">
        <p14:creationId xmlns:p14="http://schemas.microsoft.com/office/powerpoint/2010/main" val="3605434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9000"/>
            <a:lum/>
          </a:blip>
          <a:srcRect/>
          <a:stretch>
            <a:fillRect/>
          </a:stretch>
        </a:blipFill>
        <a:effectLst/>
      </p:bgPr>
    </p:bg>
    <p:spTree>
      <p:nvGrpSpPr>
        <p:cNvPr id="1" name=""/>
        <p:cNvGrpSpPr/>
        <p:nvPr/>
      </p:nvGrpSpPr>
      <p:grpSpPr>
        <a:xfrm>
          <a:off x="0" y="0"/>
          <a:ext cx="0" cy="0"/>
          <a:chOff x="0" y="0"/>
          <a:chExt cx="0" cy="0"/>
        </a:xfrm>
      </p:grpSpPr>
      <p:sp>
        <p:nvSpPr>
          <p:cNvPr id="8" name="텍스트 개체 틀 1">
            <a:extLst>
              <a:ext uri="{FF2B5EF4-FFF2-40B4-BE49-F238E27FC236}">
                <a16:creationId xmlns:a16="http://schemas.microsoft.com/office/drawing/2014/main" id="{20F1DDE9-EA62-44F8-B7BA-7AC13784145D}"/>
              </a:ext>
            </a:extLst>
          </p:cNvPr>
          <p:cNvSpPr txBox="1">
            <a:spLocks/>
          </p:cNvSpPr>
          <p:nvPr/>
        </p:nvSpPr>
        <p:spPr>
          <a:xfrm>
            <a:off x="4841960" y="2632937"/>
            <a:ext cx="2535384" cy="376594"/>
          </a:xfr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dist"/>
            <a:r>
              <a:rPr lang="en-US" altLang="ko-KR" dirty="0">
                <a:latin typeface="+mj-lt"/>
                <a:ea typeface="Lato Light" panose="020F0502020204030203" pitchFamily="34" charset="0"/>
                <a:cs typeface="Lato Light" panose="020F0502020204030203" pitchFamily="34" charset="0"/>
              </a:rPr>
              <a:t>THANKYOU</a:t>
            </a:r>
            <a:endParaRPr lang="ko-KR" altLang="en-US" dirty="0">
              <a:latin typeface="+mj-lt"/>
              <a:cs typeface="Lato Light" panose="020F0502020204030203" pitchFamily="34" charset="0"/>
            </a:endParaRPr>
          </a:p>
        </p:txBody>
      </p:sp>
      <p:sp>
        <p:nvSpPr>
          <p:cNvPr id="9" name="텍스트 개체 틀 2">
            <a:extLst>
              <a:ext uri="{FF2B5EF4-FFF2-40B4-BE49-F238E27FC236}">
                <a16:creationId xmlns:a16="http://schemas.microsoft.com/office/drawing/2014/main" id="{A02BC95A-DF0B-493E-8FEE-5464DDA3BC04}"/>
              </a:ext>
            </a:extLst>
          </p:cNvPr>
          <p:cNvSpPr txBox="1">
            <a:spLocks/>
          </p:cNvSpPr>
          <p:nvPr/>
        </p:nvSpPr>
        <p:spPr>
          <a:xfrm>
            <a:off x="4591050" y="3096092"/>
            <a:ext cx="3009900" cy="760095"/>
          </a:xfrm>
        </p:spPr>
        <p:txBody>
          <a:bodyP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ko-KR" altLang="en-US" sz="4400" dirty="0">
                <a:latin typeface="+mj-lt"/>
              </a:rPr>
              <a:t>감사합니다</a:t>
            </a:r>
          </a:p>
        </p:txBody>
      </p:sp>
      <p:pic>
        <p:nvPicPr>
          <p:cNvPr id="11" name="그림 10">
            <a:extLst>
              <a:ext uri="{FF2B5EF4-FFF2-40B4-BE49-F238E27FC236}">
                <a16:creationId xmlns:a16="http://schemas.microsoft.com/office/drawing/2014/main" id="{CFF1F707-3A42-4853-A463-73C0998FCA86}"/>
              </a:ext>
            </a:extLst>
          </p:cNvPr>
          <p:cNvPicPr>
            <a:picLocks noChangeAspect="1"/>
          </p:cNvPicPr>
          <p:nvPr/>
        </p:nvPicPr>
        <p:blipFill>
          <a:blip r:embed="rId3"/>
          <a:stretch>
            <a:fillRect/>
          </a:stretch>
        </p:blipFill>
        <p:spPr>
          <a:xfrm>
            <a:off x="6109652" y="4147929"/>
            <a:ext cx="1009852" cy="392720"/>
          </a:xfrm>
          <a:prstGeom prst="rect">
            <a:avLst/>
          </a:prstGeom>
        </p:spPr>
      </p:pic>
      <p:pic>
        <p:nvPicPr>
          <p:cNvPr id="13" name="그림 12">
            <a:extLst>
              <a:ext uri="{FF2B5EF4-FFF2-40B4-BE49-F238E27FC236}">
                <a16:creationId xmlns:a16="http://schemas.microsoft.com/office/drawing/2014/main" id="{229215FA-5AE7-4A99-AB0D-8AF6E5B10642}"/>
              </a:ext>
            </a:extLst>
          </p:cNvPr>
          <p:cNvPicPr>
            <a:picLocks noChangeAspect="1"/>
          </p:cNvPicPr>
          <p:nvPr/>
        </p:nvPicPr>
        <p:blipFill>
          <a:blip r:embed="rId4"/>
          <a:stretch>
            <a:fillRect/>
          </a:stretch>
        </p:blipFill>
        <p:spPr>
          <a:xfrm>
            <a:off x="4841960" y="4346195"/>
            <a:ext cx="942876" cy="194454"/>
          </a:xfrm>
          <a:prstGeom prst="rect">
            <a:avLst/>
          </a:prstGeom>
        </p:spPr>
      </p:pic>
    </p:spTree>
    <p:extLst>
      <p:ext uri="{BB962C8B-B14F-4D97-AF65-F5344CB8AC3E}">
        <p14:creationId xmlns:p14="http://schemas.microsoft.com/office/powerpoint/2010/main" val="2230948835"/>
      </p:ext>
    </p:extLst>
  </p:cSld>
  <p:clrMapOvr>
    <a:masterClrMapping/>
  </p:clrMapOvr>
</p:sld>
</file>

<file path=ppt/theme/theme1.xml><?xml version="1.0" encoding="utf-8"?>
<a:theme xmlns:a="http://schemas.openxmlformats.org/drawingml/2006/main" name="Office Theme">
  <a:themeElements>
    <a:clrScheme name="김당근">
      <a:dk1>
        <a:srgbClr val="000000"/>
      </a:dk1>
      <a:lt1>
        <a:srgbClr val="FFFFFF"/>
      </a:lt1>
      <a:dk2>
        <a:srgbClr val="44546A"/>
      </a:dk2>
      <a:lt2>
        <a:srgbClr val="E7E6E6"/>
      </a:lt2>
      <a:accent1>
        <a:srgbClr val="FE431E"/>
      </a:accent1>
      <a:accent2>
        <a:srgbClr val="E41A00"/>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115</TotalTime>
  <Words>682</Words>
  <Application>Microsoft Office PowerPoint</Application>
  <PresentationFormat>와이드스크린</PresentationFormat>
  <Paragraphs>125</Paragraphs>
  <Slides>11</Slides>
  <Notes>8</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11</vt:i4>
      </vt:variant>
    </vt:vector>
  </HeadingPairs>
  <TitlesOfParts>
    <vt:vector size="21" baseType="lpstr">
      <vt:lpstr>맑은 고딕</vt:lpstr>
      <vt:lpstr>Lato</vt:lpstr>
      <vt:lpstr>Arial</vt:lpstr>
      <vt:lpstr>Lato Black</vt:lpstr>
      <vt:lpstr>Wingdings</vt:lpstr>
      <vt:lpstr>돋움체</vt:lpstr>
      <vt:lpstr>Arial Black</vt:lpstr>
      <vt:lpstr>맑은 고딕</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김다은</dc:creator>
  <cp:lastModifiedBy>유현지</cp:lastModifiedBy>
  <cp:revision>11</cp:revision>
  <dcterms:created xsi:type="dcterms:W3CDTF">2014-04-29T00:37:20Z</dcterms:created>
  <dcterms:modified xsi:type="dcterms:W3CDTF">2023-03-08T05:57:45Z</dcterms:modified>
</cp:coreProperties>
</file>