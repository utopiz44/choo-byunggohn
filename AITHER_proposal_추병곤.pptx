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charts/chart1.xml" ContentType="application/vnd.openxmlformats-officedocument.drawingml.chart+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재원</c:v>
                </c:pt>
              </c:strCache>
            </c:strRef>
          </c:tx>
          <c:spPr>
            <a:solidFill>
              <a:schemeClr val="accent1"/>
            </a:solidFill>
            <a:ln w="9525" cap="flat">
              <a:solidFill>
                <a:srgbClr val="F9F9F9"/>
              </a:solidFill>
              <a:prstDash val="solid"/>
              <a:round/>
            </a:ln>
            <a:effectLst/>
          </c:spPr>
          <c:dPt>
            <c:idx val="0"/>
            <c:bubble3D val="0"/>
            <c:spPr>
              <a:solidFill>
                <a:srgbClr val="2F4858"/>
              </a:solidFill>
              <a:effectLst/>
            </c:spPr>
          </c:dPt>
          <c:dPt>
            <c:idx val="1"/>
            <c:bubble3D val="0"/>
            <c:spPr>
              <a:solidFill>
                <a:srgbClr val="9C6B3C"/>
              </a:solidFill>
              <a:effectLst/>
            </c:spPr>
          </c:dPt>
          <c:dPt>
            <c:idx val="2"/>
            <c:bubble3D val="0"/>
            <c:spPr>
              <a:solidFill>
                <a:srgbClr val="7A4A45"/>
              </a:solidFill>
              <a:effectLst/>
            </c:spPr>
          </c:dPt>
          <c:dPt>
            <c:idx val="3"/>
            <c:bubble3D val="0"/>
            <c:spPr>
              <a:solidFill>
                <a:srgbClr val="4A4A4A"/>
              </a:solidFill>
              <a:effectLst/>
            </c:spPr>
          </c:dPt>
          <c:dLbls>
            <c:dLbl>
              <c:idx val="0"/>
              <c:numFmt formatCode="0%" sourceLinked="0"/>
              <c:spPr/>
              <c:txPr>
                <a:bodyPr/>
                <a:lstStyle/>
                <a:p>
                  <a:pPr>
                    <a:defRPr sz="1000" b="0" i="0" u="none" strike="noStrike">
                      <a:solidFill>
                        <a:srgbClr val="FFFFFF"/>
                      </a:solidFill>
                      <a:latin typeface="맑은 고딕"/>
                    </a:defRPr>
                  </a:pPr>
                </a:p>
              </c:txPr>
              <c:showLegendKey val="0"/>
              <c:showVal val="0"/>
              <c:showCatName val="0"/>
              <c:showSerName val="0"/>
              <c:showPercent val="1"/>
              <c:showBubbleSize val="0"/>
            </c:dLbl>
            <c:dLbl>
              <c:idx val="1"/>
              <c:numFmt formatCode="0%" sourceLinked="0"/>
              <c:spPr/>
              <c:txPr>
                <a:bodyPr/>
                <a:lstStyle/>
                <a:p>
                  <a:pPr>
                    <a:defRPr sz="1000" b="0" i="0" u="none" strike="noStrike">
                      <a:solidFill>
                        <a:srgbClr val="FFFFFF"/>
                      </a:solidFill>
                      <a:latin typeface="맑은 고딕"/>
                    </a:defRPr>
                  </a:pPr>
                </a:p>
              </c:txPr>
              <c:showLegendKey val="0"/>
              <c:showVal val="0"/>
              <c:showCatName val="0"/>
              <c:showSerName val="0"/>
              <c:showPercent val="1"/>
              <c:showBubbleSize val="0"/>
            </c:dLbl>
            <c:dLbl>
              <c:idx val="2"/>
              <c:numFmt formatCode="0%" sourceLinked="0"/>
              <c:spPr/>
              <c:txPr>
                <a:bodyPr/>
                <a:lstStyle/>
                <a:p>
                  <a:pPr>
                    <a:defRPr sz="1000" b="0" i="0" u="none" strike="noStrike">
                      <a:solidFill>
                        <a:srgbClr val="FFFFFF"/>
                      </a:solidFill>
                      <a:latin typeface="맑은 고딕"/>
                    </a:defRPr>
                  </a:pPr>
                </a:p>
              </c:txPr>
              <c:showLegendKey val="0"/>
              <c:showVal val="0"/>
              <c:showCatName val="0"/>
              <c:showSerName val="0"/>
              <c:showPercent val="1"/>
              <c:showBubbleSize val="0"/>
            </c:dLbl>
            <c:dLbl>
              <c:idx val="3"/>
              <c:numFmt formatCode="0%" sourceLinked="0"/>
              <c:spPr/>
              <c:txPr>
                <a:bodyPr/>
                <a:lstStyle/>
                <a:p>
                  <a:pPr>
                    <a:defRPr sz="1000" b="0" i="0" u="none" strike="noStrike">
                      <a:solidFill>
                        <a:srgbClr val="FFFFFF"/>
                      </a:solidFill>
                      <a:latin typeface="맑은 고딕"/>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Sheet1!$A$2:$A$5</c:f>
              <c:strCache>
                <c:ptCount val="4"/>
                <c:pt idx="0">
                  <c:v>기관 보조 50%</c:v>
                </c:pt>
                <c:pt idx="1">
                  <c:v>기업 협찬 30%</c:v>
                </c:pt>
                <c:pt idx="2">
                  <c:v>자부담·현물 15%</c:v>
                </c:pt>
                <c:pt idx="3">
                  <c:v>자체수익 5%</c:v>
                </c:pt>
              </c:strCache>
            </c:strRef>
          </c:cat>
          <c:val>
            <c:numRef>
              <c:f>Sheet1!$B$2:$B$5</c:f>
              <c:numCache>
                <c:ptCount val="4"/>
                <c:pt idx="0">
                  <c:v>40000</c:v>
                </c:pt>
                <c:pt idx="1">
                  <c:v>24000</c:v>
                </c:pt>
                <c:pt idx="2">
                  <c:v>12000</c:v>
                </c:pt>
                <c:pt idx="3">
                  <c:v>4000</c:v>
                </c:pt>
              </c:numCache>
            </c:numRef>
          </c:val>
        </c:ser>
        <c:firstSliceAng val="0"/>
        <c:holeSize val="55"/>
      </c:doughnutChart>
      <c:spPr>
        <a:noFill/>
        <a:ln w="12700" cap="flat">
          <a:solidFill>
            <a:srgbClr val="FFFFFF"/>
          </a:solidFill>
        </a:ln>
        <a:effectLst/>
      </c:spPr>
    </c:plotArea>
    <c:legend>
      <c:legendPos val="r"/>
      <c:overlay val="0"/>
      <c:txPr>
        <a:bodyPr/>
        <a:lstStyle/>
        <a:p>
          <a:pPr>
            <a:defRPr sz="1000">
              <a:latin typeface="맑은 고딕"/>
              <a:cs typeface="맑은 고딕"/>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image" Target="../media/image-6-2.jpe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e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e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e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e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e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e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eg"/><Relationship Id="rId2" Type="http://schemas.openxmlformats.org/officeDocument/2006/relationships/image" Target="../media/image-19-2.jpe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e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eg"/><Relationship Id="rId2" Type="http://schemas.openxmlformats.org/officeDocument/2006/relationships/image" Target="../media/image-28-2.jpeg"/><Relationship Id="rId3" Type="http://schemas.openxmlformats.org/officeDocument/2006/relationships/image" Target="../media/image-28-3.jpeg"/><Relationship Id="rId4" Type="http://schemas.openxmlformats.org/officeDocument/2006/relationships/image" Target="../media/image-28-4.jpeg"/><Relationship Id="rId5" Type="http://schemas.openxmlformats.org/officeDocument/2006/relationships/slideLayout" Target="../slideLayouts/slideLayout1.xml"/><Relationship Id="rId6"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e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A1A"/>
        </a:solidFill>
      </p:bgPr>
    </p:bg>
    <p:spTree>
      <p:nvGrpSpPr>
        <p:cNvPr id="1" name=""/>
        <p:cNvGrpSpPr/>
        <p:nvPr/>
      </p:nvGrpSpPr>
      <p:grpSpPr>
        <a:xfrm>
          <a:off x="0" y="0"/>
          <a:ext cx="0" cy="0"/>
          <a:chOff x="0" y="0"/>
          <a:chExt cx="0" cy="0"/>
        </a:xfrm>
      </p:grpSpPr>
      <p:sp>
        <p:nvSpPr>
          <p:cNvPr id="2" name="Shape 0"/>
          <p:cNvSpPr/>
          <p:nvPr/>
        </p:nvSpPr>
        <p:spPr>
          <a:xfrm>
            <a:off x="10469880" y="1737360"/>
            <a:ext cx="1143000" cy="1005840"/>
          </a:xfrm>
          <a:prstGeom prst="rect">
            <a:avLst/>
          </a:prstGeom>
          <a:solidFill>
            <a:srgbClr val="7A4A45"/>
          </a:solidFill>
          <a:ln/>
        </p:spPr>
      </p:sp>
      <p:sp>
        <p:nvSpPr>
          <p:cNvPr id="3" name="Text 1"/>
          <p:cNvSpPr/>
          <p:nvPr/>
        </p:nvSpPr>
        <p:spPr>
          <a:xfrm>
            <a:off x="10469880" y="1883664"/>
            <a:ext cx="1143000" cy="411480"/>
          </a:xfrm>
          <a:prstGeom prst="rect">
            <a:avLst/>
          </a:prstGeom>
          <a:noFill/>
          <a:ln/>
        </p:spPr>
        <p:txBody>
          <a:bodyPr wrap="square" lIns="0" tIns="0" rIns="0" bIns="0" rtlCol="0" anchor="ctr"/>
          <a:lstStyle/>
          <a:p>
            <a:pPr algn="ctr" indent="0" marL="0">
              <a:buNone/>
            </a:pPr>
            <a:r>
              <a:rPr lang="en-US" sz="2000" dirty="0">
                <a:solidFill>
                  <a:srgbClr val="FFFFFF"/>
                </a:solidFill>
                <a:latin typeface="바탕" pitchFamily="34" charset="0"/>
                <a:ea typeface="바탕" pitchFamily="34" charset="-122"/>
                <a:cs typeface="바탕" pitchFamily="34" charset="-120"/>
              </a:rPr>
              <a:t>人</a:t>
            </a:r>
            <a:endParaRPr lang="en-US" sz="2000" dirty="0"/>
          </a:p>
        </p:txBody>
      </p:sp>
      <p:sp>
        <p:nvSpPr>
          <p:cNvPr id="4" name="Text 2"/>
          <p:cNvSpPr/>
          <p:nvPr/>
        </p:nvSpPr>
        <p:spPr>
          <a:xfrm>
            <a:off x="10469880" y="2304288"/>
            <a:ext cx="1143000" cy="274320"/>
          </a:xfrm>
          <a:prstGeom prst="rect">
            <a:avLst/>
          </a:prstGeom>
          <a:noFill/>
          <a:ln/>
        </p:spPr>
        <p:txBody>
          <a:bodyPr wrap="square" lIns="0" tIns="0" rIns="0" bIns="0" rtlCol="0" anchor="ctr"/>
          <a:lstStyle/>
          <a:p>
            <a:pPr algn="ctr" indent="0" marL="0">
              <a:buNone/>
            </a:pPr>
            <a:r>
              <a:rPr lang="en-US" sz="1000" dirty="0">
                <a:solidFill>
                  <a:srgbClr val="EAE4DA"/>
                </a:solidFill>
                <a:latin typeface="맑은 고딕" pitchFamily="34" charset="0"/>
                <a:ea typeface="맑은 고딕" pitchFamily="34" charset="-122"/>
                <a:cs typeface="맑은 고딕" pitchFamily="34" charset="-120"/>
              </a:rPr>
              <a:t>사람</a:t>
            </a:r>
            <a:endParaRPr lang="en-US" sz="1000" dirty="0"/>
          </a:p>
        </p:txBody>
      </p:sp>
      <p:sp>
        <p:nvSpPr>
          <p:cNvPr id="5" name="Shape 3"/>
          <p:cNvSpPr/>
          <p:nvPr/>
        </p:nvSpPr>
        <p:spPr>
          <a:xfrm>
            <a:off x="10469880" y="2852928"/>
            <a:ext cx="1143000" cy="1005840"/>
          </a:xfrm>
          <a:prstGeom prst="rect">
            <a:avLst/>
          </a:prstGeom>
          <a:solidFill>
            <a:srgbClr val="9C6B3C"/>
          </a:solidFill>
          <a:ln/>
        </p:spPr>
      </p:sp>
      <p:sp>
        <p:nvSpPr>
          <p:cNvPr id="6" name="Text 4"/>
          <p:cNvSpPr/>
          <p:nvPr/>
        </p:nvSpPr>
        <p:spPr>
          <a:xfrm>
            <a:off x="10469880" y="2999232"/>
            <a:ext cx="1143000" cy="411480"/>
          </a:xfrm>
          <a:prstGeom prst="rect">
            <a:avLst/>
          </a:prstGeom>
          <a:noFill/>
          <a:ln/>
        </p:spPr>
        <p:txBody>
          <a:bodyPr wrap="square" lIns="0" tIns="0" rIns="0" bIns="0" rtlCol="0" anchor="ctr"/>
          <a:lstStyle/>
          <a:p>
            <a:pPr algn="ctr" indent="0" marL="0">
              <a:buNone/>
            </a:pPr>
            <a:r>
              <a:rPr lang="en-US" sz="2000" dirty="0">
                <a:solidFill>
                  <a:srgbClr val="FFFFFF"/>
                </a:solidFill>
                <a:latin typeface="바탕" pitchFamily="34" charset="0"/>
                <a:ea typeface="바탕" pitchFamily="34" charset="-122"/>
                <a:cs typeface="바탕" pitchFamily="34" charset="-120"/>
              </a:rPr>
              <a:t>絲</a:t>
            </a:r>
            <a:endParaRPr lang="en-US" sz="2000" dirty="0"/>
          </a:p>
        </p:txBody>
      </p:sp>
      <p:sp>
        <p:nvSpPr>
          <p:cNvPr id="7" name="Text 5"/>
          <p:cNvSpPr/>
          <p:nvPr/>
        </p:nvSpPr>
        <p:spPr>
          <a:xfrm>
            <a:off x="10469880" y="3419856"/>
            <a:ext cx="1143000" cy="274320"/>
          </a:xfrm>
          <a:prstGeom prst="rect">
            <a:avLst/>
          </a:prstGeom>
          <a:noFill/>
          <a:ln/>
        </p:spPr>
        <p:txBody>
          <a:bodyPr wrap="square" lIns="0" tIns="0" rIns="0" bIns="0" rtlCol="0" anchor="ctr"/>
          <a:lstStyle/>
          <a:p>
            <a:pPr algn="ctr" indent="0" marL="0">
              <a:buNone/>
            </a:pPr>
            <a:r>
              <a:rPr lang="en-US" sz="1000" dirty="0">
                <a:solidFill>
                  <a:srgbClr val="EAE4DA"/>
                </a:solidFill>
                <a:latin typeface="맑은 고딕" pitchFamily="34" charset="0"/>
                <a:ea typeface="맑은 고딕" pitchFamily="34" charset="-122"/>
                <a:cs typeface="맑은 고딕" pitchFamily="34" charset="-120"/>
              </a:rPr>
              <a:t>올</a:t>
            </a:r>
            <a:endParaRPr lang="en-US" sz="1000" dirty="0"/>
          </a:p>
        </p:txBody>
      </p:sp>
      <p:sp>
        <p:nvSpPr>
          <p:cNvPr id="8" name="Shape 6"/>
          <p:cNvSpPr/>
          <p:nvPr/>
        </p:nvSpPr>
        <p:spPr>
          <a:xfrm>
            <a:off x="10469880" y="3968496"/>
            <a:ext cx="1143000" cy="1005840"/>
          </a:xfrm>
          <a:prstGeom prst="rect">
            <a:avLst/>
          </a:prstGeom>
          <a:solidFill>
            <a:srgbClr val="2F4858"/>
          </a:solidFill>
          <a:ln/>
        </p:spPr>
      </p:sp>
      <p:sp>
        <p:nvSpPr>
          <p:cNvPr id="9" name="Text 7"/>
          <p:cNvSpPr/>
          <p:nvPr/>
        </p:nvSpPr>
        <p:spPr>
          <a:xfrm>
            <a:off x="10469880" y="4114800"/>
            <a:ext cx="1143000" cy="411480"/>
          </a:xfrm>
          <a:prstGeom prst="rect">
            <a:avLst/>
          </a:prstGeom>
          <a:noFill/>
          <a:ln/>
        </p:spPr>
        <p:txBody>
          <a:bodyPr wrap="square" lIns="0" tIns="0" rIns="0" bIns="0" rtlCol="0" anchor="ctr"/>
          <a:lstStyle/>
          <a:p>
            <a:pPr algn="ctr" indent="0" marL="0">
              <a:buNone/>
            </a:pPr>
            <a:r>
              <a:rPr lang="en-US" sz="2000" dirty="0">
                <a:solidFill>
                  <a:srgbClr val="FFFFFF"/>
                </a:solidFill>
                <a:latin typeface="바탕" pitchFamily="34" charset="0"/>
                <a:ea typeface="바탕" pitchFamily="34" charset="-122"/>
                <a:cs typeface="바탕" pitchFamily="34" charset="-120"/>
              </a:rPr>
              <a:t>水</a:t>
            </a:r>
            <a:endParaRPr lang="en-US" sz="2000" dirty="0"/>
          </a:p>
        </p:txBody>
      </p:sp>
      <p:sp>
        <p:nvSpPr>
          <p:cNvPr id="10" name="Text 8"/>
          <p:cNvSpPr/>
          <p:nvPr/>
        </p:nvSpPr>
        <p:spPr>
          <a:xfrm>
            <a:off x="10469880" y="4535424"/>
            <a:ext cx="1143000" cy="274320"/>
          </a:xfrm>
          <a:prstGeom prst="rect">
            <a:avLst/>
          </a:prstGeom>
          <a:noFill/>
          <a:ln/>
        </p:spPr>
        <p:txBody>
          <a:bodyPr wrap="square" lIns="0" tIns="0" rIns="0" bIns="0" rtlCol="0" anchor="ctr"/>
          <a:lstStyle/>
          <a:p>
            <a:pPr algn="ctr" indent="0" marL="0">
              <a:buNone/>
            </a:pPr>
            <a:r>
              <a:rPr lang="en-US" sz="1000" dirty="0">
                <a:solidFill>
                  <a:srgbClr val="EAE4DA"/>
                </a:solidFill>
                <a:latin typeface="맑은 고딕" pitchFamily="34" charset="0"/>
                <a:ea typeface="맑은 고딕" pitchFamily="34" charset="-122"/>
                <a:cs typeface="맑은 고딕" pitchFamily="34" charset="-120"/>
              </a:rPr>
              <a:t>물</a:t>
            </a:r>
            <a:endParaRPr lang="en-US" sz="1000" dirty="0"/>
          </a:p>
        </p:txBody>
      </p:sp>
      <p:sp>
        <p:nvSpPr>
          <p:cNvPr id="11" name="Text 9"/>
          <p:cNvSpPr/>
          <p:nvPr/>
        </p:nvSpPr>
        <p:spPr>
          <a:xfrm>
            <a:off x="8778240" y="5138928"/>
            <a:ext cx="2834640" cy="274320"/>
          </a:xfrm>
          <a:prstGeom prst="rect">
            <a:avLst/>
          </a:prstGeom>
          <a:noFill/>
          <a:ln/>
        </p:spPr>
        <p:txBody>
          <a:bodyPr wrap="square" lIns="0" tIns="0" rIns="0" bIns="0" rtlCol="0" anchor="ctr"/>
          <a:lstStyle/>
          <a:p>
            <a:pPr algn="r" indent="0" marL="0">
              <a:buNone/>
            </a:pPr>
            <a:r>
              <a:rPr lang="en-US" sz="900" dirty="0">
                <a:solidFill>
                  <a:srgbClr val="77726B"/>
                </a:solidFill>
                <a:latin typeface="맑은 고딕" pitchFamily="34" charset="0"/>
                <a:ea typeface="맑은 고딕" pitchFamily="34" charset="-122"/>
                <a:cs typeface="맑은 고딕" pitchFamily="34" charset="-120"/>
              </a:rPr>
              <a:t>범일동에 겹쳐 쌓인 세 개의 지층</a:t>
            </a:r>
            <a:endParaRPr lang="en-US" sz="900" dirty="0"/>
          </a:p>
        </p:txBody>
      </p:sp>
      <p:sp>
        <p:nvSpPr>
          <p:cNvPr id="12" name="Text 10"/>
          <p:cNvSpPr/>
          <p:nvPr/>
        </p:nvSpPr>
        <p:spPr>
          <a:xfrm>
            <a:off x="914400" y="1234440"/>
            <a:ext cx="8229600" cy="320040"/>
          </a:xfrm>
          <a:prstGeom prst="rect">
            <a:avLst/>
          </a:prstGeom>
          <a:noFill/>
          <a:ln/>
        </p:spPr>
        <p:txBody>
          <a:bodyPr wrap="square" lIns="0" tIns="0" rIns="0" bIns="0" rtlCol="0" anchor="ctr"/>
          <a:lstStyle/>
          <a:p>
            <a:pPr indent="0" marL="0">
              <a:buNone/>
            </a:pPr>
            <a:r>
              <a:rPr lang="en-US" sz="1250" spc="150" kern="0" dirty="0">
                <a:solidFill>
                  <a:srgbClr val="B9B2A8"/>
                </a:solidFill>
                <a:latin typeface="맑은 고딕" pitchFamily="34" charset="0"/>
                <a:ea typeface="맑은 고딕" pitchFamily="34" charset="-122"/>
                <a:cs typeface="맑은 고딕" pitchFamily="34" charset="-120"/>
              </a:rPr>
              <a:t>[ 아이테르 문화예술기획제안서 ]</a:t>
            </a:r>
            <a:endParaRPr lang="en-US" sz="1250" dirty="0"/>
          </a:p>
        </p:txBody>
      </p:sp>
      <p:sp>
        <p:nvSpPr>
          <p:cNvPr id="13" name="Text 11"/>
          <p:cNvSpPr/>
          <p:nvPr/>
        </p:nvSpPr>
        <p:spPr>
          <a:xfrm>
            <a:off x="859536" y="1737360"/>
            <a:ext cx="9418320" cy="1371600"/>
          </a:xfrm>
          <a:prstGeom prst="rect">
            <a:avLst/>
          </a:prstGeom>
          <a:noFill/>
          <a:ln/>
        </p:spPr>
        <p:txBody>
          <a:bodyPr wrap="square" lIns="0" tIns="0" rIns="0" bIns="0" rtlCol="0" anchor="ctr"/>
          <a:lstStyle/>
          <a:p>
            <a:pPr indent="0" marL="0">
              <a:buNone/>
            </a:pPr>
            <a:r>
              <a:rPr lang="en-US" sz="6200" b="1" spc="150" kern="0" dirty="0">
                <a:solidFill>
                  <a:srgbClr val="FFFFFF"/>
                </a:solidFill>
                <a:latin typeface="바탕" pitchFamily="34" charset="0"/>
                <a:ea typeface="바탕" pitchFamily="34" charset="-122"/>
                <a:cs typeface="바탕" pitchFamily="34" charset="-120"/>
              </a:rPr>
              <a:t>덮인 물, 남은 올</a:t>
            </a:r>
            <a:endParaRPr lang="en-US" sz="6200" dirty="0"/>
          </a:p>
        </p:txBody>
      </p:sp>
      <p:sp>
        <p:nvSpPr>
          <p:cNvPr id="14" name="Text 12"/>
          <p:cNvSpPr/>
          <p:nvPr/>
        </p:nvSpPr>
        <p:spPr>
          <a:xfrm>
            <a:off x="914400" y="3127248"/>
            <a:ext cx="9144000" cy="320040"/>
          </a:xfrm>
          <a:prstGeom prst="rect">
            <a:avLst/>
          </a:prstGeom>
          <a:noFill/>
          <a:ln/>
        </p:spPr>
        <p:txBody>
          <a:bodyPr wrap="square" lIns="0" tIns="0" rIns="0" bIns="0" rtlCol="0" anchor="ctr"/>
          <a:lstStyle/>
          <a:p>
            <a:pPr indent="0" marL="0">
              <a:buNone/>
            </a:pPr>
            <a:r>
              <a:rPr lang="en-US" sz="1400" i="1" spc="100" kern="0" dirty="0">
                <a:solidFill>
                  <a:srgbClr val="8D8A84"/>
                </a:solidFill>
                <a:latin typeface="Cambria" pitchFamily="34" charset="0"/>
                <a:ea typeface="Cambria" pitchFamily="34" charset="-122"/>
                <a:cs typeface="Cambria" pitchFamily="34" charset="-120"/>
              </a:rPr>
              <a:t>Covered Water, Remaining Thread</a:t>
            </a:r>
            <a:endParaRPr lang="en-US" sz="1400" dirty="0"/>
          </a:p>
        </p:txBody>
      </p:sp>
      <p:sp>
        <p:nvSpPr>
          <p:cNvPr id="15" name="Text 13"/>
          <p:cNvSpPr/>
          <p:nvPr/>
        </p:nvSpPr>
        <p:spPr>
          <a:xfrm>
            <a:off x="914400" y="3657600"/>
            <a:ext cx="9144000" cy="310896"/>
          </a:xfrm>
          <a:prstGeom prst="rect">
            <a:avLst/>
          </a:prstGeom>
          <a:noFill/>
          <a:ln/>
        </p:spPr>
        <p:txBody>
          <a:bodyPr wrap="square" lIns="0" tIns="0" rIns="0" bIns="0" rtlCol="0" anchor="ctr"/>
          <a:lstStyle/>
          <a:p>
            <a:pPr indent="0" marL="0">
              <a:buNone/>
            </a:pPr>
            <a:r>
              <a:rPr lang="en-US" sz="1600" dirty="0">
                <a:solidFill>
                  <a:srgbClr val="E4DFD6"/>
                </a:solidFill>
                <a:latin typeface="맑은 고딕" pitchFamily="34" charset="0"/>
                <a:ea typeface="맑은 고딕" pitchFamily="34" charset="-122"/>
                <a:cs typeface="맑은 고딕" pitchFamily="34" charset="-120"/>
              </a:rPr>
              <a:t>범일가옥 여덟 개의 방으로 읽는 부산 동구의 물질사(物質史)</a:t>
            </a:r>
            <a:endParaRPr lang="en-US" sz="1600" dirty="0"/>
          </a:p>
        </p:txBody>
      </p:sp>
      <p:sp>
        <p:nvSpPr>
          <p:cNvPr id="16" name="Text 14"/>
          <p:cNvSpPr/>
          <p:nvPr/>
        </p:nvSpPr>
        <p:spPr>
          <a:xfrm>
            <a:off x="914400" y="4041648"/>
            <a:ext cx="9144000" cy="274320"/>
          </a:xfrm>
          <a:prstGeom prst="rect">
            <a:avLst/>
          </a:prstGeom>
          <a:noFill/>
          <a:ln/>
        </p:spPr>
        <p:txBody>
          <a:bodyPr wrap="square" lIns="0" tIns="0" rIns="0" bIns="0" rtlCol="0" anchor="ctr"/>
          <a:lstStyle/>
          <a:p>
            <a:pPr indent="0" marL="0">
              <a:buNone/>
            </a:pPr>
            <a:r>
              <a:rPr lang="en-US" sz="1200" dirty="0">
                <a:solidFill>
                  <a:srgbClr val="9A948C"/>
                </a:solidFill>
                <a:latin typeface="맑은 고딕" pitchFamily="34" charset="0"/>
                <a:ea typeface="맑은 고딕" pitchFamily="34" charset="-122"/>
                <a:cs typeface="맑은 고딕" pitchFamily="34" charset="-120"/>
              </a:rPr>
              <a:t>장소특정형 기획전 + 지역연계 프로그램  |  기관·기업 제안용</a:t>
            </a:r>
            <a:endParaRPr lang="en-US" sz="1200" dirty="0"/>
          </a:p>
        </p:txBody>
      </p:sp>
      <p:sp>
        <p:nvSpPr>
          <p:cNvPr id="17" name="Shape 15"/>
          <p:cNvSpPr/>
          <p:nvPr/>
        </p:nvSpPr>
        <p:spPr>
          <a:xfrm>
            <a:off x="914400" y="4709160"/>
            <a:ext cx="9326880" cy="0"/>
          </a:xfrm>
          <a:prstGeom prst="line">
            <a:avLst/>
          </a:prstGeom>
          <a:noFill/>
          <a:ln w="12700">
            <a:solidFill>
              <a:srgbClr val="3C3833"/>
            </a:solidFill>
            <a:prstDash val="solid"/>
          </a:ln>
        </p:spPr>
      </p:sp>
      <p:sp>
        <p:nvSpPr>
          <p:cNvPr id="18" name="Text 16"/>
          <p:cNvSpPr/>
          <p:nvPr/>
        </p:nvSpPr>
        <p:spPr>
          <a:xfrm>
            <a:off x="914400" y="4983480"/>
            <a:ext cx="2194560" cy="219456"/>
          </a:xfrm>
          <a:prstGeom prst="rect">
            <a:avLst/>
          </a:prstGeom>
          <a:noFill/>
          <a:ln/>
        </p:spPr>
        <p:txBody>
          <a:bodyPr wrap="square" lIns="0" tIns="0" rIns="0" bIns="0" rtlCol="0" anchor="ctr"/>
          <a:lstStyle/>
          <a:p>
            <a:pPr indent="0" marL="0">
              <a:buNone/>
            </a:pPr>
            <a:r>
              <a:rPr lang="en-US" sz="900" dirty="0">
                <a:solidFill>
                  <a:srgbClr val="77726B"/>
                </a:solidFill>
                <a:latin typeface="맑은 고딕" pitchFamily="34" charset="0"/>
                <a:ea typeface="맑은 고딕" pitchFamily="34" charset="-122"/>
                <a:cs typeface="맑은 고딕" pitchFamily="34" charset="-120"/>
              </a:rPr>
              <a:t>기획</a:t>
            </a:r>
            <a:endParaRPr lang="en-US" sz="900" dirty="0"/>
          </a:p>
        </p:txBody>
      </p:sp>
      <p:sp>
        <p:nvSpPr>
          <p:cNvPr id="19" name="Text 17"/>
          <p:cNvSpPr/>
          <p:nvPr/>
        </p:nvSpPr>
        <p:spPr>
          <a:xfrm>
            <a:off x="914400" y="5212080"/>
            <a:ext cx="2240280" cy="457200"/>
          </a:xfrm>
          <a:prstGeom prst="rect">
            <a:avLst/>
          </a:prstGeom>
          <a:noFill/>
          <a:ln/>
        </p:spPr>
        <p:txBody>
          <a:bodyPr wrap="square" lIns="0" tIns="0" rIns="0" bIns="0" rtlCol="0" anchor="ctr"/>
          <a:lstStyle/>
          <a:p>
            <a:pPr indent="0" marL="0">
              <a:buNone/>
            </a:pPr>
            <a:r>
              <a:rPr lang="en-US" sz="1050" dirty="0">
                <a:solidFill>
                  <a:srgbClr val="DCD6CC"/>
                </a:solidFill>
                <a:latin typeface="맑은 고딕" pitchFamily="34" charset="0"/>
                <a:ea typeface="맑은 고딕" pitchFamily="34" charset="-122"/>
                <a:cs typeface="맑은 고딕" pitchFamily="34" charset="-120"/>
              </a:rPr>
              <a:t>추병곤 (학예사 · 미학)</a:t>
            </a:r>
            <a:endParaRPr lang="en-US" sz="1050" dirty="0"/>
          </a:p>
        </p:txBody>
      </p:sp>
      <p:sp>
        <p:nvSpPr>
          <p:cNvPr id="20" name="Text 18"/>
          <p:cNvSpPr/>
          <p:nvPr/>
        </p:nvSpPr>
        <p:spPr>
          <a:xfrm>
            <a:off x="3246120" y="4983480"/>
            <a:ext cx="2194560" cy="219456"/>
          </a:xfrm>
          <a:prstGeom prst="rect">
            <a:avLst/>
          </a:prstGeom>
          <a:noFill/>
          <a:ln/>
        </p:spPr>
        <p:txBody>
          <a:bodyPr wrap="square" lIns="0" tIns="0" rIns="0" bIns="0" rtlCol="0" anchor="ctr"/>
          <a:lstStyle/>
          <a:p>
            <a:pPr indent="0" marL="0">
              <a:buNone/>
            </a:pPr>
            <a:r>
              <a:rPr lang="en-US" sz="900" dirty="0">
                <a:solidFill>
                  <a:srgbClr val="77726B"/>
                </a:solidFill>
                <a:latin typeface="맑은 고딕" pitchFamily="34" charset="0"/>
                <a:ea typeface="맑은 고딕" pitchFamily="34" charset="-122"/>
                <a:cs typeface="맑은 고딕" pitchFamily="34" charset="-120"/>
              </a:rPr>
              <a:t>주관</a:t>
            </a:r>
            <a:endParaRPr lang="en-US" sz="900" dirty="0"/>
          </a:p>
        </p:txBody>
      </p:sp>
      <p:sp>
        <p:nvSpPr>
          <p:cNvPr id="21" name="Text 19"/>
          <p:cNvSpPr/>
          <p:nvPr/>
        </p:nvSpPr>
        <p:spPr>
          <a:xfrm>
            <a:off x="3246120" y="5212080"/>
            <a:ext cx="2240280" cy="457200"/>
          </a:xfrm>
          <a:prstGeom prst="rect">
            <a:avLst/>
          </a:prstGeom>
          <a:noFill/>
          <a:ln/>
        </p:spPr>
        <p:txBody>
          <a:bodyPr wrap="square" lIns="0" tIns="0" rIns="0" bIns="0" rtlCol="0" anchor="ctr"/>
          <a:lstStyle/>
          <a:p>
            <a:pPr indent="0" marL="0">
              <a:buNone/>
            </a:pPr>
            <a:r>
              <a:rPr lang="en-US" sz="1050" dirty="0">
                <a:solidFill>
                  <a:srgbClr val="DCD6CC"/>
                </a:solidFill>
                <a:latin typeface="맑은 고딕" pitchFamily="34" charset="0"/>
                <a:ea typeface="맑은 고딕" pitchFamily="34" charset="-122"/>
                <a:cs typeface="맑은 고딕" pitchFamily="34" charset="-120"/>
              </a:rPr>
              <a:t>예술협회 아이테르 AITHER</a:t>
            </a:r>
            <a:endParaRPr lang="en-US" sz="1050" dirty="0"/>
          </a:p>
        </p:txBody>
      </p:sp>
      <p:sp>
        <p:nvSpPr>
          <p:cNvPr id="22" name="Text 20"/>
          <p:cNvSpPr/>
          <p:nvPr/>
        </p:nvSpPr>
        <p:spPr>
          <a:xfrm>
            <a:off x="5577840" y="4983480"/>
            <a:ext cx="2194560" cy="219456"/>
          </a:xfrm>
          <a:prstGeom prst="rect">
            <a:avLst/>
          </a:prstGeom>
          <a:noFill/>
          <a:ln/>
        </p:spPr>
        <p:txBody>
          <a:bodyPr wrap="square" lIns="0" tIns="0" rIns="0" bIns="0" rtlCol="0" anchor="ctr"/>
          <a:lstStyle/>
          <a:p>
            <a:pPr indent="0" marL="0">
              <a:buNone/>
            </a:pPr>
            <a:r>
              <a:rPr lang="en-US" sz="900" dirty="0">
                <a:solidFill>
                  <a:srgbClr val="77726B"/>
                </a:solidFill>
                <a:latin typeface="맑은 고딕" pitchFamily="34" charset="0"/>
                <a:ea typeface="맑은 고딕" pitchFamily="34" charset="-122"/>
                <a:cs typeface="맑은 고딕" pitchFamily="34" charset="-120"/>
              </a:rPr>
              <a:t>장소</a:t>
            </a:r>
            <a:endParaRPr lang="en-US" sz="900" dirty="0"/>
          </a:p>
        </p:txBody>
      </p:sp>
      <p:sp>
        <p:nvSpPr>
          <p:cNvPr id="23" name="Text 21"/>
          <p:cNvSpPr/>
          <p:nvPr/>
        </p:nvSpPr>
        <p:spPr>
          <a:xfrm>
            <a:off x="5577840" y="5212080"/>
            <a:ext cx="2240280" cy="457200"/>
          </a:xfrm>
          <a:prstGeom prst="rect">
            <a:avLst/>
          </a:prstGeom>
          <a:noFill/>
          <a:ln/>
        </p:spPr>
        <p:txBody>
          <a:bodyPr wrap="square" lIns="0" tIns="0" rIns="0" bIns="0" rtlCol="0" anchor="ctr"/>
          <a:lstStyle/>
          <a:p>
            <a:pPr indent="0" marL="0">
              <a:buNone/>
            </a:pPr>
            <a:r>
              <a:rPr lang="en-US" sz="1050" dirty="0">
                <a:solidFill>
                  <a:srgbClr val="DCD6CC"/>
                </a:solidFill>
                <a:latin typeface="맑은 고딕" pitchFamily="34" charset="0"/>
                <a:ea typeface="맑은 고딕" pitchFamily="34" charset="-122"/>
                <a:cs typeface="맑은 고딕" pitchFamily="34" charset="-120"/>
              </a:rPr>
              <a:t>아이테르 범일가옥 4F  ·  부산 동구 범일로65번길 21</a:t>
            </a:r>
            <a:endParaRPr lang="en-US" sz="1050" dirty="0"/>
          </a:p>
        </p:txBody>
      </p:sp>
      <p:sp>
        <p:nvSpPr>
          <p:cNvPr id="24" name="Text 22"/>
          <p:cNvSpPr/>
          <p:nvPr/>
        </p:nvSpPr>
        <p:spPr>
          <a:xfrm>
            <a:off x="7909560" y="4983480"/>
            <a:ext cx="2194560" cy="219456"/>
          </a:xfrm>
          <a:prstGeom prst="rect">
            <a:avLst/>
          </a:prstGeom>
          <a:noFill/>
          <a:ln/>
        </p:spPr>
        <p:txBody>
          <a:bodyPr wrap="square" lIns="0" tIns="0" rIns="0" bIns="0" rtlCol="0" anchor="ctr"/>
          <a:lstStyle/>
          <a:p>
            <a:pPr indent="0" marL="0">
              <a:buNone/>
            </a:pPr>
            <a:r>
              <a:rPr lang="en-US" sz="900" dirty="0">
                <a:solidFill>
                  <a:srgbClr val="77726B"/>
                </a:solidFill>
                <a:latin typeface="맑은 고딕" pitchFamily="34" charset="0"/>
                <a:ea typeface="맑은 고딕" pitchFamily="34" charset="-122"/>
                <a:cs typeface="맑은 고딕" pitchFamily="34" charset="-120"/>
              </a:rPr>
              <a:t>제안</a:t>
            </a:r>
            <a:endParaRPr lang="en-US" sz="900" dirty="0"/>
          </a:p>
        </p:txBody>
      </p:sp>
      <p:sp>
        <p:nvSpPr>
          <p:cNvPr id="25" name="Text 23"/>
          <p:cNvSpPr/>
          <p:nvPr/>
        </p:nvSpPr>
        <p:spPr>
          <a:xfrm>
            <a:off x="7909560" y="5212080"/>
            <a:ext cx="2240280" cy="457200"/>
          </a:xfrm>
          <a:prstGeom prst="rect">
            <a:avLst/>
          </a:prstGeom>
          <a:noFill/>
          <a:ln/>
        </p:spPr>
        <p:txBody>
          <a:bodyPr wrap="square" lIns="0" tIns="0" rIns="0" bIns="0" rtlCol="0" anchor="ctr"/>
          <a:lstStyle/>
          <a:p>
            <a:pPr indent="0" marL="0">
              <a:buNone/>
            </a:pPr>
            <a:r>
              <a:rPr lang="en-US" sz="1050" dirty="0">
                <a:solidFill>
                  <a:srgbClr val="DCD6CC"/>
                </a:solidFill>
                <a:latin typeface="맑은 고딕" pitchFamily="34" charset="0"/>
                <a:ea typeface="맑은 고딕" pitchFamily="34" charset="-122"/>
                <a:cs typeface="맑은 고딕" pitchFamily="34" charset="-120"/>
              </a:rPr>
              <a:t>2026. 08.</a:t>
            </a:r>
            <a:endParaRPr lang="en-US" sz="1050" dirty="0"/>
          </a:p>
        </p:txBody>
      </p:sp>
      <p:sp>
        <p:nvSpPr>
          <p:cNvPr id="26" name="Text 24"/>
          <p:cNvSpPr/>
          <p:nvPr/>
        </p:nvSpPr>
        <p:spPr>
          <a:xfrm>
            <a:off x="9692640" y="5989320"/>
            <a:ext cx="1920240" cy="320040"/>
          </a:xfrm>
          <a:prstGeom prst="rect">
            <a:avLst/>
          </a:prstGeom>
          <a:noFill/>
          <a:ln/>
        </p:spPr>
        <p:txBody>
          <a:bodyPr wrap="square" lIns="0" tIns="0" rIns="0" bIns="0" rtlCol="0" anchor="ctr"/>
          <a:lstStyle/>
          <a:p>
            <a:pPr algn="r" indent="0" marL="0">
              <a:buNone/>
            </a:pPr>
            <a:r>
              <a:rPr lang="en-US" sz="1600" spc="500" kern="0" dirty="0">
                <a:solidFill>
                  <a:srgbClr val="6E6A65"/>
                </a:solidFill>
                <a:latin typeface="Cambria" pitchFamily="34" charset="0"/>
                <a:ea typeface="Cambria" pitchFamily="34" charset="-122"/>
                <a:cs typeface="Cambria" pitchFamily="34" charset="-120"/>
              </a:rPr>
              <a:t>AITHER</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7315200" cy="237744"/>
          </a:xfrm>
          <a:prstGeom prst="rect">
            <a:avLst/>
          </a:prstGeom>
          <a:noFill/>
          <a:ln/>
        </p:spPr>
        <p:txBody>
          <a:bodyPr wrap="square" lIns="0" tIns="0" rIns="0" bIns="0" rtlCol="0" anchor="ctr"/>
          <a:lstStyle/>
          <a:p>
            <a:pPr indent="0" marL="0">
              <a:buNone/>
            </a:pPr>
            <a:r>
              <a:rPr lang="en-US" sz="1050" spc="250" kern="0" dirty="0">
                <a:solidFill>
                  <a:srgbClr val="8A857E"/>
                </a:solidFill>
                <a:latin typeface="Cambria" pitchFamily="34" charset="0"/>
                <a:ea typeface="Cambria" pitchFamily="34" charset="-122"/>
                <a:cs typeface="Cambria" pitchFamily="34" charset="-120"/>
              </a:rPr>
              <a:t>CONTENTS</a:t>
            </a:r>
            <a:endParaRPr lang="en-US" sz="1050" dirty="0"/>
          </a:p>
        </p:txBody>
      </p:sp>
      <p:sp>
        <p:nvSpPr>
          <p:cNvPr id="3" name="Text 1"/>
          <p:cNvSpPr/>
          <p:nvPr/>
        </p:nvSpPr>
        <p:spPr>
          <a:xfrm>
            <a:off x="548640" y="694944"/>
            <a:ext cx="10058400" cy="502920"/>
          </a:xfrm>
          <a:prstGeom prst="rect">
            <a:avLst/>
          </a:prstGeom>
          <a:noFill/>
          <a:ln/>
        </p:spPr>
        <p:txBody>
          <a:bodyPr wrap="square" lIns="0" tIns="0" rIns="0" bIns="0" rtlCol="0" anchor="ctr"/>
          <a:lstStyle/>
          <a:p>
            <a:pPr indent="0" marL="0">
              <a:buNone/>
            </a:pPr>
            <a:r>
              <a:rPr lang="en-US" sz="2700" b="1" dirty="0">
                <a:solidFill>
                  <a:srgbClr val="1A1A1A"/>
                </a:solidFill>
                <a:latin typeface="맑은 고딕" pitchFamily="34" charset="0"/>
                <a:ea typeface="맑은 고딕" pitchFamily="34" charset="-122"/>
                <a:cs typeface="맑은 고딕" pitchFamily="34" charset="-120"/>
              </a:rPr>
              <a:t>제안서 구성</a:t>
            </a:r>
            <a:endParaRPr lang="en-US" sz="2700" dirty="0"/>
          </a:p>
        </p:txBody>
      </p:sp>
      <p:sp>
        <p:nvSpPr>
          <p:cNvPr id="4" name="Text 2"/>
          <p:cNvSpPr/>
          <p:nvPr/>
        </p:nvSpPr>
        <p:spPr>
          <a:xfrm>
            <a:off x="548640" y="1225296"/>
            <a:ext cx="10607040" cy="310896"/>
          </a:xfrm>
          <a:prstGeom prst="rect">
            <a:avLst/>
          </a:prstGeom>
          <a:noFill/>
          <a:ln/>
        </p:spPr>
        <p:txBody>
          <a:bodyPr wrap="square" lIns="0" tIns="0" rIns="0" bIns="0" rtlCol="0" anchor="ctr"/>
          <a:lstStyle/>
          <a:p>
            <a:pPr indent="0" marL="0">
              <a:buNone/>
            </a:pPr>
            <a:r>
              <a:rPr lang="en-US" sz="1200" dirty="0">
                <a:solidFill>
                  <a:srgbClr val="8A857E"/>
                </a:solidFill>
                <a:latin typeface="맑은 고딕" pitchFamily="34" charset="0"/>
                <a:ea typeface="맑은 고딕" pitchFamily="34" charset="-122"/>
                <a:cs typeface="맑은 고딕" pitchFamily="34" charset="-120"/>
              </a:rPr>
              <a:t>총 5부 · 도식 8개 · 사진 20컷</a:t>
            </a:r>
            <a:endParaRPr lang="en-US" sz="1200" dirty="0"/>
          </a:p>
        </p:txBody>
      </p:sp>
      <p:sp>
        <p:nvSpPr>
          <p:cNvPr id="5" name="Text 3"/>
          <p:cNvSpPr/>
          <p:nvPr/>
        </p:nvSpPr>
        <p:spPr>
          <a:xfrm>
            <a:off x="548640" y="1874520"/>
            <a:ext cx="2103120" cy="365760"/>
          </a:xfrm>
          <a:prstGeom prst="rect">
            <a:avLst/>
          </a:prstGeom>
          <a:noFill/>
          <a:ln/>
        </p:spPr>
        <p:txBody>
          <a:bodyPr wrap="square" lIns="0" tIns="0" rIns="0" bIns="0" rtlCol="0" anchor="ctr"/>
          <a:lstStyle/>
          <a:p>
            <a:pPr indent="0" marL="0">
              <a:buNone/>
            </a:pPr>
            <a:r>
              <a:rPr lang="en-US" sz="2200" b="1" dirty="0">
                <a:solidFill>
                  <a:srgbClr val="2F4858"/>
                </a:solidFill>
                <a:latin typeface="Cambria" pitchFamily="34" charset="0"/>
                <a:ea typeface="Cambria" pitchFamily="34" charset="-122"/>
                <a:cs typeface="Cambria" pitchFamily="34" charset="-120"/>
              </a:rPr>
              <a:t>Ⅰ</a:t>
            </a:r>
            <a:endParaRPr lang="en-US" sz="2200" dirty="0"/>
          </a:p>
        </p:txBody>
      </p:sp>
      <p:sp>
        <p:nvSpPr>
          <p:cNvPr id="6" name="Text 4"/>
          <p:cNvSpPr/>
          <p:nvPr/>
        </p:nvSpPr>
        <p:spPr>
          <a:xfrm>
            <a:off x="548640" y="2286000"/>
            <a:ext cx="2103120" cy="292608"/>
          </a:xfrm>
          <a:prstGeom prst="rect">
            <a:avLst/>
          </a:prstGeom>
          <a:noFill/>
          <a:ln/>
        </p:spPr>
        <p:txBody>
          <a:bodyPr wrap="square" lIns="0" tIns="0" rIns="0" bIns="0" rtlCol="0" anchor="ctr"/>
          <a:lstStyle/>
          <a:p>
            <a:pPr indent="0" marL="0">
              <a:buNone/>
            </a:pPr>
            <a:r>
              <a:rPr lang="en-US" sz="1300" b="1" dirty="0">
                <a:solidFill>
                  <a:srgbClr val="1A1A1A"/>
                </a:solidFill>
                <a:latin typeface="맑은 고딕" pitchFamily="34" charset="0"/>
                <a:ea typeface="맑은 고딕" pitchFamily="34" charset="-122"/>
                <a:cs typeface="맑은 고딕" pitchFamily="34" charset="-120"/>
              </a:rPr>
              <a:t>제안 요약</a:t>
            </a:r>
            <a:endParaRPr lang="en-US" sz="1300" dirty="0"/>
          </a:p>
        </p:txBody>
      </p:sp>
      <p:sp>
        <p:nvSpPr>
          <p:cNvPr id="7" name="Shape 5"/>
          <p:cNvSpPr/>
          <p:nvPr/>
        </p:nvSpPr>
        <p:spPr>
          <a:xfrm>
            <a:off x="548640" y="2697480"/>
            <a:ext cx="2057400" cy="0"/>
          </a:xfrm>
          <a:prstGeom prst="line">
            <a:avLst/>
          </a:prstGeom>
          <a:noFill/>
          <a:ln w="12700">
            <a:solidFill>
              <a:srgbClr val="D8D4CE"/>
            </a:solidFill>
            <a:prstDash val="solid"/>
          </a:ln>
        </p:spPr>
      </p:sp>
      <p:sp>
        <p:nvSpPr>
          <p:cNvPr id="8" name="Text 6"/>
          <p:cNvSpPr/>
          <p:nvPr/>
        </p:nvSpPr>
        <p:spPr>
          <a:xfrm>
            <a:off x="548640" y="2834640"/>
            <a:ext cx="2103120" cy="3108960"/>
          </a:xfrm>
          <a:prstGeom prst="rect">
            <a:avLst/>
          </a:prstGeom>
          <a:noFill/>
          <a:ln/>
        </p:spPr>
        <p:txBody>
          <a:bodyPr wrap="square" lIns="0" tIns="0" rIns="0" bIns="0" rtlCol="0" anchor="t"/>
          <a:lstStyle/>
          <a:p>
            <a:pPr indent="0" marL="0">
              <a:lnSpc>
                <a:spcPts val="2000"/>
              </a:lnSpc>
              <a:buNone/>
            </a:pPr>
            <a:r>
              <a:rPr lang="en-US" sz="1050" dirty="0">
                <a:solidFill>
                  <a:srgbClr val="5A554F"/>
                </a:solidFill>
                <a:latin typeface="맑은 고딕" pitchFamily="34" charset="0"/>
                <a:ea typeface="맑은 고딕" pitchFamily="34" charset="-122"/>
                <a:cs typeface="맑은 고딕" pitchFamily="34" charset="-120"/>
              </a:rPr>
              <a:t>01  한 장으로 보는 제안</a:t>
            </a:r>
            <a:endParaRPr lang="en-US" sz="1050" dirty="0"/>
          </a:p>
        </p:txBody>
      </p:sp>
      <p:sp>
        <p:nvSpPr>
          <p:cNvPr id="9" name="Text 7"/>
          <p:cNvSpPr/>
          <p:nvPr/>
        </p:nvSpPr>
        <p:spPr>
          <a:xfrm>
            <a:off x="2880360" y="1874520"/>
            <a:ext cx="2103120" cy="365760"/>
          </a:xfrm>
          <a:prstGeom prst="rect">
            <a:avLst/>
          </a:prstGeom>
          <a:noFill/>
          <a:ln/>
        </p:spPr>
        <p:txBody>
          <a:bodyPr wrap="square" lIns="0" tIns="0" rIns="0" bIns="0" rtlCol="0" anchor="ctr"/>
          <a:lstStyle/>
          <a:p>
            <a:pPr indent="0" marL="0">
              <a:buNone/>
            </a:pPr>
            <a:r>
              <a:rPr lang="en-US" sz="2200" b="1" dirty="0">
                <a:solidFill>
                  <a:srgbClr val="2F4858"/>
                </a:solidFill>
                <a:latin typeface="Cambria" pitchFamily="34" charset="0"/>
                <a:ea typeface="Cambria" pitchFamily="34" charset="-122"/>
                <a:cs typeface="Cambria" pitchFamily="34" charset="-120"/>
              </a:rPr>
              <a:t>Ⅱ</a:t>
            </a:r>
            <a:endParaRPr lang="en-US" sz="2200" dirty="0"/>
          </a:p>
        </p:txBody>
      </p:sp>
      <p:sp>
        <p:nvSpPr>
          <p:cNvPr id="10" name="Text 8"/>
          <p:cNvSpPr/>
          <p:nvPr/>
        </p:nvSpPr>
        <p:spPr>
          <a:xfrm>
            <a:off x="2880360" y="2286000"/>
            <a:ext cx="2103120" cy="292608"/>
          </a:xfrm>
          <a:prstGeom prst="rect">
            <a:avLst/>
          </a:prstGeom>
          <a:noFill/>
          <a:ln/>
        </p:spPr>
        <p:txBody>
          <a:bodyPr wrap="square" lIns="0" tIns="0" rIns="0" bIns="0" rtlCol="0" anchor="ctr"/>
          <a:lstStyle/>
          <a:p>
            <a:pPr indent="0" marL="0">
              <a:buNone/>
            </a:pPr>
            <a:r>
              <a:rPr lang="en-US" sz="1300" b="1" dirty="0">
                <a:solidFill>
                  <a:srgbClr val="1A1A1A"/>
                </a:solidFill>
                <a:latin typeface="맑은 고딕" pitchFamily="34" charset="0"/>
                <a:ea typeface="맑은 고딕" pitchFamily="34" charset="-122"/>
                <a:cs typeface="맑은 고딕" pitchFamily="34" charset="-120"/>
              </a:rPr>
              <a:t>장소 — 왜 범일인가</a:t>
            </a:r>
            <a:endParaRPr lang="en-US" sz="1300" dirty="0"/>
          </a:p>
        </p:txBody>
      </p:sp>
      <p:sp>
        <p:nvSpPr>
          <p:cNvPr id="11" name="Shape 9"/>
          <p:cNvSpPr/>
          <p:nvPr/>
        </p:nvSpPr>
        <p:spPr>
          <a:xfrm>
            <a:off x="2880360" y="2697480"/>
            <a:ext cx="2057400" cy="0"/>
          </a:xfrm>
          <a:prstGeom prst="line">
            <a:avLst/>
          </a:prstGeom>
          <a:noFill/>
          <a:ln w="12700">
            <a:solidFill>
              <a:srgbClr val="D8D4CE"/>
            </a:solidFill>
            <a:prstDash val="solid"/>
          </a:ln>
        </p:spPr>
      </p:sp>
      <p:sp>
        <p:nvSpPr>
          <p:cNvPr id="12" name="Text 10"/>
          <p:cNvSpPr/>
          <p:nvPr/>
        </p:nvSpPr>
        <p:spPr>
          <a:xfrm>
            <a:off x="2880360" y="2834640"/>
            <a:ext cx="2103120" cy="3108960"/>
          </a:xfrm>
          <a:prstGeom prst="rect">
            <a:avLst/>
          </a:prstGeom>
          <a:noFill/>
          <a:ln/>
        </p:spPr>
        <p:txBody>
          <a:bodyPr wrap="square" lIns="0" tIns="0" rIns="0" bIns="0" rtlCol="0" anchor="t"/>
          <a:lstStyle/>
          <a:p>
            <a:pPr indent="0" marL="0">
              <a:lnSpc>
                <a:spcPts val="2000"/>
              </a:lnSpc>
              <a:buNone/>
            </a:pPr>
            <a:r>
              <a:rPr lang="en-US" sz="1050" dirty="0">
                <a:solidFill>
                  <a:srgbClr val="5A554F"/>
                </a:solidFill>
                <a:latin typeface="맑은 고딕" pitchFamily="34" charset="0"/>
                <a:ea typeface="맑은 고딕" pitchFamily="34" charset="-122"/>
                <a:cs typeface="맑은 고딕" pitchFamily="34" charset="-120"/>
              </a:rPr>
              <a:t>02  장소의 세 겹 + [도식 1] 연표</a:t>
            </a:r>
            <a:endParaRPr lang="en-US" sz="1050" dirty="0"/>
          </a:p>
          <a:p>
            <a:pPr indent="0" marL="0">
              <a:lnSpc>
                <a:spcPts val="2000"/>
              </a:lnSpc>
              <a:buNone/>
            </a:pPr>
            <a:r>
              <a:rPr lang="en-US" sz="1050" dirty="0">
                <a:solidFill>
                  <a:srgbClr val="5A554F"/>
                </a:solidFill>
                <a:latin typeface="맑은 고딕" pitchFamily="34" charset="0"/>
                <a:ea typeface="맑은 고딕" pitchFamily="34" charset="-122"/>
                <a:cs typeface="맑은 고딕" pitchFamily="34" charset="-120"/>
              </a:rPr>
              <a:t>03  범일가옥이라는 매체</a:t>
            </a:r>
            <a:endParaRPr lang="en-US" sz="1050" dirty="0"/>
          </a:p>
        </p:txBody>
      </p:sp>
      <p:sp>
        <p:nvSpPr>
          <p:cNvPr id="13" name="Text 11"/>
          <p:cNvSpPr/>
          <p:nvPr/>
        </p:nvSpPr>
        <p:spPr>
          <a:xfrm>
            <a:off x="5212080" y="1874520"/>
            <a:ext cx="2103120" cy="365760"/>
          </a:xfrm>
          <a:prstGeom prst="rect">
            <a:avLst/>
          </a:prstGeom>
          <a:noFill/>
          <a:ln/>
        </p:spPr>
        <p:txBody>
          <a:bodyPr wrap="square" lIns="0" tIns="0" rIns="0" bIns="0" rtlCol="0" anchor="ctr"/>
          <a:lstStyle/>
          <a:p>
            <a:pPr indent="0" marL="0">
              <a:buNone/>
            </a:pPr>
            <a:r>
              <a:rPr lang="en-US" sz="2200" b="1" dirty="0">
                <a:solidFill>
                  <a:srgbClr val="9C6B3C"/>
                </a:solidFill>
                <a:latin typeface="Cambria" pitchFamily="34" charset="0"/>
                <a:ea typeface="Cambria" pitchFamily="34" charset="-122"/>
                <a:cs typeface="Cambria" pitchFamily="34" charset="-120"/>
              </a:rPr>
              <a:t>Ⅲ</a:t>
            </a:r>
            <a:endParaRPr lang="en-US" sz="2200" dirty="0"/>
          </a:p>
        </p:txBody>
      </p:sp>
      <p:sp>
        <p:nvSpPr>
          <p:cNvPr id="14" name="Text 12"/>
          <p:cNvSpPr/>
          <p:nvPr/>
        </p:nvSpPr>
        <p:spPr>
          <a:xfrm>
            <a:off x="5212080" y="2286000"/>
            <a:ext cx="2103120" cy="292608"/>
          </a:xfrm>
          <a:prstGeom prst="rect">
            <a:avLst/>
          </a:prstGeom>
          <a:noFill/>
          <a:ln/>
        </p:spPr>
        <p:txBody>
          <a:bodyPr wrap="square" lIns="0" tIns="0" rIns="0" bIns="0" rtlCol="0" anchor="ctr"/>
          <a:lstStyle/>
          <a:p>
            <a:pPr indent="0" marL="0">
              <a:buNone/>
            </a:pPr>
            <a:r>
              <a:rPr lang="en-US" sz="1300" b="1" dirty="0">
                <a:solidFill>
                  <a:srgbClr val="1A1A1A"/>
                </a:solidFill>
                <a:latin typeface="맑은 고딕" pitchFamily="34" charset="0"/>
                <a:ea typeface="맑은 고딕" pitchFamily="34" charset="-122"/>
                <a:cs typeface="맑은 고딕" pitchFamily="34" charset="-120"/>
              </a:rPr>
              <a:t>기획</a:t>
            </a:r>
            <a:endParaRPr lang="en-US" sz="1300" dirty="0"/>
          </a:p>
        </p:txBody>
      </p:sp>
      <p:sp>
        <p:nvSpPr>
          <p:cNvPr id="15" name="Shape 13"/>
          <p:cNvSpPr/>
          <p:nvPr/>
        </p:nvSpPr>
        <p:spPr>
          <a:xfrm>
            <a:off x="5212080" y="2697480"/>
            <a:ext cx="2057400" cy="0"/>
          </a:xfrm>
          <a:prstGeom prst="line">
            <a:avLst/>
          </a:prstGeom>
          <a:noFill/>
          <a:ln w="12700">
            <a:solidFill>
              <a:srgbClr val="D8D4CE"/>
            </a:solidFill>
            <a:prstDash val="solid"/>
          </a:ln>
        </p:spPr>
      </p:sp>
      <p:sp>
        <p:nvSpPr>
          <p:cNvPr id="16" name="Text 14"/>
          <p:cNvSpPr/>
          <p:nvPr/>
        </p:nvSpPr>
        <p:spPr>
          <a:xfrm>
            <a:off x="5212080" y="2834640"/>
            <a:ext cx="2103120" cy="3108960"/>
          </a:xfrm>
          <a:prstGeom prst="rect">
            <a:avLst/>
          </a:prstGeom>
          <a:noFill/>
          <a:ln/>
        </p:spPr>
        <p:txBody>
          <a:bodyPr wrap="square" lIns="0" tIns="0" rIns="0" bIns="0" rtlCol="0" anchor="t"/>
          <a:lstStyle/>
          <a:p>
            <a:pPr indent="0" marL="0">
              <a:lnSpc>
                <a:spcPts val="2000"/>
              </a:lnSpc>
              <a:buNone/>
            </a:pPr>
            <a:r>
              <a:rPr lang="en-US" sz="1050" dirty="0">
                <a:solidFill>
                  <a:srgbClr val="5A554F"/>
                </a:solidFill>
                <a:latin typeface="맑은 고딕" pitchFamily="34" charset="0"/>
                <a:ea typeface="맑은 고딕" pitchFamily="34" charset="-122"/>
                <a:cs typeface="맑은 고딕" pitchFamily="34" charset="-120"/>
              </a:rPr>
              <a:t>04  기획 의도</a:t>
            </a:r>
            <a:endParaRPr lang="en-US" sz="1050" dirty="0"/>
          </a:p>
          <a:p>
            <a:pPr indent="0" marL="0">
              <a:lnSpc>
                <a:spcPts val="2000"/>
              </a:lnSpc>
              <a:buNone/>
            </a:pPr>
            <a:r>
              <a:rPr lang="en-US" sz="1050" dirty="0">
                <a:solidFill>
                  <a:srgbClr val="5A554F"/>
                </a:solidFill>
                <a:latin typeface="맑은 고딕" pitchFamily="34" charset="0"/>
                <a:ea typeface="맑은 고딕" pitchFamily="34" charset="-122"/>
                <a:cs typeface="맑은 고딕" pitchFamily="34" charset="-120"/>
              </a:rPr>
              <a:t>05  [도식 2] 개념 구조도</a:t>
            </a:r>
            <a:endParaRPr lang="en-US" sz="1050" dirty="0"/>
          </a:p>
          <a:p>
            <a:pPr indent="0" marL="0">
              <a:lnSpc>
                <a:spcPts val="2000"/>
              </a:lnSpc>
              <a:buNone/>
            </a:pPr>
            <a:r>
              <a:rPr lang="en-US" sz="1050" dirty="0">
                <a:solidFill>
                  <a:srgbClr val="5A554F"/>
                </a:solidFill>
                <a:latin typeface="맑은 고딕" pitchFamily="34" charset="0"/>
                <a:ea typeface="맑은 고딕" pitchFamily="34" charset="-122"/>
                <a:cs typeface="맑은 고딕" pitchFamily="34" charset="-120"/>
              </a:rPr>
              <a:t>06  전시 개요</a:t>
            </a:r>
            <a:endParaRPr lang="en-US" sz="1050" dirty="0"/>
          </a:p>
          <a:p>
            <a:pPr indent="0" marL="0">
              <a:lnSpc>
                <a:spcPts val="2000"/>
              </a:lnSpc>
              <a:buNone/>
            </a:pPr>
            <a:r>
              <a:rPr lang="en-US" sz="1050" dirty="0">
                <a:solidFill>
                  <a:srgbClr val="5A554F"/>
                </a:solidFill>
                <a:latin typeface="맑은 고딕" pitchFamily="34" charset="0"/>
                <a:ea typeface="맑은 고딕" pitchFamily="34" charset="-122"/>
                <a:cs typeface="맑은 고딕" pitchFamily="34" charset="-120"/>
              </a:rPr>
              <a:t>07  [도식 3] 공간 구성도</a:t>
            </a:r>
            <a:endParaRPr lang="en-US" sz="1050" dirty="0"/>
          </a:p>
          <a:p>
            <a:pPr indent="0" marL="0">
              <a:lnSpc>
                <a:spcPts val="2000"/>
              </a:lnSpc>
              <a:buNone/>
            </a:pPr>
            <a:r>
              <a:rPr lang="en-US" sz="1050" dirty="0">
                <a:solidFill>
                  <a:srgbClr val="5A554F"/>
                </a:solidFill>
                <a:latin typeface="맑은 고딕" pitchFamily="34" charset="0"/>
                <a:ea typeface="맑은 고딕" pitchFamily="34" charset="-122"/>
                <a:cs typeface="맑은 고딕" pitchFamily="34" charset="-120"/>
              </a:rPr>
              <a:t>08  섹션 A 물의 층</a:t>
            </a:r>
            <a:endParaRPr lang="en-US" sz="1050" dirty="0"/>
          </a:p>
          <a:p>
            <a:pPr indent="0" marL="0">
              <a:lnSpc>
                <a:spcPts val="2000"/>
              </a:lnSpc>
              <a:buNone/>
            </a:pPr>
            <a:r>
              <a:rPr lang="en-US" sz="1050" dirty="0">
                <a:solidFill>
                  <a:srgbClr val="5A554F"/>
                </a:solidFill>
                <a:latin typeface="맑은 고딕" pitchFamily="34" charset="0"/>
                <a:ea typeface="맑은 고딕" pitchFamily="34" charset="-122"/>
                <a:cs typeface="맑은 고딕" pitchFamily="34" charset="-120"/>
              </a:rPr>
              <a:t>09  섹션 B 올의 층</a:t>
            </a:r>
            <a:endParaRPr lang="en-US" sz="1050" dirty="0"/>
          </a:p>
          <a:p>
            <a:pPr indent="0" marL="0">
              <a:lnSpc>
                <a:spcPts val="2000"/>
              </a:lnSpc>
              <a:buNone/>
            </a:pPr>
            <a:r>
              <a:rPr lang="en-US" sz="1050" dirty="0">
                <a:solidFill>
                  <a:srgbClr val="5A554F"/>
                </a:solidFill>
                <a:latin typeface="맑은 고딕" pitchFamily="34" charset="0"/>
                <a:ea typeface="맑은 고딕" pitchFamily="34" charset="-122"/>
                <a:cs typeface="맑은 고딕" pitchFamily="34" charset="-120"/>
              </a:rPr>
              <a:t>10  섹션 C 사람의 층</a:t>
            </a:r>
            <a:endParaRPr lang="en-US" sz="1050" dirty="0"/>
          </a:p>
          <a:p>
            <a:pPr indent="0" marL="0">
              <a:lnSpc>
                <a:spcPts val="2000"/>
              </a:lnSpc>
              <a:buNone/>
            </a:pPr>
            <a:r>
              <a:rPr lang="en-US" sz="1050" dirty="0">
                <a:solidFill>
                  <a:srgbClr val="5A554F"/>
                </a:solidFill>
                <a:latin typeface="맑은 고딕" pitchFamily="34" charset="0"/>
                <a:ea typeface="맑은 고딕" pitchFamily="34" charset="-122"/>
                <a:cs typeface="맑은 고딕" pitchFamily="34" charset="-120"/>
              </a:rPr>
              <a:t>11  아카이브 룸 + [도식 4]</a:t>
            </a:r>
            <a:endParaRPr lang="en-US" sz="1050" dirty="0"/>
          </a:p>
          <a:p>
            <a:pPr indent="0" marL="0">
              <a:lnSpc>
                <a:spcPts val="2000"/>
              </a:lnSpc>
              <a:buNone/>
            </a:pPr>
            <a:r>
              <a:rPr lang="en-US" sz="1050" dirty="0">
                <a:solidFill>
                  <a:srgbClr val="5A554F"/>
                </a:solidFill>
                <a:latin typeface="맑은 고딕" pitchFamily="34" charset="0"/>
                <a:ea typeface="맑은 고딕" pitchFamily="34" charset="-122"/>
                <a:cs typeface="맑은 고딕" pitchFamily="34" charset="-120"/>
              </a:rPr>
              <a:t>12  작가 구성</a:t>
            </a:r>
            <a:endParaRPr lang="en-US" sz="1050" dirty="0"/>
          </a:p>
          <a:p>
            <a:pPr indent="0" marL="0">
              <a:lnSpc>
                <a:spcPts val="2000"/>
              </a:lnSpc>
              <a:buNone/>
            </a:pPr>
            <a:r>
              <a:rPr lang="en-US" sz="1050" dirty="0">
                <a:solidFill>
                  <a:srgbClr val="5A554F"/>
                </a:solidFill>
                <a:latin typeface="맑은 고딕" pitchFamily="34" charset="0"/>
                <a:ea typeface="맑은 고딕" pitchFamily="34" charset="-122"/>
                <a:cs typeface="맑은 고딕" pitchFamily="34" charset="-120"/>
              </a:rPr>
              <a:t>13  미디어·기술 구현</a:t>
            </a:r>
            <a:endParaRPr lang="en-US" sz="1050" dirty="0"/>
          </a:p>
        </p:txBody>
      </p:sp>
      <p:sp>
        <p:nvSpPr>
          <p:cNvPr id="17" name="Text 15"/>
          <p:cNvSpPr/>
          <p:nvPr/>
        </p:nvSpPr>
        <p:spPr>
          <a:xfrm>
            <a:off x="7543800" y="1874520"/>
            <a:ext cx="2103120" cy="365760"/>
          </a:xfrm>
          <a:prstGeom prst="rect">
            <a:avLst/>
          </a:prstGeom>
          <a:noFill/>
          <a:ln/>
        </p:spPr>
        <p:txBody>
          <a:bodyPr wrap="square" lIns="0" tIns="0" rIns="0" bIns="0" rtlCol="0" anchor="ctr"/>
          <a:lstStyle/>
          <a:p>
            <a:pPr indent="0" marL="0">
              <a:buNone/>
            </a:pPr>
            <a:r>
              <a:rPr lang="en-US" sz="2200" b="1" dirty="0">
                <a:solidFill>
                  <a:srgbClr val="7A4A45"/>
                </a:solidFill>
                <a:latin typeface="Cambria" pitchFamily="34" charset="0"/>
                <a:ea typeface="Cambria" pitchFamily="34" charset="-122"/>
                <a:cs typeface="Cambria" pitchFamily="34" charset="-120"/>
              </a:rPr>
              <a:t>Ⅳ</a:t>
            </a:r>
            <a:endParaRPr lang="en-US" sz="2200" dirty="0"/>
          </a:p>
        </p:txBody>
      </p:sp>
      <p:sp>
        <p:nvSpPr>
          <p:cNvPr id="18" name="Text 16"/>
          <p:cNvSpPr/>
          <p:nvPr/>
        </p:nvSpPr>
        <p:spPr>
          <a:xfrm>
            <a:off x="7543800" y="2286000"/>
            <a:ext cx="2103120" cy="292608"/>
          </a:xfrm>
          <a:prstGeom prst="rect">
            <a:avLst/>
          </a:prstGeom>
          <a:noFill/>
          <a:ln/>
        </p:spPr>
        <p:txBody>
          <a:bodyPr wrap="square" lIns="0" tIns="0" rIns="0" bIns="0" rtlCol="0" anchor="ctr"/>
          <a:lstStyle/>
          <a:p>
            <a:pPr indent="0" marL="0">
              <a:buNone/>
            </a:pPr>
            <a:r>
              <a:rPr lang="en-US" sz="1300" b="1" dirty="0">
                <a:solidFill>
                  <a:srgbClr val="1A1A1A"/>
                </a:solidFill>
                <a:latin typeface="맑은 고딕" pitchFamily="34" charset="0"/>
                <a:ea typeface="맑은 고딕" pitchFamily="34" charset="-122"/>
                <a:cs typeface="맑은 고딕" pitchFamily="34" charset="-120"/>
              </a:rPr>
              <a:t>운영</a:t>
            </a:r>
            <a:endParaRPr lang="en-US" sz="1300" dirty="0"/>
          </a:p>
        </p:txBody>
      </p:sp>
      <p:sp>
        <p:nvSpPr>
          <p:cNvPr id="19" name="Shape 17"/>
          <p:cNvSpPr/>
          <p:nvPr/>
        </p:nvSpPr>
        <p:spPr>
          <a:xfrm>
            <a:off x="7543800" y="2697480"/>
            <a:ext cx="2057400" cy="0"/>
          </a:xfrm>
          <a:prstGeom prst="line">
            <a:avLst/>
          </a:prstGeom>
          <a:noFill/>
          <a:ln w="12700">
            <a:solidFill>
              <a:srgbClr val="D8D4CE"/>
            </a:solidFill>
            <a:prstDash val="solid"/>
          </a:ln>
        </p:spPr>
      </p:sp>
      <p:sp>
        <p:nvSpPr>
          <p:cNvPr id="20" name="Text 18"/>
          <p:cNvSpPr/>
          <p:nvPr/>
        </p:nvSpPr>
        <p:spPr>
          <a:xfrm>
            <a:off x="7543800" y="2834640"/>
            <a:ext cx="2103120" cy="3108960"/>
          </a:xfrm>
          <a:prstGeom prst="rect">
            <a:avLst/>
          </a:prstGeom>
          <a:noFill/>
          <a:ln/>
        </p:spPr>
        <p:txBody>
          <a:bodyPr wrap="square" lIns="0" tIns="0" rIns="0" bIns="0" rtlCol="0" anchor="t"/>
          <a:lstStyle/>
          <a:p>
            <a:pPr indent="0" marL="0">
              <a:lnSpc>
                <a:spcPts val="2000"/>
              </a:lnSpc>
              <a:buNone/>
            </a:pPr>
            <a:r>
              <a:rPr lang="en-US" sz="1050" dirty="0">
                <a:solidFill>
                  <a:srgbClr val="5A554F"/>
                </a:solidFill>
                <a:latin typeface="맑은 고딕" pitchFamily="34" charset="0"/>
                <a:ea typeface="맑은 고딕" pitchFamily="34" charset="-122"/>
                <a:cs typeface="맑은 고딕" pitchFamily="34" charset="-120"/>
              </a:rPr>
              <a:t>14  지역연계 프로그램</a:t>
            </a:r>
            <a:endParaRPr lang="en-US" sz="1050" dirty="0"/>
          </a:p>
          <a:p>
            <a:pPr indent="0" marL="0">
              <a:lnSpc>
                <a:spcPts val="2000"/>
              </a:lnSpc>
              <a:buNone/>
            </a:pPr>
            <a:r>
              <a:rPr lang="en-US" sz="1050" dirty="0">
                <a:solidFill>
                  <a:srgbClr val="5A554F"/>
                </a:solidFill>
                <a:latin typeface="맑은 고딕" pitchFamily="34" charset="0"/>
                <a:ea typeface="맑은 고딕" pitchFamily="34" charset="-122"/>
                <a:cs typeface="맑은 고딕" pitchFamily="34" charset="-120"/>
              </a:rPr>
              <a:t>15  홍보·마케팅</a:t>
            </a:r>
            <a:endParaRPr lang="en-US" sz="1050" dirty="0"/>
          </a:p>
          <a:p>
            <a:pPr indent="0" marL="0">
              <a:lnSpc>
                <a:spcPts val="2000"/>
              </a:lnSpc>
              <a:buNone/>
            </a:pPr>
            <a:r>
              <a:rPr lang="en-US" sz="1050" dirty="0">
                <a:solidFill>
                  <a:srgbClr val="5A554F"/>
                </a:solidFill>
                <a:latin typeface="맑은 고딕" pitchFamily="34" charset="0"/>
                <a:ea typeface="맑은 고딕" pitchFamily="34" charset="-122"/>
                <a:cs typeface="맑은 고딕" pitchFamily="34" charset="-120"/>
              </a:rPr>
              <a:t>16  [도식 5] 실행 프로세스</a:t>
            </a:r>
            <a:endParaRPr lang="en-US" sz="1050" dirty="0"/>
          </a:p>
          <a:p>
            <a:pPr indent="0" marL="0">
              <a:lnSpc>
                <a:spcPts val="2000"/>
              </a:lnSpc>
              <a:buNone/>
            </a:pPr>
            <a:r>
              <a:rPr lang="en-US" sz="1050" dirty="0">
                <a:solidFill>
                  <a:srgbClr val="5A554F"/>
                </a:solidFill>
                <a:latin typeface="맑은 고딕" pitchFamily="34" charset="0"/>
                <a:ea typeface="맑은 고딕" pitchFamily="34" charset="-122"/>
                <a:cs typeface="맑은 고딕" pitchFamily="34" charset="-120"/>
              </a:rPr>
              <a:t>17  [도식 6] 추진 일정</a:t>
            </a:r>
            <a:endParaRPr lang="en-US" sz="1050" dirty="0"/>
          </a:p>
          <a:p>
            <a:pPr indent="0" marL="0">
              <a:lnSpc>
                <a:spcPts val="2000"/>
              </a:lnSpc>
              <a:buNone/>
            </a:pPr>
            <a:r>
              <a:rPr lang="en-US" sz="1050" dirty="0">
                <a:solidFill>
                  <a:srgbClr val="5A554F"/>
                </a:solidFill>
                <a:latin typeface="맑은 고딕" pitchFamily="34" charset="0"/>
                <a:ea typeface="맑은 고딕" pitchFamily="34" charset="-122"/>
                <a:cs typeface="맑은 고딕" pitchFamily="34" charset="-120"/>
              </a:rPr>
              <a:t>18  [도식 7] 협력·재원 구조</a:t>
            </a:r>
            <a:endParaRPr lang="en-US" sz="1050" dirty="0"/>
          </a:p>
          <a:p>
            <a:pPr indent="0" marL="0">
              <a:lnSpc>
                <a:spcPts val="2000"/>
              </a:lnSpc>
              <a:buNone/>
            </a:pPr>
            <a:r>
              <a:rPr lang="en-US" sz="1050" dirty="0">
                <a:solidFill>
                  <a:srgbClr val="5A554F"/>
                </a:solidFill>
                <a:latin typeface="맑은 고딕" pitchFamily="34" charset="0"/>
                <a:ea typeface="맑은 고딕" pitchFamily="34" charset="-122"/>
                <a:cs typeface="맑은 고딕" pitchFamily="34" charset="-120"/>
              </a:rPr>
              <a:t>19  예산(안)</a:t>
            </a:r>
            <a:endParaRPr lang="en-US" sz="1050" dirty="0"/>
          </a:p>
        </p:txBody>
      </p:sp>
      <p:sp>
        <p:nvSpPr>
          <p:cNvPr id="21" name="Text 19"/>
          <p:cNvSpPr/>
          <p:nvPr/>
        </p:nvSpPr>
        <p:spPr>
          <a:xfrm>
            <a:off x="9875520" y="1874520"/>
            <a:ext cx="2103120" cy="365760"/>
          </a:xfrm>
          <a:prstGeom prst="rect">
            <a:avLst/>
          </a:prstGeom>
          <a:noFill/>
          <a:ln/>
        </p:spPr>
        <p:txBody>
          <a:bodyPr wrap="square" lIns="0" tIns="0" rIns="0" bIns="0" rtlCol="0" anchor="ctr"/>
          <a:lstStyle/>
          <a:p>
            <a:pPr indent="0" marL="0">
              <a:buNone/>
            </a:pPr>
            <a:r>
              <a:rPr lang="en-US" sz="2200" b="1" dirty="0">
                <a:solidFill>
                  <a:srgbClr val="4A4A4A"/>
                </a:solidFill>
                <a:latin typeface="Cambria" pitchFamily="34" charset="0"/>
                <a:ea typeface="Cambria" pitchFamily="34" charset="-122"/>
                <a:cs typeface="Cambria" pitchFamily="34" charset="-120"/>
              </a:rPr>
              <a:t>Ⅴ</a:t>
            </a:r>
            <a:endParaRPr lang="en-US" sz="2200" dirty="0"/>
          </a:p>
        </p:txBody>
      </p:sp>
      <p:sp>
        <p:nvSpPr>
          <p:cNvPr id="22" name="Text 20"/>
          <p:cNvSpPr/>
          <p:nvPr/>
        </p:nvSpPr>
        <p:spPr>
          <a:xfrm>
            <a:off x="9875520" y="2286000"/>
            <a:ext cx="2103120" cy="292608"/>
          </a:xfrm>
          <a:prstGeom prst="rect">
            <a:avLst/>
          </a:prstGeom>
          <a:noFill/>
          <a:ln/>
        </p:spPr>
        <p:txBody>
          <a:bodyPr wrap="square" lIns="0" tIns="0" rIns="0" bIns="0" rtlCol="0" anchor="ctr"/>
          <a:lstStyle/>
          <a:p>
            <a:pPr indent="0" marL="0">
              <a:buNone/>
            </a:pPr>
            <a:r>
              <a:rPr lang="en-US" sz="1300" b="1" dirty="0">
                <a:solidFill>
                  <a:srgbClr val="1A1A1A"/>
                </a:solidFill>
                <a:latin typeface="맑은 고딕" pitchFamily="34" charset="0"/>
                <a:ea typeface="맑은 고딕" pitchFamily="34" charset="-122"/>
                <a:cs typeface="맑은 고딕" pitchFamily="34" charset="-120"/>
              </a:rPr>
              <a:t>성과와 확장</a:t>
            </a:r>
            <a:endParaRPr lang="en-US" sz="1300" dirty="0"/>
          </a:p>
        </p:txBody>
      </p:sp>
      <p:sp>
        <p:nvSpPr>
          <p:cNvPr id="23" name="Shape 21"/>
          <p:cNvSpPr/>
          <p:nvPr/>
        </p:nvSpPr>
        <p:spPr>
          <a:xfrm>
            <a:off x="9875520" y="2697480"/>
            <a:ext cx="2057400" cy="0"/>
          </a:xfrm>
          <a:prstGeom prst="line">
            <a:avLst/>
          </a:prstGeom>
          <a:noFill/>
          <a:ln w="12700">
            <a:solidFill>
              <a:srgbClr val="D8D4CE"/>
            </a:solidFill>
            <a:prstDash val="solid"/>
          </a:ln>
        </p:spPr>
      </p:sp>
      <p:sp>
        <p:nvSpPr>
          <p:cNvPr id="24" name="Text 22"/>
          <p:cNvSpPr/>
          <p:nvPr/>
        </p:nvSpPr>
        <p:spPr>
          <a:xfrm>
            <a:off x="9875520" y="2834640"/>
            <a:ext cx="2103120" cy="3108960"/>
          </a:xfrm>
          <a:prstGeom prst="rect">
            <a:avLst/>
          </a:prstGeom>
          <a:noFill/>
          <a:ln/>
        </p:spPr>
        <p:txBody>
          <a:bodyPr wrap="square" lIns="0" tIns="0" rIns="0" bIns="0" rtlCol="0" anchor="t"/>
          <a:lstStyle/>
          <a:p>
            <a:pPr indent="0" marL="0">
              <a:lnSpc>
                <a:spcPts val="2000"/>
              </a:lnSpc>
              <a:buNone/>
            </a:pPr>
            <a:r>
              <a:rPr lang="en-US" sz="1050" dirty="0">
                <a:solidFill>
                  <a:srgbClr val="5A554F"/>
                </a:solidFill>
                <a:latin typeface="맑은 고딕" pitchFamily="34" charset="0"/>
                <a:ea typeface="맑은 고딕" pitchFamily="34" charset="-122"/>
                <a:cs typeface="맑은 고딕" pitchFamily="34" charset="-120"/>
              </a:rPr>
              <a:t>20  [도식 8] 기대효과·KPI</a:t>
            </a:r>
            <a:endParaRPr lang="en-US" sz="1050" dirty="0"/>
          </a:p>
          <a:p>
            <a:pPr indent="0" marL="0">
              <a:lnSpc>
                <a:spcPts val="2000"/>
              </a:lnSpc>
              <a:buNone/>
            </a:pPr>
            <a:r>
              <a:rPr lang="en-US" sz="1050" dirty="0">
                <a:solidFill>
                  <a:srgbClr val="5A554F"/>
                </a:solidFill>
                <a:latin typeface="맑은 고딕" pitchFamily="34" charset="0"/>
                <a:ea typeface="맑은 고딕" pitchFamily="34" charset="-122"/>
                <a:cs typeface="맑은 고딕" pitchFamily="34" charset="-120"/>
              </a:rPr>
              <a:t>21  리스크 관리</a:t>
            </a:r>
            <a:endParaRPr lang="en-US" sz="1050" dirty="0"/>
          </a:p>
          <a:p>
            <a:pPr indent="0" marL="0">
              <a:lnSpc>
                <a:spcPts val="2000"/>
              </a:lnSpc>
              <a:buNone/>
            </a:pPr>
            <a:r>
              <a:rPr lang="en-US" sz="1050" dirty="0">
                <a:solidFill>
                  <a:srgbClr val="5A554F"/>
                </a:solidFill>
                <a:latin typeface="맑은 고딕" pitchFamily="34" charset="0"/>
                <a:ea typeface="맑은 고딕" pitchFamily="34" charset="-122"/>
                <a:cs typeface="맑은 고딕" pitchFamily="34" charset="-120"/>
              </a:rPr>
              <a:t>22  확장 시나리오</a:t>
            </a:r>
            <a:endParaRPr lang="en-US" sz="1050" dirty="0"/>
          </a:p>
          <a:p>
            <a:pPr indent="0" marL="0">
              <a:lnSpc>
                <a:spcPts val="2000"/>
              </a:lnSpc>
              <a:buNone/>
            </a:pPr>
            <a:r>
              <a:rPr lang="en-US" sz="1050" dirty="0">
                <a:solidFill>
                  <a:srgbClr val="5A554F"/>
                </a:solidFill>
                <a:latin typeface="맑은 고딕" pitchFamily="34" charset="0"/>
                <a:ea typeface="맑은 고딕" pitchFamily="34" charset="-122"/>
                <a:cs typeface="맑은 고딕" pitchFamily="34" charset="-120"/>
              </a:rPr>
              <a:t>23  기획자 소개</a:t>
            </a:r>
            <a:endParaRPr lang="en-US" sz="1050" dirty="0"/>
          </a:p>
          <a:p>
            <a:pPr indent="0" marL="0">
              <a:lnSpc>
                <a:spcPts val="2000"/>
              </a:lnSpc>
              <a:buNone/>
            </a:pPr>
            <a:r>
              <a:rPr lang="en-US" sz="1050" dirty="0">
                <a:solidFill>
                  <a:srgbClr val="5A554F"/>
                </a:solidFill>
                <a:latin typeface="맑은 고딕" pitchFamily="34" charset="0"/>
                <a:ea typeface="맑은 고딕" pitchFamily="34" charset="-122"/>
                <a:cs typeface="맑은 고딕" pitchFamily="34" charset="-120"/>
              </a:rPr>
              <a:t>24  부록: 사진 삽입 가이드</a:t>
            </a:r>
            <a:endParaRPr lang="en-US" sz="1050" dirty="0"/>
          </a:p>
        </p:txBody>
      </p:sp>
      <p:sp>
        <p:nvSpPr>
          <p:cNvPr id="25" name="Text 23"/>
          <p:cNvSpPr/>
          <p:nvPr/>
        </p:nvSpPr>
        <p:spPr>
          <a:xfrm>
            <a:off x="548640" y="6419088"/>
            <a:ext cx="7315200" cy="274320"/>
          </a:xfrm>
          <a:prstGeom prst="rect">
            <a:avLst/>
          </a:prstGeom>
          <a:noFill/>
          <a:ln/>
        </p:spPr>
        <p:txBody>
          <a:bodyPr wrap="square" lIns="0" tIns="0" rIns="0" bIns="0" rtlCol="0" anchor="ctr"/>
          <a:lstStyle/>
          <a:p>
            <a:pPr algn="l" indent="0" marL="0">
              <a:buNone/>
            </a:pPr>
            <a:r>
              <a:rPr lang="en-US" sz="800" dirty="0">
                <a:solidFill>
                  <a:srgbClr val="8A857E"/>
                </a:solidFill>
                <a:latin typeface="맑은 고딕" pitchFamily="34" charset="0"/>
                <a:ea typeface="맑은 고딕" pitchFamily="34" charset="-122"/>
                <a:cs typeface="맑은 고딕" pitchFamily="34" charset="-120"/>
              </a:rPr>
              <a:t>아이테르 문화예술기획제안서   ·   덮인 물, 남은 올   ·   기획 추병곤</a:t>
            </a:r>
            <a:endParaRPr lang="en-US" sz="800" dirty="0"/>
          </a:p>
        </p:txBody>
      </p:sp>
      <p:sp>
        <p:nvSpPr>
          <p:cNvPr id="26" name="Text 24"/>
          <p:cNvSpPr/>
          <p:nvPr/>
        </p:nvSpPr>
        <p:spPr>
          <a:xfrm>
            <a:off x="10972800" y="6419088"/>
            <a:ext cx="640080" cy="274320"/>
          </a:xfrm>
          <a:prstGeom prst="rect">
            <a:avLst/>
          </a:prstGeom>
          <a:noFill/>
          <a:ln/>
        </p:spPr>
        <p:txBody>
          <a:bodyPr wrap="square" lIns="0" tIns="0" rIns="0" bIns="0" rtlCol="0" anchor="ctr"/>
          <a:lstStyle/>
          <a:p>
            <a:pPr algn="r" indent="0" marL="0">
              <a:buNone/>
            </a:pPr>
            <a:r>
              <a:rPr lang="en-US" sz="900" dirty="0">
                <a:solidFill>
                  <a:srgbClr val="8A857E"/>
                </a:solidFill>
                <a:latin typeface="Cambria" pitchFamily="34" charset="0"/>
                <a:ea typeface="Cambria" pitchFamily="34" charset="-122"/>
                <a:cs typeface="Cambria" pitchFamily="34" charset="-120"/>
              </a:rPr>
              <a:t>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7315200" cy="237744"/>
          </a:xfrm>
          <a:prstGeom prst="rect">
            <a:avLst/>
          </a:prstGeom>
          <a:noFill/>
          <a:ln/>
        </p:spPr>
        <p:txBody>
          <a:bodyPr wrap="square" lIns="0" tIns="0" rIns="0" bIns="0" rtlCol="0" anchor="ctr"/>
          <a:lstStyle/>
          <a:p>
            <a:pPr indent="0" marL="0">
              <a:buNone/>
            </a:pPr>
            <a:r>
              <a:rPr lang="en-US" sz="1050" spc="250" kern="0" dirty="0">
                <a:solidFill>
                  <a:srgbClr val="8A857E"/>
                </a:solidFill>
                <a:latin typeface="Cambria" pitchFamily="34" charset="0"/>
                <a:ea typeface="Cambria" pitchFamily="34" charset="-122"/>
                <a:cs typeface="Cambria" pitchFamily="34" charset="-120"/>
              </a:rPr>
              <a:t>01  EXECUTIVE SUMMARY</a:t>
            </a:r>
            <a:endParaRPr lang="en-US" sz="1050" dirty="0"/>
          </a:p>
        </p:txBody>
      </p:sp>
      <p:sp>
        <p:nvSpPr>
          <p:cNvPr id="3" name="Text 1"/>
          <p:cNvSpPr/>
          <p:nvPr/>
        </p:nvSpPr>
        <p:spPr>
          <a:xfrm>
            <a:off x="548640" y="694944"/>
            <a:ext cx="10058400" cy="502920"/>
          </a:xfrm>
          <a:prstGeom prst="rect">
            <a:avLst/>
          </a:prstGeom>
          <a:noFill/>
          <a:ln/>
        </p:spPr>
        <p:txBody>
          <a:bodyPr wrap="square" lIns="0" tIns="0" rIns="0" bIns="0" rtlCol="0" anchor="ctr"/>
          <a:lstStyle/>
          <a:p>
            <a:pPr indent="0" marL="0">
              <a:buNone/>
            </a:pPr>
            <a:r>
              <a:rPr lang="en-US" sz="2700" b="1" dirty="0">
                <a:solidFill>
                  <a:srgbClr val="1A1A1A"/>
                </a:solidFill>
                <a:latin typeface="맑은 고딕" pitchFamily="34" charset="0"/>
                <a:ea typeface="맑은 고딕" pitchFamily="34" charset="-122"/>
                <a:cs typeface="맑은 고딕" pitchFamily="34" charset="-120"/>
              </a:rPr>
              <a:t>한 장으로 보는 제안</a:t>
            </a:r>
            <a:endParaRPr lang="en-US" sz="2700" dirty="0"/>
          </a:p>
        </p:txBody>
      </p:sp>
      <p:sp>
        <p:nvSpPr>
          <p:cNvPr id="4" name="Shape 2"/>
          <p:cNvSpPr/>
          <p:nvPr/>
        </p:nvSpPr>
        <p:spPr>
          <a:xfrm>
            <a:off x="548640" y="1572768"/>
            <a:ext cx="11064240" cy="960120"/>
          </a:xfrm>
          <a:prstGeom prst="rect">
            <a:avLst/>
          </a:prstGeom>
          <a:solidFill>
            <a:srgbClr val="1A1A1A"/>
          </a:solidFill>
          <a:ln/>
        </p:spPr>
      </p:sp>
      <p:sp>
        <p:nvSpPr>
          <p:cNvPr id="5" name="Text 3"/>
          <p:cNvSpPr/>
          <p:nvPr/>
        </p:nvSpPr>
        <p:spPr>
          <a:xfrm>
            <a:off x="868680" y="1664208"/>
            <a:ext cx="10424160" cy="777240"/>
          </a:xfrm>
          <a:prstGeom prst="rect">
            <a:avLst/>
          </a:prstGeom>
          <a:noFill/>
          <a:ln/>
        </p:spPr>
        <p:txBody>
          <a:bodyPr wrap="square" lIns="0" tIns="0" rIns="0" bIns="0" rtlCol="0" anchor="ctr"/>
          <a:lstStyle/>
          <a:p>
            <a:pPr indent="0" marL="0">
              <a:lnSpc>
                <a:spcPts val="2400"/>
              </a:lnSpc>
              <a:buNone/>
            </a:pPr>
            <a:r>
              <a:rPr lang="en-US" sz="1350" dirty="0">
                <a:solidFill>
                  <a:srgbClr val="F0EBE2"/>
                </a:solidFill>
                <a:latin typeface="맑은 고딕" pitchFamily="34" charset="0"/>
                <a:ea typeface="맑은 고딕" pitchFamily="34" charset="-122"/>
                <a:cs typeface="맑은 고딕" pitchFamily="34" charset="-120"/>
              </a:rPr>
              <a:t>복개된 물길과 방직의 실, 그 위에 지어진 집 — 부산 동구 범일동의 물질사를 33평 노후 가옥 여덟 개의 방으로 번역하고,</a:t>
            </a:r>
            <a:endParaRPr lang="en-US" sz="1350" dirty="0"/>
          </a:p>
          <a:p>
            <a:pPr indent="0" marL="0">
              <a:lnSpc>
                <a:spcPts val="2400"/>
              </a:lnSpc>
              <a:buNone/>
            </a:pPr>
            <a:r>
              <a:rPr lang="en-US" sz="1350" dirty="0">
                <a:solidFill>
                  <a:srgbClr val="F0EBE2"/>
                </a:solidFill>
                <a:latin typeface="맑은 고딕" pitchFamily="34" charset="0"/>
                <a:ea typeface="맑은 고딕" pitchFamily="34" charset="-122"/>
                <a:cs typeface="맑은 고딕" pitchFamily="34" charset="-120"/>
              </a:rPr>
              <a:t>상인·주민·작가·기업이 함께 한 겹을 덧대는 장소특정형 기획전이자 지역 문화 플랫폼.</a:t>
            </a:r>
            <a:endParaRPr lang="en-US" sz="1350" dirty="0"/>
          </a:p>
        </p:txBody>
      </p:sp>
      <p:sp>
        <p:nvSpPr>
          <p:cNvPr id="6" name="Shape 4"/>
          <p:cNvSpPr/>
          <p:nvPr/>
        </p:nvSpPr>
        <p:spPr>
          <a:xfrm>
            <a:off x="548640" y="2788920"/>
            <a:ext cx="2615184" cy="1874520"/>
          </a:xfrm>
          <a:prstGeom prst="rect">
            <a:avLst/>
          </a:prstGeom>
          <a:solidFill>
            <a:srgbClr val="FFFFFF"/>
          </a:solidFill>
          <a:ln w="9525">
            <a:solidFill>
              <a:srgbClr val="D8D4CE"/>
            </a:solidFill>
            <a:prstDash val="solid"/>
          </a:ln>
        </p:spPr>
      </p:sp>
      <p:sp>
        <p:nvSpPr>
          <p:cNvPr id="7" name="Shape 5"/>
          <p:cNvSpPr/>
          <p:nvPr/>
        </p:nvSpPr>
        <p:spPr>
          <a:xfrm>
            <a:off x="804672" y="3017520"/>
            <a:ext cx="137160" cy="137160"/>
          </a:xfrm>
          <a:prstGeom prst="rect">
            <a:avLst/>
          </a:prstGeom>
          <a:solidFill>
            <a:srgbClr val="2F4858"/>
          </a:solidFill>
          <a:ln/>
        </p:spPr>
      </p:sp>
      <p:sp>
        <p:nvSpPr>
          <p:cNvPr id="8" name="Text 6"/>
          <p:cNvSpPr/>
          <p:nvPr/>
        </p:nvSpPr>
        <p:spPr>
          <a:xfrm>
            <a:off x="804672" y="3218688"/>
            <a:ext cx="2194560" cy="256032"/>
          </a:xfrm>
          <a:prstGeom prst="rect">
            <a:avLst/>
          </a:prstGeom>
          <a:noFill/>
          <a:ln/>
        </p:spPr>
        <p:txBody>
          <a:bodyPr wrap="square" lIns="0" tIns="0" rIns="0" bIns="0" rtlCol="0" anchor="ctr"/>
          <a:lstStyle/>
          <a:p>
            <a:pPr indent="0" marL="0">
              <a:buNone/>
            </a:pPr>
            <a:r>
              <a:rPr lang="en-US" sz="1050" b="1" dirty="0">
                <a:solidFill>
                  <a:srgbClr val="2F4858"/>
                </a:solidFill>
                <a:latin typeface="맑은 고딕" pitchFamily="34" charset="0"/>
                <a:ea typeface="맑은 고딕" pitchFamily="34" charset="-122"/>
                <a:cs typeface="맑은 고딕" pitchFamily="34" charset="-120"/>
              </a:rPr>
              <a:t>WHAT  무엇을</a:t>
            </a:r>
            <a:endParaRPr lang="en-US" sz="1050" dirty="0"/>
          </a:p>
        </p:txBody>
      </p:sp>
      <p:sp>
        <p:nvSpPr>
          <p:cNvPr id="9" name="Text 7"/>
          <p:cNvSpPr/>
          <p:nvPr/>
        </p:nvSpPr>
        <p:spPr>
          <a:xfrm>
            <a:off x="804672" y="3529584"/>
            <a:ext cx="2194560" cy="1005840"/>
          </a:xfrm>
          <a:prstGeom prst="rect">
            <a:avLst/>
          </a:prstGeom>
          <a:noFill/>
          <a:ln/>
        </p:spPr>
        <p:txBody>
          <a:bodyPr wrap="square" lIns="0" tIns="0" rIns="0" bIns="0" rtlCol="0" anchor="ctr"/>
          <a:lstStyle/>
          <a:p>
            <a:pPr indent="0" marL="0">
              <a:lnSpc>
                <a:spcPts val="1700"/>
              </a:lnSpc>
              <a:buNone/>
            </a:pPr>
            <a:r>
              <a:rPr lang="en-US" sz="1050" dirty="0">
                <a:solidFill>
                  <a:srgbClr val="3E3A35"/>
                </a:solidFill>
                <a:latin typeface="맑은 고딕" pitchFamily="34" charset="0"/>
                <a:ea typeface="맑은 고딕" pitchFamily="34" charset="-122"/>
                <a:cs typeface="맑은 고딕" pitchFamily="34" charset="-120"/>
              </a:rPr>
              <a:t>《덮인 물, 남은 올》</a:t>
            </a:r>
            <a:endParaRPr lang="en-US" sz="1050" dirty="0"/>
          </a:p>
          <a:p>
            <a:pPr indent="0" marL="0">
              <a:lnSpc>
                <a:spcPts val="1700"/>
              </a:lnSpc>
              <a:buNone/>
            </a:pPr>
            <a:r>
              <a:rPr lang="en-US" sz="1050" dirty="0">
                <a:solidFill>
                  <a:srgbClr val="3E3A35"/>
                </a:solidFill>
                <a:latin typeface="맑은 고딕" pitchFamily="34" charset="0"/>
                <a:ea typeface="맑은 고딕" pitchFamily="34" charset="-122"/>
                <a:cs typeface="맑은 고딕" pitchFamily="34" charset="-120"/>
              </a:rPr>
              <a:t>8개 전시실 장소특정형 기획전</a:t>
            </a:r>
            <a:endParaRPr lang="en-US" sz="1050" dirty="0"/>
          </a:p>
          <a:p>
            <a:pPr indent="0" marL="0">
              <a:lnSpc>
                <a:spcPts val="1700"/>
              </a:lnSpc>
              <a:buNone/>
            </a:pPr>
            <a:r>
              <a:rPr lang="en-US" sz="1050" dirty="0">
                <a:solidFill>
                  <a:srgbClr val="3E3A35"/>
                </a:solidFill>
                <a:latin typeface="맑은 고딕" pitchFamily="34" charset="0"/>
                <a:ea typeface="맑은 고딕" pitchFamily="34" charset="-122"/>
                <a:cs typeface="맑은 고딕" pitchFamily="34" charset="-120"/>
              </a:rPr>
              <a:t>+ 지역연계 프로그램 7종 27회</a:t>
            </a:r>
            <a:endParaRPr lang="en-US" sz="1050" dirty="0"/>
          </a:p>
        </p:txBody>
      </p:sp>
      <p:sp>
        <p:nvSpPr>
          <p:cNvPr id="10" name="Shape 8"/>
          <p:cNvSpPr/>
          <p:nvPr/>
        </p:nvSpPr>
        <p:spPr>
          <a:xfrm>
            <a:off x="3374136" y="2788920"/>
            <a:ext cx="2615184" cy="1874520"/>
          </a:xfrm>
          <a:prstGeom prst="rect">
            <a:avLst/>
          </a:prstGeom>
          <a:solidFill>
            <a:srgbClr val="FFFFFF"/>
          </a:solidFill>
          <a:ln w="9525">
            <a:solidFill>
              <a:srgbClr val="D8D4CE"/>
            </a:solidFill>
            <a:prstDash val="solid"/>
          </a:ln>
        </p:spPr>
      </p:sp>
      <p:sp>
        <p:nvSpPr>
          <p:cNvPr id="11" name="Shape 9"/>
          <p:cNvSpPr/>
          <p:nvPr/>
        </p:nvSpPr>
        <p:spPr>
          <a:xfrm>
            <a:off x="3630168" y="3017520"/>
            <a:ext cx="137160" cy="137160"/>
          </a:xfrm>
          <a:prstGeom prst="rect">
            <a:avLst/>
          </a:prstGeom>
          <a:solidFill>
            <a:srgbClr val="9C6B3C"/>
          </a:solidFill>
          <a:ln/>
        </p:spPr>
      </p:sp>
      <p:sp>
        <p:nvSpPr>
          <p:cNvPr id="12" name="Text 10"/>
          <p:cNvSpPr/>
          <p:nvPr/>
        </p:nvSpPr>
        <p:spPr>
          <a:xfrm>
            <a:off x="3630168" y="3218688"/>
            <a:ext cx="2194560" cy="256032"/>
          </a:xfrm>
          <a:prstGeom prst="rect">
            <a:avLst/>
          </a:prstGeom>
          <a:noFill/>
          <a:ln/>
        </p:spPr>
        <p:txBody>
          <a:bodyPr wrap="square" lIns="0" tIns="0" rIns="0" bIns="0" rtlCol="0" anchor="ctr"/>
          <a:lstStyle/>
          <a:p>
            <a:pPr indent="0" marL="0">
              <a:buNone/>
            </a:pPr>
            <a:r>
              <a:rPr lang="en-US" sz="1050" b="1" dirty="0">
                <a:solidFill>
                  <a:srgbClr val="9C6B3C"/>
                </a:solidFill>
                <a:latin typeface="맑은 고딕" pitchFamily="34" charset="0"/>
                <a:ea typeface="맑은 고딕" pitchFamily="34" charset="-122"/>
                <a:cs typeface="맑은 고딕" pitchFamily="34" charset="-120"/>
              </a:rPr>
              <a:t>WHERE  어디서</a:t>
            </a:r>
            <a:endParaRPr lang="en-US" sz="1050" dirty="0"/>
          </a:p>
        </p:txBody>
      </p:sp>
      <p:sp>
        <p:nvSpPr>
          <p:cNvPr id="13" name="Text 11"/>
          <p:cNvSpPr/>
          <p:nvPr/>
        </p:nvSpPr>
        <p:spPr>
          <a:xfrm>
            <a:off x="3630168" y="3529584"/>
            <a:ext cx="2194560" cy="1005840"/>
          </a:xfrm>
          <a:prstGeom prst="rect">
            <a:avLst/>
          </a:prstGeom>
          <a:noFill/>
          <a:ln/>
        </p:spPr>
        <p:txBody>
          <a:bodyPr wrap="square" lIns="0" tIns="0" rIns="0" bIns="0" rtlCol="0" anchor="ctr"/>
          <a:lstStyle/>
          <a:p>
            <a:pPr indent="0" marL="0">
              <a:lnSpc>
                <a:spcPts val="1700"/>
              </a:lnSpc>
              <a:buNone/>
            </a:pPr>
            <a:r>
              <a:rPr lang="en-US" sz="1050" dirty="0">
                <a:solidFill>
                  <a:srgbClr val="3E3A35"/>
                </a:solidFill>
                <a:latin typeface="맑은 고딕" pitchFamily="34" charset="0"/>
                <a:ea typeface="맑은 고딕" pitchFamily="34" charset="-122"/>
                <a:cs typeface="맑은 고딕" pitchFamily="34" charset="-120"/>
              </a:rPr>
              <a:t>아이테르 범일가옥 4F</a:t>
            </a:r>
            <a:endParaRPr lang="en-US" sz="1050" dirty="0"/>
          </a:p>
          <a:p>
            <a:pPr indent="0" marL="0">
              <a:lnSpc>
                <a:spcPts val="1700"/>
              </a:lnSpc>
              <a:buNone/>
            </a:pPr>
            <a:r>
              <a:rPr lang="en-US" sz="1050" dirty="0">
                <a:solidFill>
                  <a:srgbClr val="3E3A35"/>
                </a:solidFill>
                <a:latin typeface="맑은 고딕" pitchFamily="34" charset="0"/>
                <a:ea typeface="맑은 고딕" pitchFamily="34" charset="-122"/>
                <a:cs typeface="맑은 고딕" pitchFamily="34" charset="-120"/>
              </a:rPr>
              <a:t>조선방직 건축양식 기반 33평·8실</a:t>
            </a:r>
            <a:endParaRPr lang="en-US" sz="1050" dirty="0"/>
          </a:p>
          <a:p>
            <a:pPr indent="0" marL="0">
              <a:lnSpc>
                <a:spcPts val="1700"/>
              </a:lnSpc>
              <a:buNone/>
            </a:pPr>
            <a:r>
              <a:rPr lang="en-US" sz="1050" dirty="0">
                <a:solidFill>
                  <a:srgbClr val="3E3A35"/>
                </a:solidFill>
                <a:latin typeface="맑은 고딕" pitchFamily="34" charset="0"/>
                <a:ea typeface="맑은 고딕" pitchFamily="34" charset="-122"/>
                <a:cs typeface="맑은 고딕" pitchFamily="34" charset="-120"/>
              </a:rPr>
              <a:t>부산 동구 범일로65번길 21</a:t>
            </a:r>
            <a:endParaRPr lang="en-US" sz="1050" dirty="0"/>
          </a:p>
        </p:txBody>
      </p:sp>
      <p:sp>
        <p:nvSpPr>
          <p:cNvPr id="14" name="Shape 12"/>
          <p:cNvSpPr/>
          <p:nvPr/>
        </p:nvSpPr>
        <p:spPr>
          <a:xfrm>
            <a:off x="6199632" y="2788920"/>
            <a:ext cx="2615184" cy="1874520"/>
          </a:xfrm>
          <a:prstGeom prst="rect">
            <a:avLst/>
          </a:prstGeom>
          <a:solidFill>
            <a:srgbClr val="FFFFFF"/>
          </a:solidFill>
          <a:ln w="9525">
            <a:solidFill>
              <a:srgbClr val="D8D4CE"/>
            </a:solidFill>
            <a:prstDash val="solid"/>
          </a:ln>
        </p:spPr>
      </p:sp>
      <p:sp>
        <p:nvSpPr>
          <p:cNvPr id="15" name="Shape 13"/>
          <p:cNvSpPr/>
          <p:nvPr/>
        </p:nvSpPr>
        <p:spPr>
          <a:xfrm>
            <a:off x="6455664" y="3017520"/>
            <a:ext cx="137160" cy="137160"/>
          </a:xfrm>
          <a:prstGeom prst="rect">
            <a:avLst/>
          </a:prstGeom>
          <a:solidFill>
            <a:srgbClr val="7A4A45"/>
          </a:solidFill>
          <a:ln/>
        </p:spPr>
      </p:sp>
      <p:sp>
        <p:nvSpPr>
          <p:cNvPr id="16" name="Text 14"/>
          <p:cNvSpPr/>
          <p:nvPr/>
        </p:nvSpPr>
        <p:spPr>
          <a:xfrm>
            <a:off x="6455664" y="3218688"/>
            <a:ext cx="2194560" cy="256032"/>
          </a:xfrm>
          <a:prstGeom prst="rect">
            <a:avLst/>
          </a:prstGeom>
          <a:noFill/>
          <a:ln/>
        </p:spPr>
        <p:txBody>
          <a:bodyPr wrap="square" lIns="0" tIns="0" rIns="0" bIns="0" rtlCol="0" anchor="ctr"/>
          <a:lstStyle/>
          <a:p>
            <a:pPr indent="0" marL="0">
              <a:buNone/>
            </a:pPr>
            <a:r>
              <a:rPr lang="en-US" sz="1050" b="1" dirty="0">
                <a:solidFill>
                  <a:srgbClr val="7A4A45"/>
                </a:solidFill>
                <a:latin typeface="맑은 고딕" pitchFamily="34" charset="0"/>
                <a:ea typeface="맑은 고딕" pitchFamily="34" charset="-122"/>
                <a:cs typeface="맑은 고딕" pitchFamily="34" charset="-120"/>
              </a:rPr>
              <a:t>HOW  어떻게</a:t>
            </a:r>
            <a:endParaRPr lang="en-US" sz="1050" dirty="0"/>
          </a:p>
        </p:txBody>
      </p:sp>
      <p:sp>
        <p:nvSpPr>
          <p:cNvPr id="17" name="Text 15"/>
          <p:cNvSpPr/>
          <p:nvPr/>
        </p:nvSpPr>
        <p:spPr>
          <a:xfrm>
            <a:off x="6455664" y="3529584"/>
            <a:ext cx="2194560" cy="1005840"/>
          </a:xfrm>
          <a:prstGeom prst="rect">
            <a:avLst/>
          </a:prstGeom>
          <a:noFill/>
          <a:ln/>
        </p:spPr>
        <p:txBody>
          <a:bodyPr wrap="square" lIns="0" tIns="0" rIns="0" bIns="0" rtlCol="0" anchor="ctr"/>
          <a:lstStyle/>
          <a:p>
            <a:pPr indent="0" marL="0">
              <a:lnSpc>
                <a:spcPts val="1700"/>
              </a:lnSpc>
              <a:buNone/>
            </a:pPr>
            <a:r>
              <a:rPr lang="en-US" sz="1050" dirty="0">
                <a:solidFill>
                  <a:srgbClr val="3E3A35"/>
                </a:solidFill>
                <a:latin typeface="맑은 고딕" pitchFamily="34" charset="0"/>
                <a:ea typeface="맑은 고딕" pitchFamily="34" charset="-122"/>
                <a:cs typeface="맑은 고딕" pitchFamily="34" charset="-120"/>
              </a:rPr>
              <a:t>화이트큐브 조성이 아니라 '덧대기'.</a:t>
            </a:r>
            <a:endParaRPr lang="en-US" sz="1050" dirty="0"/>
          </a:p>
          <a:p>
            <a:pPr indent="0" marL="0">
              <a:lnSpc>
                <a:spcPts val="1700"/>
              </a:lnSpc>
              <a:buNone/>
            </a:pPr>
            <a:r>
              <a:rPr lang="en-US" sz="1050" dirty="0">
                <a:solidFill>
                  <a:srgbClr val="3E3A35"/>
                </a:solidFill>
                <a:latin typeface="맑은 고딕" pitchFamily="34" charset="0"/>
                <a:ea typeface="맑은 고딕" pitchFamily="34" charset="-122"/>
                <a:cs typeface="맑은 고딕" pitchFamily="34" charset="-120"/>
              </a:rPr>
              <a:t>가옥의 흔적을 지우지 않고</a:t>
            </a:r>
            <a:endParaRPr lang="en-US" sz="1050" dirty="0"/>
          </a:p>
          <a:p>
            <a:pPr indent="0" marL="0">
              <a:lnSpc>
                <a:spcPts val="1700"/>
              </a:lnSpc>
              <a:buNone/>
            </a:pPr>
            <a:r>
              <a:rPr lang="en-US" sz="1050" dirty="0">
                <a:solidFill>
                  <a:srgbClr val="3E3A35"/>
                </a:solidFill>
                <a:latin typeface="맑은 고딕" pitchFamily="34" charset="0"/>
                <a:ea typeface="맑은 고딕" pitchFamily="34" charset="-122"/>
                <a:cs typeface="맑은 고딕" pitchFamily="34" charset="-120"/>
              </a:rPr>
              <a:t>그 위에 한 겹을 더한다.</a:t>
            </a:r>
            <a:endParaRPr lang="en-US" sz="1050" dirty="0"/>
          </a:p>
        </p:txBody>
      </p:sp>
      <p:sp>
        <p:nvSpPr>
          <p:cNvPr id="18" name="Shape 16"/>
          <p:cNvSpPr/>
          <p:nvPr/>
        </p:nvSpPr>
        <p:spPr>
          <a:xfrm>
            <a:off x="9025128" y="2788920"/>
            <a:ext cx="2615184" cy="1874520"/>
          </a:xfrm>
          <a:prstGeom prst="rect">
            <a:avLst/>
          </a:prstGeom>
          <a:solidFill>
            <a:srgbClr val="FFFFFF"/>
          </a:solidFill>
          <a:ln w="9525">
            <a:solidFill>
              <a:srgbClr val="D8D4CE"/>
            </a:solidFill>
            <a:prstDash val="solid"/>
          </a:ln>
        </p:spPr>
      </p:sp>
      <p:sp>
        <p:nvSpPr>
          <p:cNvPr id="19" name="Shape 17"/>
          <p:cNvSpPr/>
          <p:nvPr/>
        </p:nvSpPr>
        <p:spPr>
          <a:xfrm>
            <a:off x="9281160" y="3017520"/>
            <a:ext cx="137160" cy="137160"/>
          </a:xfrm>
          <a:prstGeom prst="rect">
            <a:avLst/>
          </a:prstGeom>
          <a:solidFill>
            <a:srgbClr val="4A4A4A"/>
          </a:solidFill>
          <a:ln/>
        </p:spPr>
      </p:sp>
      <p:sp>
        <p:nvSpPr>
          <p:cNvPr id="20" name="Text 18"/>
          <p:cNvSpPr/>
          <p:nvPr/>
        </p:nvSpPr>
        <p:spPr>
          <a:xfrm>
            <a:off x="9281160" y="3218688"/>
            <a:ext cx="2194560" cy="256032"/>
          </a:xfrm>
          <a:prstGeom prst="rect">
            <a:avLst/>
          </a:prstGeom>
          <a:noFill/>
          <a:ln/>
        </p:spPr>
        <p:txBody>
          <a:bodyPr wrap="square" lIns="0" tIns="0" rIns="0" bIns="0" rtlCol="0" anchor="ctr"/>
          <a:lstStyle/>
          <a:p>
            <a:pPr indent="0" marL="0">
              <a:buNone/>
            </a:pPr>
            <a:r>
              <a:rPr lang="en-US" sz="1050" b="1" dirty="0">
                <a:solidFill>
                  <a:srgbClr val="4A4A4A"/>
                </a:solidFill>
                <a:latin typeface="맑은 고딕" pitchFamily="34" charset="0"/>
                <a:ea typeface="맑은 고딕" pitchFamily="34" charset="-122"/>
                <a:cs typeface="맑은 고딕" pitchFamily="34" charset="-120"/>
              </a:rPr>
              <a:t>WHY NOW  왜 지금</a:t>
            </a:r>
            <a:endParaRPr lang="en-US" sz="1050" dirty="0"/>
          </a:p>
        </p:txBody>
      </p:sp>
      <p:sp>
        <p:nvSpPr>
          <p:cNvPr id="21" name="Text 19"/>
          <p:cNvSpPr/>
          <p:nvPr/>
        </p:nvSpPr>
        <p:spPr>
          <a:xfrm>
            <a:off x="9281160" y="3529584"/>
            <a:ext cx="2194560" cy="1005840"/>
          </a:xfrm>
          <a:prstGeom prst="rect">
            <a:avLst/>
          </a:prstGeom>
          <a:noFill/>
          <a:ln/>
        </p:spPr>
        <p:txBody>
          <a:bodyPr wrap="square" lIns="0" tIns="0" rIns="0" bIns="0" rtlCol="0" anchor="ctr"/>
          <a:lstStyle/>
          <a:p>
            <a:pPr indent="0" marL="0">
              <a:lnSpc>
                <a:spcPts val="1700"/>
              </a:lnSpc>
              <a:buNone/>
            </a:pPr>
            <a:r>
              <a:rPr lang="en-US" sz="1050" dirty="0">
                <a:solidFill>
                  <a:srgbClr val="3E3A35"/>
                </a:solidFill>
                <a:latin typeface="맑은 고딕" pitchFamily="34" charset="0"/>
                <a:ea typeface="맑은 고딕" pitchFamily="34" charset="-122"/>
                <a:cs typeface="맑은 고딕" pitchFamily="34" charset="-120"/>
              </a:rPr>
              <a:t>조방 터 재개발과 진시장 상권 전환기.</a:t>
            </a:r>
            <a:endParaRPr lang="en-US" sz="1050" dirty="0"/>
          </a:p>
          <a:p>
            <a:pPr indent="0" marL="0">
              <a:lnSpc>
                <a:spcPts val="1700"/>
              </a:lnSpc>
              <a:buNone/>
            </a:pPr>
            <a:r>
              <a:rPr lang="en-US" sz="1050" dirty="0">
                <a:solidFill>
                  <a:srgbClr val="3E3A35"/>
                </a:solidFill>
                <a:latin typeface="맑은 고딕" pitchFamily="34" charset="0"/>
                <a:ea typeface="맑은 고딕" pitchFamily="34" charset="-122"/>
                <a:cs typeface="맑은 고딕" pitchFamily="34" charset="-120"/>
              </a:rPr>
              <a:t>사라지기 전에 기록하고,</a:t>
            </a:r>
            <a:endParaRPr lang="en-US" sz="1050" dirty="0"/>
          </a:p>
          <a:p>
            <a:pPr indent="0" marL="0">
              <a:lnSpc>
                <a:spcPts val="1700"/>
              </a:lnSpc>
              <a:buNone/>
            </a:pPr>
            <a:r>
              <a:rPr lang="en-US" sz="1050" dirty="0">
                <a:solidFill>
                  <a:srgbClr val="3E3A35"/>
                </a:solidFill>
                <a:latin typeface="맑은 고딕" pitchFamily="34" charset="0"/>
                <a:ea typeface="맑은 고딕" pitchFamily="34" charset="-122"/>
                <a:cs typeface="맑은 고딕" pitchFamily="34" charset="-120"/>
              </a:rPr>
              <a:t>지역에 문화자산으로 되돌려준다.</a:t>
            </a:r>
            <a:endParaRPr lang="en-US" sz="1050" dirty="0"/>
          </a:p>
        </p:txBody>
      </p:sp>
      <p:sp>
        <p:nvSpPr>
          <p:cNvPr id="22" name="Shape 20"/>
          <p:cNvSpPr/>
          <p:nvPr/>
        </p:nvSpPr>
        <p:spPr>
          <a:xfrm>
            <a:off x="548640" y="4956048"/>
            <a:ext cx="11064240" cy="1207008"/>
          </a:xfrm>
          <a:prstGeom prst="rect">
            <a:avLst/>
          </a:prstGeom>
          <a:solidFill>
            <a:srgbClr val="F3F1ED"/>
          </a:solidFill>
          <a:ln/>
        </p:spPr>
      </p:sp>
      <p:sp>
        <p:nvSpPr>
          <p:cNvPr id="23" name="Text 21"/>
          <p:cNvSpPr/>
          <p:nvPr/>
        </p:nvSpPr>
        <p:spPr>
          <a:xfrm>
            <a:off x="548640" y="5138928"/>
            <a:ext cx="1843430" cy="457200"/>
          </a:xfrm>
          <a:prstGeom prst="rect">
            <a:avLst/>
          </a:prstGeom>
          <a:noFill/>
          <a:ln/>
        </p:spPr>
        <p:txBody>
          <a:bodyPr wrap="square" lIns="0" tIns="0" rIns="0" bIns="0" rtlCol="0" anchor="ctr"/>
          <a:lstStyle/>
          <a:p>
            <a:pPr algn="ctr" indent="0" marL="0">
              <a:buNone/>
            </a:pPr>
            <a:r>
              <a:rPr lang="en-US" sz="2000" b="1" dirty="0">
                <a:solidFill>
                  <a:srgbClr val="1A1A1A"/>
                </a:solidFill>
                <a:latin typeface="맑은 고딕" pitchFamily="34" charset="0"/>
                <a:ea typeface="맑은 고딕" pitchFamily="34" charset="-122"/>
                <a:cs typeface="맑은 고딕" pitchFamily="34" charset="-120"/>
              </a:rPr>
              <a:t>10주</a:t>
            </a:r>
            <a:endParaRPr lang="en-US" sz="2000" dirty="0"/>
          </a:p>
        </p:txBody>
      </p:sp>
      <p:sp>
        <p:nvSpPr>
          <p:cNvPr id="24" name="Text 22"/>
          <p:cNvSpPr/>
          <p:nvPr/>
        </p:nvSpPr>
        <p:spPr>
          <a:xfrm>
            <a:off x="548640" y="5632704"/>
            <a:ext cx="1843430" cy="274320"/>
          </a:xfrm>
          <a:prstGeom prst="rect">
            <a:avLst/>
          </a:prstGeom>
          <a:noFill/>
          <a:ln/>
        </p:spPr>
        <p:txBody>
          <a:bodyPr wrap="square" lIns="0" tIns="0" rIns="0" bIns="0" rtlCol="0" anchor="ctr"/>
          <a:lstStyle/>
          <a:p>
            <a:pPr algn="ctr" indent="0" marL="0">
              <a:buNone/>
            </a:pPr>
            <a:r>
              <a:rPr lang="en-US" sz="950" dirty="0">
                <a:solidFill>
                  <a:srgbClr val="8A857E"/>
                </a:solidFill>
                <a:latin typeface="맑은 고딕" pitchFamily="34" charset="0"/>
                <a:ea typeface="맑은 고딕" pitchFamily="34" charset="-122"/>
                <a:cs typeface="맑은 고딕" pitchFamily="34" charset="-120"/>
              </a:rPr>
              <a:t>2027.9.3 – 11.7</a:t>
            </a:r>
            <a:endParaRPr lang="en-US" sz="950" dirty="0"/>
          </a:p>
        </p:txBody>
      </p:sp>
      <p:sp>
        <p:nvSpPr>
          <p:cNvPr id="25" name="Text 23"/>
          <p:cNvSpPr/>
          <p:nvPr/>
        </p:nvSpPr>
        <p:spPr>
          <a:xfrm>
            <a:off x="2392070" y="5138928"/>
            <a:ext cx="1843430" cy="457200"/>
          </a:xfrm>
          <a:prstGeom prst="rect">
            <a:avLst/>
          </a:prstGeom>
          <a:noFill/>
          <a:ln/>
        </p:spPr>
        <p:txBody>
          <a:bodyPr wrap="square" lIns="0" tIns="0" rIns="0" bIns="0" rtlCol="0" anchor="ctr"/>
          <a:lstStyle/>
          <a:p>
            <a:pPr algn="ctr" indent="0" marL="0">
              <a:buNone/>
            </a:pPr>
            <a:r>
              <a:rPr lang="en-US" sz="2000" b="1" dirty="0">
                <a:solidFill>
                  <a:srgbClr val="1A1A1A"/>
                </a:solidFill>
                <a:latin typeface="맑은 고딕" pitchFamily="34" charset="0"/>
                <a:ea typeface="맑은 고딕" pitchFamily="34" charset="-122"/>
                <a:cs typeface="맑은 고딕" pitchFamily="34" charset="-120"/>
              </a:rPr>
              <a:t>8실</a:t>
            </a:r>
            <a:endParaRPr lang="en-US" sz="2000" dirty="0"/>
          </a:p>
        </p:txBody>
      </p:sp>
      <p:sp>
        <p:nvSpPr>
          <p:cNvPr id="26" name="Text 24"/>
          <p:cNvSpPr/>
          <p:nvPr/>
        </p:nvSpPr>
        <p:spPr>
          <a:xfrm>
            <a:off x="2392070" y="5632704"/>
            <a:ext cx="1843430" cy="274320"/>
          </a:xfrm>
          <a:prstGeom prst="rect">
            <a:avLst/>
          </a:prstGeom>
          <a:noFill/>
          <a:ln/>
        </p:spPr>
        <p:txBody>
          <a:bodyPr wrap="square" lIns="0" tIns="0" rIns="0" bIns="0" rtlCol="0" anchor="ctr"/>
          <a:lstStyle/>
          <a:p>
            <a:pPr algn="ctr" indent="0" marL="0">
              <a:buNone/>
            </a:pPr>
            <a:r>
              <a:rPr lang="en-US" sz="950" dirty="0">
                <a:solidFill>
                  <a:srgbClr val="8A857E"/>
                </a:solidFill>
                <a:latin typeface="맑은 고딕" pitchFamily="34" charset="0"/>
                <a:ea typeface="맑은 고딕" pitchFamily="34" charset="-122"/>
                <a:cs typeface="맑은 고딕" pitchFamily="34" charset="-120"/>
              </a:rPr>
              <a:t>전시공간 33평</a:t>
            </a:r>
            <a:endParaRPr lang="en-US" sz="950" dirty="0"/>
          </a:p>
        </p:txBody>
      </p:sp>
      <p:sp>
        <p:nvSpPr>
          <p:cNvPr id="27" name="Shape 25"/>
          <p:cNvSpPr/>
          <p:nvPr/>
        </p:nvSpPr>
        <p:spPr>
          <a:xfrm>
            <a:off x="2392070" y="5193792"/>
            <a:ext cx="0" cy="777240"/>
          </a:xfrm>
          <a:prstGeom prst="line">
            <a:avLst/>
          </a:prstGeom>
          <a:noFill/>
          <a:ln w="12700">
            <a:solidFill>
              <a:srgbClr val="DDD8D1"/>
            </a:solidFill>
            <a:prstDash val="solid"/>
          </a:ln>
        </p:spPr>
      </p:sp>
      <p:sp>
        <p:nvSpPr>
          <p:cNvPr id="28" name="Text 26"/>
          <p:cNvSpPr/>
          <p:nvPr/>
        </p:nvSpPr>
        <p:spPr>
          <a:xfrm>
            <a:off x="4235501" y="5138928"/>
            <a:ext cx="1843430" cy="457200"/>
          </a:xfrm>
          <a:prstGeom prst="rect">
            <a:avLst/>
          </a:prstGeom>
          <a:noFill/>
          <a:ln/>
        </p:spPr>
        <p:txBody>
          <a:bodyPr wrap="square" lIns="0" tIns="0" rIns="0" bIns="0" rtlCol="0" anchor="ctr"/>
          <a:lstStyle/>
          <a:p>
            <a:pPr algn="ctr" indent="0" marL="0">
              <a:buNone/>
            </a:pPr>
            <a:r>
              <a:rPr lang="en-US" sz="2000" b="1" dirty="0">
                <a:solidFill>
                  <a:srgbClr val="1A1A1A"/>
                </a:solidFill>
                <a:latin typeface="맑은 고딕" pitchFamily="34" charset="0"/>
                <a:ea typeface="맑은 고딕" pitchFamily="34" charset="-122"/>
                <a:cs typeface="맑은 고딕" pitchFamily="34" charset="-120"/>
              </a:rPr>
              <a:t>7인·팀</a:t>
            </a:r>
            <a:endParaRPr lang="en-US" sz="2000" dirty="0"/>
          </a:p>
        </p:txBody>
      </p:sp>
      <p:sp>
        <p:nvSpPr>
          <p:cNvPr id="29" name="Text 27"/>
          <p:cNvSpPr/>
          <p:nvPr/>
        </p:nvSpPr>
        <p:spPr>
          <a:xfrm>
            <a:off x="4235501" y="5632704"/>
            <a:ext cx="1843430" cy="274320"/>
          </a:xfrm>
          <a:prstGeom prst="rect">
            <a:avLst/>
          </a:prstGeom>
          <a:noFill/>
          <a:ln/>
        </p:spPr>
        <p:txBody>
          <a:bodyPr wrap="square" lIns="0" tIns="0" rIns="0" bIns="0" rtlCol="0" anchor="ctr"/>
          <a:lstStyle/>
          <a:p>
            <a:pPr algn="ctr" indent="0" marL="0">
              <a:buNone/>
            </a:pPr>
            <a:r>
              <a:rPr lang="en-US" sz="950" dirty="0">
                <a:solidFill>
                  <a:srgbClr val="8A857E"/>
                </a:solidFill>
                <a:latin typeface="맑은 고딕" pitchFamily="34" charset="0"/>
                <a:ea typeface="맑은 고딕" pitchFamily="34" charset="-122"/>
                <a:cs typeface="맑은 고딕" pitchFamily="34" charset="-120"/>
              </a:rPr>
              <a:t>참여 작가</a:t>
            </a:r>
            <a:endParaRPr lang="en-US" sz="950" dirty="0"/>
          </a:p>
        </p:txBody>
      </p:sp>
      <p:sp>
        <p:nvSpPr>
          <p:cNvPr id="30" name="Shape 28"/>
          <p:cNvSpPr/>
          <p:nvPr/>
        </p:nvSpPr>
        <p:spPr>
          <a:xfrm>
            <a:off x="4235501" y="5193792"/>
            <a:ext cx="0" cy="777240"/>
          </a:xfrm>
          <a:prstGeom prst="line">
            <a:avLst/>
          </a:prstGeom>
          <a:noFill/>
          <a:ln w="12700">
            <a:solidFill>
              <a:srgbClr val="DDD8D1"/>
            </a:solidFill>
            <a:prstDash val="solid"/>
          </a:ln>
        </p:spPr>
      </p:sp>
      <p:sp>
        <p:nvSpPr>
          <p:cNvPr id="31" name="Text 29"/>
          <p:cNvSpPr/>
          <p:nvPr/>
        </p:nvSpPr>
        <p:spPr>
          <a:xfrm>
            <a:off x="6078931" y="5138928"/>
            <a:ext cx="1843430" cy="457200"/>
          </a:xfrm>
          <a:prstGeom prst="rect">
            <a:avLst/>
          </a:prstGeom>
          <a:noFill/>
          <a:ln/>
        </p:spPr>
        <p:txBody>
          <a:bodyPr wrap="square" lIns="0" tIns="0" rIns="0" bIns="0" rtlCol="0" anchor="ctr"/>
          <a:lstStyle/>
          <a:p>
            <a:pPr algn="ctr" indent="0" marL="0">
              <a:buNone/>
            </a:pPr>
            <a:r>
              <a:rPr lang="en-US" sz="2000" b="1" dirty="0">
                <a:solidFill>
                  <a:srgbClr val="1A1A1A"/>
                </a:solidFill>
                <a:latin typeface="맑은 고딕" pitchFamily="34" charset="0"/>
                <a:ea typeface="맑은 고딕" pitchFamily="34" charset="-122"/>
                <a:cs typeface="맑은 고딕" pitchFamily="34" charset="-120"/>
              </a:rPr>
              <a:t>27회</a:t>
            </a:r>
            <a:endParaRPr lang="en-US" sz="2000" dirty="0"/>
          </a:p>
        </p:txBody>
      </p:sp>
      <p:sp>
        <p:nvSpPr>
          <p:cNvPr id="32" name="Text 30"/>
          <p:cNvSpPr/>
          <p:nvPr/>
        </p:nvSpPr>
        <p:spPr>
          <a:xfrm>
            <a:off x="6078931" y="5632704"/>
            <a:ext cx="1843430" cy="274320"/>
          </a:xfrm>
          <a:prstGeom prst="rect">
            <a:avLst/>
          </a:prstGeom>
          <a:noFill/>
          <a:ln/>
        </p:spPr>
        <p:txBody>
          <a:bodyPr wrap="square" lIns="0" tIns="0" rIns="0" bIns="0" rtlCol="0" anchor="ctr"/>
          <a:lstStyle/>
          <a:p>
            <a:pPr algn="ctr" indent="0" marL="0">
              <a:buNone/>
            </a:pPr>
            <a:r>
              <a:rPr lang="en-US" sz="950" dirty="0">
                <a:solidFill>
                  <a:srgbClr val="8A857E"/>
                </a:solidFill>
                <a:latin typeface="맑은 고딕" pitchFamily="34" charset="0"/>
                <a:ea typeface="맑은 고딕" pitchFamily="34" charset="-122"/>
                <a:cs typeface="맑은 고딕" pitchFamily="34" charset="-120"/>
              </a:rPr>
              <a:t>연계 프로그램</a:t>
            </a:r>
            <a:endParaRPr lang="en-US" sz="950" dirty="0"/>
          </a:p>
        </p:txBody>
      </p:sp>
      <p:sp>
        <p:nvSpPr>
          <p:cNvPr id="33" name="Shape 31"/>
          <p:cNvSpPr/>
          <p:nvPr/>
        </p:nvSpPr>
        <p:spPr>
          <a:xfrm>
            <a:off x="6078931" y="5193792"/>
            <a:ext cx="0" cy="777240"/>
          </a:xfrm>
          <a:prstGeom prst="line">
            <a:avLst/>
          </a:prstGeom>
          <a:noFill/>
          <a:ln w="12700">
            <a:solidFill>
              <a:srgbClr val="DDD8D1"/>
            </a:solidFill>
            <a:prstDash val="solid"/>
          </a:ln>
        </p:spPr>
      </p:sp>
      <p:sp>
        <p:nvSpPr>
          <p:cNvPr id="34" name="Text 32"/>
          <p:cNvSpPr/>
          <p:nvPr/>
        </p:nvSpPr>
        <p:spPr>
          <a:xfrm>
            <a:off x="7922362" y="5138928"/>
            <a:ext cx="1843430" cy="457200"/>
          </a:xfrm>
          <a:prstGeom prst="rect">
            <a:avLst/>
          </a:prstGeom>
          <a:noFill/>
          <a:ln/>
        </p:spPr>
        <p:txBody>
          <a:bodyPr wrap="square" lIns="0" tIns="0" rIns="0" bIns="0" rtlCol="0" anchor="ctr"/>
          <a:lstStyle/>
          <a:p>
            <a:pPr algn="ctr" indent="0" marL="0">
              <a:buNone/>
            </a:pPr>
            <a:r>
              <a:rPr lang="en-US" sz="2000" b="1" dirty="0">
                <a:solidFill>
                  <a:srgbClr val="1A1A1A"/>
                </a:solidFill>
                <a:latin typeface="맑은 고딕" pitchFamily="34" charset="0"/>
                <a:ea typeface="맑은 고딕" pitchFamily="34" charset="-122"/>
                <a:cs typeface="맑은 고딕" pitchFamily="34" charset="-120"/>
              </a:rPr>
              <a:t>4,500명</a:t>
            </a:r>
            <a:endParaRPr lang="en-US" sz="2000" dirty="0"/>
          </a:p>
        </p:txBody>
      </p:sp>
      <p:sp>
        <p:nvSpPr>
          <p:cNvPr id="35" name="Text 33"/>
          <p:cNvSpPr/>
          <p:nvPr/>
        </p:nvSpPr>
        <p:spPr>
          <a:xfrm>
            <a:off x="7922362" y="5632704"/>
            <a:ext cx="1843430" cy="274320"/>
          </a:xfrm>
          <a:prstGeom prst="rect">
            <a:avLst/>
          </a:prstGeom>
          <a:noFill/>
          <a:ln/>
        </p:spPr>
        <p:txBody>
          <a:bodyPr wrap="square" lIns="0" tIns="0" rIns="0" bIns="0" rtlCol="0" anchor="ctr"/>
          <a:lstStyle/>
          <a:p>
            <a:pPr algn="ctr" indent="0" marL="0">
              <a:buNone/>
            </a:pPr>
            <a:r>
              <a:rPr lang="en-US" sz="950" dirty="0">
                <a:solidFill>
                  <a:srgbClr val="8A857E"/>
                </a:solidFill>
                <a:latin typeface="맑은 고딕" pitchFamily="34" charset="0"/>
                <a:ea typeface="맑은 고딕" pitchFamily="34" charset="-122"/>
                <a:cs typeface="맑은 고딕" pitchFamily="34" charset="-120"/>
              </a:rPr>
              <a:t>목표 관람객</a:t>
            </a:r>
            <a:endParaRPr lang="en-US" sz="950" dirty="0"/>
          </a:p>
        </p:txBody>
      </p:sp>
      <p:sp>
        <p:nvSpPr>
          <p:cNvPr id="36" name="Shape 34"/>
          <p:cNvSpPr/>
          <p:nvPr/>
        </p:nvSpPr>
        <p:spPr>
          <a:xfrm>
            <a:off x="7922362" y="5193792"/>
            <a:ext cx="0" cy="777240"/>
          </a:xfrm>
          <a:prstGeom prst="line">
            <a:avLst/>
          </a:prstGeom>
          <a:noFill/>
          <a:ln w="12700">
            <a:solidFill>
              <a:srgbClr val="DDD8D1"/>
            </a:solidFill>
            <a:prstDash val="solid"/>
          </a:ln>
        </p:spPr>
      </p:sp>
      <p:sp>
        <p:nvSpPr>
          <p:cNvPr id="37" name="Text 35"/>
          <p:cNvSpPr/>
          <p:nvPr/>
        </p:nvSpPr>
        <p:spPr>
          <a:xfrm>
            <a:off x="9765792" y="5138928"/>
            <a:ext cx="1843430" cy="457200"/>
          </a:xfrm>
          <a:prstGeom prst="rect">
            <a:avLst/>
          </a:prstGeom>
          <a:noFill/>
          <a:ln/>
        </p:spPr>
        <p:txBody>
          <a:bodyPr wrap="square" lIns="0" tIns="0" rIns="0" bIns="0" rtlCol="0" anchor="ctr"/>
          <a:lstStyle/>
          <a:p>
            <a:pPr algn="ctr" indent="0" marL="0">
              <a:buNone/>
            </a:pPr>
            <a:r>
              <a:rPr lang="en-US" sz="2000" b="1" dirty="0">
                <a:solidFill>
                  <a:srgbClr val="1A1A1A"/>
                </a:solidFill>
                <a:latin typeface="맑은 고딕" pitchFamily="34" charset="0"/>
                <a:ea typeface="맑은 고딕" pitchFamily="34" charset="-122"/>
                <a:cs typeface="맑은 고딕" pitchFamily="34" charset="-120"/>
              </a:rPr>
              <a:t>80,000천원</a:t>
            </a:r>
            <a:endParaRPr lang="en-US" sz="2000" dirty="0"/>
          </a:p>
        </p:txBody>
      </p:sp>
      <p:sp>
        <p:nvSpPr>
          <p:cNvPr id="38" name="Text 36"/>
          <p:cNvSpPr/>
          <p:nvPr/>
        </p:nvSpPr>
        <p:spPr>
          <a:xfrm>
            <a:off x="9765792" y="5632704"/>
            <a:ext cx="1843430" cy="274320"/>
          </a:xfrm>
          <a:prstGeom prst="rect">
            <a:avLst/>
          </a:prstGeom>
          <a:noFill/>
          <a:ln/>
        </p:spPr>
        <p:txBody>
          <a:bodyPr wrap="square" lIns="0" tIns="0" rIns="0" bIns="0" rtlCol="0" anchor="ctr"/>
          <a:lstStyle/>
          <a:p>
            <a:pPr algn="ctr" indent="0" marL="0">
              <a:buNone/>
            </a:pPr>
            <a:r>
              <a:rPr lang="en-US" sz="950" dirty="0">
                <a:solidFill>
                  <a:srgbClr val="8A857E"/>
                </a:solidFill>
                <a:latin typeface="맑은 고딕" pitchFamily="34" charset="0"/>
                <a:ea typeface="맑은 고딕" pitchFamily="34" charset="-122"/>
                <a:cs typeface="맑은 고딕" pitchFamily="34" charset="-120"/>
              </a:rPr>
              <a:t>총 사업비(안)</a:t>
            </a:r>
            <a:endParaRPr lang="en-US" sz="950" dirty="0"/>
          </a:p>
        </p:txBody>
      </p:sp>
      <p:sp>
        <p:nvSpPr>
          <p:cNvPr id="39" name="Shape 37"/>
          <p:cNvSpPr/>
          <p:nvPr/>
        </p:nvSpPr>
        <p:spPr>
          <a:xfrm>
            <a:off x="9765792" y="5193792"/>
            <a:ext cx="0" cy="777240"/>
          </a:xfrm>
          <a:prstGeom prst="line">
            <a:avLst/>
          </a:prstGeom>
          <a:noFill/>
          <a:ln w="12700">
            <a:solidFill>
              <a:srgbClr val="DDD8D1"/>
            </a:solidFill>
            <a:prstDash val="solid"/>
          </a:ln>
        </p:spPr>
      </p:sp>
      <p:sp>
        <p:nvSpPr>
          <p:cNvPr id="40" name="Text 38"/>
          <p:cNvSpPr/>
          <p:nvPr/>
        </p:nvSpPr>
        <p:spPr>
          <a:xfrm>
            <a:off x="548640" y="6419088"/>
            <a:ext cx="7315200" cy="274320"/>
          </a:xfrm>
          <a:prstGeom prst="rect">
            <a:avLst/>
          </a:prstGeom>
          <a:noFill/>
          <a:ln/>
        </p:spPr>
        <p:txBody>
          <a:bodyPr wrap="square" lIns="0" tIns="0" rIns="0" bIns="0" rtlCol="0" anchor="ctr"/>
          <a:lstStyle/>
          <a:p>
            <a:pPr algn="l" indent="0" marL="0">
              <a:buNone/>
            </a:pPr>
            <a:r>
              <a:rPr lang="en-US" sz="800" dirty="0">
                <a:solidFill>
                  <a:srgbClr val="8A857E"/>
                </a:solidFill>
                <a:latin typeface="맑은 고딕" pitchFamily="34" charset="0"/>
                <a:ea typeface="맑은 고딕" pitchFamily="34" charset="-122"/>
                <a:cs typeface="맑은 고딕" pitchFamily="34" charset="-120"/>
              </a:rPr>
              <a:t>아이테르 문화예술기획제안서   ·   덮인 물, 남은 올   ·   기획 추병곤</a:t>
            </a:r>
            <a:endParaRPr lang="en-US" sz="800" dirty="0"/>
          </a:p>
        </p:txBody>
      </p:sp>
      <p:sp>
        <p:nvSpPr>
          <p:cNvPr id="41" name="Text 39"/>
          <p:cNvSpPr/>
          <p:nvPr/>
        </p:nvSpPr>
        <p:spPr>
          <a:xfrm>
            <a:off x="10972800" y="6419088"/>
            <a:ext cx="640080" cy="274320"/>
          </a:xfrm>
          <a:prstGeom prst="rect">
            <a:avLst/>
          </a:prstGeom>
          <a:noFill/>
          <a:ln/>
        </p:spPr>
        <p:txBody>
          <a:bodyPr wrap="square" lIns="0" tIns="0" rIns="0" bIns="0" rtlCol="0" anchor="ctr"/>
          <a:lstStyle/>
          <a:p>
            <a:pPr algn="r" indent="0" marL="0">
              <a:buNone/>
            </a:pPr>
            <a:r>
              <a:rPr lang="en-US" sz="900" dirty="0">
                <a:solidFill>
                  <a:srgbClr val="8A857E"/>
                </a:solidFill>
                <a:latin typeface="Cambria" pitchFamily="34" charset="0"/>
                <a:ea typeface="Cambria" pitchFamily="34" charset="-122"/>
                <a:cs typeface="Cambria" pitchFamily="34" charset="-120"/>
              </a:rPr>
              <a:t>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1A1A"/>
        </a:solidFill>
      </p:bgPr>
    </p:bg>
    <p:spTree>
      <p:nvGrpSpPr>
        <p:cNvPr id="1" name=""/>
        <p:cNvGrpSpPr/>
        <p:nvPr/>
      </p:nvGrpSpPr>
      <p:grpSpPr>
        <a:xfrm>
          <a:off x="0" y="0"/>
          <a:ext cx="0" cy="0"/>
          <a:chOff x="0" y="0"/>
          <a:chExt cx="0" cy="0"/>
        </a:xfrm>
      </p:grpSpPr>
      <p:sp>
        <p:nvSpPr>
          <p:cNvPr id="2" name="Text 0"/>
          <p:cNvSpPr/>
          <p:nvPr/>
        </p:nvSpPr>
        <p:spPr>
          <a:xfrm>
            <a:off x="822960" y="2148840"/>
            <a:ext cx="1828800" cy="822960"/>
          </a:xfrm>
          <a:prstGeom prst="rect">
            <a:avLst/>
          </a:prstGeom>
          <a:noFill/>
          <a:ln/>
        </p:spPr>
        <p:txBody>
          <a:bodyPr wrap="square" lIns="0" tIns="0" rIns="0" bIns="0" rtlCol="0" anchor="ctr"/>
          <a:lstStyle/>
          <a:p>
            <a:pPr indent="0" marL="0">
              <a:buNone/>
            </a:pPr>
            <a:r>
              <a:rPr lang="en-US" sz="4600" dirty="0">
                <a:solidFill>
                  <a:srgbClr val="4A4640"/>
                </a:solidFill>
                <a:latin typeface="Cambria" pitchFamily="34" charset="0"/>
                <a:ea typeface="Cambria" pitchFamily="34" charset="-122"/>
                <a:cs typeface="Cambria" pitchFamily="34" charset="-120"/>
              </a:rPr>
              <a:t>Ⅱ</a:t>
            </a:r>
            <a:endParaRPr lang="en-US" sz="4600" dirty="0"/>
          </a:p>
        </p:txBody>
      </p:sp>
      <p:sp>
        <p:nvSpPr>
          <p:cNvPr id="3" name="Text 1"/>
          <p:cNvSpPr/>
          <p:nvPr/>
        </p:nvSpPr>
        <p:spPr>
          <a:xfrm>
            <a:off x="822960" y="2926080"/>
            <a:ext cx="8229600" cy="822960"/>
          </a:xfrm>
          <a:prstGeom prst="rect">
            <a:avLst/>
          </a:prstGeom>
          <a:noFill/>
          <a:ln/>
        </p:spPr>
        <p:txBody>
          <a:bodyPr wrap="square" lIns="0" tIns="0" rIns="0" bIns="0" rtlCol="0" anchor="ctr"/>
          <a:lstStyle/>
          <a:p>
            <a:pPr indent="0" marL="0">
              <a:buNone/>
            </a:pPr>
            <a:r>
              <a:rPr lang="en-US" sz="4000" b="1" dirty="0">
                <a:solidFill>
                  <a:srgbClr val="FFFFFF"/>
                </a:solidFill>
                <a:latin typeface="바탕" pitchFamily="34" charset="0"/>
                <a:ea typeface="바탕" pitchFamily="34" charset="-122"/>
                <a:cs typeface="바탕" pitchFamily="34" charset="-120"/>
              </a:rPr>
              <a:t>장소 — 왜 범일인가</a:t>
            </a:r>
            <a:endParaRPr lang="en-US" sz="4000" dirty="0"/>
          </a:p>
        </p:txBody>
      </p:sp>
      <p:sp>
        <p:nvSpPr>
          <p:cNvPr id="4" name="Text 2"/>
          <p:cNvSpPr/>
          <p:nvPr/>
        </p:nvSpPr>
        <p:spPr>
          <a:xfrm>
            <a:off x="868680" y="3794760"/>
            <a:ext cx="9601200" cy="365760"/>
          </a:xfrm>
          <a:prstGeom prst="rect">
            <a:avLst/>
          </a:prstGeom>
          <a:noFill/>
          <a:ln/>
        </p:spPr>
        <p:txBody>
          <a:bodyPr wrap="square" lIns="0" tIns="0" rIns="0" bIns="0" rtlCol="0" anchor="ctr"/>
          <a:lstStyle/>
          <a:p>
            <a:pPr indent="0" marL="0">
              <a:buNone/>
            </a:pPr>
            <a:r>
              <a:rPr lang="en-US" sz="1350" dirty="0">
                <a:solidFill>
                  <a:srgbClr val="A9A29A"/>
                </a:solidFill>
                <a:latin typeface="맑은 고딕" pitchFamily="34" charset="0"/>
                <a:ea typeface="맑은 고딕" pitchFamily="34" charset="-122"/>
                <a:cs typeface="맑은 고딕" pitchFamily="34" charset="-120"/>
              </a:rPr>
              <a:t>범내(凡川·虎川)의 물길, 조선방직의 실, 매축지의 방 — 한 동네에 겹쳐 쌓인 세 개의 지층</a:t>
            </a:r>
            <a:endParaRPr lang="en-US" sz="1350" dirty="0"/>
          </a:p>
        </p:txBody>
      </p:sp>
      <p:pic>
        <p:nvPicPr>
          <p:cNvPr id="5" name="Image 0" descr="/home/claude/aither/img/A19_0.jpeg">    </p:cNvPr>
          <p:cNvPicPr>
            <a:picLocks noChangeAspect="1"/>
          </p:cNvPicPr>
          <p:nvPr/>
        </p:nvPicPr>
        <p:blipFill>
          <a:blip r:embed="rId1"/>
          <a:srcRect l="0" r="0" t="0" b="0"/>
          <a:stretch/>
        </p:blipFill>
        <p:spPr>
          <a:xfrm>
            <a:off x="6949440" y="0"/>
            <a:ext cx="5212080" cy="6858000"/>
          </a:xfrm>
          <a:prstGeom prst="rect">
            <a:avLst/>
          </a:prstGeom>
        </p:spPr>
      </p:pic>
      <p:sp>
        <p:nvSpPr>
          <p:cNvPr id="6" name="Text 3"/>
          <p:cNvSpPr/>
          <p:nvPr/>
        </p:nvSpPr>
        <p:spPr>
          <a:xfrm>
            <a:off x="868680" y="5989320"/>
            <a:ext cx="5486400" cy="256032"/>
          </a:xfrm>
          <a:prstGeom prst="rect">
            <a:avLst/>
          </a:prstGeom>
          <a:noFill/>
          <a:ln/>
        </p:spPr>
        <p:txBody>
          <a:bodyPr wrap="square" lIns="0" tIns="0" rIns="0" bIns="0" rtlCol="0" anchor="ctr"/>
          <a:lstStyle/>
          <a:p>
            <a:pPr indent="0" marL="0">
              <a:buNone/>
            </a:pPr>
            <a:r>
              <a:rPr lang="en-US" sz="850" dirty="0">
                <a:solidFill>
                  <a:srgbClr val="6E6A65"/>
                </a:solidFill>
                <a:latin typeface="맑은 고딕" pitchFamily="34" charset="0"/>
                <a:ea typeface="맑은 고딕" pitchFamily="34" charset="-122"/>
                <a:cs typeface="맑은 고딕" pitchFamily="34" charset="-120"/>
              </a:rPr>
              <a:t>사진 · 범일가옥 4F 전시실  ·  아이테르 제공</a:t>
            </a:r>
            <a:endParaRPr lang="en-US" sz="850" dirty="0"/>
          </a:p>
        </p:txBody>
      </p:sp>
      <p:sp>
        <p:nvSpPr>
          <p:cNvPr id="7" name="Shape 4"/>
          <p:cNvSpPr/>
          <p:nvPr/>
        </p:nvSpPr>
        <p:spPr>
          <a:xfrm>
            <a:off x="868680" y="4434840"/>
            <a:ext cx="566928" cy="566928"/>
          </a:xfrm>
          <a:prstGeom prst="rect">
            <a:avLst/>
          </a:prstGeom>
          <a:solidFill>
            <a:srgbClr val="7A4A45"/>
          </a:solidFill>
          <a:ln/>
        </p:spPr>
      </p:sp>
      <p:sp>
        <p:nvSpPr>
          <p:cNvPr id="8" name="Text 5"/>
          <p:cNvSpPr/>
          <p:nvPr/>
        </p:nvSpPr>
        <p:spPr>
          <a:xfrm>
            <a:off x="868680" y="4434840"/>
            <a:ext cx="566928" cy="566928"/>
          </a:xfrm>
          <a:prstGeom prst="rect">
            <a:avLst/>
          </a:prstGeom>
          <a:noFill/>
          <a:ln/>
        </p:spPr>
        <p:txBody>
          <a:bodyPr wrap="square" lIns="0" tIns="0" rIns="0" bIns="0" rtlCol="0" anchor="ctr"/>
          <a:lstStyle/>
          <a:p>
            <a:pPr algn="ctr" indent="0" marL="0">
              <a:buNone/>
            </a:pPr>
            <a:r>
              <a:rPr lang="en-US" sz="1600" dirty="0">
                <a:solidFill>
                  <a:srgbClr val="F0EBE2"/>
                </a:solidFill>
                <a:latin typeface="바탕" pitchFamily="34" charset="0"/>
                <a:ea typeface="바탕" pitchFamily="34" charset="-122"/>
                <a:cs typeface="바탕" pitchFamily="34" charset="-120"/>
              </a:rPr>
              <a:t>人</a:t>
            </a:r>
            <a:endParaRPr lang="en-US" sz="1600" dirty="0"/>
          </a:p>
        </p:txBody>
      </p:sp>
      <p:sp>
        <p:nvSpPr>
          <p:cNvPr id="9" name="Shape 6"/>
          <p:cNvSpPr/>
          <p:nvPr/>
        </p:nvSpPr>
        <p:spPr>
          <a:xfrm>
            <a:off x="1527048" y="4434840"/>
            <a:ext cx="566928" cy="566928"/>
          </a:xfrm>
          <a:prstGeom prst="rect">
            <a:avLst/>
          </a:prstGeom>
          <a:solidFill>
            <a:srgbClr val="9C6B3C"/>
          </a:solidFill>
          <a:ln/>
        </p:spPr>
      </p:sp>
      <p:sp>
        <p:nvSpPr>
          <p:cNvPr id="10" name="Text 7"/>
          <p:cNvSpPr/>
          <p:nvPr/>
        </p:nvSpPr>
        <p:spPr>
          <a:xfrm>
            <a:off x="1527048" y="4434840"/>
            <a:ext cx="566928" cy="566928"/>
          </a:xfrm>
          <a:prstGeom prst="rect">
            <a:avLst/>
          </a:prstGeom>
          <a:noFill/>
          <a:ln/>
        </p:spPr>
        <p:txBody>
          <a:bodyPr wrap="square" lIns="0" tIns="0" rIns="0" bIns="0" rtlCol="0" anchor="ctr"/>
          <a:lstStyle/>
          <a:p>
            <a:pPr algn="ctr" indent="0" marL="0">
              <a:buNone/>
            </a:pPr>
            <a:r>
              <a:rPr lang="en-US" sz="1600" dirty="0">
                <a:solidFill>
                  <a:srgbClr val="F0EBE2"/>
                </a:solidFill>
                <a:latin typeface="바탕" pitchFamily="34" charset="0"/>
                <a:ea typeface="바탕" pitchFamily="34" charset="-122"/>
                <a:cs typeface="바탕" pitchFamily="34" charset="-120"/>
              </a:rPr>
              <a:t>絲</a:t>
            </a:r>
            <a:endParaRPr lang="en-US" sz="1600" dirty="0"/>
          </a:p>
        </p:txBody>
      </p:sp>
      <p:sp>
        <p:nvSpPr>
          <p:cNvPr id="11" name="Shape 8"/>
          <p:cNvSpPr/>
          <p:nvPr/>
        </p:nvSpPr>
        <p:spPr>
          <a:xfrm>
            <a:off x="2185416" y="4434840"/>
            <a:ext cx="566928" cy="566928"/>
          </a:xfrm>
          <a:prstGeom prst="rect">
            <a:avLst/>
          </a:prstGeom>
          <a:solidFill>
            <a:srgbClr val="2F4858"/>
          </a:solidFill>
          <a:ln/>
        </p:spPr>
      </p:sp>
      <p:sp>
        <p:nvSpPr>
          <p:cNvPr id="12" name="Text 9"/>
          <p:cNvSpPr/>
          <p:nvPr/>
        </p:nvSpPr>
        <p:spPr>
          <a:xfrm>
            <a:off x="2185416" y="4434840"/>
            <a:ext cx="566928" cy="566928"/>
          </a:xfrm>
          <a:prstGeom prst="rect">
            <a:avLst/>
          </a:prstGeom>
          <a:noFill/>
          <a:ln/>
        </p:spPr>
        <p:txBody>
          <a:bodyPr wrap="square" lIns="0" tIns="0" rIns="0" bIns="0" rtlCol="0" anchor="ctr"/>
          <a:lstStyle/>
          <a:p>
            <a:pPr algn="ctr" indent="0" marL="0">
              <a:buNone/>
            </a:pPr>
            <a:r>
              <a:rPr lang="en-US" sz="1600" dirty="0">
                <a:solidFill>
                  <a:srgbClr val="F0EBE2"/>
                </a:solidFill>
                <a:latin typeface="바탕" pitchFamily="34" charset="0"/>
                <a:ea typeface="바탕" pitchFamily="34" charset="-122"/>
                <a:cs typeface="바탕" pitchFamily="34" charset="-120"/>
              </a:rPr>
              <a:t>水</a:t>
            </a:r>
            <a:endParaRPr lang="en-US" sz="1600" dirty="0"/>
          </a:p>
        </p:txBody>
      </p:sp>
      <p:sp>
        <p:nvSpPr>
          <p:cNvPr id="13" name="Text 10"/>
          <p:cNvSpPr/>
          <p:nvPr/>
        </p:nvSpPr>
        <p:spPr>
          <a:xfrm>
            <a:off x="548640" y="6419088"/>
            <a:ext cx="7315200" cy="274320"/>
          </a:xfrm>
          <a:prstGeom prst="rect">
            <a:avLst/>
          </a:prstGeom>
          <a:noFill/>
          <a:ln/>
        </p:spPr>
        <p:txBody>
          <a:bodyPr wrap="square" lIns="0" tIns="0" rIns="0" bIns="0" rtlCol="0" anchor="ctr"/>
          <a:lstStyle/>
          <a:p>
            <a:pPr algn="l" indent="0" marL="0">
              <a:buNone/>
            </a:pPr>
            <a:r>
              <a:rPr lang="en-US" sz="800" dirty="0">
                <a:solidFill>
                  <a:srgbClr val="6E6A65"/>
                </a:solidFill>
                <a:latin typeface="맑은 고딕" pitchFamily="34" charset="0"/>
                <a:ea typeface="맑은 고딕" pitchFamily="34" charset="-122"/>
                <a:cs typeface="맑은 고딕" pitchFamily="34" charset="-120"/>
              </a:rPr>
              <a:t>아이테르 문화예술기획제안서   ·   덮인 물, 남은 올   ·   기획 추병곤</a:t>
            </a:r>
            <a:endParaRPr lang="en-US" sz="800" dirty="0"/>
          </a:p>
        </p:txBody>
      </p:sp>
      <p:sp>
        <p:nvSpPr>
          <p:cNvPr id="14" name="Text 11"/>
          <p:cNvSpPr/>
          <p:nvPr/>
        </p:nvSpPr>
        <p:spPr>
          <a:xfrm>
            <a:off x="10972800" y="6419088"/>
            <a:ext cx="640080" cy="274320"/>
          </a:xfrm>
          <a:prstGeom prst="rect">
            <a:avLst/>
          </a:prstGeom>
          <a:noFill/>
          <a:ln/>
        </p:spPr>
        <p:txBody>
          <a:bodyPr wrap="square" lIns="0" tIns="0" rIns="0" bIns="0" rtlCol="0" anchor="ctr"/>
          <a:lstStyle/>
          <a:p>
            <a:pPr algn="r" indent="0" marL="0">
              <a:buNone/>
            </a:pPr>
            <a:r>
              <a:rPr lang="en-US" sz="900" dirty="0">
                <a:solidFill>
                  <a:srgbClr val="6E6A65"/>
                </a:solidFill>
                <a:latin typeface="Cambria" pitchFamily="34" charset="0"/>
                <a:ea typeface="Cambria" pitchFamily="34" charset="-122"/>
                <a:cs typeface="Cambria" pitchFamily="34" charset="-120"/>
              </a:rPr>
              <a:t>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7315200" cy="237744"/>
          </a:xfrm>
          <a:prstGeom prst="rect">
            <a:avLst/>
          </a:prstGeom>
          <a:noFill/>
          <a:ln/>
        </p:spPr>
        <p:txBody>
          <a:bodyPr wrap="square" lIns="0" tIns="0" rIns="0" bIns="0" rtlCol="0" anchor="ctr"/>
          <a:lstStyle/>
          <a:p>
            <a:pPr indent="0" marL="0">
              <a:buNone/>
            </a:pPr>
            <a:r>
              <a:rPr lang="en-US" sz="1050" spc="250" kern="0" dirty="0">
                <a:solidFill>
                  <a:srgbClr val="8A857E"/>
                </a:solidFill>
                <a:latin typeface="Cambria" pitchFamily="34" charset="0"/>
                <a:ea typeface="Cambria" pitchFamily="34" charset="-122"/>
                <a:cs typeface="Cambria" pitchFamily="34" charset="-120"/>
              </a:rPr>
              <a:t>02  SITE</a:t>
            </a:r>
            <a:endParaRPr lang="en-US" sz="1050" dirty="0"/>
          </a:p>
        </p:txBody>
      </p:sp>
      <p:sp>
        <p:nvSpPr>
          <p:cNvPr id="3" name="Text 1"/>
          <p:cNvSpPr/>
          <p:nvPr/>
        </p:nvSpPr>
        <p:spPr>
          <a:xfrm>
            <a:off x="548640" y="694944"/>
            <a:ext cx="10058400" cy="502920"/>
          </a:xfrm>
          <a:prstGeom prst="rect">
            <a:avLst/>
          </a:prstGeom>
          <a:noFill/>
          <a:ln/>
        </p:spPr>
        <p:txBody>
          <a:bodyPr wrap="square" lIns="0" tIns="0" rIns="0" bIns="0" rtlCol="0" anchor="ctr"/>
          <a:lstStyle/>
          <a:p>
            <a:pPr indent="0" marL="0">
              <a:buNone/>
            </a:pPr>
            <a:r>
              <a:rPr lang="en-US" sz="2700" b="1" dirty="0">
                <a:solidFill>
                  <a:srgbClr val="1A1A1A"/>
                </a:solidFill>
                <a:latin typeface="맑은 고딕" pitchFamily="34" charset="0"/>
                <a:ea typeface="맑은 고딕" pitchFamily="34" charset="-122"/>
                <a:cs typeface="맑은 고딕" pitchFamily="34" charset="-120"/>
              </a:rPr>
              <a:t>장소의 세 겹</a:t>
            </a:r>
            <a:endParaRPr lang="en-US" sz="2700" dirty="0"/>
          </a:p>
        </p:txBody>
      </p:sp>
      <p:sp>
        <p:nvSpPr>
          <p:cNvPr id="4" name="Text 2"/>
          <p:cNvSpPr/>
          <p:nvPr/>
        </p:nvSpPr>
        <p:spPr>
          <a:xfrm>
            <a:off x="548640" y="1225296"/>
            <a:ext cx="10607040" cy="310896"/>
          </a:xfrm>
          <a:prstGeom prst="rect">
            <a:avLst/>
          </a:prstGeom>
          <a:noFill/>
          <a:ln/>
        </p:spPr>
        <p:txBody>
          <a:bodyPr wrap="square" lIns="0" tIns="0" rIns="0" bIns="0" rtlCol="0" anchor="ctr"/>
          <a:lstStyle/>
          <a:p>
            <a:pPr indent="0" marL="0">
              <a:buNone/>
            </a:pPr>
            <a:r>
              <a:rPr lang="en-US" sz="1200" dirty="0">
                <a:solidFill>
                  <a:srgbClr val="8A857E"/>
                </a:solidFill>
                <a:latin typeface="맑은 고딕" pitchFamily="34" charset="0"/>
                <a:ea typeface="맑은 고딕" pitchFamily="34" charset="-122"/>
                <a:cs typeface="맑은 고딕" pitchFamily="34" charset="-120"/>
              </a:rPr>
              <a:t>범일동은 '덮은 땅' 위에 '실'을 깔고 '방'을 들인 동네다</a:t>
            </a:r>
            <a:endParaRPr lang="en-US" sz="1200" dirty="0"/>
          </a:p>
        </p:txBody>
      </p:sp>
      <p:sp>
        <p:nvSpPr>
          <p:cNvPr id="5" name="Shape 3"/>
          <p:cNvSpPr/>
          <p:nvPr/>
        </p:nvSpPr>
        <p:spPr>
          <a:xfrm>
            <a:off x="548640" y="1783080"/>
            <a:ext cx="3493008" cy="566928"/>
          </a:xfrm>
          <a:prstGeom prst="rect">
            <a:avLst/>
          </a:prstGeom>
          <a:solidFill>
            <a:srgbClr val="2F4858"/>
          </a:solidFill>
          <a:ln/>
        </p:spPr>
      </p:sp>
      <p:sp>
        <p:nvSpPr>
          <p:cNvPr id="6" name="Text 4"/>
          <p:cNvSpPr/>
          <p:nvPr/>
        </p:nvSpPr>
        <p:spPr>
          <a:xfrm>
            <a:off x="731520" y="1783080"/>
            <a:ext cx="548640" cy="566928"/>
          </a:xfrm>
          <a:prstGeom prst="rect">
            <a:avLst/>
          </a:prstGeom>
          <a:noFill/>
          <a:ln/>
        </p:spPr>
        <p:txBody>
          <a:bodyPr wrap="square" lIns="0" tIns="0" rIns="0" bIns="0" rtlCol="0" anchor="ctr"/>
          <a:lstStyle/>
          <a:p>
            <a:pPr indent="0" marL="0">
              <a:buNone/>
            </a:pPr>
            <a:r>
              <a:rPr lang="en-US" sz="2000" dirty="0">
                <a:solidFill>
                  <a:srgbClr val="FFFFFF"/>
                </a:solidFill>
                <a:latin typeface="바탕" pitchFamily="34" charset="0"/>
                <a:ea typeface="바탕" pitchFamily="34" charset="-122"/>
                <a:cs typeface="바탕" pitchFamily="34" charset="-120"/>
              </a:rPr>
              <a:t>水</a:t>
            </a:r>
            <a:endParaRPr lang="en-US" sz="2000" dirty="0"/>
          </a:p>
        </p:txBody>
      </p:sp>
      <p:sp>
        <p:nvSpPr>
          <p:cNvPr id="7" name="Text 5"/>
          <p:cNvSpPr/>
          <p:nvPr/>
        </p:nvSpPr>
        <p:spPr>
          <a:xfrm>
            <a:off x="1325880" y="1783080"/>
            <a:ext cx="2651760" cy="566928"/>
          </a:xfrm>
          <a:prstGeom prst="rect">
            <a:avLst/>
          </a:prstGeom>
          <a:noFill/>
          <a:ln/>
        </p:spPr>
        <p:txBody>
          <a:bodyPr wrap="square" lIns="0" tIns="0" rIns="0" bIns="0" rtlCol="0" anchor="ctr"/>
          <a:lstStyle/>
          <a:p>
            <a:pPr indent="0" marL="0">
              <a:buNone/>
            </a:pPr>
            <a:r>
              <a:rPr lang="en-US" sz="1250" b="1" dirty="0">
                <a:solidFill>
                  <a:srgbClr val="FFFFFF"/>
                </a:solidFill>
                <a:latin typeface="맑은 고딕" pitchFamily="34" charset="0"/>
                <a:ea typeface="맑은 고딕" pitchFamily="34" charset="-122"/>
                <a:cs typeface="맑은 고딕" pitchFamily="34" charset="-120"/>
              </a:rPr>
              <a:t>물 — 범내(凡川)와 매축</a:t>
            </a:r>
            <a:endParaRPr lang="en-US" sz="1250" dirty="0"/>
          </a:p>
        </p:txBody>
      </p:sp>
      <p:sp>
        <p:nvSpPr>
          <p:cNvPr id="8" name="Text 6"/>
          <p:cNvSpPr/>
          <p:nvPr/>
        </p:nvSpPr>
        <p:spPr>
          <a:xfrm>
            <a:off x="548640" y="2514600"/>
            <a:ext cx="3493008" cy="1508760"/>
          </a:xfrm>
          <a:prstGeom prst="rect">
            <a:avLst/>
          </a:prstGeom>
          <a:noFill/>
          <a:ln/>
        </p:spPr>
        <p:txBody>
          <a:bodyPr wrap="square" lIns="0" tIns="0" rIns="0" bIns="0" rtlCol="0" anchor="t"/>
          <a:lstStyle/>
          <a:p>
            <a:pPr indent="0" marL="0">
              <a:lnSpc>
                <a:spcPts val="1900"/>
              </a:lnSpc>
              <a:buNone/>
            </a:pPr>
            <a:r>
              <a:rPr lang="en-US" sz="1100" dirty="0">
                <a:solidFill>
                  <a:srgbClr val="3E3A35"/>
                </a:solidFill>
                <a:latin typeface="맑은 고딕" pitchFamily="34" charset="0"/>
                <a:ea typeface="맑은 고딕" pitchFamily="34" charset="-122"/>
                <a:cs typeface="맑은 고딕" pitchFamily="34" charset="-120"/>
              </a:rPr>
              <a:t>범일·범천이라는 이름은 '범내'에서 왔다. 호랑이가 목을 축이러 내려왔다는 그 내는 호천(虎川)으로도 적혔고, 지금은 복개되어 도로 아래를 흐른다. 부산진매축(1913–18, 1927–32)으로 넓어진 이 땅의 바닥은 원래 물이었다.</a:t>
            </a:r>
            <a:endParaRPr lang="en-US" sz="1100" dirty="0"/>
          </a:p>
        </p:txBody>
      </p:sp>
      <p:sp>
        <p:nvSpPr>
          <p:cNvPr id="9" name="Text 7"/>
          <p:cNvSpPr/>
          <p:nvPr/>
        </p:nvSpPr>
        <p:spPr>
          <a:xfrm>
            <a:off x="548640" y="4041648"/>
            <a:ext cx="3493008" cy="365760"/>
          </a:xfrm>
          <a:prstGeom prst="rect">
            <a:avLst/>
          </a:prstGeom>
          <a:noFill/>
          <a:ln/>
        </p:spPr>
        <p:txBody>
          <a:bodyPr wrap="square" lIns="0" tIns="0" rIns="0" bIns="0" rtlCol="0" anchor="ctr"/>
          <a:lstStyle/>
          <a:p>
            <a:pPr indent="0" marL="0">
              <a:buNone/>
            </a:pPr>
            <a:r>
              <a:rPr lang="en-US" sz="1300" b="1" dirty="0">
                <a:solidFill>
                  <a:srgbClr val="2F4858"/>
                </a:solidFill>
                <a:latin typeface="바탕" pitchFamily="34" charset="0"/>
                <a:ea typeface="바탕" pitchFamily="34" charset="-122"/>
                <a:cs typeface="바탕" pitchFamily="34" charset="-120"/>
              </a:rPr>
              <a:t>“ 덮였을 뿐, 사라지지 않았다. ”</a:t>
            </a:r>
            <a:endParaRPr lang="en-US" sz="1300" dirty="0"/>
          </a:p>
        </p:txBody>
      </p:sp>
      <p:sp>
        <p:nvSpPr>
          <p:cNvPr id="10" name="Shape 8"/>
          <p:cNvSpPr/>
          <p:nvPr/>
        </p:nvSpPr>
        <p:spPr>
          <a:xfrm>
            <a:off x="4288536" y="1783080"/>
            <a:ext cx="3493008" cy="566928"/>
          </a:xfrm>
          <a:prstGeom prst="rect">
            <a:avLst/>
          </a:prstGeom>
          <a:solidFill>
            <a:srgbClr val="9C6B3C"/>
          </a:solidFill>
          <a:ln/>
        </p:spPr>
      </p:sp>
      <p:sp>
        <p:nvSpPr>
          <p:cNvPr id="11" name="Text 9"/>
          <p:cNvSpPr/>
          <p:nvPr/>
        </p:nvSpPr>
        <p:spPr>
          <a:xfrm>
            <a:off x="4471416" y="1783080"/>
            <a:ext cx="548640" cy="566928"/>
          </a:xfrm>
          <a:prstGeom prst="rect">
            <a:avLst/>
          </a:prstGeom>
          <a:noFill/>
          <a:ln/>
        </p:spPr>
        <p:txBody>
          <a:bodyPr wrap="square" lIns="0" tIns="0" rIns="0" bIns="0" rtlCol="0" anchor="ctr"/>
          <a:lstStyle/>
          <a:p>
            <a:pPr indent="0" marL="0">
              <a:buNone/>
            </a:pPr>
            <a:r>
              <a:rPr lang="en-US" sz="2000" dirty="0">
                <a:solidFill>
                  <a:srgbClr val="FFFFFF"/>
                </a:solidFill>
                <a:latin typeface="바탕" pitchFamily="34" charset="0"/>
                <a:ea typeface="바탕" pitchFamily="34" charset="-122"/>
                <a:cs typeface="바탕" pitchFamily="34" charset="-120"/>
              </a:rPr>
              <a:t>絲</a:t>
            </a:r>
            <a:endParaRPr lang="en-US" sz="2000" dirty="0"/>
          </a:p>
        </p:txBody>
      </p:sp>
      <p:sp>
        <p:nvSpPr>
          <p:cNvPr id="12" name="Text 10"/>
          <p:cNvSpPr/>
          <p:nvPr/>
        </p:nvSpPr>
        <p:spPr>
          <a:xfrm>
            <a:off x="5065776" y="1783080"/>
            <a:ext cx="2651760" cy="566928"/>
          </a:xfrm>
          <a:prstGeom prst="rect">
            <a:avLst/>
          </a:prstGeom>
          <a:noFill/>
          <a:ln/>
        </p:spPr>
        <p:txBody>
          <a:bodyPr wrap="square" lIns="0" tIns="0" rIns="0" bIns="0" rtlCol="0" anchor="ctr"/>
          <a:lstStyle/>
          <a:p>
            <a:pPr indent="0" marL="0">
              <a:buNone/>
            </a:pPr>
            <a:r>
              <a:rPr lang="en-US" sz="1250" b="1" dirty="0">
                <a:solidFill>
                  <a:srgbClr val="FFFFFF"/>
                </a:solidFill>
                <a:latin typeface="맑은 고딕" pitchFamily="34" charset="0"/>
                <a:ea typeface="맑은 고딕" pitchFamily="34" charset="-122"/>
                <a:cs typeface="맑은 고딕" pitchFamily="34" charset="-120"/>
              </a:rPr>
              <a:t>올 — 조선방직에서 진시장까지</a:t>
            </a:r>
            <a:endParaRPr lang="en-US" sz="1250" dirty="0"/>
          </a:p>
        </p:txBody>
      </p:sp>
      <p:sp>
        <p:nvSpPr>
          <p:cNvPr id="13" name="Text 11"/>
          <p:cNvSpPr/>
          <p:nvPr/>
        </p:nvSpPr>
        <p:spPr>
          <a:xfrm>
            <a:off x="4288536" y="2514600"/>
            <a:ext cx="3493008" cy="1508760"/>
          </a:xfrm>
          <a:prstGeom prst="rect">
            <a:avLst/>
          </a:prstGeom>
          <a:noFill/>
          <a:ln/>
        </p:spPr>
        <p:txBody>
          <a:bodyPr wrap="square" lIns="0" tIns="0" rIns="0" bIns="0" rtlCol="0" anchor="t"/>
          <a:lstStyle/>
          <a:p>
            <a:pPr indent="0" marL="0">
              <a:lnSpc>
                <a:spcPts val="1900"/>
              </a:lnSpc>
              <a:buNone/>
            </a:pPr>
            <a:r>
              <a:rPr lang="en-US" sz="1100" dirty="0">
                <a:solidFill>
                  <a:srgbClr val="3E3A35"/>
                </a:solidFill>
                <a:latin typeface="맑은 고딕" pitchFamily="34" charset="0"/>
                <a:ea typeface="맑은 고딕" pitchFamily="34" charset="-122"/>
                <a:cs typeface="맑은 고딕" pitchFamily="34" charset="-120"/>
              </a:rPr>
              <a:t>1917년 범일동 700번지에 조선방직이 세워졌고 1922년 기계가 돌기 시작해 1968년 청산까지 약 50년, 3천 명이 넘는 노동자의 대다수가 여성이었다. 공장은 사라졌지만 '조방 앞'이라는 말과 부산진시장·평화시장·자유시장의 원단은 남았다.</a:t>
            </a:r>
            <a:endParaRPr lang="en-US" sz="1100" dirty="0"/>
          </a:p>
        </p:txBody>
      </p:sp>
      <p:sp>
        <p:nvSpPr>
          <p:cNvPr id="14" name="Text 12"/>
          <p:cNvSpPr/>
          <p:nvPr/>
        </p:nvSpPr>
        <p:spPr>
          <a:xfrm>
            <a:off x="4288536" y="4041648"/>
            <a:ext cx="3493008" cy="365760"/>
          </a:xfrm>
          <a:prstGeom prst="rect">
            <a:avLst/>
          </a:prstGeom>
          <a:noFill/>
          <a:ln/>
        </p:spPr>
        <p:txBody>
          <a:bodyPr wrap="square" lIns="0" tIns="0" rIns="0" bIns="0" rtlCol="0" anchor="ctr"/>
          <a:lstStyle/>
          <a:p>
            <a:pPr indent="0" marL="0">
              <a:buNone/>
            </a:pPr>
            <a:r>
              <a:rPr lang="en-US" sz="1300" b="1" dirty="0">
                <a:solidFill>
                  <a:srgbClr val="9C6B3C"/>
                </a:solidFill>
                <a:latin typeface="바탕" pitchFamily="34" charset="0"/>
                <a:ea typeface="바탕" pitchFamily="34" charset="-122"/>
                <a:cs typeface="바탕" pitchFamily="34" charset="-120"/>
              </a:rPr>
              <a:t>“ 실은 이 동네의 인프라였다. ”</a:t>
            </a:r>
            <a:endParaRPr lang="en-US" sz="1300" dirty="0"/>
          </a:p>
        </p:txBody>
      </p:sp>
      <p:sp>
        <p:nvSpPr>
          <p:cNvPr id="15" name="Shape 13"/>
          <p:cNvSpPr/>
          <p:nvPr/>
        </p:nvSpPr>
        <p:spPr>
          <a:xfrm>
            <a:off x="8028432" y="1783080"/>
            <a:ext cx="3493008" cy="566928"/>
          </a:xfrm>
          <a:prstGeom prst="rect">
            <a:avLst/>
          </a:prstGeom>
          <a:solidFill>
            <a:srgbClr val="7A4A45"/>
          </a:solidFill>
          <a:ln/>
        </p:spPr>
      </p:sp>
      <p:sp>
        <p:nvSpPr>
          <p:cNvPr id="16" name="Text 14"/>
          <p:cNvSpPr/>
          <p:nvPr/>
        </p:nvSpPr>
        <p:spPr>
          <a:xfrm>
            <a:off x="8211312" y="1783080"/>
            <a:ext cx="548640" cy="566928"/>
          </a:xfrm>
          <a:prstGeom prst="rect">
            <a:avLst/>
          </a:prstGeom>
          <a:noFill/>
          <a:ln/>
        </p:spPr>
        <p:txBody>
          <a:bodyPr wrap="square" lIns="0" tIns="0" rIns="0" bIns="0" rtlCol="0" anchor="ctr"/>
          <a:lstStyle/>
          <a:p>
            <a:pPr indent="0" marL="0">
              <a:buNone/>
            </a:pPr>
            <a:r>
              <a:rPr lang="en-US" sz="2000" dirty="0">
                <a:solidFill>
                  <a:srgbClr val="FFFFFF"/>
                </a:solidFill>
                <a:latin typeface="바탕" pitchFamily="34" charset="0"/>
                <a:ea typeface="바탕" pitchFamily="34" charset="-122"/>
                <a:cs typeface="바탕" pitchFamily="34" charset="-120"/>
              </a:rPr>
              <a:t>人</a:t>
            </a:r>
            <a:endParaRPr lang="en-US" sz="2000" dirty="0"/>
          </a:p>
        </p:txBody>
      </p:sp>
      <p:sp>
        <p:nvSpPr>
          <p:cNvPr id="17" name="Text 15"/>
          <p:cNvSpPr/>
          <p:nvPr/>
        </p:nvSpPr>
        <p:spPr>
          <a:xfrm>
            <a:off x="8805672" y="1783080"/>
            <a:ext cx="2651760" cy="566928"/>
          </a:xfrm>
          <a:prstGeom prst="rect">
            <a:avLst/>
          </a:prstGeom>
          <a:noFill/>
          <a:ln/>
        </p:spPr>
        <p:txBody>
          <a:bodyPr wrap="square" lIns="0" tIns="0" rIns="0" bIns="0" rtlCol="0" anchor="ctr"/>
          <a:lstStyle/>
          <a:p>
            <a:pPr indent="0" marL="0">
              <a:buNone/>
            </a:pPr>
            <a:r>
              <a:rPr lang="en-US" sz="1250" b="1" dirty="0">
                <a:solidFill>
                  <a:srgbClr val="FFFFFF"/>
                </a:solidFill>
                <a:latin typeface="맑은 고딕" pitchFamily="34" charset="0"/>
                <a:ea typeface="맑은 고딕" pitchFamily="34" charset="-122"/>
                <a:cs typeface="맑은 고딕" pitchFamily="34" charset="-120"/>
              </a:rPr>
              <a:t>사람 — 매축지와 안창, 그리고 방</a:t>
            </a:r>
            <a:endParaRPr lang="en-US" sz="1250" dirty="0"/>
          </a:p>
        </p:txBody>
      </p:sp>
      <p:sp>
        <p:nvSpPr>
          <p:cNvPr id="18" name="Text 16"/>
          <p:cNvSpPr/>
          <p:nvPr/>
        </p:nvSpPr>
        <p:spPr>
          <a:xfrm>
            <a:off x="8028432" y="2514600"/>
            <a:ext cx="3493008" cy="1508760"/>
          </a:xfrm>
          <a:prstGeom prst="rect">
            <a:avLst/>
          </a:prstGeom>
          <a:noFill/>
          <a:ln/>
        </p:spPr>
        <p:txBody>
          <a:bodyPr wrap="square" lIns="0" tIns="0" rIns="0" bIns="0" rtlCol="0" anchor="t"/>
          <a:lstStyle/>
          <a:p>
            <a:pPr indent="0" marL="0">
              <a:lnSpc>
                <a:spcPts val="1900"/>
              </a:lnSpc>
              <a:buNone/>
            </a:pPr>
            <a:r>
              <a:rPr lang="en-US" sz="1100" dirty="0">
                <a:solidFill>
                  <a:srgbClr val="3E3A35"/>
                </a:solidFill>
                <a:latin typeface="맑은 고딕" pitchFamily="34" charset="0"/>
                <a:ea typeface="맑은 고딕" pitchFamily="34" charset="-122"/>
                <a:cs typeface="맑은 고딕" pitchFamily="34" charset="-120"/>
              </a:rPr>
              <a:t>공장 옆, 시장 뒤, 매축된 땅 위에 방이 들어섰다. 피란과 이주가 골목의 밀도를 만들었고, 여공들이 걷던 길과 극장의 시간이 겹쳐 쌓였다. 범일가옥의 여덟 개 방은 그 위에 남은 가장 얇은 지층이다.</a:t>
            </a:r>
            <a:endParaRPr lang="en-US" sz="1100" dirty="0"/>
          </a:p>
        </p:txBody>
      </p:sp>
      <p:sp>
        <p:nvSpPr>
          <p:cNvPr id="19" name="Text 17"/>
          <p:cNvSpPr/>
          <p:nvPr/>
        </p:nvSpPr>
        <p:spPr>
          <a:xfrm>
            <a:off x="8028432" y="4041648"/>
            <a:ext cx="3493008" cy="365760"/>
          </a:xfrm>
          <a:prstGeom prst="rect">
            <a:avLst/>
          </a:prstGeom>
          <a:noFill/>
          <a:ln/>
        </p:spPr>
        <p:txBody>
          <a:bodyPr wrap="square" lIns="0" tIns="0" rIns="0" bIns="0" rtlCol="0" anchor="ctr"/>
          <a:lstStyle/>
          <a:p>
            <a:pPr indent="0" marL="0">
              <a:buNone/>
            </a:pPr>
            <a:r>
              <a:rPr lang="en-US" sz="1300" b="1" dirty="0">
                <a:solidFill>
                  <a:srgbClr val="7A4A45"/>
                </a:solidFill>
                <a:latin typeface="바탕" pitchFamily="34" charset="0"/>
                <a:ea typeface="바탕" pitchFamily="34" charset="-122"/>
                <a:cs typeface="바탕" pitchFamily="34" charset="-120"/>
              </a:rPr>
              <a:t>“ 방은 도시가 남긴 마지막 지층이다. ”</a:t>
            </a:r>
            <a:endParaRPr lang="en-US" sz="1300" dirty="0"/>
          </a:p>
        </p:txBody>
      </p:sp>
      <p:sp>
        <p:nvSpPr>
          <p:cNvPr id="20" name="Text 18"/>
          <p:cNvSpPr/>
          <p:nvPr/>
        </p:nvSpPr>
        <p:spPr>
          <a:xfrm>
            <a:off x="548640" y="4553712"/>
            <a:ext cx="7315200" cy="274320"/>
          </a:xfrm>
          <a:prstGeom prst="rect">
            <a:avLst/>
          </a:prstGeom>
          <a:noFill/>
          <a:ln/>
        </p:spPr>
        <p:txBody>
          <a:bodyPr wrap="square" lIns="0" tIns="0" rIns="0" bIns="0" rtlCol="0" anchor="ctr"/>
          <a:lstStyle/>
          <a:p>
            <a:pPr indent="0" marL="0">
              <a:buNone/>
            </a:pPr>
            <a:r>
              <a:rPr lang="en-US" sz="1200" b="1" dirty="0">
                <a:solidFill>
                  <a:srgbClr val="1A1A1A"/>
                </a:solidFill>
                <a:latin typeface="맑은 고딕" pitchFamily="34" charset="0"/>
                <a:ea typeface="맑은 고딕" pitchFamily="34" charset="-122"/>
                <a:cs typeface="맑은 고딕" pitchFamily="34" charset="-120"/>
              </a:rPr>
              <a:t>[도식 1] 장소 연표 — 이 동네가 덮어 온 것들</a:t>
            </a:r>
            <a:endParaRPr lang="en-US" sz="1200" dirty="0"/>
          </a:p>
        </p:txBody>
      </p:sp>
      <p:sp>
        <p:nvSpPr>
          <p:cNvPr id="21" name="Shape 19"/>
          <p:cNvSpPr/>
          <p:nvPr/>
        </p:nvSpPr>
        <p:spPr>
          <a:xfrm>
            <a:off x="685800" y="5230368"/>
            <a:ext cx="10789920" cy="0"/>
          </a:xfrm>
          <a:prstGeom prst="line">
            <a:avLst/>
          </a:prstGeom>
          <a:noFill/>
          <a:ln w="15875">
            <a:solidFill>
              <a:srgbClr val="D8D4CE"/>
            </a:solidFill>
            <a:prstDash val="solid"/>
          </a:ln>
        </p:spPr>
      </p:sp>
      <p:sp>
        <p:nvSpPr>
          <p:cNvPr id="22" name="Text 20"/>
          <p:cNvSpPr/>
          <p:nvPr/>
        </p:nvSpPr>
        <p:spPr>
          <a:xfrm>
            <a:off x="658368" y="4901184"/>
            <a:ext cx="1325880" cy="274320"/>
          </a:xfrm>
          <a:prstGeom prst="rect">
            <a:avLst/>
          </a:prstGeom>
          <a:noFill/>
          <a:ln/>
        </p:spPr>
        <p:txBody>
          <a:bodyPr wrap="square" lIns="0" tIns="0" rIns="0" bIns="0" rtlCol="0" anchor="ctr"/>
          <a:lstStyle/>
          <a:p>
            <a:pPr indent="0" marL="0">
              <a:buNone/>
            </a:pPr>
            <a:r>
              <a:rPr lang="en-US" sz="1100" b="1" dirty="0">
                <a:solidFill>
                  <a:srgbClr val="2F4858"/>
                </a:solidFill>
                <a:latin typeface="맑은 고딕" pitchFamily="34" charset="0"/>
                <a:ea typeface="맑은 고딕" pitchFamily="34" charset="-122"/>
                <a:cs typeface="맑은 고딕" pitchFamily="34" charset="-120"/>
              </a:rPr>
              <a:t>1740</a:t>
            </a:r>
            <a:endParaRPr lang="en-US" sz="1100" dirty="0"/>
          </a:p>
        </p:txBody>
      </p:sp>
      <p:sp>
        <p:nvSpPr>
          <p:cNvPr id="23" name="Shape 21"/>
          <p:cNvSpPr/>
          <p:nvPr/>
        </p:nvSpPr>
        <p:spPr>
          <a:xfrm>
            <a:off x="658368" y="5170932"/>
            <a:ext cx="118872" cy="118872"/>
          </a:xfrm>
          <a:prstGeom prst="ellipse">
            <a:avLst/>
          </a:prstGeom>
          <a:solidFill>
            <a:srgbClr val="2F4858"/>
          </a:solidFill>
          <a:ln/>
        </p:spPr>
      </p:sp>
      <p:sp>
        <p:nvSpPr>
          <p:cNvPr id="24" name="Text 22"/>
          <p:cNvSpPr/>
          <p:nvPr/>
        </p:nvSpPr>
        <p:spPr>
          <a:xfrm>
            <a:off x="658368" y="5358384"/>
            <a:ext cx="1325880" cy="731520"/>
          </a:xfrm>
          <a:prstGeom prst="rect">
            <a:avLst/>
          </a:prstGeom>
          <a:noFill/>
          <a:ln/>
        </p:spPr>
        <p:txBody>
          <a:bodyPr wrap="square" lIns="0" tIns="0" rIns="0" bIns="0" rtlCol="0" anchor="t"/>
          <a:lstStyle/>
          <a:p>
            <a:pPr indent="0" marL="0">
              <a:lnSpc>
                <a:spcPts val="1200"/>
              </a:lnSpc>
              <a:buNone/>
            </a:pPr>
            <a:r>
              <a:rPr lang="en-US" sz="850" dirty="0">
                <a:solidFill>
                  <a:srgbClr val="4A453F"/>
                </a:solidFill>
                <a:latin typeface="맑은 고딕" pitchFamily="34" charset="0"/>
                <a:ea typeface="맑은 고딕" pitchFamily="34" charset="-122"/>
                <a:cs typeface="맑은 고딕" pitchFamily="34" charset="-120"/>
              </a:rPr>
              <a:t>『동래부지』에 동평면</a:t>
            </a:r>
            <a:endParaRPr lang="en-US" sz="850" dirty="0"/>
          </a:p>
          <a:p>
            <a:pPr indent="0" marL="0">
              <a:lnSpc>
                <a:spcPts val="1200"/>
              </a:lnSpc>
              <a:buNone/>
            </a:pPr>
            <a:r>
              <a:rPr lang="en-US" sz="850" dirty="0">
                <a:solidFill>
                  <a:srgbClr val="4A453F"/>
                </a:solidFill>
                <a:latin typeface="맑은 고딕" pitchFamily="34" charset="0"/>
                <a:ea typeface="맑은 고딕" pitchFamily="34" charset="-122"/>
                <a:cs typeface="맑은 고딕" pitchFamily="34" charset="-120"/>
              </a:rPr>
              <a:t>범천 1·2리 기록 —</a:t>
            </a:r>
            <a:endParaRPr lang="en-US" sz="850" dirty="0"/>
          </a:p>
          <a:p>
            <a:pPr indent="0" marL="0">
              <a:lnSpc>
                <a:spcPts val="1200"/>
              </a:lnSpc>
              <a:buNone/>
            </a:pPr>
            <a:r>
              <a:rPr lang="en-US" sz="850" dirty="0">
                <a:solidFill>
                  <a:srgbClr val="4A453F"/>
                </a:solidFill>
                <a:latin typeface="맑은 고딕" pitchFamily="34" charset="0"/>
                <a:ea typeface="맑은 고딕" pitchFamily="34" charset="-122"/>
                <a:cs typeface="맑은 고딕" pitchFamily="34" charset="-120"/>
              </a:rPr>
              <a:t>'범내'가 지명이 되다</a:t>
            </a:r>
            <a:endParaRPr lang="en-US" sz="850" dirty="0"/>
          </a:p>
        </p:txBody>
      </p:sp>
      <p:sp>
        <p:nvSpPr>
          <p:cNvPr id="25" name="Text 23"/>
          <p:cNvSpPr/>
          <p:nvPr/>
        </p:nvSpPr>
        <p:spPr>
          <a:xfrm>
            <a:off x="2057400" y="4901184"/>
            <a:ext cx="1325880" cy="274320"/>
          </a:xfrm>
          <a:prstGeom prst="rect">
            <a:avLst/>
          </a:prstGeom>
          <a:noFill/>
          <a:ln/>
        </p:spPr>
        <p:txBody>
          <a:bodyPr wrap="square" lIns="0" tIns="0" rIns="0" bIns="0" rtlCol="0" anchor="ctr"/>
          <a:lstStyle/>
          <a:p>
            <a:pPr indent="0" marL="0">
              <a:buNone/>
            </a:pPr>
            <a:r>
              <a:rPr lang="en-US" sz="1100" b="1" dirty="0">
                <a:solidFill>
                  <a:srgbClr val="2F4858"/>
                </a:solidFill>
                <a:latin typeface="맑은 고딕" pitchFamily="34" charset="0"/>
                <a:ea typeface="맑은 고딕" pitchFamily="34" charset="-122"/>
                <a:cs typeface="맑은 고딕" pitchFamily="34" charset="-120"/>
              </a:rPr>
              <a:t>1913–32</a:t>
            </a:r>
            <a:endParaRPr lang="en-US" sz="1100" dirty="0"/>
          </a:p>
        </p:txBody>
      </p:sp>
      <p:sp>
        <p:nvSpPr>
          <p:cNvPr id="26" name="Shape 24"/>
          <p:cNvSpPr/>
          <p:nvPr/>
        </p:nvSpPr>
        <p:spPr>
          <a:xfrm>
            <a:off x="2057400" y="5170932"/>
            <a:ext cx="118872" cy="118872"/>
          </a:xfrm>
          <a:prstGeom prst="ellipse">
            <a:avLst/>
          </a:prstGeom>
          <a:solidFill>
            <a:srgbClr val="2F4858"/>
          </a:solidFill>
          <a:ln/>
        </p:spPr>
      </p:sp>
      <p:sp>
        <p:nvSpPr>
          <p:cNvPr id="27" name="Text 25"/>
          <p:cNvSpPr/>
          <p:nvPr/>
        </p:nvSpPr>
        <p:spPr>
          <a:xfrm>
            <a:off x="2057400" y="5358384"/>
            <a:ext cx="1325880" cy="731520"/>
          </a:xfrm>
          <a:prstGeom prst="rect">
            <a:avLst/>
          </a:prstGeom>
          <a:noFill/>
          <a:ln/>
        </p:spPr>
        <p:txBody>
          <a:bodyPr wrap="square" lIns="0" tIns="0" rIns="0" bIns="0" rtlCol="0" anchor="t"/>
          <a:lstStyle/>
          <a:p>
            <a:pPr indent="0" marL="0">
              <a:lnSpc>
                <a:spcPts val="1200"/>
              </a:lnSpc>
              <a:buNone/>
            </a:pPr>
            <a:r>
              <a:rPr lang="en-US" sz="850" dirty="0">
                <a:solidFill>
                  <a:srgbClr val="4A453F"/>
                </a:solidFill>
                <a:latin typeface="맑은 고딕" pitchFamily="34" charset="0"/>
                <a:ea typeface="맑은 고딕" pitchFamily="34" charset="-122"/>
                <a:cs typeface="맑은 고딕" pitchFamily="34" charset="-120"/>
              </a:rPr>
              <a:t>부산진매축 두 차례 —</a:t>
            </a:r>
            <a:endParaRPr lang="en-US" sz="850" dirty="0"/>
          </a:p>
          <a:p>
            <a:pPr indent="0" marL="0">
              <a:lnSpc>
                <a:spcPts val="1200"/>
              </a:lnSpc>
              <a:buNone/>
            </a:pPr>
            <a:r>
              <a:rPr lang="en-US" sz="850" dirty="0">
                <a:solidFill>
                  <a:srgbClr val="4A453F"/>
                </a:solidFill>
                <a:latin typeface="맑은 고딕" pitchFamily="34" charset="0"/>
                <a:ea typeface="맑은 고딕" pitchFamily="34" charset="-122"/>
                <a:cs typeface="맑은 고딕" pitchFamily="34" charset="-120"/>
              </a:rPr>
              <a:t>바다를 메워 지금의</a:t>
            </a:r>
            <a:endParaRPr lang="en-US" sz="850" dirty="0"/>
          </a:p>
          <a:p>
            <a:pPr indent="0" marL="0">
              <a:lnSpc>
                <a:spcPts val="1200"/>
              </a:lnSpc>
              <a:buNone/>
            </a:pPr>
            <a:r>
              <a:rPr lang="en-US" sz="850" dirty="0">
                <a:solidFill>
                  <a:srgbClr val="4A453F"/>
                </a:solidFill>
                <a:latin typeface="맑은 고딕" pitchFamily="34" charset="0"/>
                <a:ea typeface="맑은 고딕" pitchFamily="34" charset="-122"/>
                <a:cs typeface="맑은 고딕" pitchFamily="34" charset="-120"/>
              </a:rPr>
              <a:t>범일동 일대가 생기다</a:t>
            </a:r>
            <a:endParaRPr lang="en-US" sz="850" dirty="0"/>
          </a:p>
        </p:txBody>
      </p:sp>
      <p:sp>
        <p:nvSpPr>
          <p:cNvPr id="28" name="Text 26"/>
          <p:cNvSpPr/>
          <p:nvPr/>
        </p:nvSpPr>
        <p:spPr>
          <a:xfrm>
            <a:off x="3456432" y="4901184"/>
            <a:ext cx="1325880" cy="274320"/>
          </a:xfrm>
          <a:prstGeom prst="rect">
            <a:avLst/>
          </a:prstGeom>
          <a:noFill/>
          <a:ln/>
        </p:spPr>
        <p:txBody>
          <a:bodyPr wrap="square" lIns="0" tIns="0" rIns="0" bIns="0" rtlCol="0" anchor="ctr"/>
          <a:lstStyle/>
          <a:p>
            <a:pPr indent="0" marL="0">
              <a:buNone/>
            </a:pPr>
            <a:r>
              <a:rPr lang="en-US" sz="1100" b="1" dirty="0">
                <a:solidFill>
                  <a:srgbClr val="9C6B3C"/>
                </a:solidFill>
                <a:latin typeface="맑은 고딕" pitchFamily="34" charset="0"/>
                <a:ea typeface="맑은 고딕" pitchFamily="34" charset="-122"/>
                <a:cs typeface="맑은 고딕" pitchFamily="34" charset="-120"/>
              </a:rPr>
              <a:t>1917</a:t>
            </a:r>
            <a:endParaRPr lang="en-US" sz="1100" dirty="0"/>
          </a:p>
        </p:txBody>
      </p:sp>
      <p:sp>
        <p:nvSpPr>
          <p:cNvPr id="29" name="Shape 27"/>
          <p:cNvSpPr/>
          <p:nvPr/>
        </p:nvSpPr>
        <p:spPr>
          <a:xfrm>
            <a:off x="3456432" y="5170932"/>
            <a:ext cx="118872" cy="118872"/>
          </a:xfrm>
          <a:prstGeom prst="ellipse">
            <a:avLst/>
          </a:prstGeom>
          <a:solidFill>
            <a:srgbClr val="9C6B3C"/>
          </a:solidFill>
          <a:ln/>
        </p:spPr>
      </p:sp>
      <p:sp>
        <p:nvSpPr>
          <p:cNvPr id="30" name="Text 28"/>
          <p:cNvSpPr/>
          <p:nvPr/>
        </p:nvSpPr>
        <p:spPr>
          <a:xfrm>
            <a:off x="3456432" y="5358384"/>
            <a:ext cx="1325880" cy="731520"/>
          </a:xfrm>
          <a:prstGeom prst="rect">
            <a:avLst/>
          </a:prstGeom>
          <a:noFill/>
          <a:ln/>
        </p:spPr>
        <p:txBody>
          <a:bodyPr wrap="square" lIns="0" tIns="0" rIns="0" bIns="0" rtlCol="0" anchor="t"/>
          <a:lstStyle/>
          <a:p>
            <a:pPr indent="0" marL="0">
              <a:lnSpc>
                <a:spcPts val="1200"/>
              </a:lnSpc>
              <a:buNone/>
            </a:pPr>
            <a:r>
              <a:rPr lang="en-US" sz="850" dirty="0">
                <a:solidFill>
                  <a:srgbClr val="4A453F"/>
                </a:solidFill>
                <a:latin typeface="맑은 고딕" pitchFamily="34" charset="0"/>
                <a:ea typeface="맑은 고딕" pitchFamily="34" charset="-122"/>
                <a:cs typeface="맑은 고딕" pitchFamily="34" charset="-120"/>
              </a:rPr>
              <a:t>범일동 700번지에</a:t>
            </a:r>
            <a:endParaRPr lang="en-US" sz="850" dirty="0"/>
          </a:p>
          <a:p>
            <a:pPr indent="0" marL="0">
              <a:lnSpc>
                <a:spcPts val="1200"/>
              </a:lnSpc>
              <a:buNone/>
            </a:pPr>
            <a:r>
              <a:rPr lang="en-US" sz="850" dirty="0">
                <a:solidFill>
                  <a:srgbClr val="4A453F"/>
                </a:solidFill>
                <a:latin typeface="맑은 고딕" pitchFamily="34" charset="0"/>
                <a:ea typeface="맑은 고딕" pitchFamily="34" charset="-122"/>
                <a:cs typeface="맑은 고딕" pitchFamily="34" charset="-120"/>
              </a:rPr>
              <a:t>조선방직 설립</a:t>
            </a:r>
            <a:endParaRPr lang="en-US" sz="850" dirty="0"/>
          </a:p>
          <a:p>
            <a:pPr indent="0" marL="0">
              <a:lnSpc>
                <a:spcPts val="1200"/>
              </a:lnSpc>
              <a:buNone/>
            </a:pPr>
            <a:r>
              <a:rPr lang="en-US" sz="850" dirty="0">
                <a:solidFill>
                  <a:srgbClr val="4A453F"/>
                </a:solidFill>
                <a:latin typeface="맑은 고딕" pitchFamily="34" charset="0"/>
                <a:ea typeface="맑은 고딕" pitchFamily="34" charset="-122"/>
                <a:cs typeface="맑은 고딕" pitchFamily="34" charset="-120"/>
              </a:rPr>
              <a:t>(미쓰이 자본)</a:t>
            </a:r>
            <a:endParaRPr lang="en-US" sz="850" dirty="0"/>
          </a:p>
        </p:txBody>
      </p:sp>
      <p:sp>
        <p:nvSpPr>
          <p:cNvPr id="31" name="Text 29"/>
          <p:cNvSpPr/>
          <p:nvPr/>
        </p:nvSpPr>
        <p:spPr>
          <a:xfrm>
            <a:off x="4855464" y="4901184"/>
            <a:ext cx="1325880" cy="274320"/>
          </a:xfrm>
          <a:prstGeom prst="rect">
            <a:avLst/>
          </a:prstGeom>
          <a:noFill/>
          <a:ln/>
        </p:spPr>
        <p:txBody>
          <a:bodyPr wrap="square" lIns="0" tIns="0" rIns="0" bIns="0" rtlCol="0" anchor="ctr"/>
          <a:lstStyle/>
          <a:p>
            <a:pPr indent="0" marL="0">
              <a:buNone/>
            </a:pPr>
            <a:r>
              <a:rPr lang="en-US" sz="1100" b="1" dirty="0">
                <a:solidFill>
                  <a:srgbClr val="9C6B3C"/>
                </a:solidFill>
                <a:latin typeface="맑은 고딕" pitchFamily="34" charset="0"/>
                <a:ea typeface="맑은 고딕" pitchFamily="34" charset="-122"/>
                <a:cs typeface="맑은 고딕" pitchFamily="34" charset="-120"/>
              </a:rPr>
              <a:t>1922</a:t>
            </a:r>
            <a:endParaRPr lang="en-US" sz="1100" dirty="0"/>
          </a:p>
        </p:txBody>
      </p:sp>
      <p:sp>
        <p:nvSpPr>
          <p:cNvPr id="32" name="Shape 30"/>
          <p:cNvSpPr/>
          <p:nvPr/>
        </p:nvSpPr>
        <p:spPr>
          <a:xfrm>
            <a:off x="4855464" y="5170932"/>
            <a:ext cx="118872" cy="118872"/>
          </a:xfrm>
          <a:prstGeom prst="ellipse">
            <a:avLst/>
          </a:prstGeom>
          <a:solidFill>
            <a:srgbClr val="9C6B3C"/>
          </a:solidFill>
          <a:ln/>
        </p:spPr>
      </p:sp>
      <p:sp>
        <p:nvSpPr>
          <p:cNvPr id="33" name="Text 31"/>
          <p:cNvSpPr/>
          <p:nvPr/>
        </p:nvSpPr>
        <p:spPr>
          <a:xfrm>
            <a:off x="4855464" y="5358384"/>
            <a:ext cx="1325880" cy="731520"/>
          </a:xfrm>
          <a:prstGeom prst="rect">
            <a:avLst/>
          </a:prstGeom>
          <a:noFill/>
          <a:ln/>
        </p:spPr>
        <p:txBody>
          <a:bodyPr wrap="square" lIns="0" tIns="0" rIns="0" bIns="0" rtlCol="0" anchor="t"/>
          <a:lstStyle/>
          <a:p>
            <a:pPr indent="0" marL="0">
              <a:lnSpc>
                <a:spcPts val="1200"/>
              </a:lnSpc>
              <a:buNone/>
            </a:pPr>
            <a:r>
              <a:rPr lang="en-US" sz="850" dirty="0">
                <a:solidFill>
                  <a:srgbClr val="4A453F"/>
                </a:solidFill>
                <a:latin typeface="맑은 고딕" pitchFamily="34" charset="0"/>
                <a:ea typeface="맑은 고딕" pitchFamily="34" charset="-122"/>
                <a:cs typeface="맑은 고딕" pitchFamily="34" charset="-120"/>
              </a:rPr>
              <a:t>조업 개시 · 종업원</a:t>
            </a:r>
            <a:endParaRPr lang="en-US" sz="850" dirty="0"/>
          </a:p>
          <a:p>
            <a:pPr indent="0" marL="0">
              <a:lnSpc>
                <a:spcPts val="1200"/>
              </a:lnSpc>
              <a:buNone/>
            </a:pPr>
            <a:r>
              <a:rPr lang="en-US" sz="850" dirty="0">
                <a:solidFill>
                  <a:srgbClr val="4A453F"/>
                </a:solidFill>
                <a:latin typeface="맑은 고딕" pitchFamily="34" charset="0"/>
                <a:ea typeface="맑은 고딕" pitchFamily="34" charset="-122"/>
                <a:cs typeface="맑은 고딕" pitchFamily="34" charset="-120"/>
              </a:rPr>
              <a:t>3천여 명, 대다수가</a:t>
            </a:r>
            <a:endParaRPr lang="en-US" sz="850" dirty="0"/>
          </a:p>
          <a:p>
            <a:pPr indent="0" marL="0">
              <a:lnSpc>
                <a:spcPts val="1200"/>
              </a:lnSpc>
              <a:buNone/>
            </a:pPr>
            <a:r>
              <a:rPr lang="en-US" sz="850" dirty="0">
                <a:solidFill>
                  <a:srgbClr val="4A453F"/>
                </a:solidFill>
                <a:latin typeface="맑은 고딕" pitchFamily="34" charset="0"/>
                <a:ea typeface="맑은 고딕" pitchFamily="34" charset="-122"/>
                <a:cs typeface="맑은 고딕" pitchFamily="34" charset="-120"/>
              </a:rPr>
              <a:t>여성 노동자</a:t>
            </a:r>
            <a:endParaRPr lang="en-US" sz="850" dirty="0"/>
          </a:p>
        </p:txBody>
      </p:sp>
      <p:sp>
        <p:nvSpPr>
          <p:cNvPr id="34" name="Text 32"/>
          <p:cNvSpPr/>
          <p:nvPr/>
        </p:nvSpPr>
        <p:spPr>
          <a:xfrm>
            <a:off x="6254496" y="4901184"/>
            <a:ext cx="1325880" cy="274320"/>
          </a:xfrm>
          <a:prstGeom prst="rect">
            <a:avLst/>
          </a:prstGeom>
          <a:noFill/>
          <a:ln/>
        </p:spPr>
        <p:txBody>
          <a:bodyPr wrap="square" lIns="0" tIns="0" rIns="0" bIns="0" rtlCol="0" anchor="ctr"/>
          <a:lstStyle/>
          <a:p>
            <a:pPr indent="0" marL="0">
              <a:buNone/>
            </a:pPr>
            <a:r>
              <a:rPr lang="en-US" sz="1100" b="1" dirty="0">
                <a:solidFill>
                  <a:srgbClr val="9C6B3C"/>
                </a:solidFill>
                <a:latin typeface="맑은 고딕" pitchFamily="34" charset="0"/>
                <a:ea typeface="맑은 고딕" pitchFamily="34" charset="-122"/>
                <a:cs typeface="맑은 고딕" pitchFamily="34" charset="-120"/>
              </a:rPr>
              <a:t>1930</a:t>
            </a:r>
            <a:endParaRPr lang="en-US" sz="1100" dirty="0"/>
          </a:p>
        </p:txBody>
      </p:sp>
      <p:sp>
        <p:nvSpPr>
          <p:cNvPr id="35" name="Shape 33"/>
          <p:cNvSpPr/>
          <p:nvPr/>
        </p:nvSpPr>
        <p:spPr>
          <a:xfrm>
            <a:off x="6254496" y="5170932"/>
            <a:ext cx="118872" cy="118872"/>
          </a:xfrm>
          <a:prstGeom prst="ellipse">
            <a:avLst/>
          </a:prstGeom>
          <a:solidFill>
            <a:srgbClr val="9C6B3C"/>
          </a:solidFill>
          <a:ln/>
        </p:spPr>
      </p:sp>
      <p:sp>
        <p:nvSpPr>
          <p:cNvPr id="36" name="Text 34"/>
          <p:cNvSpPr/>
          <p:nvPr/>
        </p:nvSpPr>
        <p:spPr>
          <a:xfrm>
            <a:off x="6254496" y="5358384"/>
            <a:ext cx="1325880" cy="731520"/>
          </a:xfrm>
          <a:prstGeom prst="rect">
            <a:avLst/>
          </a:prstGeom>
          <a:noFill/>
          <a:ln/>
        </p:spPr>
        <p:txBody>
          <a:bodyPr wrap="square" lIns="0" tIns="0" rIns="0" bIns="0" rtlCol="0" anchor="t"/>
          <a:lstStyle/>
          <a:p>
            <a:pPr indent="0" marL="0">
              <a:lnSpc>
                <a:spcPts val="1200"/>
              </a:lnSpc>
              <a:buNone/>
            </a:pPr>
            <a:r>
              <a:rPr lang="en-US" sz="850" dirty="0">
                <a:solidFill>
                  <a:srgbClr val="4A453F"/>
                </a:solidFill>
                <a:latin typeface="맑은 고딕" pitchFamily="34" charset="0"/>
                <a:ea typeface="맑은 고딕" pitchFamily="34" charset="-122"/>
                <a:cs typeface="맑은 고딕" pitchFamily="34" charset="-120"/>
              </a:rPr>
              <a:t>조선인 여성 노동자</a:t>
            </a:r>
            <a:endParaRPr lang="en-US" sz="850" dirty="0"/>
          </a:p>
          <a:p>
            <a:pPr indent="0" marL="0">
              <a:lnSpc>
                <a:spcPts val="1200"/>
              </a:lnSpc>
              <a:buNone/>
            </a:pPr>
            <a:r>
              <a:rPr lang="en-US" sz="850" dirty="0">
                <a:solidFill>
                  <a:srgbClr val="4A453F"/>
                </a:solidFill>
                <a:latin typeface="맑은 고딕" pitchFamily="34" charset="0"/>
                <a:ea typeface="맑은 고딕" pitchFamily="34" charset="-122"/>
                <a:cs typeface="맑은 고딕" pitchFamily="34" charset="-120"/>
              </a:rPr>
              <a:t>대파업 — 조방이</a:t>
            </a:r>
            <a:endParaRPr lang="en-US" sz="850" dirty="0"/>
          </a:p>
          <a:p>
            <a:pPr indent="0" marL="0">
              <a:lnSpc>
                <a:spcPts val="1200"/>
              </a:lnSpc>
              <a:buNone/>
            </a:pPr>
            <a:r>
              <a:rPr lang="en-US" sz="850" dirty="0">
                <a:solidFill>
                  <a:srgbClr val="4A453F"/>
                </a:solidFill>
                <a:latin typeface="맑은 고딕" pitchFamily="34" charset="0"/>
                <a:ea typeface="맑은 고딕" pitchFamily="34" charset="-122"/>
                <a:cs typeface="맑은 고딕" pitchFamily="34" charset="-120"/>
              </a:rPr>
              <a:t>전국에 알려지다</a:t>
            </a:r>
            <a:endParaRPr lang="en-US" sz="850" dirty="0"/>
          </a:p>
        </p:txBody>
      </p:sp>
      <p:sp>
        <p:nvSpPr>
          <p:cNvPr id="37" name="Text 35"/>
          <p:cNvSpPr/>
          <p:nvPr/>
        </p:nvSpPr>
        <p:spPr>
          <a:xfrm>
            <a:off x="7653528" y="4901184"/>
            <a:ext cx="1325880" cy="274320"/>
          </a:xfrm>
          <a:prstGeom prst="rect">
            <a:avLst/>
          </a:prstGeom>
          <a:noFill/>
          <a:ln/>
        </p:spPr>
        <p:txBody>
          <a:bodyPr wrap="square" lIns="0" tIns="0" rIns="0" bIns="0" rtlCol="0" anchor="ctr"/>
          <a:lstStyle/>
          <a:p>
            <a:pPr indent="0" marL="0">
              <a:buNone/>
            </a:pPr>
            <a:r>
              <a:rPr lang="en-US" sz="1100" b="1" dirty="0">
                <a:solidFill>
                  <a:srgbClr val="7A4A45"/>
                </a:solidFill>
                <a:latin typeface="맑은 고딕" pitchFamily="34" charset="0"/>
                <a:ea typeface="맑은 고딕" pitchFamily="34" charset="-122"/>
                <a:cs typeface="맑은 고딕" pitchFamily="34" charset="-120"/>
              </a:rPr>
              <a:t>1968</a:t>
            </a:r>
            <a:endParaRPr lang="en-US" sz="1100" dirty="0"/>
          </a:p>
        </p:txBody>
      </p:sp>
      <p:sp>
        <p:nvSpPr>
          <p:cNvPr id="38" name="Shape 36"/>
          <p:cNvSpPr/>
          <p:nvPr/>
        </p:nvSpPr>
        <p:spPr>
          <a:xfrm>
            <a:off x="7653528" y="5170932"/>
            <a:ext cx="118872" cy="118872"/>
          </a:xfrm>
          <a:prstGeom prst="ellipse">
            <a:avLst/>
          </a:prstGeom>
          <a:solidFill>
            <a:srgbClr val="7A4A45"/>
          </a:solidFill>
          <a:ln/>
        </p:spPr>
      </p:sp>
      <p:sp>
        <p:nvSpPr>
          <p:cNvPr id="39" name="Text 37"/>
          <p:cNvSpPr/>
          <p:nvPr/>
        </p:nvSpPr>
        <p:spPr>
          <a:xfrm>
            <a:off x="7653528" y="5358384"/>
            <a:ext cx="1325880" cy="731520"/>
          </a:xfrm>
          <a:prstGeom prst="rect">
            <a:avLst/>
          </a:prstGeom>
          <a:noFill/>
          <a:ln/>
        </p:spPr>
        <p:txBody>
          <a:bodyPr wrap="square" lIns="0" tIns="0" rIns="0" bIns="0" rtlCol="0" anchor="t"/>
          <a:lstStyle/>
          <a:p>
            <a:pPr indent="0" marL="0">
              <a:lnSpc>
                <a:spcPts val="1200"/>
              </a:lnSpc>
              <a:buNone/>
            </a:pPr>
            <a:r>
              <a:rPr lang="en-US" sz="850" dirty="0">
                <a:solidFill>
                  <a:srgbClr val="4A453F"/>
                </a:solidFill>
                <a:latin typeface="맑은 고딕" pitchFamily="34" charset="0"/>
                <a:ea typeface="맑은 고딕" pitchFamily="34" charset="-122"/>
                <a:cs typeface="맑은 고딕" pitchFamily="34" charset="-120"/>
              </a:rPr>
              <a:t>조선방직 청산 —</a:t>
            </a:r>
            <a:endParaRPr lang="en-US" sz="850" dirty="0"/>
          </a:p>
          <a:p>
            <a:pPr indent="0" marL="0">
              <a:lnSpc>
                <a:spcPts val="1200"/>
              </a:lnSpc>
              <a:buNone/>
            </a:pPr>
            <a:r>
              <a:rPr lang="en-US" sz="850" dirty="0">
                <a:solidFill>
                  <a:srgbClr val="4A453F"/>
                </a:solidFill>
                <a:latin typeface="맑은 고딕" pitchFamily="34" charset="0"/>
                <a:ea typeface="맑은 고딕" pitchFamily="34" charset="-122"/>
                <a:cs typeface="맑은 고딕" pitchFamily="34" charset="-120"/>
              </a:rPr>
              <a:t>공장은 사라지고</a:t>
            </a:r>
            <a:endParaRPr lang="en-US" sz="850" dirty="0"/>
          </a:p>
          <a:p>
            <a:pPr indent="0" marL="0">
              <a:lnSpc>
                <a:spcPts val="1200"/>
              </a:lnSpc>
              <a:buNone/>
            </a:pPr>
            <a:r>
              <a:rPr lang="en-US" sz="850" dirty="0">
                <a:solidFill>
                  <a:srgbClr val="4A453F"/>
                </a:solidFill>
                <a:latin typeface="맑은 고딕" pitchFamily="34" charset="0"/>
                <a:ea typeface="맑은 고딕" pitchFamily="34" charset="-122"/>
                <a:cs typeface="맑은 고딕" pitchFamily="34" charset="-120"/>
              </a:rPr>
              <a:t>'조방 앞'만 남다</a:t>
            </a:r>
            <a:endParaRPr lang="en-US" sz="850" dirty="0"/>
          </a:p>
        </p:txBody>
      </p:sp>
      <p:sp>
        <p:nvSpPr>
          <p:cNvPr id="40" name="Text 38"/>
          <p:cNvSpPr/>
          <p:nvPr/>
        </p:nvSpPr>
        <p:spPr>
          <a:xfrm>
            <a:off x="9052560" y="4901184"/>
            <a:ext cx="1325880" cy="274320"/>
          </a:xfrm>
          <a:prstGeom prst="rect">
            <a:avLst/>
          </a:prstGeom>
          <a:noFill/>
          <a:ln/>
        </p:spPr>
        <p:txBody>
          <a:bodyPr wrap="square" lIns="0" tIns="0" rIns="0" bIns="0" rtlCol="0" anchor="ctr"/>
          <a:lstStyle/>
          <a:p>
            <a:pPr indent="0" marL="0">
              <a:buNone/>
            </a:pPr>
            <a:r>
              <a:rPr lang="en-US" sz="1100" b="1" dirty="0">
                <a:solidFill>
                  <a:srgbClr val="2F4858"/>
                </a:solidFill>
                <a:latin typeface="맑은 고딕" pitchFamily="34" charset="0"/>
                <a:ea typeface="맑은 고딕" pitchFamily="34" charset="-122"/>
                <a:cs typeface="맑은 고딕" pitchFamily="34" charset="-120"/>
              </a:rPr>
              <a:t>1970년대</a:t>
            </a:r>
            <a:endParaRPr lang="en-US" sz="1100" dirty="0"/>
          </a:p>
        </p:txBody>
      </p:sp>
      <p:sp>
        <p:nvSpPr>
          <p:cNvPr id="41" name="Shape 39"/>
          <p:cNvSpPr/>
          <p:nvPr/>
        </p:nvSpPr>
        <p:spPr>
          <a:xfrm>
            <a:off x="9052560" y="5170932"/>
            <a:ext cx="118872" cy="118872"/>
          </a:xfrm>
          <a:prstGeom prst="ellipse">
            <a:avLst/>
          </a:prstGeom>
          <a:solidFill>
            <a:srgbClr val="2F4858"/>
          </a:solidFill>
          <a:ln/>
        </p:spPr>
      </p:sp>
      <p:sp>
        <p:nvSpPr>
          <p:cNvPr id="42" name="Text 40"/>
          <p:cNvSpPr/>
          <p:nvPr/>
        </p:nvSpPr>
        <p:spPr>
          <a:xfrm>
            <a:off x="9052560" y="5358384"/>
            <a:ext cx="1325880" cy="731520"/>
          </a:xfrm>
          <a:prstGeom prst="rect">
            <a:avLst/>
          </a:prstGeom>
          <a:noFill/>
          <a:ln/>
        </p:spPr>
        <p:txBody>
          <a:bodyPr wrap="square" lIns="0" tIns="0" rIns="0" bIns="0" rtlCol="0" anchor="t"/>
          <a:lstStyle/>
          <a:p>
            <a:pPr indent="0" marL="0">
              <a:lnSpc>
                <a:spcPts val="1200"/>
              </a:lnSpc>
              <a:buNone/>
            </a:pPr>
            <a:r>
              <a:rPr lang="en-US" sz="850" dirty="0">
                <a:solidFill>
                  <a:srgbClr val="4A453F"/>
                </a:solidFill>
                <a:latin typeface="맑은 고딕" pitchFamily="34" charset="0"/>
                <a:ea typeface="맑은 고딕" pitchFamily="34" charset="-122"/>
                <a:cs typeface="맑은 고딕" pitchFamily="34" charset="-120"/>
              </a:rPr>
              <a:t>범내(호계천) 복개 —</a:t>
            </a:r>
            <a:endParaRPr lang="en-US" sz="850" dirty="0"/>
          </a:p>
          <a:p>
            <a:pPr indent="0" marL="0">
              <a:lnSpc>
                <a:spcPts val="1200"/>
              </a:lnSpc>
              <a:buNone/>
            </a:pPr>
            <a:r>
              <a:rPr lang="en-US" sz="850" dirty="0">
                <a:solidFill>
                  <a:srgbClr val="4A453F"/>
                </a:solidFill>
                <a:latin typeface="맑은 고딕" pitchFamily="34" charset="0"/>
                <a:ea typeface="맑은 고딕" pitchFamily="34" charset="-122"/>
                <a:cs typeface="맑은 고딕" pitchFamily="34" charset="-120"/>
              </a:rPr>
              <a:t>물길이 도로 아래로</a:t>
            </a:r>
            <a:endParaRPr lang="en-US" sz="850" dirty="0"/>
          </a:p>
          <a:p>
            <a:pPr indent="0" marL="0">
              <a:lnSpc>
                <a:spcPts val="1200"/>
              </a:lnSpc>
              <a:buNone/>
            </a:pPr>
            <a:r>
              <a:rPr lang="en-US" sz="850" dirty="0">
                <a:solidFill>
                  <a:srgbClr val="4A453F"/>
                </a:solidFill>
                <a:latin typeface="맑은 고딕" pitchFamily="34" charset="0"/>
                <a:ea typeface="맑은 고딕" pitchFamily="34" charset="-122"/>
                <a:cs typeface="맑은 고딕" pitchFamily="34" charset="-120"/>
              </a:rPr>
              <a:t>들어가다</a:t>
            </a:r>
            <a:endParaRPr lang="en-US" sz="850" dirty="0"/>
          </a:p>
        </p:txBody>
      </p:sp>
      <p:sp>
        <p:nvSpPr>
          <p:cNvPr id="43" name="Text 41"/>
          <p:cNvSpPr/>
          <p:nvPr/>
        </p:nvSpPr>
        <p:spPr>
          <a:xfrm>
            <a:off x="10451592" y="4901184"/>
            <a:ext cx="1325880" cy="274320"/>
          </a:xfrm>
          <a:prstGeom prst="rect">
            <a:avLst/>
          </a:prstGeom>
          <a:noFill/>
          <a:ln/>
        </p:spPr>
        <p:txBody>
          <a:bodyPr wrap="square" lIns="0" tIns="0" rIns="0" bIns="0" rtlCol="0" anchor="ctr"/>
          <a:lstStyle/>
          <a:p>
            <a:pPr indent="0" marL="0">
              <a:buNone/>
            </a:pPr>
            <a:r>
              <a:rPr lang="en-US" sz="1100" b="1" dirty="0">
                <a:solidFill>
                  <a:srgbClr val="7A4A45"/>
                </a:solidFill>
                <a:latin typeface="맑은 고딕" pitchFamily="34" charset="0"/>
                <a:ea typeface="맑은 고딕" pitchFamily="34" charset="-122"/>
                <a:cs typeface="맑은 고딕" pitchFamily="34" charset="-120"/>
              </a:rPr>
              <a:t>현재</a:t>
            </a:r>
            <a:endParaRPr lang="en-US" sz="1100" dirty="0"/>
          </a:p>
        </p:txBody>
      </p:sp>
      <p:sp>
        <p:nvSpPr>
          <p:cNvPr id="44" name="Shape 42"/>
          <p:cNvSpPr/>
          <p:nvPr/>
        </p:nvSpPr>
        <p:spPr>
          <a:xfrm>
            <a:off x="10451592" y="5170932"/>
            <a:ext cx="118872" cy="118872"/>
          </a:xfrm>
          <a:prstGeom prst="ellipse">
            <a:avLst/>
          </a:prstGeom>
          <a:solidFill>
            <a:srgbClr val="7A4A45"/>
          </a:solidFill>
          <a:ln/>
        </p:spPr>
      </p:sp>
      <p:sp>
        <p:nvSpPr>
          <p:cNvPr id="45" name="Text 43"/>
          <p:cNvSpPr/>
          <p:nvPr/>
        </p:nvSpPr>
        <p:spPr>
          <a:xfrm>
            <a:off x="10451592" y="5358384"/>
            <a:ext cx="1325880" cy="731520"/>
          </a:xfrm>
          <a:prstGeom prst="rect">
            <a:avLst/>
          </a:prstGeom>
          <a:noFill/>
          <a:ln/>
        </p:spPr>
        <p:txBody>
          <a:bodyPr wrap="square" lIns="0" tIns="0" rIns="0" bIns="0" rtlCol="0" anchor="t"/>
          <a:lstStyle/>
          <a:p>
            <a:pPr indent="0" marL="0">
              <a:lnSpc>
                <a:spcPts val="1200"/>
              </a:lnSpc>
              <a:buNone/>
            </a:pPr>
            <a:r>
              <a:rPr lang="en-US" sz="850" dirty="0">
                <a:solidFill>
                  <a:srgbClr val="4A453F"/>
                </a:solidFill>
                <a:latin typeface="맑은 고딕" pitchFamily="34" charset="0"/>
                <a:ea typeface="맑은 고딕" pitchFamily="34" charset="-122"/>
                <a:cs typeface="맑은 고딕" pitchFamily="34" charset="-120"/>
              </a:rPr>
              <a:t>부산진시장·평화시장</a:t>
            </a:r>
            <a:endParaRPr lang="en-US" sz="850" dirty="0"/>
          </a:p>
          <a:p>
            <a:pPr indent="0" marL="0">
              <a:lnSpc>
                <a:spcPts val="1200"/>
              </a:lnSpc>
              <a:buNone/>
            </a:pPr>
            <a:r>
              <a:rPr lang="en-US" sz="850" dirty="0">
                <a:solidFill>
                  <a:srgbClr val="4A453F"/>
                </a:solidFill>
                <a:latin typeface="맑은 고딕" pitchFamily="34" charset="0"/>
                <a:ea typeface="맑은 고딕" pitchFamily="34" charset="-122"/>
                <a:cs typeface="맑은 고딕" pitchFamily="34" charset="-120"/>
              </a:rPr>
              <a:t>원단·혼수 상권으로</a:t>
            </a:r>
            <a:endParaRPr lang="en-US" sz="850" dirty="0"/>
          </a:p>
          <a:p>
            <a:pPr indent="0" marL="0">
              <a:lnSpc>
                <a:spcPts val="1200"/>
              </a:lnSpc>
              <a:buNone/>
            </a:pPr>
            <a:r>
              <a:rPr lang="en-US" sz="850" dirty="0">
                <a:solidFill>
                  <a:srgbClr val="4A453F"/>
                </a:solidFill>
                <a:latin typeface="맑은 고딕" pitchFamily="34" charset="0"/>
                <a:ea typeface="맑은 고딕" pitchFamily="34" charset="-122"/>
                <a:cs typeface="맑은 고딕" pitchFamily="34" charset="-120"/>
              </a:rPr>
              <a:t>이어지다</a:t>
            </a:r>
            <a:endParaRPr lang="en-US" sz="850" dirty="0"/>
          </a:p>
        </p:txBody>
      </p:sp>
      <p:sp>
        <p:nvSpPr>
          <p:cNvPr id="46" name="Text 44"/>
          <p:cNvSpPr/>
          <p:nvPr/>
        </p:nvSpPr>
        <p:spPr>
          <a:xfrm>
            <a:off x="548640" y="6419088"/>
            <a:ext cx="7315200" cy="274320"/>
          </a:xfrm>
          <a:prstGeom prst="rect">
            <a:avLst/>
          </a:prstGeom>
          <a:noFill/>
          <a:ln/>
        </p:spPr>
        <p:txBody>
          <a:bodyPr wrap="square" lIns="0" tIns="0" rIns="0" bIns="0" rtlCol="0" anchor="ctr"/>
          <a:lstStyle/>
          <a:p>
            <a:pPr algn="l" indent="0" marL="0">
              <a:buNone/>
            </a:pPr>
            <a:r>
              <a:rPr lang="en-US" sz="800" dirty="0">
                <a:solidFill>
                  <a:srgbClr val="8A857E"/>
                </a:solidFill>
                <a:latin typeface="맑은 고딕" pitchFamily="34" charset="0"/>
                <a:ea typeface="맑은 고딕" pitchFamily="34" charset="-122"/>
                <a:cs typeface="맑은 고딕" pitchFamily="34" charset="-120"/>
              </a:rPr>
              <a:t>아이테르 문화예술기획제안서   ·   덮인 물, 남은 올   ·   기획 추병곤</a:t>
            </a:r>
            <a:endParaRPr lang="en-US" sz="800" dirty="0"/>
          </a:p>
        </p:txBody>
      </p:sp>
      <p:sp>
        <p:nvSpPr>
          <p:cNvPr id="47" name="Text 45"/>
          <p:cNvSpPr/>
          <p:nvPr/>
        </p:nvSpPr>
        <p:spPr>
          <a:xfrm>
            <a:off x="10972800" y="6419088"/>
            <a:ext cx="640080" cy="274320"/>
          </a:xfrm>
          <a:prstGeom prst="rect">
            <a:avLst/>
          </a:prstGeom>
          <a:noFill/>
          <a:ln/>
        </p:spPr>
        <p:txBody>
          <a:bodyPr wrap="square" lIns="0" tIns="0" rIns="0" bIns="0" rtlCol="0" anchor="ctr"/>
          <a:lstStyle/>
          <a:p>
            <a:pPr algn="r" indent="0" marL="0">
              <a:buNone/>
            </a:pPr>
            <a:r>
              <a:rPr lang="en-US" sz="900" dirty="0">
                <a:solidFill>
                  <a:srgbClr val="8A857E"/>
                </a:solidFill>
                <a:latin typeface="Cambria" pitchFamily="34" charset="0"/>
                <a:ea typeface="Cambria" pitchFamily="34" charset="-122"/>
                <a:cs typeface="Cambria" pitchFamily="34" charset="-120"/>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7315200" cy="237744"/>
          </a:xfrm>
          <a:prstGeom prst="rect">
            <a:avLst/>
          </a:prstGeom>
          <a:noFill/>
          <a:ln/>
        </p:spPr>
        <p:txBody>
          <a:bodyPr wrap="square" lIns="0" tIns="0" rIns="0" bIns="0" rtlCol="0" anchor="ctr"/>
          <a:lstStyle/>
          <a:p>
            <a:pPr indent="0" marL="0">
              <a:buNone/>
            </a:pPr>
            <a:r>
              <a:rPr lang="en-US" sz="1050" spc="250" kern="0" dirty="0">
                <a:solidFill>
                  <a:srgbClr val="8A857E"/>
                </a:solidFill>
                <a:latin typeface="Cambria" pitchFamily="34" charset="0"/>
                <a:ea typeface="Cambria" pitchFamily="34" charset="-122"/>
                <a:cs typeface="Cambria" pitchFamily="34" charset="-120"/>
              </a:rPr>
              <a:t>03  VENUE</a:t>
            </a:r>
            <a:endParaRPr lang="en-US" sz="1050" dirty="0"/>
          </a:p>
        </p:txBody>
      </p:sp>
      <p:sp>
        <p:nvSpPr>
          <p:cNvPr id="3" name="Text 1"/>
          <p:cNvSpPr/>
          <p:nvPr/>
        </p:nvSpPr>
        <p:spPr>
          <a:xfrm>
            <a:off x="548640" y="694944"/>
            <a:ext cx="10058400" cy="502920"/>
          </a:xfrm>
          <a:prstGeom prst="rect">
            <a:avLst/>
          </a:prstGeom>
          <a:noFill/>
          <a:ln/>
        </p:spPr>
        <p:txBody>
          <a:bodyPr wrap="square" lIns="0" tIns="0" rIns="0" bIns="0" rtlCol="0" anchor="ctr"/>
          <a:lstStyle/>
          <a:p>
            <a:pPr indent="0" marL="0">
              <a:buNone/>
            </a:pPr>
            <a:r>
              <a:rPr lang="en-US" sz="2700" b="1" dirty="0">
                <a:solidFill>
                  <a:srgbClr val="1A1A1A"/>
                </a:solidFill>
                <a:latin typeface="맑은 고딕" pitchFamily="34" charset="0"/>
                <a:ea typeface="맑은 고딕" pitchFamily="34" charset="-122"/>
                <a:cs typeface="맑은 고딕" pitchFamily="34" charset="-120"/>
              </a:rPr>
              <a:t>범일가옥이라는 매체</a:t>
            </a:r>
            <a:endParaRPr lang="en-US" sz="2700" dirty="0"/>
          </a:p>
        </p:txBody>
      </p:sp>
      <p:sp>
        <p:nvSpPr>
          <p:cNvPr id="4" name="Text 2"/>
          <p:cNvSpPr/>
          <p:nvPr/>
        </p:nvSpPr>
        <p:spPr>
          <a:xfrm>
            <a:off x="548640" y="1225296"/>
            <a:ext cx="10607040" cy="310896"/>
          </a:xfrm>
          <a:prstGeom prst="rect">
            <a:avLst/>
          </a:prstGeom>
          <a:noFill/>
          <a:ln/>
        </p:spPr>
        <p:txBody>
          <a:bodyPr wrap="square" lIns="0" tIns="0" rIns="0" bIns="0" rtlCol="0" anchor="ctr"/>
          <a:lstStyle/>
          <a:p>
            <a:pPr indent="0" marL="0">
              <a:buNone/>
            </a:pPr>
            <a:r>
              <a:rPr lang="en-US" sz="1200" dirty="0">
                <a:solidFill>
                  <a:srgbClr val="8A857E"/>
                </a:solidFill>
                <a:latin typeface="맑은 고딕" pitchFamily="34" charset="0"/>
                <a:ea typeface="맑은 고딕" pitchFamily="34" charset="-122"/>
                <a:cs typeface="맑은 고딕" pitchFamily="34" charset="-120"/>
              </a:rPr>
              <a:t>이 집은 전시를 '담는 그릇'이 아니라, 전시가 다루는 '대상'이자 '공동 저자'다</a:t>
            </a:r>
            <a:endParaRPr lang="en-US" sz="1200" dirty="0"/>
          </a:p>
        </p:txBody>
      </p:sp>
      <p:pic>
        <p:nvPicPr>
          <p:cNvPr id="5" name="Image 0" descr="/home/claude/aither/img/A12_1.jpeg">    </p:cNvPr>
          <p:cNvPicPr>
            <a:picLocks noChangeAspect="1"/>
          </p:cNvPicPr>
          <p:nvPr/>
        </p:nvPicPr>
        <p:blipFill>
          <a:blip r:embed="rId1"/>
          <a:srcRect l="0" r="0" t="0" b="0"/>
          <a:stretch/>
        </p:blipFill>
        <p:spPr>
          <a:xfrm>
            <a:off x="548640" y="1810512"/>
            <a:ext cx="3291840" cy="1938528"/>
          </a:xfrm>
          <a:prstGeom prst="rect">
            <a:avLst/>
          </a:prstGeom>
        </p:spPr>
      </p:pic>
      <p:sp>
        <p:nvSpPr>
          <p:cNvPr id="6" name="Text 3"/>
          <p:cNvSpPr/>
          <p:nvPr/>
        </p:nvSpPr>
        <p:spPr>
          <a:xfrm>
            <a:off x="548640" y="3794760"/>
            <a:ext cx="3291840" cy="219456"/>
          </a:xfrm>
          <a:prstGeom prst="rect">
            <a:avLst/>
          </a:prstGeom>
          <a:noFill/>
          <a:ln/>
        </p:spPr>
        <p:txBody>
          <a:bodyPr wrap="square" lIns="0" tIns="0" rIns="0" bIns="0" rtlCol="0" anchor="ctr"/>
          <a:lstStyle/>
          <a:p>
            <a:pPr indent="0" marL="0">
              <a:buNone/>
            </a:pPr>
            <a:r>
              <a:rPr lang="en-US" sz="850" dirty="0">
                <a:solidFill>
                  <a:srgbClr val="8A857E"/>
                </a:solidFill>
                <a:latin typeface="맑은 고딕" pitchFamily="34" charset="0"/>
                <a:ea typeface="맑은 고딕" pitchFamily="34" charset="-122"/>
                <a:cs typeface="맑은 고딕" pitchFamily="34" charset="-120"/>
              </a:rPr>
              <a:t>4F 전시관 목재 복도 — 화이트큐브가 아닌 '집'의 동선</a:t>
            </a:r>
            <a:endParaRPr lang="en-US" sz="850" dirty="0"/>
          </a:p>
        </p:txBody>
      </p:sp>
      <p:pic>
        <p:nvPicPr>
          <p:cNvPr id="7" name="Image 1" descr="/home/claude/aither/img/A29_1.jpeg">    </p:cNvPr>
          <p:cNvPicPr>
            <a:picLocks noChangeAspect="1"/>
          </p:cNvPicPr>
          <p:nvPr/>
        </p:nvPicPr>
        <p:blipFill>
          <a:blip r:embed="rId2"/>
          <a:srcRect l="0" r="0" t="0" b="0"/>
          <a:stretch/>
        </p:blipFill>
        <p:spPr>
          <a:xfrm>
            <a:off x="548640" y="4114800"/>
            <a:ext cx="3291840" cy="1938528"/>
          </a:xfrm>
          <a:prstGeom prst="rect">
            <a:avLst/>
          </a:prstGeom>
        </p:spPr>
      </p:pic>
      <p:sp>
        <p:nvSpPr>
          <p:cNvPr id="8" name="Text 4"/>
          <p:cNvSpPr/>
          <p:nvPr/>
        </p:nvSpPr>
        <p:spPr>
          <a:xfrm>
            <a:off x="548640" y="6099048"/>
            <a:ext cx="3291840" cy="219456"/>
          </a:xfrm>
          <a:prstGeom prst="rect">
            <a:avLst/>
          </a:prstGeom>
          <a:noFill/>
          <a:ln/>
        </p:spPr>
        <p:txBody>
          <a:bodyPr wrap="square" lIns="0" tIns="0" rIns="0" bIns="0" rtlCol="0" anchor="ctr"/>
          <a:lstStyle/>
          <a:p>
            <a:pPr indent="0" marL="0">
              <a:buNone/>
            </a:pPr>
            <a:r>
              <a:rPr lang="en-US" sz="850" dirty="0">
                <a:solidFill>
                  <a:srgbClr val="8A857E"/>
                </a:solidFill>
                <a:latin typeface="맑은 고딕" pitchFamily="34" charset="0"/>
                <a:ea typeface="맑은 고딕" pitchFamily="34" charset="-122"/>
                <a:cs typeface="맑은 고딕" pitchFamily="34" charset="-120"/>
              </a:rPr>
              <a:t>문지방 너머의 방 — 여덟 번 문을 넘는 구조</a:t>
            </a:r>
            <a:endParaRPr lang="en-US" sz="850" dirty="0"/>
          </a:p>
        </p:txBody>
      </p:sp>
      <p:sp>
        <p:nvSpPr>
          <p:cNvPr id="9" name="Text 5"/>
          <p:cNvSpPr/>
          <p:nvPr/>
        </p:nvSpPr>
        <p:spPr>
          <a:xfrm>
            <a:off x="4114800" y="1810512"/>
            <a:ext cx="7498080" cy="274320"/>
          </a:xfrm>
          <a:prstGeom prst="rect">
            <a:avLst/>
          </a:prstGeom>
          <a:noFill/>
          <a:ln/>
        </p:spPr>
        <p:txBody>
          <a:bodyPr wrap="square" lIns="0" tIns="0" rIns="0" bIns="0" rtlCol="0" anchor="ctr"/>
          <a:lstStyle/>
          <a:p>
            <a:pPr indent="0" marL="0">
              <a:buNone/>
            </a:pPr>
            <a:r>
              <a:rPr lang="en-US" sz="1300" b="1" dirty="0">
                <a:solidFill>
                  <a:srgbClr val="1A1A1A"/>
                </a:solidFill>
                <a:latin typeface="맑은 고딕" pitchFamily="34" charset="0"/>
                <a:ea typeface="맑은 고딕" pitchFamily="34" charset="-122"/>
                <a:cs typeface="맑은 고딕" pitchFamily="34" charset="-120"/>
              </a:rPr>
              <a:t>4F 전시관 33평 · 전시실 8곳</a:t>
            </a:r>
            <a:endParaRPr lang="en-US" sz="1300" dirty="0"/>
          </a:p>
        </p:txBody>
      </p:sp>
      <p:sp>
        <p:nvSpPr>
          <p:cNvPr id="10" name="Text 6"/>
          <p:cNvSpPr/>
          <p:nvPr/>
        </p:nvSpPr>
        <p:spPr>
          <a:xfrm>
            <a:off x="4114800" y="2093976"/>
            <a:ext cx="7498080" cy="310896"/>
          </a:xfrm>
          <a:prstGeom prst="rect">
            <a:avLst/>
          </a:prstGeom>
          <a:noFill/>
          <a:ln/>
        </p:spPr>
        <p:txBody>
          <a:bodyPr wrap="square" lIns="0" tIns="0" rIns="0" bIns="0" rtlCol="0" anchor="ctr"/>
          <a:lstStyle/>
          <a:p>
            <a:pPr indent="0" marL="0">
              <a:buNone/>
            </a:pPr>
            <a:r>
              <a:rPr lang="en-US" sz="1100" dirty="0">
                <a:solidFill>
                  <a:srgbClr val="5A554F"/>
                </a:solidFill>
                <a:latin typeface="맑은 고딕" pitchFamily="34" charset="0"/>
                <a:ea typeface="맑은 고딕" pitchFamily="34" charset="-122"/>
                <a:cs typeface="맑은 고딕" pitchFamily="34" charset="-120"/>
              </a:rPr>
              <a:t>5F 라운지(프로그램) / 6F 창고 · 진시장 공영주차장</a:t>
            </a:r>
            <a:endParaRPr lang="en-US" sz="1100" dirty="0"/>
          </a:p>
        </p:txBody>
      </p:sp>
      <p:sp>
        <p:nvSpPr>
          <p:cNvPr id="11" name="Shape 7"/>
          <p:cNvSpPr/>
          <p:nvPr/>
        </p:nvSpPr>
        <p:spPr>
          <a:xfrm>
            <a:off x="4114800" y="2468880"/>
            <a:ext cx="7498080" cy="0"/>
          </a:xfrm>
          <a:prstGeom prst="line">
            <a:avLst/>
          </a:prstGeom>
          <a:noFill/>
          <a:ln w="12700">
            <a:solidFill>
              <a:srgbClr val="D8D4CE"/>
            </a:solidFill>
            <a:prstDash val="solid"/>
          </a:ln>
        </p:spPr>
      </p:sp>
      <p:sp>
        <p:nvSpPr>
          <p:cNvPr id="12" name="Text 8"/>
          <p:cNvSpPr/>
          <p:nvPr/>
        </p:nvSpPr>
        <p:spPr>
          <a:xfrm>
            <a:off x="4114800" y="2596896"/>
            <a:ext cx="7498080" cy="274320"/>
          </a:xfrm>
          <a:prstGeom prst="rect">
            <a:avLst/>
          </a:prstGeom>
          <a:noFill/>
          <a:ln/>
        </p:spPr>
        <p:txBody>
          <a:bodyPr wrap="square" lIns="0" tIns="0" rIns="0" bIns="0" rtlCol="0" anchor="ctr"/>
          <a:lstStyle/>
          <a:p>
            <a:pPr indent="0" marL="0">
              <a:buNone/>
            </a:pPr>
            <a:r>
              <a:rPr lang="en-US" sz="1300" b="1" dirty="0">
                <a:solidFill>
                  <a:srgbClr val="1A1A1A"/>
                </a:solidFill>
                <a:latin typeface="맑은 고딕" pitchFamily="34" charset="0"/>
                <a:ea typeface="맑은 고딕" pitchFamily="34" charset="-122"/>
                <a:cs typeface="맑은 고딕" pitchFamily="34" charset="-120"/>
              </a:rPr>
              <a:t>조선방직 건축양식 기반 재구성</a:t>
            </a:r>
            <a:endParaRPr lang="en-US" sz="1300" dirty="0"/>
          </a:p>
        </p:txBody>
      </p:sp>
      <p:sp>
        <p:nvSpPr>
          <p:cNvPr id="13" name="Text 9"/>
          <p:cNvSpPr/>
          <p:nvPr/>
        </p:nvSpPr>
        <p:spPr>
          <a:xfrm>
            <a:off x="4114800" y="2880360"/>
            <a:ext cx="7498080" cy="310896"/>
          </a:xfrm>
          <a:prstGeom prst="rect">
            <a:avLst/>
          </a:prstGeom>
          <a:noFill/>
          <a:ln/>
        </p:spPr>
        <p:txBody>
          <a:bodyPr wrap="square" lIns="0" tIns="0" rIns="0" bIns="0" rtlCol="0" anchor="ctr"/>
          <a:lstStyle/>
          <a:p>
            <a:pPr indent="0" marL="0">
              <a:buNone/>
            </a:pPr>
            <a:r>
              <a:rPr lang="en-US" sz="1100" dirty="0">
                <a:solidFill>
                  <a:srgbClr val="5A554F"/>
                </a:solidFill>
                <a:latin typeface="맑은 고딕" pitchFamily="34" charset="0"/>
                <a:ea typeface="맑은 고딕" pitchFamily="34" charset="-122"/>
                <a:cs typeface="맑은 고딕" pitchFamily="34" charset="-120"/>
              </a:rPr>
              <a:t>화이트큐브가 아니라, 살던 집의 구조가 그대로 남은 공간</a:t>
            </a:r>
            <a:endParaRPr lang="en-US" sz="1100" dirty="0"/>
          </a:p>
        </p:txBody>
      </p:sp>
      <p:sp>
        <p:nvSpPr>
          <p:cNvPr id="14" name="Shape 10"/>
          <p:cNvSpPr/>
          <p:nvPr/>
        </p:nvSpPr>
        <p:spPr>
          <a:xfrm>
            <a:off x="4114800" y="3255264"/>
            <a:ext cx="7498080" cy="0"/>
          </a:xfrm>
          <a:prstGeom prst="line">
            <a:avLst/>
          </a:prstGeom>
          <a:noFill/>
          <a:ln w="12700">
            <a:solidFill>
              <a:srgbClr val="D8D4CE"/>
            </a:solidFill>
            <a:prstDash val="solid"/>
          </a:ln>
        </p:spPr>
      </p:sp>
      <p:sp>
        <p:nvSpPr>
          <p:cNvPr id="15" name="Text 11"/>
          <p:cNvSpPr/>
          <p:nvPr/>
        </p:nvSpPr>
        <p:spPr>
          <a:xfrm>
            <a:off x="4114800" y="3383280"/>
            <a:ext cx="7498080" cy="274320"/>
          </a:xfrm>
          <a:prstGeom prst="rect">
            <a:avLst/>
          </a:prstGeom>
          <a:noFill/>
          <a:ln/>
        </p:spPr>
        <p:txBody>
          <a:bodyPr wrap="square" lIns="0" tIns="0" rIns="0" bIns="0" rtlCol="0" anchor="ctr"/>
          <a:lstStyle/>
          <a:p>
            <a:pPr indent="0" marL="0">
              <a:buNone/>
            </a:pPr>
            <a:r>
              <a:rPr lang="en-US" sz="1300" b="1" dirty="0">
                <a:solidFill>
                  <a:srgbClr val="1A1A1A"/>
                </a:solidFill>
                <a:latin typeface="맑은 고딕" pitchFamily="34" charset="0"/>
                <a:ea typeface="맑은 고딕" pitchFamily="34" charset="-122"/>
                <a:cs typeface="맑은 고딕" pitchFamily="34" charset="-120"/>
              </a:rPr>
              <a:t>③ 욕조와 세면대 / ⑧ 부엌의 잔재</a:t>
            </a:r>
            <a:endParaRPr lang="en-US" sz="1300" dirty="0"/>
          </a:p>
        </p:txBody>
      </p:sp>
      <p:sp>
        <p:nvSpPr>
          <p:cNvPr id="16" name="Text 12"/>
          <p:cNvSpPr/>
          <p:nvPr/>
        </p:nvSpPr>
        <p:spPr>
          <a:xfrm>
            <a:off x="4114800" y="3666744"/>
            <a:ext cx="7498080" cy="310896"/>
          </a:xfrm>
          <a:prstGeom prst="rect">
            <a:avLst/>
          </a:prstGeom>
          <a:noFill/>
          <a:ln/>
        </p:spPr>
        <p:txBody>
          <a:bodyPr wrap="square" lIns="0" tIns="0" rIns="0" bIns="0" rtlCol="0" anchor="ctr"/>
          <a:lstStyle/>
          <a:p>
            <a:pPr indent="0" marL="0">
              <a:buNone/>
            </a:pPr>
            <a:r>
              <a:rPr lang="en-US" sz="1100" dirty="0">
                <a:solidFill>
                  <a:srgbClr val="5A554F"/>
                </a:solidFill>
                <a:latin typeface="맑은 고딕" pitchFamily="34" charset="0"/>
                <a:ea typeface="맑은 고딕" pitchFamily="34" charset="-122"/>
                <a:cs typeface="맑은 고딕" pitchFamily="34" charset="-120"/>
              </a:rPr>
              <a:t>⑥⑦ 벽지와 창살의 흔적 / ⑤ 전통과 현대가 맞닿는 마루</a:t>
            </a:r>
            <a:endParaRPr lang="en-US" sz="1100" dirty="0"/>
          </a:p>
        </p:txBody>
      </p:sp>
      <p:sp>
        <p:nvSpPr>
          <p:cNvPr id="17" name="Shape 13"/>
          <p:cNvSpPr/>
          <p:nvPr/>
        </p:nvSpPr>
        <p:spPr>
          <a:xfrm>
            <a:off x="4114800" y="4041648"/>
            <a:ext cx="7498080" cy="0"/>
          </a:xfrm>
          <a:prstGeom prst="line">
            <a:avLst/>
          </a:prstGeom>
          <a:noFill/>
          <a:ln w="12700">
            <a:solidFill>
              <a:srgbClr val="D8D4CE"/>
            </a:solidFill>
            <a:prstDash val="solid"/>
          </a:ln>
        </p:spPr>
      </p:sp>
      <p:sp>
        <p:nvSpPr>
          <p:cNvPr id="18" name="Text 14"/>
          <p:cNvSpPr/>
          <p:nvPr/>
        </p:nvSpPr>
        <p:spPr>
          <a:xfrm>
            <a:off x="4114800" y="4297680"/>
            <a:ext cx="7498080" cy="292608"/>
          </a:xfrm>
          <a:prstGeom prst="rect">
            <a:avLst/>
          </a:prstGeom>
          <a:noFill/>
          <a:ln/>
        </p:spPr>
        <p:txBody>
          <a:bodyPr wrap="square" lIns="0" tIns="0" rIns="0" bIns="0" rtlCol="0" anchor="ctr"/>
          <a:lstStyle/>
          <a:p>
            <a:pPr indent="0" marL="0">
              <a:buNone/>
            </a:pPr>
            <a:r>
              <a:rPr lang="en-US" sz="1400" b="1" dirty="0">
                <a:solidFill>
                  <a:srgbClr val="1A1A1A"/>
                </a:solidFill>
                <a:latin typeface="맑은 고딕" pitchFamily="34" charset="0"/>
                <a:ea typeface="맑은 고딕" pitchFamily="34" charset="-122"/>
                <a:cs typeface="맑은 고딕" pitchFamily="34" charset="-120"/>
              </a:rPr>
              <a:t>기획의 세 가지 원칙</a:t>
            </a:r>
            <a:endParaRPr lang="en-US" sz="1400" dirty="0"/>
          </a:p>
        </p:txBody>
      </p:sp>
      <p:sp>
        <p:nvSpPr>
          <p:cNvPr id="19" name="Text 15"/>
          <p:cNvSpPr/>
          <p:nvPr/>
        </p:nvSpPr>
        <p:spPr>
          <a:xfrm>
            <a:off x="4114800" y="4681728"/>
            <a:ext cx="411480" cy="274320"/>
          </a:xfrm>
          <a:prstGeom prst="rect">
            <a:avLst/>
          </a:prstGeom>
          <a:noFill/>
          <a:ln/>
        </p:spPr>
        <p:txBody>
          <a:bodyPr wrap="square" lIns="0" tIns="0" rIns="0" bIns="0" rtlCol="0" anchor="ctr"/>
          <a:lstStyle/>
          <a:p>
            <a:pPr indent="0" marL="0">
              <a:buNone/>
            </a:pPr>
            <a:r>
              <a:rPr lang="en-US" sz="1200" b="1" dirty="0">
                <a:solidFill>
                  <a:srgbClr val="9C6B3C"/>
                </a:solidFill>
                <a:latin typeface="Cambria" pitchFamily="34" charset="0"/>
                <a:ea typeface="Cambria" pitchFamily="34" charset="-122"/>
                <a:cs typeface="Cambria" pitchFamily="34" charset="-120"/>
              </a:rPr>
              <a:t>01</a:t>
            </a:r>
            <a:endParaRPr lang="en-US" sz="1200" dirty="0"/>
          </a:p>
        </p:txBody>
      </p:sp>
      <p:sp>
        <p:nvSpPr>
          <p:cNvPr id="20" name="Text 16"/>
          <p:cNvSpPr/>
          <p:nvPr/>
        </p:nvSpPr>
        <p:spPr>
          <a:xfrm>
            <a:off x="4553712" y="4681728"/>
            <a:ext cx="2743200" cy="274320"/>
          </a:xfrm>
          <a:prstGeom prst="rect">
            <a:avLst/>
          </a:prstGeom>
          <a:noFill/>
          <a:ln/>
        </p:spPr>
        <p:txBody>
          <a:bodyPr wrap="square" lIns="0" tIns="0" rIns="0" bIns="0" rtlCol="0" anchor="ctr"/>
          <a:lstStyle/>
          <a:p>
            <a:pPr indent="0" marL="0">
              <a:buNone/>
            </a:pPr>
            <a:r>
              <a:rPr lang="en-US" sz="1150" b="1" dirty="0">
                <a:solidFill>
                  <a:srgbClr val="1A1A1A"/>
                </a:solidFill>
                <a:latin typeface="맑은 고딕" pitchFamily="34" charset="0"/>
                <a:ea typeface="맑은 고딕" pitchFamily="34" charset="-122"/>
                <a:cs typeface="맑은 고딕" pitchFamily="34" charset="-120"/>
              </a:rPr>
              <a:t>흔적을 지우지 않는다</a:t>
            </a:r>
            <a:endParaRPr lang="en-US" sz="1150" dirty="0"/>
          </a:p>
        </p:txBody>
      </p:sp>
      <p:sp>
        <p:nvSpPr>
          <p:cNvPr id="21" name="Text 17"/>
          <p:cNvSpPr/>
          <p:nvPr/>
        </p:nvSpPr>
        <p:spPr>
          <a:xfrm>
            <a:off x="7360920" y="4700016"/>
            <a:ext cx="4251960" cy="420624"/>
          </a:xfrm>
          <a:prstGeom prst="rect">
            <a:avLst/>
          </a:prstGeom>
          <a:noFill/>
          <a:ln/>
        </p:spPr>
        <p:txBody>
          <a:bodyPr wrap="square" lIns="0" tIns="0" rIns="0" bIns="0" rtlCol="0" anchor="ctr"/>
          <a:lstStyle/>
          <a:p>
            <a:pPr indent="0" marL="0">
              <a:lnSpc>
                <a:spcPts val="1500"/>
              </a:lnSpc>
              <a:buNone/>
            </a:pPr>
            <a:r>
              <a:rPr lang="en-US" sz="1000" dirty="0">
                <a:solidFill>
                  <a:srgbClr val="5A554F"/>
                </a:solidFill>
                <a:latin typeface="맑은 고딕" pitchFamily="34" charset="0"/>
                <a:ea typeface="맑은 고딕" pitchFamily="34" charset="-122"/>
                <a:cs typeface="맑은 고딕" pitchFamily="34" charset="-120"/>
              </a:rPr>
              <a:t>그을음·얼룩·벗겨진 벽지는 1차 사료다. 복원하지 않고 열람한다.</a:t>
            </a:r>
            <a:endParaRPr lang="en-US" sz="1000" dirty="0"/>
          </a:p>
        </p:txBody>
      </p:sp>
      <p:sp>
        <p:nvSpPr>
          <p:cNvPr id="22" name="Text 18"/>
          <p:cNvSpPr/>
          <p:nvPr/>
        </p:nvSpPr>
        <p:spPr>
          <a:xfrm>
            <a:off x="4114800" y="5184648"/>
            <a:ext cx="411480" cy="274320"/>
          </a:xfrm>
          <a:prstGeom prst="rect">
            <a:avLst/>
          </a:prstGeom>
          <a:noFill/>
          <a:ln/>
        </p:spPr>
        <p:txBody>
          <a:bodyPr wrap="square" lIns="0" tIns="0" rIns="0" bIns="0" rtlCol="0" anchor="ctr"/>
          <a:lstStyle/>
          <a:p>
            <a:pPr indent="0" marL="0">
              <a:buNone/>
            </a:pPr>
            <a:r>
              <a:rPr lang="en-US" sz="1200" b="1" dirty="0">
                <a:solidFill>
                  <a:srgbClr val="9C6B3C"/>
                </a:solidFill>
                <a:latin typeface="Cambria" pitchFamily="34" charset="0"/>
                <a:ea typeface="Cambria" pitchFamily="34" charset="-122"/>
                <a:cs typeface="Cambria" pitchFamily="34" charset="-120"/>
              </a:rPr>
              <a:t>02</a:t>
            </a:r>
            <a:endParaRPr lang="en-US" sz="1200" dirty="0"/>
          </a:p>
        </p:txBody>
      </p:sp>
      <p:sp>
        <p:nvSpPr>
          <p:cNvPr id="23" name="Text 19"/>
          <p:cNvSpPr/>
          <p:nvPr/>
        </p:nvSpPr>
        <p:spPr>
          <a:xfrm>
            <a:off x="4553712" y="5184648"/>
            <a:ext cx="2743200" cy="274320"/>
          </a:xfrm>
          <a:prstGeom prst="rect">
            <a:avLst/>
          </a:prstGeom>
          <a:noFill/>
          <a:ln/>
        </p:spPr>
        <p:txBody>
          <a:bodyPr wrap="square" lIns="0" tIns="0" rIns="0" bIns="0" rtlCol="0" anchor="ctr"/>
          <a:lstStyle/>
          <a:p>
            <a:pPr indent="0" marL="0">
              <a:buNone/>
            </a:pPr>
            <a:r>
              <a:rPr lang="en-US" sz="1150" b="1" dirty="0">
                <a:solidFill>
                  <a:srgbClr val="1A1A1A"/>
                </a:solidFill>
                <a:latin typeface="맑은 고딕" pitchFamily="34" charset="0"/>
                <a:ea typeface="맑은 고딕" pitchFamily="34" charset="-122"/>
                <a:cs typeface="맑은 고딕" pitchFamily="34" charset="-120"/>
              </a:rPr>
              <a:t>가벽은 '벽'이 아니라 '덧댐'이다</a:t>
            </a:r>
            <a:endParaRPr lang="en-US" sz="1150" dirty="0"/>
          </a:p>
        </p:txBody>
      </p:sp>
      <p:sp>
        <p:nvSpPr>
          <p:cNvPr id="24" name="Text 20"/>
          <p:cNvSpPr/>
          <p:nvPr/>
        </p:nvSpPr>
        <p:spPr>
          <a:xfrm>
            <a:off x="7360920" y="5202936"/>
            <a:ext cx="4251960" cy="420624"/>
          </a:xfrm>
          <a:prstGeom prst="rect">
            <a:avLst/>
          </a:prstGeom>
          <a:noFill/>
          <a:ln/>
        </p:spPr>
        <p:txBody>
          <a:bodyPr wrap="square" lIns="0" tIns="0" rIns="0" bIns="0" rtlCol="0" anchor="ctr"/>
          <a:lstStyle/>
          <a:p>
            <a:pPr indent="0" marL="0">
              <a:lnSpc>
                <a:spcPts val="1500"/>
              </a:lnSpc>
              <a:buNone/>
            </a:pPr>
            <a:r>
              <a:rPr lang="en-US" sz="1000" dirty="0">
                <a:solidFill>
                  <a:srgbClr val="5A554F"/>
                </a:solidFill>
                <a:latin typeface="맑은 고딕" pitchFamily="34" charset="0"/>
                <a:ea typeface="맑은 고딕" pitchFamily="34" charset="-122"/>
                <a:cs typeface="맑은 고딕" pitchFamily="34" charset="-120"/>
              </a:rPr>
              <a:t>아이테르 가벽 렌탈을 최소 단위로만 쓰고, 원벽을 가리지 않게 띄워 세운다.</a:t>
            </a:r>
            <a:endParaRPr lang="en-US" sz="1000" dirty="0"/>
          </a:p>
        </p:txBody>
      </p:sp>
      <p:sp>
        <p:nvSpPr>
          <p:cNvPr id="25" name="Text 21"/>
          <p:cNvSpPr/>
          <p:nvPr/>
        </p:nvSpPr>
        <p:spPr>
          <a:xfrm>
            <a:off x="4114800" y="5687568"/>
            <a:ext cx="411480" cy="274320"/>
          </a:xfrm>
          <a:prstGeom prst="rect">
            <a:avLst/>
          </a:prstGeom>
          <a:noFill/>
          <a:ln/>
        </p:spPr>
        <p:txBody>
          <a:bodyPr wrap="square" lIns="0" tIns="0" rIns="0" bIns="0" rtlCol="0" anchor="ctr"/>
          <a:lstStyle/>
          <a:p>
            <a:pPr indent="0" marL="0">
              <a:buNone/>
            </a:pPr>
            <a:r>
              <a:rPr lang="en-US" sz="1200" b="1" dirty="0">
                <a:solidFill>
                  <a:srgbClr val="9C6B3C"/>
                </a:solidFill>
                <a:latin typeface="Cambria" pitchFamily="34" charset="0"/>
                <a:ea typeface="Cambria" pitchFamily="34" charset="-122"/>
                <a:cs typeface="Cambria" pitchFamily="34" charset="-120"/>
              </a:rPr>
              <a:t>03</a:t>
            </a:r>
            <a:endParaRPr lang="en-US" sz="1200" dirty="0"/>
          </a:p>
        </p:txBody>
      </p:sp>
      <p:sp>
        <p:nvSpPr>
          <p:cNvPr id="26" name="Text 22"/>
          <p:cNvSpPr/>
          <p:nvPr/>
        </p:nvSpPr>
        <p:spPr>
          <a:xfrm>
            <a:off x="4553712" y="5687568"/>
            <a:ext cx="2743200" cy="274320"/>
          </a:xfrm>
          <a:prstGeom prst="rect">
            <a:avLst/>
          </a:prstGeom>
          <a:noFill/>
          <a:ln/>
        </p:spPr>
        <p:txBody>
          <a:bodyPr wrap="square" lIns="0" tIns="0" rIns="0" bIns="0" rtlCol="0" anchor="ctr"/>
          <a:lstStyle/>
          <a:p>
            <a:pPr indent="0" marL="0">
              <a:buNone/>
            </a:pPr>
            <a:r>
              <a:rPr lang="en-US" sz="1150" b="1" dirty="0">
                <a:solidFill>
                  <a:srgbClr val="1A1A1A"/>
                </a:solidFill>
                <a:latin typeface="맑은 고딕" pitchFamily="34" charset="0"/>
                <a:ea typeface="맑은 고딕" pitchFamily="34" charset="-122"/>
                <a:cs typeface="맑은 고딕" pitchFamily="34" charset="-120"/>
              </a:rPr>
              <a:t>비인간 행위자를 공동 저자로 둔다</a:t>
            </a:r>
            <a:endParaRPr lang="en-US" sz="1150" dirty="0"/>
          </a:p>
        </p:txBody>
      </p:sp>
      <p:sp>
        <p:nvSpPr>
          <p:cNvPr id="27" name="Text 23"/>
          <p:cNvSpPr/>
          <p:nvPr/>
        </p:nvSpPr>
        <p:spPr>
          <a:xfrm>
            <a:off x="7360920" y="5705856"/>
            <a:ext cx="4251960" cy="420624"/>
          </a:xfrm>
          <a:prstGeom prst="rect">
            <a:avLst/>
          </a:prstGeom>
          <a:noFill/>
          <a:ln/>
        </p:spPr>
        <p:txBody>
          <a:bodyPr wrap="square" lIns="0" tIns="0" rIns="0" bIns="0" rtlCol="0" anchor="ctr"/>
          <a:lstStyle/>
          <a:p>
            <a:pPr indent="0" marL="0">
              <a:lnSpc>
                <a:spcPts val="1500"/>
              </a:lnSpc>
              <a:buNone/>
            </a:pPr>
            <a:r>
              <a:rPr lang="en-US" sz="1000" dirty="0">
                <a:solidFill>
                  <a:srgbClr val="5A554F"/>
                </a:solidFill>
                <a:latin typeface="맑은 고딕" pitchFamily="34" charset="0"/>
                <a:ea typeface="맑은 고딕" pitchFamily="34" charset="-122"/>
                <a:cs typeface="맑은 고딕" pitchFamily="34" charset="-120"/>
              </a:rPr>
              <a:t>습기·결로·목재의 뒤틀림·빛의 각도가 이 집에 써 온 문장 위에 작가가 한 겹을 더한다.</a:t>
            </a:r>
            <a:endParaRPr lang="en-US" sz="1000" dirty="0"/>
          </a:p>
        </p:txBody>
      </p:sp>
      <p:sp>
        <p:nvSpPr>
          <p:cNvPr id="28" name="Text 24"/>
          <p:cNvSpPr/>
          <p:nvPr/>
        </p:nvSpPr>
        <p:spPr>
          <a:xfrm>
            <a:off x="548640" y="6419088"/>
            <a:ext cx="7315200" cy="274320"/>
          </a:xfrm>
          <a:prstGeom prst="rect">
            <a:avLst/>
          </a:prstGeom>
          <a:noFill/>
          <a:ln/>
        </p:spPr>
        <p:txBody>
          <a:bodyPr wrap="square" lIns="0" tIns="0" rIns="0" bIns="0" rtlCol="0" anchor="ctr"/>
          <a:lstStyle/>
          <a:p>
            <a:pPr algn="l" indent="0" marL="0">
              <a:buNone/>
            </a:pPr>
            <a:r>
              <a:rPr lang="en-US" sz="800" dirty="0">
                <a:solidFill>
                  <a:srgbClr val="8A857E"/>
                </a:solidFill>
                <a:latin typeface="맑은 고딕" pitchFamily="34" charset="0"/>
                <a:ea typeface="맑은 고딕" pitchFamily="34" charset="-122"/>
                <a:cs typeface="맑은 고딕" pitchFamily="34" charset="-120"/>
              </a:rPr>
              <a:t>아이테르 문화예술기획제안서   ·   덮인 물, 남은 올   ·   기획 추병곤</a:t>
            </a:r>
            <a:endParaRPr lang="en-US" sz="800" dirty="0"/>
          </a:p>
        </p:txBody>
      </p:sp>
      <p:sp>
        <p:nvSpPr>
          <p:cNvPr id="29" name="Text 25"/>
          <p:cNvSpPr/>
          <p:nvPr/>
        </p:nvSpPr>
        <p:spPr>
          <a:xfrm>
            <a:off x="10972800" y="6419088"/>
            <a:ext cx="640080" cy="274320"/>
          </a:xfrm>
          <a:prstGeom prst="rect">
            <a:avLst/>
          </a:prstGeom>
          <a:noFill/>
          <a:ln/>
        </p:spPr>
        <p:txBody>
          <a:bodyPr wrap="square" lIns="0" tIns="0" rIns="0" bIns="0" rtlCol="0" anchor="ctr"/>
          <a:lstStyle/>
          <a:p>
            <a:pPr algn="r" indent="0" marL="0">
              <a:buNone/>
            </a:pPr>
            <a:r>
              <a:rPr lang="en-US" sz="900" dirty="0">
                <a:solidFill>
                  <a:srgbClr val="8A857E"/>
                </a:solidFill>
                <a:latin typeface="Cambria" pitchFamily="34" charset="0"/>
                <a:ea typeface="Cambria" pitchFamily="34" charset="-122"/>
                <a:cs typeface="Cambria" pitchFamily="34" charset="-120"/>
              </a:rPr>
              <a:t>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A1A1A"/>
        </a:solidFill>
      </p:bgPr>
    </p:bg>
    <p:spTree>
      <p:nvGrpSpPr>
        <p:cNvPr id="1" name=""/>
        <p:cNvGrpSpPr/>
        <p:nvPr/>
      </p:nvGrpSpPr>
      <p:grpSpPr>
        <a:xfrm>
          <a:off x="0" y="0"/>
          <a:ext cx="0" cy="0"/>
          <a:chOff x="0" y="0"/>
          <a:chExt cx="0" cy="0"/>
        </a:xfrm>
      </p:grpSpPr>
      <p:sp>
        <p:nvSpPr>
          <p:cNvPr id="2" name="Text 0"/>
          <p:cNvSpPr/>
          <p:nvPr/>
        </p:nvSpPr>
        <p:spPr>
          <a:xfrm>
            <a:off x="822960" y="2148840"/>
            <a:ext cx="1828800" cy="822960"/>
          </a:xfrm>
          <a:prstGeom prst="rect">
            <a:avLst/>
          </a:prstGeom>
          <a:noFill/>
          <a:ln/>
        </p:spPr>
        <p:txBody>
          <a:bodyPr wrap="square" lIns="0" tIns="0" rIns="0" bIns="0" rtlCol="0" anchor="ctr"/>
          <a:lstStyle/>
          <a:p>
            <a:pPr indent="0" marL="0">
              <a:buNone/>
            </a:pPr>
            <a:r>
              <a:rPr lang="en-US" sz="4600" dirty="0">
                <a:solidFill>
                  <a:srgbClr val="4A4640"/>
                </a:solidFill>
                <a:latin typeface="Cambria" pitchFamily="34" charset="0"/>
                <a:ea typeface="Cambria" pitchFamily="34" charset="-122"/>
                <a:cs typeface="Cambria" pitchFamily="34" charset="-120"/>
              </a:rPr>
              <a:t>Ⅲ</a:t>
            </a:r>
            <a:endParaRPr lang="en-US" sz="4600" dirty="0"/>
          </a:p>
        </p:txBody>
      </p:sp>
      <p:sp>
        <p:nvSpPr>
          <p:cNvPr id="3" name="Text 1"/>
          <p:cNvSpPr/>
          <p:nvPr/>
        </p:nvSpPr>
        <p:spPr>
          <a:xfrm>
            <a:off x="822960" y="2926080"/>
            <a:ext cx="8229600" cy="822960"/>
          </a:xfrm>
          <a:prstGeom prst="rect">
            <a:avLst/>
          </a:prstGeom>
          <a:noFill/>
          <a:ln/>
        </p:spPr>
        <p:txBody>
          <a:bodyPr wrap="square" lIns="0" tIns="0" rIns="0" bIns="0" rtlCol="0" anchor="ctr"/>
          <a:lstStyle/>
          <a:p>
            <a:pPr indent="0" marL="0">
              <a:buNone/>
            </a:pPr>
            <a:r>
              <a:rPr lang="en-US" sz="4000" b="1" dirty="0">
                <a:solidFill>
                  <a:srgbClr val="FFFFFF"/>
                </a:solidFill>
                <a:latin typeface="바탕" pitchFamily="34" charset="0"/>
                <a:ea typeface="바탕" pitchFamily="34" charset="-122"/>
                <a:cs typeface="바탕" pitchFamily="34" charset="-120"/>
              </a:rPr>
              <a:t>기획</a:t>
            </a:r>
            <a:endParaRPr lang="en-US" sz="4000" dirty="0"/>
          </a:p>
        </p:txBody>
      </p:sp>
      <p:sp>
        <p:nvSpPr>
          <p:cNvPr id="4" name="Text 2"/>
          <p:cNvSpPr/>
          <p:nvPr/>
        </p:nvSpPr>
        <p:spPr>
          <a:xfrm>
            <a:off x="868680" y="3794760"/>
            <a:ext cx="9601200" cy="365760"/>
          </a:xfrm>
          <a:prstGeom prst="rect">
            <a:avLst/>
          </a:prstGeom>
          <a:noFill/>
          <a:ln/>
        </p:spPr>
        <p:txBody>
          <a:bodyPr wrap="square" lIns="0" tIns="0" rIns="0" bIns="0" rtlCol="0" anchor="ctr"/>
          <a:lstStyle/>
          <a:p>
            <a:pPr indent="0" marL="0">
              <a:buNone/>
            </a:pPr>
            <a:r>
              <a:rPr lang="en-US" sz="1350" dirty="0">
                <a:solidFill>
                  <a:srgbClr val="A9A29A"/>
                </a:solidFill>
                <a:latin typeface="맑은 고딕" pitchFamily="34" charset="0"/>
                <a:ea typeface="맑은 고딕" pitchFamily="34" charset="-122"/>
                <a:cs typeface="맑은 고딕" pitchFamily="34" charset="-120"/>
              </a:rPr>
              <a:t>지우지 않고 덧댄다 — 여덟 개의 방을 지층처럼 읽는 법</a:t>
            </a:r>
            <a:endParaRPr lang="en-US" sz="1350" dirty="0"/>
          </a:p>
        </p:txBody>
      </p:sp>
      <p:pic>
        <p:nvPicPr>
          <p:cNvPr id="5" name="Image 0" descr="/home/claude/aither/img/A32_1.jpeg">    </p:cNvPr>
          <p:cNvPicPr>
            <a:picLocks noChangeAspect="1"/>
          </p:cNvPicPr>
          <p:nvPr/>
        </p:nvPicPr>
        <p:blipFill>
          <a:blip r:embed="rId1"/>
          <a:srcRect l="0" r="0" t="0" b="0"/>
          <a:stretch/>
        </p:blipFill>
        <p:spPr>
          <a:xfrm>
            <a:off x="6949440" y="0"/>
            <a:ext cx="5212080" cy="6858000"/>
          </a:xfrm>
          <a:prstGeom prst="rect">
            <a:avLst/>
          </a:prstGeom>
        </p:spPr>
      </p:pic>
      <p:sp>
        <p:nvSpPr>
          <p:cNvPr id="6" name="Text 3"/>
          <p:cNvSpPr/>
          <p:nvPr/>
        </p:nvSpPr>
        <p:spPr>
          <a:xfrm>
            <a:off x="868680" y="5989320"/>
            <a:ext cx="5486400" cy="256032"/>
          </a:xfrm>
          <a:prstGeom prst="rect">
            <a:avLst/>
          </a:prstGeom>
          <a:noFill/>
          <a:ln/>
        </p:spPr>
        <p:txBody>
          <a:bodyPr wrap="square" lIns="0" tIns="0" rIns="0" bIns="0" rtlCol="0" anchor="ctr"/>
          <a:lstStyle/>
          <a:p>
            <a:pPr indent="0" marL="0">
              <a:buNone/>
            </a:pPr>
            <a:r>
              <a:rPr lang="en-US" sz="850" dirty="0">
                <a:solidFill>
                  <a:srgbClr val="6E6A65"/>
                </a:solidFill>
                <a:latin typeface="맑은 고딕" pitchFamily="34" charset="0"/>
                <a:ea typeface="맑은 고딕" pitchFamily="34" charset="-122"/>
                <a:cs typeface="맑은 고딕" pitchFamily="34" charset="-120"/>
              </a:rPr>
              <a:t>사진 · ⑤실 마루 — 전통과 현대가 맞닿는 방  ·  아이테르 제공</a:t>
            </a:r>
            <a:endParaRPr lang="en-US" sz="850" dirty="0"/>
          </a:p>
        </p:txBody>
      </p:sp>
      <p:sp>
        <p:nvSpPr>
          <p:cNvPr id="7" name="Shape 4"/>
          <p:cNvSpPr/>
          <p:nvPr/>
        </p:nvSpPr>
        <p:spPr>
          <a:xfrm>
            <a:off x="868680" y="4434840"/>
            <a:ext cx="566928" cy="566928"/>
          </a:xfrm>
          <a:prstGeom prst="ellipse">
            <a:avLst/>
          </a:prstGeom>
          <a:solidFill>
            <a:srgbClr val="2F4858"/>
          </a:solidFill>
          <a:ln/>
        </p:spPr>
      </p:sp>
      <p:sp>
        <p:nvSpPr>
          <p:cNvPr id="8" name="Text 5"/>
          <p:cNvSpPr/>
          <p:nvPr/>
        </p:nvSpPr>
        <p:spPr>
          <a:xfrm>
            <a:off x="868680" y="4434840"/>
            <a:ext cx="566928"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①</a:t>
            </a:r>
            <a:endParaRPr lang="en-US" sz="1300" dirty="0"/>
          </a:p>
        </p:txBody>
      </p:sp>
      <p:sp>
        <p:nvSpPr>
          <p:cNvPr id="9" name="Shape 6"/>
          <p:cNvSpPr/>
          <p:nvPr/>
        </p:nvSpPr>
        <p:spPr>
          <a:xfrm>
            <a:off x="1527048" y="4434840"/>
            <a:ext cx="566928" cy="566928"/>
          </a:xfrm>
          <a:prstGeom prst="ellipse">
            <a:avLst/>
          </a:prstGeom>
          <a:solidFill>
            <a:srgbClr val="4A4A4A"/>
          </a:solidFill>
          <a:ln/>
        </p:spPr>
      </p:sp>
      <p:sp>
        <p:nvSpPr>
          <p:cNvPr id="10" name="Text 7"/>
          <p:cNvSpPr/>
          <p:nvPr/>
        </p:nvSpPr>
        <p:spPr>
          <a:xfrm>
            <a:off x="1527048" y="4434840"/>
            <a:ext cx="566928"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②</a:t>
            </a:r>
            <a:endParaRPr lang="en-US" sz="1300" dirty="0"/>
          </a:p>
        </p:txBody>
      </p:sp>
      <p:sp>
        <p:nvSpPr>
          <p:cNvPr id="11" name="Shape 8"/>
          <p:cNvSpPr/>
          <p:nvPr/>
        </p:nvSpPr>
        <p:spPr>
          <a:xfrm>
            <a:off x="2185416" y="4434840"/>
            <a:ext cx="566928" cy="566928"/>
          </a:xfrm>
          <a:prstGeom prst="ellipse">
            <a:avLst/>
          </a:prstGeom>
          <a:solidFill>
            <a:srgbClr val="2F4858"/>
          </a:solidFill>
          <a:ln/>
        </p:spPr>
      </p:sp>
      <p:sp>
        <p:nvSpPr>
          <p:cNvPr id="12" name="Text 9"/>
          <p:cNvSpPr/>
          <p:nvPr/>
        </p:nvSpPr>
        <p:spPr>
          <a:xfrm>
            <a:off x="2185416" y="4434840"/>
            <a:ext cx="566928"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③</a:t>
            </a:r>
            <a:endParaRPr lang="en-US" sz="1300" dirty="0"/>
          </a:p>
        </p:txBody>
      </p:sp>
      <p:sp>
        <p:nvSpPr>
          <p:cNvPr id="13" name="Shape 10"/>
          <p:cNvSpPr/>
          <p:nvPr/>
        </p:nvSpPr>
        <p:spPr>
          <a:xfrm>
            <a:off x="2843784" y="4434840"/>
            <a:ext cx="566928" cy="566928"/>
          </a:xfrm>
          <a:prstGeom prst="ellipse">
            <a:avLst/>
          </a:prstGeom>
          <a:solidFill>
            <a:srgbClr val="9C6B3C"/>
          </a:solidFill>
          <a:ln/>
        </p:spPr>
      </p:sp>
      <p:sp>
        <p:nvSpPr>
          <p:cNvPr id="14" name="Text 11"/>
          <p:cNvSpPr/>
          <p:nvPr/>
        </p:nvSpPr>
        <p:spPr>
          <a:xfrm>
            <a:off x="2843784" y="4434840"/>
            <a:ext cx="566928"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④</a:t>
            </a:r>
            <a:endParaRPr lang="en-US" sz="1300" dirty="0"/>
          </a:p>
        </p:txBody>
      </p:sp>
      <p:sp>
        <p:nvSpPr>
          <p:cNvPr id="15" name="Shape 12"/>
          <p:cNvSpPr/>
          <p:nvPr/>
        </p:nvSpPr>
        <p:spPr>
          <a:xfrm>
            <a:off x="3502152" y="4434840"/>
            <a:ext cx="566928" cy="566928"/>
          </a:xfrm>
          <a:prstGeom prst="ellipse">
            <a:avLst/>
          </a:prstGeom>
          <a:solidFill>
            <a:srgbClr val="9C6B3C"/>
          </a:solidFill>
          <a:ln/>
        </p:spPr>
      </p:sp>
      <p:sp>
        <p:nvSpPr>
          <p:cNvPr id="16" name="Text 13"/>
          <p:cNvSpPr/>
          <p:nvPr/>
        </p:nvSpPr>
        <p:spPr>
          <a:xfrm>
            <a:off x="3502152" y="4434840"/>
            <a:ext cx="566928"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⑤</a:t>
            </a:r>
            <a:endParaRPr lang="en-US" sz="1300" dirty="0"/>
          </a:p>
        </p:txBody>
      </p:sp>
      <p:sp>
        <p:nvSpPr>
          <p:cNvPr id="17" name="Shape 14"/>
          <p:cNvSpPr/>
          <p:nvPr/>
        </p:nvSpPr>
        <p:spPr>
          <a:xfrm>
            <a:off x="4160520" y="4434840"/>
            <a:ext cx="566928" cy="566928"/>
          </a:xfrm>
          <a:prstGeom prst="ellipse">
            <a:avLst/>
          </a:prstGeom>
          <a:solidFill>
            <a:srgbClr val="7A4A45"/>
          </a:solidFill>
          <a:ln/>
        </p:spPr>
      </p:sp>
      <p:sp>
        <p:nvSpPr>
          <p:cNvPr id="18" name="Text 15"/>
          <p:cNvSpPr/>
          <p:nvPr/>
        </p:nvSpPr>
        <p:spPr>
          <a:xfrm>
            <a:off x="4160520" y="4434840"/>
            <a:ext cx="566928"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⑥</a:t>
            </a:r>
            <a:endParaRPr lang="en-US" sz="1300" dirty="0"/>
          </a:p>
        </p:txBody>
      </p:sp>
      <p:sp>
        <p:nvSpPr>
          <p:cNvPr id="19" name="Shape 16"/>
          <p:cNvSpPr/>
          <p:nvPr/>
        </p:nvSpPr>
        <p:spPr>
          <a:xfrm>
            <a:off x="4818888" y="4434840"/>
            <a:ext cx="566928" cy="566928"/>
          </a:xfrm>
          <a:prstGeom prst="ellipse">
            <a:avLst/>
          </a:prstGeom>
          <a:solidFill>
            <a:srgbClr val="7A4A45"/>
          </a:solidFill>
          <a:ln/>
        </p:spPr>
      </p:sp>
      <p:sp>
        <p:nvSpPr>
          <p:cNvPr id="20" name="Text 17"/>
          <p:cNvSpPr/>
          <p:nvPr/>
        </p:nvSpPr>
        <p:spPr>
          <a:xfrm>
            <a:off x="4818888" y="4434840"/>
            <a:ext cx="566928"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⑦</a:t>
            </a:r>
            <a:endParaRPr lang="en-US" sz="1300" dirty="0"/>
          </a:p>
        </p:txBody>
      </p:sp>
      <p:sp>
        <p:nvSpPr>
          <p:cNvPr id="21" name="Shape 18"/>
          <p:cNvSpPr/>
          <p:nvPr/>
        </p:nvSpPr>
        <p:spPr>
          <a:xfrm>
            <a:off x="5477256" y="4434840"/>
            <a:ext cx="566928" cy="566928"/>
          </a:xfrm>
          <a:prstGeom prst="ellipse">
            <a:avLst/>
          </a:prstGeom>
          <a:solidFill>
            <a:srgbClr val="7A4A45"/>
          </a:solidFill>
          <a:ln/>
        </p:spPr>
      </p:sp>
      <p:sp>
        <p:nvSpPr>
          <p:cNvPr id="22" name="Text 19"/>
          <p:cNvSpPr/>
          <p:nvPr/>
        </p:nvSpPr>
        <p:spPr>
          <a:xfrm>
            <a:off x="5477256" y="4434840"/>
            <a:ext cx="566928"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⑧</a:t>
            </a:r>
            <a:endParaRPr lang="en-US" sz="1300" dirty="0"/>
          </a:p>
        </p:txBody>
      </p:sp>
      <p:sp>
        <p:nvSpPr>
          <p:cNvPr id="23" name="Text 20"/>
          <p:cNvSpPr/>
          <p:nvPr/>
        </p:nvSpPr>
        <p:spPr>
          <a:xfrm>
            <a:off x="548640" y="6419088"/>
            <a:ext cx="7315200" cy="274320"/>
          </a:xfrm>
          <a:prstGeom prst="rect">
            <a:avLst/>
          </a:prstGeom>
          <a:noFill/>
          <a:ln/>
        </p:spPr>
        <p:txBody>
          <a:bodyPr wrap="square" lIns="0" tIns="0" rIns="0" bIns="0" rtlCol="0" anchor="ctr"/>
          <a:lstStyle/>
          <a:p>
            <a:pPr algn="l" indent="0" marL="0">
              <a:buNone/>
            </a:pPr>
            <a:r>
              <a:rPr lang="en-US" sz="800" dirty="0">
                <a:solidFill>
                  <a:srgbClr val="6E6A65"/>
                </a:solidFill>
                <a:latin typeface="맑은 고딕" pitchFamily="34" charset="0"/>
                <a:ea typeface="맑은 고딕" pitchFamily="34" charset="-122"/>
                <a:cs typeface="맑은 고딕" pitchFamily="34" charset="-120"/>
              </a:rPr>
              <a:t>아이테르 문화예술기획제안서   ·   덮인 물, 남은 올   ·   기획 추병곤</a:t>
            </a:r>
            <a:endParaRPr lang="en-US" sz="800" dirty="0"/>
          </a:p>
        </p:txBody>
      </p:sp>
      <p:sp>
        <p:nvSpPr>
          <p:cNvPr id="24" name="Text 21"/>
          <p:cNvSpPr/>
          <p:nvPr/>
        </p:nvSpPr>
        <p:spPr>
          <a:xfrm>
            <a:off x="10972800" y="6419088"/>
            <a:ext cx="640080" cy="274320"/>
          </a:xfrm>
          <a:prstGeom prst="rect">
            <a:avLst/>
          </a:prstGeom>
          <a:noFill/>
          <a:ln/>
        </p:spPr>
        <p:txBody>
          <a:bodyPr wrap="square" lIns="0" tIns="0" rIns="0" bIns="0" rtlCol="0" anchor="ctr"/>
          <a:lstStyle/>
          <a:p>
            <a:pPr algn="r" indent="0" marL="0">
              <a:buNone/>
            </a:pPr>
            <a:r>
              <a:rPr lang="en-US" sz="900" dirty="0">
                <a:solidFill>
                  <a:srgbClr val="6E6A65"/>
                </a:solidFill>
                <a:latin typeface="Cambria" pitchFamily="34" charset="0"/>
                <a:ea typeface="Cambria" pitchFamily="34" charset="-122"/>
                <a:cs typeface="Cambria" pitchFamily="34" charset="-120"/>
              </a:rPr>
              <a:t>07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7315200" cy="237744"/>
          </a:xfrm>
          <a:prstGeom prst="rect">
            <a:avLst/>
          </a:prstGeom>
          <a:noFill/>
          <a:ln/>
        </p:spPr>
        <p:txBody>
          <a:bodyPr wrap="square" lIns="0" tIns="0" rIns="0" bIns="0" rtlCol="0" anchor="ctr"/>
          <a:lstStyle/>
          <a:p>
            <a:pPr indent="0" marL="0">
              <a:buNone/>
            </a:pPr>
            <a:r>
              <a:rPr lang="en-US" sz="1050" spc="250" kern="0" dirty="0">
                <a:solidFill>
                  <a:srgbClr val="8A857E"/>
                </a:solidFill>
                <a:latin typeface="Cambria" pitchFamily="34" charset="0"/>
                <a:ea typeface="Cambria" pitchFamily="34" charset="-122"/>
                <a:cs typeface="Cambria" pitchFamily="34" charset="-120"/>
              </a:rPr>
              <a:t>04  CURATORIAL STATEMENT</a:t>
            </a:r>
            <a:endParaRPr lang="en-US" sz="1050" dirty="0"/>
          </a:p>
        </p:txBody>
      </p:sp>
      <p:sp>
        <p:nvSpPr>
          <p:cNvPr id="3" name="Text 1"/>
          <p:cNvSpPr/>
          <p:nvPr/>
        </p:nvSpPr>
        <p:spPr>
          <a:xfrm>
            <a:off x="548640" y="694944"/>
            <a:ext cx="10058400" cy="502920"/>
          </a:xfrm>
          <a:prstGeom prst="rect">
            <a:avLst/>
          </a:prstGeom>
          <a:noFill/>
          <a:ln/>
        </p:spPr>
        <p:txBody>
          <a:bodyPr wrap="square" lIns="0" tIns="0" rIns="0" bIns="0" rtlCol="0" anchor="ctr"/>
          <a:lstStyle/>
          <a:p>
            <a:pPr indent="0" marL="0">
              <a:buNone/>
            </a:pPr>
            <a:r>
              <a:rPr lang="en-US" sz="2700" b="1" dirty="0">
                <a:solidFill>
                  <a:srgbClr val="1A1A1A"/>
                </a:solidFill>
                <a:latin typeface="맑은 고딕" pitchFamily="34" charset="0"/>
                <a:ea typeface="맑은 고딕" pitchFamily="34" charset="-122"/>
                <a:cs typeface="맑은 고딕" pitchFamily="34" charset="-120"/>
              </a:rPr>
              <a:t>기획 의도</a:t>
            </a:r>
            <a:endParaRPr lang="en-US" sz="2700" dirty="0"/>
          </a:p>
        </p:txBody>
      </p:sp>
      <p:sp>
        <p:nvSpPr>
          <p:cNvPr id="4" name="Text 2"/>
          <p:cNvSpPr/>
          <p:nvPr/>
        </p:nvSpPr>
        <p:spPr>
          <a:xfrm>
            <a:off x="548640" y="1691640"/>
            <a:ext cx="6949440" cy="548640"/>
          </a:xfrm>
          <a:prstGeom prst="rect">
            <a:avLst/>
          </a:prstGeom>
          <a:noFill/>
          <a:ln/>
        </p:spPr>
        <p:txBody>
          <a:bodyPr wrap="square" lIns="0" tIns="0" rIns="0" bIns="0" rtlCol="0" anchor="ctr"/>
          <a:lstStyle/>
          <a:p>
            <a:pPr indent="0" marL="0">
              <a:buNone/>
            </a:pPr>
            <a:r>
              <a:rPr lang="en-US" sz="3000" b="1" dirty="0">
                <a:solidFill>
                  <a:srgbClr val="2F4858"/>
                </a:solidFill>
                <a:latin typeface="바탕" pitchFamily="34" charset="0"/>
                <a:ea typeface="바탕" pitchFamily="34" charset="-122"/>
                <a:cs typeface="바탕" pitchFamily="34" charset="-120"/>
              </a:rPr>
              <a:t>덮인 것은 사라진 것이 아니다.</a:t>
            </a:r>
            <a:endParaRPr lang="en-US" sz="3000" dirty="0"/>
          </a:p>
        </p:txBody>
      </p:sp>
      <p:sp>
        <p:nvSpPr>
          <p:cNvPr id="5" name="Text 3"/>
          <p:cNvSpPr/>
          <p:nvPr/>
        </p:nvSpPr>
        <p:spPr>
          <a:xfrm>
            <a:off x="548640" y="2331720"/>
            <a:ext cx="6949440" cy="3840480"/>
          </a:xfrm>
          <a:prstGeom prst="rect">
            <a:avLst/>
          </a:prstGeom>
          <a:noFill/>
          <a:ln/>
        </p:spPr>
        <p:txBody>
          <a:bodyPr wrap="square" lIns="0" tIns="0" rIns="0" bIns="0" rtlCol="0" anchor="t"/>
          <a:lstStyle/>
          <a:p>
            <a:pPr indent="0" marL="0">
              <a:lnSpc>
                <a:spcPts val="1950"/>
              </a:lnSpc>
              <a:spcAft>
                <a:spcPts val="800"/>
              </a:spcAft>
              <a:buNone/>
            </a:pPr>
            <a:r>
              <a:rPr lang="en-US" sz="1150" dirty="0">
                <a:solidFill>
                  <a:srgbClr val="34302B"/>
                </a:solidFill>
                <a:latin typeface="맑은 고딕" pitchFamily="34" charset="0"/>
                <a:ea typeface="맑은 고딕" pitchFamily="34" charset="-122"/>
                <a:cs typeface="맑은 고딕" pitchFamily="34" charset="-120"/>
              </a:rPr>
              <a:t>범일이라는 이름은 범내에서 왔다. 호랑이가 물을 마시러 내려왔다는 그 내는 지금 도로 아래에 있다. 물길은 없어진 것이 아니라 덮였을 뿐이고, 지금도 시장 바닥 밑을 흐른다.</a:t>
            </a:r>
            <a:endParaRPr lang="en-US" sz="1150" dirty="0"/>
          </a:p>
          <a:p>
            <a:pPr indent="0" marL="0">
              <a:lnSpc>
                <a:spcPts val="1950"/>
              </a:lnSpc>
              <a:spcAft>
                <a:spcPts val="800"/>
              </a:spcAft>
              <a:buNone/>
            </a:pPr>
            <a:r>
              <a:rPr lang="en-US" sz="1150" dirty="0">
                <a:solidFill>
                  <a:srgbClr val="34302B"/>
                </a:solidFill>
                <a:latin typeface="맑은 고딕" pitchFamily="34" charset="0"/>
                <a:ea typeface="맑은 고딕" pitchFamily="34" charset="-122"/>
                <a:cs typeface="맑은 고딕" pitchFamily="34" charset="-120"/>
              </a:rPr>
              <a:t>그 위에 실이 놓였다. 조선방직의 기계가 멈춘 뒤에도 부산진시장의 원단은 멈추지 않았고, 범일동은 한 세기 가까이 실의 도시로 살아왔다. 물길이 지하로 내려간 자리를, 실이 대신 흘렀다.</a:t>
            </a:r>
            <a:endParaRPr lang="en-US" sz="1150" dirty="0"/>
          </a:p>
          <a:p>
            <a:pPr indent="0" marL="0">
              <a:lnSpc>
                <a:spcPts val="1950"/>
              </a:lnSpc>
              <a:spcAft>
                <a:spcPts val="800"/>
              </a:spcAft>
              <a:buNone/>
            </a:pPr>
            <a:r>
              <a:rPr lang="en-US" sz="1150" dirty="0">
                <a:solidFill>
                  <a:srgbClr val="34302B"/>
                </a:solidFill>
                <a:latin typeface="맑은 고딕" pitchFamily="34" charset="0"/>
                <a:ea typeface="맑은 고딕" pitchFamily="34" charset="-122"/>
                <a:cs typeface="맑은 고딕" pitchFamily="34" charset="-120"/>
              </a:rPr>
              <a:t>그리고 사람이 왔다. 매축된 땅 위에, 공장 옆에, 시장 뒤에 방을 들였다. 범일가옥의 여덟 개 방 — 부엌의 그을음, 욕조와 세면대, 벗겨진 벽지와 창살 — 은 그 사람들이 남긴 가장 얇은 지층이다.</a:t>
            </a:r>
            <a:endParaRPr lang="en-US" sz="1150" dirty="0"/>
          </a:p>
          <a:p>
            <a:pPr indent="0" marL="0">
              <a:lnSpc>
                <a:spcPts val="1950"/>
              </a:lnSpc>
              <a:spcAft>
                <a:spcPts val="800"/>
              </a:spcAft>
              <a:buNone/>
            </a:pPr>
            <a:r>
              <a:rPr lang="en-US" sz="1150" dirty="0">
                <a:solidFill>
                  <a:srgbClr val="34302B"/>
                </a:solidFill>
                <a:latin typeface="맑은 고딕" pitchFamily="34" charset="0"/>
                <a:ea typeface="맑은 고딕" pitchFamily="34" charset="-122"/>
                <a:cs typeface="맑은 고딕" pitchFamily="34" charset="-120"/>
              </a:rPr>
              <a:t>《덮인 물, 남은 올》은 이 세 겹을 지층처럼 읽는 전시다. 우리는 이 집을 전시장으로 '쓰지' 않는다. 이 집을 하나의 작품이자 공동 저자로 다룬다. 습기와 결로, 목재의 뒤틀림, 벽지 아래로 번진 얼룩은 인간이 아닌 것들이 이 집에 써 온 문장이다. 작가의 개입은 그 문장을 지우는 대신, 그 위에 한 겹을 덧댄다.</a:t>
            </a:r>
            <a:endParaRPr lang="en-US" sz="1150" dirty="0"/>
          </a:p>
          <a:p>
            <a:pPr indent="0" marL="0">
              <a:lnSpc>
                <a:spcPts val="1950"/>
              </a:lnSpc>
              <a:spcAft>
                <a:spcPts val="800"/>
              </a:spcAft>
              <a:buNone/>
            </a:pPr>
            <a:r>
              <a:rPr lang="en-US" sz="1150" dirty="0">
                <a:solidFill>
                  <a:srgbClr val="34302B"/>
                </a:solidFill>
                <a:latin typeface="맑은 고딕" pitchFamily="34" charset="0"/>
                <a:ea typeface="맑은 고딕" pitchFamily="34" charset="-122"/>
                <a:cs typeface="맑은 고딕" pitchFamily="34" charset="-120"/>
              </a:rPr>
              <a:t>그러므로 이 전시의 방법은 '설치'가 아니라 '깁기'다. 낡은 것을 복원하지 않고, 헤진 자리에 새 올을 대어 깁는다. 관람객은 여덟 번 문지방을 넘으며 도시가 무엇을 덮어 왔고 무엇을 남겨 왔는지를 몸으로 지난다.</a:t>
            </a:r>
            <a:endParaRPr lang="en-US" sz="1150" dirty="0"/>
          </a:p>
          <a:p>
            <a:pPr indent="0" marL="0">
              <a:lnSpc>
                <a:spcPts val="1950"/>
              </a:lnSpc>
              <a:spcAft>
                <a:spcPts val="800"/>
              </a:spcAft>
              <a:buNone/>
            </a:pPr>
            <a:r>
              <a:rPr lang="en-US" sz="1150" dirty="0">
                <a:solidFill>
                  <a:srgbClr val="34302B"/>
                </a:solidFill>
                <a:latin typeface="맑은 고딕" pitchFamily="34" charset="0"/>
                <a:ea typeface="맑은 고딕" pitchFamily="34" charset="-122"/>
                <a:cs typeface="맑은 고딕" pitchFamily="34" charset="-120"/>
              </a:rPr>
              <a:t>마지막 방, 부엌의 자리에서 우리는 다시 불을 켜고 상을 편다. 전시는 그 상 위에서 주민과 상인, 작가와 관람객이 나누는 대화로 끝난다 — 또는, 거기서 시작된다.</a:t>
            </a:r>
            <a:endParaRPr lang="en-US" sz="1150" dirty="0"/>
          </a:p>
        </p:txBody>
      </p:sp>
      <p:pic>
        <p:nvPicPr>
          <p:cNvPr id="6" name="Image 0" descr="/home/claude/aither/img/A31_1.jpeg">    </p:cNvPr>
          <p:cNvPicPr>
            <a:picLocks noChangeAspect="1"/>
          </p:cNvPicPr>
          <p:nvPr/>
        </p:nvPicPr>
        <p:blipFill>
          <a:blip r:embed="rId1"/>
          <a:srcRect l="0" r="0" t="0" b="0"/>
          <a:stretch/>
        </p:blipFill>
        <p:spPr>
          <a:xfrm>
            <a:off x="7863840" y="1691640"/>
            <a:ext cx="3749040" cy="2121408"/>
          </a:xfrm>
          <a:prstGeom prst="rect">
            <a:avLst/>
          </a:prstGeom>
        </p:spPr>
      </p:pic>
      <p:sp>
        <p:nvSpPr>
          <p:cNvPr id="7" name="Text 4"/>
          <p:cNvSpPr/>
          <p:nvPr/>
        </p:nvSpPr>
        <p:spPr>
          <a:xfrm>
            <a:off x="7863840" y="3858768"/>
            <a:ext cx="3749040" cy="219456"/>
          </a:xfrm>
          <a:prstGeom prst="rect">
            <a:avLst/>
          </a:prstGeom>
          <a:noFill/>
          <a:ln/>
        </p:spPr>
        <p:txBody>
          <a:bodyPr wrap="square" lIns="0" tIns="0" rIns="0" bIns="0" rtlCol="0" anchor="ctr"/>
          <a:lstStyle/>
          <a:p>
            <a:pPr indent="0" marL="0">
              <a:buNone/>
            </a:pPr>
            <a:r>
              <a:rPr lang="en-US" sz="850" dirty="0">
                <a:solidFill>
                  <a:srgbClr val="8A857E"/>
                </a:solidFill>
                <a:latin typeface="맑은 고딕" pitchFamily="34" charset="0"/>
                <a:ea typeface="맑은 고딕" pitchFamily="34" charset="-122"/>
                <a:cs typeface="맑은 고딕" pitchFamily="34" charset="-120"/>
              </a:rPr>
              <a:t>지우지 않은 벽 위에 걸린 작품 — 덧대기의 실제</a:t>
            </a:r>
            <a:endParaRPr lang="en-US" sz="850" dirty="0"/>
          </a:p>
        </p:txBody>
      </p:sp>
      <p:sp>
        <p:nvSpPr>
          <p:cNvPr id="8" name="Shape 5"/>
          <p:cNvSpPr/>
          <p:nvPr/>
        </p:nvSpPr>
        <p:spPr>
          <a:xfrm>
            <a:off x="7863840" y="4206240"/>
            <a:ext cx="3749040" cy="1965960"/>
          </a:xfrm>
          <a:prstGeom prst="rect">
            <a:avLst/>
          </a:prstGeom>
          <a:solidFill>
            <a:srgbClr val="1A1A1A"/>
          </a:solidFill>
          <a:ln/>
        </p:spPr>
      </p:sp>
      <p:sp>
        <p:nvSpPr>
          <p:cNvPr id="9" name="Text 6"/>
          <p:cNvSpPr/>
          <p:nvPr/>
        </p:nvSpPr>
        <p:spPr>
          <a:xfrm>
            <a:off x="8119872" y="4407408"/>
            <a:ext cx="3291840" cy="256032"/>
          </a:xfrm>
          <a:prstGeom prst="rect">
            <a:avLst/>
          </a:prstGeom>
          <a:noFill/>
          <a:ln/>
        </p:spPr>
        <p:txBody>
          <a:bodyPr wrap="square" lIns="0" tIns="0" rIns="0" bIns="0" rtlCol="0" anchor="ctr"/>
          <a:lstStyle/>
          <a:p>
            <a:pPr indent="0" marL="0">
              <a:buNone/>
            </a:pPr>
            <a:r>
              <a:rPr lang="en-US" sz="1050" b="1" dirty="0">
                <a:solidFill>
                  <a:srgbClr val="B0A99F"/>
                </a:solidFill>
                <a:latin typeface="맑은 고딕" pitchFamily="34" charset="0"/>
                <a:ea typeface="맑은 고딕" pitchFamily="34" charset="-122"/>
                <a:cs typeface="맑은 고딕" pitchFamily="34" charset="-120"/>
              </a:rPr>
              <a:t>이론적 배경</a:t>
            </a:r>
            <a:endParaRPr lang="en-US" sz="1050" dirty="0"/>
          </a:p>
        </p:txBody>
      </p:sp>
      <p:sp>
        <p:nvSpPr>
          <p:cNvPr id="10" name="Text 7"/>
          <p:cNvSpPr/>
          <p:nvPr/>
        </p:nvSpPr>
        <p:spPr>
          <a:xfrm>
            <a:off x="8119872" y="4700016"/>
            <a:ext cx="3291840" cy="1325880"/>
          </a:xfrm>
          <a:prstGeom prst="rect">
            <a:avLst/>
          </a:prstGeom>
          <a:noFill/>
          <a:ln/>
        </p:spPr>
        <p:txBody>
          <a:bodyPr wrap="square" lIns="0" tIns="0" rIns="0" bIns="0" rtlCol="0" anchor="ctr"/>
          <a:lstStyle/>
          <a:p>
            <a:pPr indent="0" marL="0">
              <a:lnSpc>
                <a:spcPts val="1500"/>
              </a:lnSpc>
              <a:buNone/>
            </a:pPr>
            <a:r>
              <a:rPr lang="en-US" sz="950" dirty="0">
                <a:solidFill>
                  <a:srgbClr val="CFC8BE"/>
                </a:solidFill>
                <a:latin typeface="맑은 고딕" pitchFamily="34" charset="0"/>
                <a:ea typeface="맑은 고딕" pitchFamily="34" charset="-122"/>
                <a:cs typeface="맑은 고딕" pitchFamily="34" charset="-120"/>
              </a:rPr>
              <a:t>신유물론의 관점에서 물질은 인간이 의미를 부여하기를 기다리는 수동적 재료가 아니라, 스스로 변형하고 표현하는 행위자다. 기획자의 석사 논문 「물질적 생성의 미학」(홍익대 미학과)에서 다룬 잠재성·표현성 개념을 전시의 방법론으로 옮겨, 가옥의 재료가 겪어 온 변형 자체를 전시의 서술로 삼는다.</a:t>
            </a:r>
            <a:endParaRPr lang="en-US" sz="950" dirty="0"/>
          </a:p>
        </p:txBody>
      </p:sp>
      <p:sp>
        <p:nvSpPr>
          <p:cNvPr id="11" name="Text 8"/>
          <p:cNvSpPr/>
          <p:nvPr/>
        </p:nvSpPr>
        <p:spPr>
          <a:xfrm>
            <a:off x="548640" y="6419088"/>
            <a:ext cx="7315200" cy="274320"/>
          </a:xfrm>
          <a:prstGeom prst="rect">
            <a:avLst/>
          </a:prstGeom>
          <a:noFill/>
          <a:ln/>
        </p:spPr>
        <p:txBody>
          <a:bodyPr wrap="square" lIns="0" tIns="0" rIns="0" bIns="0" rtlCol="0" anchor="ctr"/>
          <a:lstStyle/>
          <a:p>
            <a:pPr algn="l" indent="0" marL="0">
              <a:buNone/>
            </a:pPr>
            <a:r>
              <a:rPr lang="en-US" sz="800" dirty="0">
                <a:solidFill>
                  <a:srgbClr val="8A857E"/>
                </a:solidFill>
                <a:latin typeface="맑은 고딕" pitchFamily="34" charset="0"/>
                <a:ea typeface="맑은 고딕" pitchFamily="34" charset="-122"/>
                <a:cs typeface="맑은 고딕" pitchFamily="34" charset="-120"/>
              </a:rPr>
              <a:t>아이테르 문화예술기획제안서   ·   덮인 물, 남은 올   ·   기획 추병곤</a:t>
            </a:r>
            <a:endParaRPr lang="en-US" sz="800" dirty="0"/>
          </a:p>
        </p:txBody>
      </p:sp>
      <p:sp>
        <p:nvSpPr>
          <p:cNvPr id="12" name="Text 9"/>
          <p:cNvSpPr/>
          <p:nvPr/>
        </p:nvSpPr>
        <p:spPr>
          <a:xfrm>
            <a:off x="10972800" y="6419088"/>
            <a:ext cx="640080" cy="274320"/>
          </a:xfrm>
          <a:prstGeom prst="rect">
            <a:avLst/>
          </a:prstGeom>
          <a:noFill/>
          <a:ln/>
        </p:spPr>
        <p:txBody>
          <a:bodyPr wrap="square" lIns="0" tIns="0" rIns="0" bIns="0" rtlCol="0" anchor="ctr"/>
          <a:lstStyle/>
          <a:p>
            <a:pPr algn="r" indent="0" marL="0">
              <a:buNone/>
            </a:pPr>
            <a:r>
              <a:rPr lang="en-US" sz="900" dirty="0">
                <a:solidFill>
                  <a:srgbClr val="8A857E"/>
                </a:solidFill>
                <a:latin typeface="Cambria" pitchFamily="34" charset="0"/>
                <a:ea typeface="Cambria" pitchFamily="34" charset="-122"/>
                <a:cs typeface="Cambria" pitchFamily="34" charset="-120"/>
              </a:rPr>
              <a:t>08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7315200" cy="237744"/>
          </a:xfrm>
          <a:prstGeom prst="rect">
            <a:avLst/>
          </a:prstGeom>
          <a:noFill/>
          <a:ln/>
        </p:spPr>
        <p:txBody>
          <a:bodyPr wrap="square" lIns="0" tIns="0" rIns="0" bIns="0" rtlCol="0" anchor="ctr"/>
          <a:lstStyle/>
          <a:p>
            <a:pPr indent="0" marL="0">
              <a:buNone/>
            </a:pPr>
            <a:r>
              <a:rPr lang="en-US" sz="1050" spc="250" kern="0" dirty="0">
                <a:solidFill>
                  <a:srgbClr val="8A857E"/>
                </a:solidFill>
                <a:latin typeface="Cambria" pitchFamily="34" charset="0"/>
                <a:ea typeface="Cambria" pitchFamily="34" charset="-122"/>
                <a:cs typeface="Cambria" pitchFamily="34" charset="-120"/>
              </a:rPr>
              <a:t>05  DIAGRAM 2</a:t>
            </a:r>
            <a:endParaRPr lang="en-US" sz="1050" dirty="0"/>
          </a:p>
        </p:txBody>
      </p:sp>
      <p:sp>
        <p:nvSpPr>
          <p:cNvPr id="3" name="Text 1"/>
          <p:cNvSpPr/>
          <p:nvPr/>
        </p:nvSpPr>
        <p:spPr>
          <a:xfrm>
            <a:off x="548640" y="694944"/>
            <a:ext cx="10058400" cy="502920"/>
          </a:xfrm>
          <a:prstGeom prst="rect">
            <a:avLst/>
          </a:prstGeom>
          <a:noFill/>
          <a:ln/>
        </p:spPr>
        <p:txBody>
          <a:bodyPr wrap="square" lIns="0" tIns="0" rIns="0" bIns="0" rtlCol="0" anchor="ctr"/>
          <a:lstStyle/>
          <a:p>
            <a:pPr indent="0" marL="0">
              <a:buNone/>
            </a:pPr>
            <a:r>
              <a:rPr lang="en-US" sz="2700" b="1" dirty="0">
                <a:solidFill>
                  <a:srgbClr val="1A1A1A"/>
                </a:solidFill>
                <a:latin typeface="맑은 고딕" pitchFamily="34" charset="0"/>
                <a:ea typeface="맑은 고딕" pitchFamily="34" charset="-122"/>
                <a:cs typeface="맑은 고딕" pitchFamily="34" charset="-120"/>
              </a:rPr>
              <a:t>[도식 2] 개념 구조도 — 세 겹, 여덟 개의 방</a:t>
            </a:r>
            <a:endParaRPr lang="en-US" sz="2700" dirty="0"/>
          </a:p>
        </p:txBody>
      </p:sp>
      <p:sp>
        <p:nvSpPr>
          <p:cNvPr id="4" name="Text 2"/>
          <p:cNvSpPr/>
          <p:nvPr/>
        </p:nvSpPr>
        <p:spPr>
          <a:xfrm>
            <a:off x="548640" y="1225296"/>
            <a:ext cx="10607040" cy="310896"/>
          </a:xfrm>
          <a:prstGeom prst="rect">
            <a:avLst/>
          </a:prstGeom>
          <a:noFill/>
          <a:ln/>
        </p:spPr>
        <p:txBody>
          <a:bodyPr wrap="square" lIns="0" tIns="0" rIns="0" bIns="0" rtlCol="0" anchor="ctr"/>
          <a:lstStyle/>
          <a:p>
            <a:pPr indent="0" marL="0">
              <a:buNone/>
            </a:pPr>
            <a:r>
              <a:rPr lang="en-US" sz="1200" dirty="0">
                <a:solidFill>
                  <a:srgbClr val="8A857E"/>
                </a:solidFill>
                <a:latin typeface="맑은 고딕" pitchFamily="34" charset="0"/>
                <a:ea typeface="맑은 고딕" pitchFamily="34" charset="-122"/>
                <a:cs typeface="맑은 고딕" pitchFamily="34" charset="-120"/>
              </a:rPr>
              <a:t>장소의 지층(좌) → 큐레토리얼 방법(중) → 전시 구성(우)</a:t>
            </a:r>
            <a:endParaRPr lang="en-US" sz="1200" dirty="0"/>
          </a:p>
        </p:txBody>
      </p:sp>
      <p:sp>
        <p:nvSpPr>
          <p:cNvPr id="5" name="Text 3"/>
          <p:cNvSpPr/>
          <p:nvPr/>
        </p:nvSpPr>
        <p:spPr>
          <a:xfrm>
            <a:off x="548640" y="1783080"/>
            <a:ext cx="3108960" cy="256032"/>
          </a:xfrm>
          <a:prstGeom prst="rect">
            <a:avLst/>
          </a:prstGeom>
          <a:noFill/>
          <a:ln/>
        </p:spPr>
        <p:txBody>
          <a:bodyPr wrap="square" lIns="0" tIns="0" rIns="0" bIns="0" rtlCol="0" anchor="ctr"/>
          <a:lstStyle/>
          <a:p>
            <a:pPr indent="0" marL="0">
              <a:buNone/>
            </a:pPr>
            <a:r>
              <a:rPr lang="en-US" sz="1100" b="1" dirty="0">
                <a:solidFill>
                  <a:srgbClr val="8A857E"/>
                </a:solidFill>
                <a:latin typeface="맑은 고딕" pitchFamily="34" charset="0"/>
                <a:ea typeface="맑은 고딕" pitchFamily="34" charset="-122"/>
                <a:cs typeface="맑은 고딕" pitchFamily="34" charset="-120"/>
              </a:rPr>
              <a:t>장소의 지층</a:t>
            </a:r>
            <a:endParaRPr lang="en-US" sz="1100" dirty="0"/>
          </a:p>
        </p:txBody>
      </p:sp>
      <p:sp>
        <p:nvSpPr>
          <p:cNvPr id="6" name="Shape 4"/>
          <p:cNvSpPr/>
          <p:nvPr/>
        </p:nvSpPr>
        <p:spPr>
          <a:xfrm>
            <a:off x="548640" y="2148840"/>
            <a:ext cx="3108960" cy="822960"/>
          </a:xfrm>
          <a:prstGeom prst="rect">
            <a:avLst/>
          </a:prstGeom>
          <a:solidFill>
            <a:srgbClr val="7A4A45"/>
          </a:solidFill>
          <a:ln/>
        </p:spPr>
      </p:sp>
      <p:sp>
        <p:nvSpPr>
          <p:cNvPr id="7" name="Text 5"/>
          <p:cNvSpPr/>
          <p:nvPr/>
        </p:nvSpPr>
        <p:spPr>
          <a:xfrm>
            <a:off x="777240" y="2258568"/>
            <a:ext cx="2743200" cy="274320"/>
          </a:xfrm>
          <a:prstGeom prst="rect">
            <a:avLst/>
          </a:prstGeom>
          <a:noFill/>
          <a:ln/>
        </p:spPr>
        <p:txBody>
          <a:bodyPr wrap="square" lIns="0" tIns="0" rIns="0" bIns="0" rtlCol="0" anchor="ctr"/>
          <a:lstStyle/>
          <a:p>
            <a:pPr indent="0" marL="0">
              <a:buNone/>
            </a:pPr>
            <a:r>
              <a:rPr lang="en-US" sz="1400" b="1" dirty="0">
                <a:solidFill>
                  <a:srgbClr val="FFFFFF"/>
                </a:solidFill>
                <a:latin typeface="바탕" pitchFamily="34" charset="0"/>
                <a:ea typeface="바탕" pitchFamily="34" charset="-122"/>
                <a:cs typeface="바탕" pitchFamily="34" charset="-120"/>
              </a:rPr>
              <a:t>人  사람</a:t>
            </a:r>
            <a:endParaRPr lang="en-US" sz="1400" dirty="0"/>
          </a:p>
        </p:txBody>
      </p:sp>
      <p:sp>
        <p:nvSpPr>
          <p:cNvPr id="8" name="Text 6"/>
          <p:cNvSpPr/>
          <p:nvPr/>
        </p:nvSpPr>
        <p:spPr>
          <a:xfrm>
            <a:off x="777240" y="2560320"/>
            <a:ext cx="2743200" cy="310896"/>
          </a:xfrm>
          <a:prstGeom prst="rect">
            <a:avLst/>
          </a:prstGeom>
          <a:noFill/>
          <a:ln/>
        </p:spPr>
        <p:txBody>
          <a:bodyPr wrap="square" lIns="0" tIns="0" rIns="0" bIns="0" rtlCol="0" anchor="ctr"/>
          <a:lstStyle/>
          <a:p>
            <a:pPr indent="0" marL="0">
              <a:buNone/>
            </a:pPr>
            <a:r>
              <a:rPr lang="en-US" sz="950" dirty="0">
                <a:solidFill>
                  <a:srgbClr val="EAE4DA"/>
                </a:solidFill>
                <a:latin typeface="맑은 고딕" pitchFamily="34" charset="0"/>
                <a:ea typeface="맑은 고딕" pitchFamily="34" charset="-122"/>
                <a:cs typeface="맑은 고딕" pitchFamily="34" charset="-120"/>
              </a:rPr>
              <a:t>방과 골목 · 피란과 이주 (1950s–  )</a:t>
            </a:r>
            <a:endParaRPr lang="en-US" sz="950" dirty="0"/>
          </a:p>
        </p:txBody>
      </p:sp>
      <p:sp>
        <p:nvSpPr>
          <p:cNvPr id="9" name="Shape 7"/>
          <p:cNvSpPr/>
          <p:nvPr/>
        </p:nvSpPr>
        <p:spPr>
          <a:xfrm>
            <a:off x="548640" y="3081528"/>
            <a:ext cx="3108960" cy="822960"/>
          </a:xfrm>
          <a:prstGeom prst="rect">
            <a:avLst/>
          </a:prstGeom>
          <a:solidFill>
            <a:srgbClr val="9C6B3C"/>
          </a:solidFill>
          <a:ln/>
        </p:spPr>
      </p:sp>
      <p:sp>
        <p:nvSpPr>
          <p:cNvPr id="10" name="Text 8"/>
          <p:cNvSpPr/>
          <p:nvPr/>
        </p:nvSpPr>
        <p:spPr>
          <a:xfrm>
            <a:off x="777240" y="3191256"/>
            <a:ext cx="2743200" cy="274320"/>
          </a:xfrm>
          <a:prstGeom prst="rect">
            <a:avLst/>
          </a:prstGeom>
          <a:noFill/>
          <a:ln/>
        </p:spPr>
        <p:txBody>
          <a:bodyPr wrap="square" lIns="0" tIns="0" rIns="0" bIns="0" rtlCol="0" anchor="ctr"/>
          <a:lstStyle/>
          <a:p>
            <a:pPr indent="0" marL="0">
              <a:buNone/>
            </a:pPr>
            <a:r>
              <a:rPr lang="en-US" sz="1400" b="1" dirty="0">
                <a:solidFill>
                  <a:srgbClr val="FFFFFF"/>
                </a:solidFill>
                <a:latin typeface="바탕" pitchFamily="34" charset="0"/>
                <a:ea typeface="바탕" pitchFamily="34" charset="-122"/>
                <a:cs typeface="바탕" pitchFamily="34" charset="-120"/>
              </a:rPr>
              <a:t>絲  올</a:t>
            </a:r>
            <a:endParaRPr lang="en-US" sz="1400" dirty="0"/>
          </a:p>
        </p:txBody>
      </p:sp>
      <p:sp>
        <p:nvSpPr>
          <p:cNvPr id="11" name="Text 9"/>
          <p:cNvSpPr/>
          <p:nvPr/>
        </p:nvSpPr>
        <p:spPr>
          <a:xfrm>
            <a:off x="777240" y="3493008"/>
            <a:ext cx="2743200" cy="310896"/>
          </a:xfrm>
          <a:prstGeom prst="rect">
            <a:avLst/>
          </a:prstGeom>
          <a:noFill/>
          <a:ln/>
        </p:spPr>
        <p:txBody>
          <a:bodyPr wrap="square" lIns="0" tIns="0" rIns="0" bIns="0" rtlCol="0" anchor="ctr"/>
          <a:lstStyle/>
          <a:p>
            <a:pPr indent="0" marL="0">
              <a:buNone/>
            </a:pPr>
            <a:r>
              <a:rPr lang="en-US" sz="950" dirty="0">
                <a:solidFill>
                  <a:srgbClr val="EAE4DA"/>
                </a:solidFill>
                <a:latin typeface="맑은 고딕" pitchFamily="34" charset="0"/>
                <a:ea typeface="맑은 고딕" pitchFamily="34" charset="-122"/>
                <a:cs typeface="맑은 고딕" pitchFamily="34" charset="-120"/>
              </a:rPr>
              <a:t>방직과 시장 · 조방과 진시장 (1917–  )</a:t>
            </a:r>
            <a:endParaRPr lang="en-US" sz="950" dirty="0"/>
          </a:p>
        </p:txBody>
      </p:sp>
      <p:sp>
        <p:nvSpPr>
          <p:cNvPr id="12" name="Shape 10"/>
          <p:cNvSpPr/>
          <p:nvPr/>
        </p:nvSpPr>
        <p:spPr>
          <a:xfrm>
            <a:off x="548640" y="4014216"/>
            <a:ext cx="3108960" cy="822960"/>
          </a:xfrm>
          <a:prstGeom prst="rect">
            <a:avLst/>
          </a:prstGeom>
          <a:solidFill>
            <a:srgbClr val="2F4858"/>
          </a:solidFill>
          <a:ln/>
        </p:spPr>
      </p:sp>
      <p:sp>
        <p:nvSpPr>
          <p:cNvPr id="13" name="Text 11"/>
          <p:cNvSpPr/>
          <p:nvPr/>
        </p:nvSpPr>
        <p:spPr>
          <a:xfrm>
            <a:off x="777240" y="4123944"/>
            <a:ext cx="2743200" cy="274320"/>
          </a:xfrm>
          <a:prstGeom prst="rect">
            <a:avLst/>
          </a:prstGeom>
          <a:noFill/>
          <a:ln/>
        </p:spPr>
        <p:txBody>
          <a:bodyPr wrap="square" lIns="0" tIns="0" rIns="0" bIns="0" rtlCol="0" anchor="ctr"/>
          <a:lstStyle/>
          <a:p>
            <a:pPr indent="0" marL="0">
              <a:buNone/>
            </a:pPr>
            <a:r>
              <a:rPr lang="en-US" sz="1400" b="1" dirty="0">
                <a:solidFill>
                  <a:srgbClr val="FFFFFF"/>
                </a:solidFill>
                <a:latin typeface="바탕" pitchFamily="34" charset="0"/>
                <a:ea typeface="바탕" pitchFamily="34" charset="-122"/>
                <a:cs typeface="바탕" pitchFamily="34" charset="-120"/>
              </a:rPr>
              <a:t>水  물</a:t>
            </a:r>
            <a:endParaRPr lang="en-US" sz="1400" dirty="0"/>
          </a:p>
        </p:txBody>
      </p:sp>
      <p:sp>
        <p:nvSpPr>
          <p:cNvPr id="14" name="Text 12"/>
          <p:cNvSpPr/>
          <p:nvPr/>
        </p:nvSpPr>
        <p:spPr>
          <a:xfrm>
            <a:off x="777240" y="4425696"/>
            <a:ext cx="2743200" cy="310896"/>
          </a:xfrm>
          <a:prstGeom prst="rect">
            <a:avLst/>
          </a:prstGeom>
          <a:noFill/>
          <a:ln/>
        </p:spPr>
        <p:txBody>
          <a:bodyPr wrap="square" lIns="0" tIns="0" rIns="0" bIns="0" rtlCol="0" anchor="ctr"/>
          <a:lstStyle/>
          <a:p>
            <a:pPr indent="0" marL="0">
              <a:buNone/>
            </a:pPr>
            <a:r>
              <a:rPr lang="en-US" sz="950" dirty="0">
                <a:solidFill>
                  <a:srgbClr val="EAE4DA"/>
                </a:solidFill>
                <a:latin typeface="맑은 고딕" pitchFamily="34" charset="0"/>
                <a:ea typeface="맑은 고딕" pitchFamily="34" charset="-122"/>
                <a:cs typeface="맑은 고딕" pitchFamily="34" charset="-120"/>
              </a:rPr>
              <a:t>범내와 매축 · 복개된 물길 (–1930s)</a:t>
            </a:r>
            <a:endParaRPr lang="en-US" sz="950" dirty="0"/>
          </a:p>
        </p:txBody>
      </p:sp>
      <p:sp>
        <p:nvSpPr>
          <p:cNvPr id="15" name="Text 13"/>
          <p:cNvSpPr/>
          <p:nvPr/>
        </p:nvSpPr>
        <p:spPr>
          <a:xfrm>
            <a:off x="548640" y="4983480"/>
            <a:ext cx="3108960" cy="274320"/>
          </a:xfrm>
          <a:prstGeom prst="rect">
            <a:avLst/>
          </a:prstGeom>
          <a:noFill/>
          <a:ln/>
        </p:spPr>
        <p:txBody>
          <a:bodyPr wrap="square" lIns="0" tIns="0" rIns="0" bIns="0" rtlCol="0" anchor="ctr"/>
          <a:lstStyle/>
          <a:p>
            <a:pPr indent="0" marL="0">
              <a:buNone/>
            </a:pPr>
            <a:r>
              <a:rPr lang="en-US" sz="1000" dirty="0">
                <a:solidFill>
                  <a:srgbClr val="8A857E"/>
                </a:solidFill>
                <a:latin typeface="맑은 고딕" pitchFamily="34" charset="0"/>
                <a:ea typeface="맑은 고딕" pitchFamily="34" charset="-122"/>
                <a:cs typeface="맑은 고딕" pitchFamily="34" charset="-120"/>
              </a:rPr>
              <a:t>↓  수직 절개 — 지표에서 심층으로</a:t>
            </a:r>
            <a:endParaRPr lang="en-US" sz="1000" dirty="0"/>
          </a:p>
        </p:txBody>
      </p:sp>
      <p:sp>
        <p:nvSpPr>
          <p:cNvPr id="16" name="Text 14"/>
          <p:cNvSpPr/>
          <p:nvPr/>
        </p:nvSpPr>
        <p:spPr>
          <a:xfrm>
            <a:off x="548640" y="5285232"/>
            <a:ext cx="3108960" cy="457200"/>
          </a:xfrm>
          <a:prstGeom prst="rect">
            <a:avLst/>
          </a:prstGeom>
          <a:noFill/>
          <a:ln/>
        </p:spPr>
        <p:txBody>
          <a:bodyPr wrap="square" lIns="0" tIns="0" rIns="0" bIns="0" rtlCol="0" anchor="ctr"/>
          <a:lstStyle/>
          <a:p>
            <a:pPr indent="0" marL="0">
              <a:lnSpc>
                <a:spcPts val="1500"/>
              </a:lnSpc>
              <a:buNone/>
            </a:pPr>
            <a:r>
              <a:rPr lang="en-US" sz="1000" dirty="0">
                <a:solidFill>
                  <a:srgbClr val="5A554F"/>
                </a:solidFill>
                <a:latin typeface="맑은 고딕" pitchFamily="34" charset="0"/>
                <a:ea typeface="맑은 고딕" pitchFamily="34" charset="-122"/>
                <a:cs typeface="맑은 고딕" pitchFamily="34" charset="-120"/>
              </a:rPr>
              <a:t>관람은 이 순서를 거꾸로 올라온다: 물 → 올 → 사람</a:t>
            </a:r>
            <a:endParaRPr lang="en-US" sz="1000" dirty="0"/>
          </a:p>
        </p:txBody>
      </p:sp>
      <p:sp>
        <p:nvSpPr>
          <p:cNvPr id="17" name="Shape 15"/>
          <p:cNvSpPr/>
          <p:nvPr/>
        </p:nvSpPr>
        <p:spPr>
          <a:xfrm>
            <a:off x="3840480" y="3200400"/>
            <a:ext cx="502920" cy="384048"/>
          </a:xfrm>
          <a:prstGeom prst="rightArrow">
            <a:avLst/>
          </a:prstGeom>
          <a:solidFill>
            <a:srgbClr val="D8D4CE"/>
          </a:solidFill>
          <a:ln/>
        </p:spPr>
      </p:sp>
      <p:sp>
        <p:nvSpPr>
          <p:cNvPr id="18" name="Shape 16"/>
          <p:cNvSpPr/>
          <p:nvPr/>
        </p:nvSpPr>
        <p:spPr>
          <a:xfrm>
            <a:off x="4526280" y="2148840"/>
            <a:ext cx="2377440" cy="2487168"/>
          </a:xfrm>
          <a:prstGeom prst="rect">
            <a:avLst/>
          </a:prstGeom>
          <a:solidFill>
            <a:srgbClr val="1A1A1A"/>
          </a:solidFill>
          <a:ln/>
        </p:spPr>
      </p:sp>
      <p:sp>
        <p:nvSpPr>
          <p:cNvPr id="19" name="Text 17"/>
          <p:cNvSpPr/>
          <p:nvPr/>
        </p:nvSpPr>
        <p:spPr>
          <a:xfrm>
            <a:off x="4754880" y="2377440"/>
            <a:ext cx="1920240" cy="256032"/>
          </a:xfrm>
          <a:prstGeom prst="rect">
            <a:avLst/>
          </a:prstGeom>
          <a:noFill/>
          <a:ln/>
        </p:spPr>
        <p:txBody>
          <a:bodyPr wrap="square" lIns="0" tIns="0" rIns="0" bIns="0" rtlCol="0" anchor="ctr"/>
          <a:lstStyle/>
          <a:p>
            <a:pPr indent="0" marL="0">
              <a:buNone/>
            </a:pPr>
            <a:r>
              <a:rPr lang="en-US" sz="1050" dirty="0">
                <a:solidFill>
                  <a:srgbClr val="9A948C"/>
                </a:solidFill>
                <a:latin typeface="맑은 고딕" pitchFamily="34" charset="0"/>
                <a:ea typeface="맑은 고딕" pitchFamily="34" charset="-122"/>
                <a:cs typeface="맑은 고딕" pitchFamily="34" charset="-120"/>
              </a:rPr>
              <a:t>큐레토리얼 방법</a:t>
            </a:r>
            <a:endParaRPr lang="en-US" sz="1050" dirty="0"/>
          </a:p>
        </p:txBody>
      </p:sp>
      <p:sp>
        <p:nvSpPr>
          <p:cNvPr id="20" name="Text 18"/>
          <p:cNvSpPr/>
          <p:nvPr/>
        </p:nvSpPr>
        <p:spPr>
          <a:xfrm>
            <a:off x="4754880" y="2697480"/>
            <a:ext cx="1920240" cy="502920"/>
          </a:xfrm>
          <a:prstGeom prst="rect">
            <a:avLst/>
          </a:prstGeom>
          <a:noFill/>
          <a:ln/>
        </p:spPr>
        <p:txBody>
          <a:bodyPr wrap="square" lIns="0" tIns="0" rIns="0" bIns="0" rtlCol="0" anchor="ctr"/>
          <a:lstStyle/>
          <a:p>
            <a:pPr indent="0" marL="0">
              <a:buNone/>
            </a:pPr>
            <a:r>
              <a:rPr lang="en-US" sz="3000" b="1" spc="300" kern="0" dirty="0">
                <a:solidFill>
                  <a:srgbClr val="FFFFFF"/>
                </a:solidFill>
                <a:latin typeface="바탕" pitchFamily="34" charset="0"/>
                <a:ea typeface="바탕" pitchFamily="34" charset="-122"/>
                <a:cs typeface="바탕" pitchFamily="34" charset="-120"/>
              </a:rPr>
              <a:t>깁 기</a:t>
            </a:r>
            <a:endParaRPr lang="en-US" sz="3000" dirty="0"/>
          </a:p>
        </p:txBody>
      </p:sp>
      <p:sp>
        <p:nvSpPr>
          <p:cNvPr id="21" name="Text 19"/>
          <p:cNvSpPr/>
          <p:nvPr/>
        </p:nvSpPr>
        <p:spPr>
          <a:xfrm>
            <a:off x="4754880" y="3246120"/>
            <a:ext cx="1920240" cy="237744"/>
          </a:xfrm>
          <a:prstGeom prst="rect">
            <a:avLst/>
          </a:prstGeom>
          <a:noFill/>
          <a:ln/>
        </p:spPr>
        <p:txBody>
          <a:bodyPr wrap="square" lIns="0" tIns="0" rIns="0" bIns="0" rtlCol="0" anchor="ctr"/>
          <a:lstStyle/>
          <a:p>
            <a:pPr indent="0" marL="0">
              <a:buNone/>
            </a:pPr>
            <a:r>
              <a:rPr lang="en-US" sz="1000" i="1" spc="200" kern="0" dirty="0">
                <a:solidFill>
                  <a:srgbClr val="8D8A84"/>
                </a:solidFill>
                <a:latin typeface="Cambria" pitchFamily="34" charset="0"/>
                <a:ea typeface="Cambria" pitchFamily="34" charset="-122"/>
                <a:cs typeface="Cambria" pitchFamily="34" charset="-120"/>
              </a:rPr>
              <a:t>MENDING</a:t>
            </a:r>
            <a:endParaRPr lang="en-US" sz="1000" dirty="0"/>
          </a:p>
        </p:txBody>
      </p:sp>
      <p:sp>
        <p:nvSpPr>
          <p:cNvPr id="22" name="Text 20"/>
          <p:cNvSpPr/>
          <p:nvPr/>
        </p:nvSpPr>
        <p:spPr>
          <a:xfrm>
            <a:off x="4754880" y="3611880"/>
            <a:ext cx="1920240" cy="914400"/>
          </a:xfrm>
          <a:prstGeom prst="rect">
            <a:avLst/>
          </a:prstGeom>
          <a:noFill/>
          <a:ln/>
        </p:spPr>
        <p:txBody>
          <a:bodyPr wrap="square" lIns="0" tIns="0" rIns="0" bIns="0" rtlCol="0" anchor="ctr"/>
          <a:lstStyle/>
          <a:p>
            <a:pPr indent="0" marL="0">
              <a:lnSpc>
                <a:spcPts val="1600"/>
              </a:lnSpc>
              <a:buNone/>
            </a:pPr>
            <a:r>
              <a:rPr lang="en-US" sz="1050" dirty="0">
                <a:solidFill>
                  <a:srgbClr val="DCD6CC"/>
                </a:solidFill>
                <a:latin typeface="맑은 고딕" pitchFamily="34" charset="0"/>
                <a:ea typeface="맑은 고딕" pitchFamily="34" charset="-122"/>
                <a:cs typeface="맑은 고딕" pitchFamily="34" charset="-120"/>
              </a:rPr>
              <a:t>복원하지 않는다.</a:t>
            </a:r>
            <a:endParaRPr lang="en-US" sz="1050" dirty="0"/>
          </a:p>
          <a:p>
            <a:pPr indent="0" marL="0">
              <a:lnSpc>
                <a:spcPts val="1600"/>
              </a:lnSpc>
              <a:buNone/>
            </a:pPr>
            <a:r>
              <a:rPr lang="en-US" sz="1050" dirty="0">
                <a:solidFill>
                  <a:srgbClr val="DCD6CC"/>
                </a:solidFill>
                <a:latin typeface="맑은 고딕" pitchFamily="34" charset="0"/>
                <a:ea typeface="맑은 고딕" pitchFamily="34" charset="-122"/>
                <a:cs typeface="맑은 고딕" pitchFamily="34" charset="-120"/>
              </a:rPr>
              <a:t>지우지 않는다.</a:t>
            </a:r>
            <a:endParaRPr lang="en-US" sz="1050" dirty="0"/>
          </a:p>
          <a:p>
            <a:pPr indent="0" marL="0">
              <a:lnSpc>
                <a:spcPts val="1600"/>
              </a:lnSpc>
              <a:buNone/>
            </a:pPr>
            <a:r>
              <a:rPr lang="en-US" sz="1050" dirty="0">
                <a:solidFill>
                  <a:srgbClr val="DCD6CC"/>
                </a:solidFill>
                <a:latin typeface="맑은 고딕" pitchFamily="34" charset="0"/>
                <a:ea typeface="맑은 고딕" pitchFamily="34" charset="-122"/>
                <a:cs typeface="맑은 고딕" pitchFamily="34" charset="-120"/>
              </a:rPr>
              <a:t>헤진 자리에</a:t>
            </a:r>
            <a:endParaRPr lang="en-US" sz="1050" dirty="0"/>
          </a:p>
          <a:p>
            <a:pPr indent="0" marL="0">
              <a:lnSpc>
                <a:spcPts val="1600"/>
              </a:lnSpc>
              <a:buNone/>
            </a:pPr>
            <a:r>
              <a:rPr lang="en-US" sz="1050" dirty="0">
                <a:solidFill>
                  <a:srgbClr val="DCD6CC"/>
                </a:solidFill>
                <a:latin typeface="맑은 고딕" pitchFamily="34" charset="0"/>
                <a:ea typeface="맑은 고딕" pitchFamily="34" charset="-122"/>
                <a:cs typeface="맑은 고딕" pitchFamily="34" charset="-120"/>
              </a:rPr>
              <a:t>새 올을 대어 덧댄다.</a:t>
            </a:r>
            <a:endParaRPr lang="en-US" sz="1050" dirty="0"/>
          </a:p>
        </p:txBody>
      </p:sp>
      <p:sp>
        <p:nvSpPr>
          <p:cNvPr id="23" name="Text 21"/>
          <p:cNvSpPr/>
          <p:nvPr/>
        </p:nvSpPr>
        <p:spPr>
          <a:xfrm>
            <a:off x="4526280" y="4754880"/>
            <a:ext cx="2377440" cy="548640"/>
          </a:xfrm>
          <a:prstGeom prst="rect">
            <a:avLst/>
          </a:prstGeom>
          <a:noFill/>
          <a:ln/>
        </p:spPr>
        <p:txBody>
          <a:bodyPr wrap="square" lIns="0" tIns="0" rIns="0" bIns="0" rtlCol="0" anchor="ctr"/>
          <a:lstStyle/>
          <a:p>
            <a:pPr algn="ctr" indent="0" marL="0">
              <a:lnSpc>
                <a:spcPts val="1500"/>
              </a:lnSpc>
              <a:buNone/>
            </a:pPr>
            <a:r>
              <a:rPr lang="en-US" sz="950" dirty="0">
                <a:solidFill>
                  <a:srgbClr val="5A554F"/>
                </a:solidFill>
                <a:latin typeface="맑은 고딕" pitchFamily="34" charset="0"/>
                <a:ea typeface="맑은 고딕" pitchFamily="34" charset="-122"/>
                <a:cs typeface="맑은 고딕" pitchFamily="34" charset="-120"/>
              </a:rPr>
              <a:t>비인간 행위자 = 공동 저자</a:t>
            </a:r>
            <a:endParaRPr lang="en-US" sz="950" dirty="0"/>
          </a:p>
          <a:p>
            <a:pPr algn="ctr" indent="0" marL="0">
              <a:lnSpc>
                <a:spcPts val="1500"/>
              </a:lnSpc>
              <a:buNone/>
            </a:pPr>
            <a:r>
              <a:rPr lang="en-US" sz="950" dirty="0">
                <a:solidFill>
                  <a:srgbClr val="5A554F"/>
                </a:solidFill>
                <a:latin typeface="맑은 고딕" pitchFamily="34" charset="0"/>
                <a:ea typeface="맑은 고딕" pitchFamily="34" charset="-122"/>
                <a:cs typeface="맑은 고딕" pitchFamily="34" charset="-120"/>
              </a:rPr>
              <a:t>습기 · 결로 · 뒤틀림 · 빛의 각도</a:t>
            </a:r>
            <a:endParaRPr lang="en-US" sz="950" dirty="0"/>
          </a:p>
        </p:txBody>
      </p:sp>
      <p:sp>
        <p:nvSpPr>
          <p:cNvPr id="24" name="Shape 22"/>
          <p:cNvSpPr/>
          <p:nvPr/>
        </p:nvSpPr>
        <p:spPr>
          <a:xfrm>
            <a:off x="7086600" y="3200400"/>
            <a:ext cx="502920" cy="384048"/>
          </a:xfrm>
          <a:prstGeom prst="rightArrow">
            <a:avLst/>
          </a:prstGeom>
          <a:solidFill>
            <a:srgbClr val="D8D4CE"/>
          </a:solidFill>
          <a:ln/>
        </p:spPr>
      </p:sp>
      <p:sp>
        <p:nvSpPr>
          <p:cNvPr id="25" name="Text 23"/>
          <p:cNvSpPr/>
          <p:nvPr/>
        </p:nvSpPr>
        <p:spPr>
          <a:xfrm>
            <a:off x="7772400" y="1783080"/>
            <a:ext cx="3840480" cy="256032"/>
          </a:xfrm>
          <a:prstGeom prst="rect">
            <a:avLst/>
          </a:prstGeom>
          <a:noFill/>
          <a:ln/>
        </p:spPr>
        <p:txBody>
          <a:bodyPr wrap="square" lIns="0" tIns="0" rIns="0" bIns="0" rtlCol="0" anchor="ctr"/>
          <a:lstStyle/>
          <a:p>
            <a:pPr indent="0" marL="0">
              <a:buNone/>
            </a:pPr>
            <a:r>
              <a:rPr lang="en-US" sz="1100" b="1" dirty="0">
                <a:solidFill>
                  <a:srgbClr val="8A857E"/>
                </a:solidFill>
                <a:latin typeface="맑은 고딕" pitchFamily="34" charset="0"/>
                <a:ea typeface="맑은 고딕" pitchFamily="34" charset="-122"/>
                <a:cs typeface="맑은 고딕" pitchFamily="34" charset="-120"/>
              </a:rPr>
              <a:t>전시 구성 — 여덟 개의 방</a:t>
            </a:r>
            <a:endParaRPr lang="en-US" sz="1100" dirty="0"/>
          </a:p>
        </p:txBody>
      </p:sp>
      <p:sp>
        <p:nvSpPr>
          <p:cNvPr id="26" name="Shape 24"/>
          <p:cNvSpPr/>
          <p:nvPr/>
        </p:nvSpPr>
        <p:spPr>
          <a:xfrm>
            <a:off x="7772400" y="2148840"/>
            <a:ext cx="3840480" cy="429768"/>
          </a:xfrm>
          <a:prstGeom prst="rect">
            <a:avLst/>
          </a:prstGeom>
          <a:solidFill>
            <a:srgbClr val="FFFFFF"/>
          </a:solidFill>
          <a:ln w="9525">
            <a:solidFill>
              <a:srgbClr val="D8D4CE"/>
            </a:solidFill>
            <a:prstDash val="solid"/>
          </a:ln>
        </p:spPr>
      </p:sp>
      <p:sp>
        <p:nvSpPr>
          <p:cNvPr id="27" name="Shape 25"/>
          <p:cNvSpPr/>
          <p:nvPr/>
        </p:nvSpPr>
        <p:spPr>
          <a:xfrm>
            <a:off x="7882128" y="2221992"/>
            <a:ext cx="283464" cy="283464"/>
          </a:xfrm>
          <a:prstGeom prst="ellipse">
            <a:avLst/>
          </a:prstGeom>
          <a:solidFill>
            <a:srgbClr val="2F4858"/>
          </a:solidFill>
          <a:ln/>
        </p:spPr>
      </p:sp>
      <p:sp>
        <p:nvSpPr>
          <p:cNvPr id="28" name="Text 26"/>
          <p:cNvSpPr/>
          <p:nvPr/>
        </p:nvSpPr>
        <p:spPr>
          <a:xfrm>
            <a:off x="7882128" y="2221992"/>
            <a:ext cx="283464" cy="283464"/>
          </a:xfrm>
          <a:prstGeom prst="rect">
            <a:avLst/>
          </a:prstGeom>
          <a:noFill/>
          <a:ln/>
        </p:spPr>
        <p:txBody>
          <a:bodyPr wrap="square" lIns="0" tIns="0" rIns="0" bIns="0" rtlCol="0" anchor="ctr"/>
          <a:lstStyle/>
          <a:p>
            <a:pPr algn="ctr" indent="0" marL="0">
              <a:buNone/>
            </a:pPr>
            <a:r>
              <a:rPr lang="en-US" sz="1000" b="1" dirty="0">
                <a:solidFill>
                  <a:srgbClr val="FFFFFF"/>
                </a:solidFill>
                <a:latin typeface="맑은 고딕" pitchFamily="34" charset="0"/>
                <a:ea typeface="맑은 고딕" pitchFamily="34" charset="-122"/>
                <a:cs typeface="맑은 고딕" pitchFamily="34" charset="-120"/>
              </a:rPr>
              <a:t>①</a:t>
            </a:r>
            <a:endParaRPr lang="en-US" sz="1000" dirty="0"/>
          </a:p>
        </p:txBody>
      </p:sp>
      <p:sp>
        <p:nvSpPr>
          <p:cNvPr id="29" name="Text 27"/>
          <p:cNvSpPr/>
          <p:nvPr/>
        </p:nvSpPr>
        <p:spPr>
          <a:xfrm>
            <a:off x="8247888" y="2212848"/>
            <a:ext cx="1417320" cy="301752"/>
          </a:xfrm>
          <a:prstGeom prst="rect">
            <a:avLst/>
          </a:prstGeom>
          <a:noFill/>
          <a:ln/>
        </p:spPr>
        <p:txBody>
          <a:bodyPr wrap="square" lIns="0" tIns="0" rIns="0" bIns="0" rtlCol="0" anchor="ctr"/>
          <a:lstStyle/>
          <a:p>
            <a:pPr indent="0" marL="0">
              <a:buNone/>
            </a:pPr>
            <a:r>
              <a:rPr lang="en-US" sz="1100" b="1" dirty="0">
                <a:solidFill>
                  <a:srgbClr val="1A1A1A"/>
                </a:solidFill>
                <a:latin typeface="맑은 고딕" pitchFamily="34" charset="0"/>
                <a:ea typeface="맑은 고딕" pitchFamily="34" charset="-122"/>
                <a:cs typeface="맑은 고딕" pitchFamily="34" charset="-120"/>
              </a:rPr>
              <a:t>범내를 부르다</a:t>
            </a:r>
            <a:endParaRPr lang="en-US" sz="1100" dirty="0"/>
          </a:p>
        </p:txBody>
      </p:sp>
      <p:sp>
        <p:nvSpPr>
          <p:cNvPr id="30" name="Text 28"/>
          <p:cNvSpPr/>
          <p:nvPr/>
        </p:nvSpPr>
        <p:spPr>
          <a:xfrm>
            <a:off x="9692640" y="2212848"/>
            <a:ext cx="1828800" cy="301752"/>
          </a:xfrm>
          <a:prstGeom prst="rect">
            <a:avLst/>
          </a:prstGeom>
          <a:noFill/>
          <a:ln/>
        </p:spPr>
        <p:txBody>
          <a:bodyPr wrap="square" lIns="0" tIns="0" rIns="0" bIns="0" rtlCol="0" anchor="ctr"/>
          <a:lstStyle/>
          <a:p>
            <a:pPr algn="r" indent="0" marL="0">
              <a:buNone/>
            </a:pPr>
            <a:r>
              <a:rPr lang="en-US" sz="950" dirty="0">
                <a:solidFill>
                  <a:srgbClr val="6E6A65"/>
                </a:solidFill>
                <a:latin typeface="맑은 고딕" pitchFamily="34" charset="0"/>
                <a:ea typeface="맑은 고딕" pitchFamily="34" charset="-122"/>
                <a:cs typeface="맑은 고딕" pitchFamily="34" charset="-120"/>
              </a:rPr>
              <a:t>프롤로그 · 사운드</a:t>
            </a:r>
            <a:endParaRPr lang="en-US" sz="950" dirty="0"/>
          </a:p>
        </p:txBody>
      </p:sp>
      <p:sp>
        <p:nvSpPr>
          <p:cNvPr id="31" name="Shape 29"/>
          <p:cNvSpPr/>
          <p:nvPr/>
        </p:nvSpPr>
        <p:spPr>
          <a:xfrm>
            <a:off x="7772400" y="2647188"/>
            <a:ext cx="3840480" cy="429768"/>
          </a:xfrm>
          <a:prstGeom prst="rect">
            <a:avLst/>
          </a:prstGeom>
          <a:solidFill>
            <a:srgbClr val="FFFFFF"/>
          </a:solidFill>
          <a:ln w="9525">
            <a:solidFill>
              <a:srgbClr val="D8D4CE"/>
            </a:solidFill>
            <a:prstDash val="solid"/>
          </a:ln>
        </p:spPr>
      </p:sp>
      <p:sp>
        <p:nvSpPr>
          <p:cNvPr id="32" name="Shape 30"/>
          <p:cNvSpPr/>
          <p:nvPr/>
        </p:nvSpPr>
        <p:spPr>
          <a:xfrm>
            <a:off x="7882128" y="2720340"/>
            <a:ext cx="283464" cy="283464"/>
          </a:xfrm>
          <a:prstGeom prst="ellipse">
            <a:avLst/>
          </a:prstGeom>
          <a:solidFill>
            <a:srgbClr val="2F4858"/>
          </a:solidFill>
          <a:ln/>
        </p:spPr>
      </p:sp>
      <p:sp>
        <p:nvSpPr>
          <p:cNvPr id="33" name="Text 31"/>
          <p:cNvSpPr/>
          <p:nvPr/>
        </p:nvSpPr>
        <p:spPr>
          <a:xfrm>
            <a:off x="7882128" y="2720340"/>
            <a:ext cx="283464" cy="283464"/>
          </a:xfrm>
          <a:prstGeom prst="rect">
            <a:avLst/>
          </a:prstGeom>
          <a:noFill/>
          <a:ln/>
        </p:spPr>
        <p:txBody>
          <a:bodyPr wrap="square" lIns="0" tIns="0" rIns="0" bIns="0" rtlCol="0" anchor="ctr"/>
          <a:lstStyle/>
          <a:p>
            <a:pPr algn="ctr" indent="0" marL="0">
              <a:buNone/>
            </a:pPr>
            <a:r>
              <a:rPr lang="en-US" sz="1000" b="1" dirty="0">
                <a:solidFill>
                  <a:srgbClr val="FFFFFF"/>
                </a:solidFill>
                <a:latin typeface="맑은 고딕" pitchFamily="34" charset="0"/>
                <a:ea typeface="맑은 고딕" pitchFamily="34" charset="-122"/>
                <a:cs typeface="맑은 고딕" pitchFamily="34" charset="-120"/>
              </a:rPr>
              <a:t>③</a:t>
            </a:r>
            <a:endParaRPr lang="en-US" sz="1000" dirty="0"/>
          </a:p>
        </p:txBody>
      </p:sp>
      <p:sp>
        <p:nvSpPr>
          <p:cNvPr id="34" name="Text 32"/>
          <p:cNvSpPr/>
          <p:nvPr/>
        </p:nvSpPr>
        <p:spPr>
          <a:xfrm>
            <a:off x="8247888" y="2711196"/>
            <a:ext cx="1417320" cy="301752"/>
          </a:xfrm>
          <a:prstGeom prst="rect">
            <a:avLst/>
          </a:prstGeom>
          <a:noFill/>
          <a:ln/>
        </p:spPr>
        <p:txBody>
          <a:bodyPr wrap="square" lIns="0" tIns="0" rIns="0" bIns="0" rtlCol="0" anchor="ctr"/>
          <a:lstStyle/>
          <a:p>
            <a:pPr indent="0" marL="0">
              <a:buNone/>
            </a:pPr>
            <a:r>
              <a:rPr lang="en-US" sz="1100" b="1" dirty="0">
                <a:solidFill>
                  <a:srgbClr val="1A1A1A"/>
                </a:solidFill>
                <a:latin typeface="맑은 고딕" pitchFamily="34" charset="0"/>
                <a:ea typeface="맑은 고딕" pitchFamily="34" charset="-122"/>
                <a:cs typeface="맑은 고딕" pitchFamily="34" charset="-120"/>
              </a:rPr>
              <a:t>물의 방</a:t>
            </a:r>
            <a:endParaRPr lang="en-US" sz="1100" dirty="0"/>
          </a:p>
        </p:txBody>
      </p:sp>
      <p:sp>
        <p:nvSpPr>
          <p:cNvPr id="35" name="Text 33"/>
          <p:cNvSpPr/>
          <p:nvPr/>
        </p:nvSpPr>
        <p:spPr>
          <a:xfrm>
            <a:off x="9692640" y="2711196"/>
            <a:ext cx="1828800" cy="301752"/>
          </a:xfrm>
          <a:prstGeom prst="rect">
            <a:avLst/>
          </a:prstGeom>
          <a:noFill/>
          <a:ln/>
        </p:spPr>
        <p:txBody>
          <a:bodyPr wrap="square" lIns="0" tIns="0" rIns="0" bIns="0" rtlCol="0" anchor="ctr"/>
          <a:lstStyle/>
          <a:p>
            <a:pPr algn="r" indent="0" marL="0">
              <a:buNone/>
            </a:pPr>
            <a:r>
              <a:rPr lang="en-US" sz="950" dirty="0">
                <a:solidFill>
                  <a:srgbClr val="6E6A65"/>
                </a:solidFill>
                <a:latin typeface="맑은 고딕" pitchFamily="34" charset="0"/>
                <a:ea typeface="맑은 고딕" pitchFamily="34" charset="-122"/>
                <a:cs typeface="맑은 고딕" pitchFamily="34" charset="-120"/>
              </a:rPr>
              <a:t>욕조·세면대 설치</a:t>
            </a:r>
            <a:endParaRPr lang="en-US" sz="950" dirty="0"/>
          </a:p>
        </p:txBody>
      </p:sp>
      <p:sp>
        <p:nvSpPr>
          <p:cNvPr id="36" name="Shape 34"/>
          <p:cNvSpPr/>
          <p:nvPr/>
        </p:nvSpPr>
        <p:spPr>
          <a:xfrm>
            <a:off x="7772400" y="3145536"/>
            <a:ext cx="3840480" cy="429768"/>
          </a:xfrm>
          <a:prstGeom prst="rect">
            <a:avLst/>
          </a:prstGeom>
          <a:solidFill>
            <a:srgbClr val="FFFFFF"/>
          </a:solidFill>
          <a:ln w="9525">
            <a:solidFill>
              <a:srgbClr val="D8D4CE"/>
            </a:solidFill>
            <a:prstDash val="solid"/>
          </a:ln>
        </p:spPr>
      </p:sp>
      <p:sp>
        <p:nvSpPr>
          <p:cNvPr id="37" name="Shape 35"/>
          <p:cNvSpPr/>
          <p:nvPr/>
        </p:nvSpPr>
        <p:spPr>
          <a:xfrm>
            <a:off x="7882128" y="3218688"/>
            <a:ext cx="283464" cy="283464"/>
          </a:xfrm>
          <a:prstGeom prst="ellipse">
            <a:avLst/>
          </a:prstGeom>
          <a:solidFill>
            <a:srgbClr val="9C6B3C"/>
          </a:solidFill>
          <a:ln/>
        </p:spPr>
      </p:sp>
      <p:sp>
        <p:nvSpPr>
          <p:cNvPr id="38" name="Text 36"/>
          <p:cNvSpPr/>
          <p:nvPr/>
        </p:nvSpPr>
        <p:spPr>
          <a:xfrm>
            <a:off x="7882128" y="3218688"/>
            <a:ext cx="283464" cy="283464"/>
          </a:xfrm>
          <a:prstGeom prst="rect">
            <a:avLst/>
          </a:prstGeom>
          <a:noFill/>
          <a:ln/>
        </p:spPr>
        <p:txBody>
          <a:bodyPr wrap="square" lIns="0" tIns="0" rIns="0" bIns="0" rtlCol="0" anchor="ctr"/>
          <a:lstStyle/>
          <a:p>
            <a:pPr algn="ctr" indent="0" marL="0">
              <a:buNone/>
            </a:pPr>
            <a:r>
              <a:rPr lang="en-US" sz="1000" b="1" dirty="0">
                <a:solidFill>
                  <a:srgbClr val="FFFFFF"/>
                </a:solidFill>
                <a:latin typeface="맑은 고딕" pitchFamily="34" charset="0"/>
                <a:ea typeface="맑은 고딕" pitchFamily="34" charset="-122"/>
                <a:cs typeface="맑은 고딕" pitchFamily="34" charset="-120"/>
              </a:rPr>
              <a:t>④</a:t>
            </a:r>
            <a:endParaRPr lang="en-US" sz="1000" dirty="0"/>
          </a:p>
        </p:txBody>
      </p:sp>
      <p:sp>
        <p:nvSpPr>
          <p:cNvPr id="39" name="Text 37"/>
          <p:cNvSpPr/>
          <p:nvPr/>
        </p:nvSpPr>
        <p:spPr>
          <a:xfrm>
            <a:off x="8247888" y="3209544"/>
            <a:ext cx="1417320" cy="301752"/>
          </a:xfrm>
          <a:prstGeom prst="rect">
            <a:avLst/>
          </a:prstGeom>
          <a:noFill/>
          <a:ln/>
        </p:spPr>
        <p:txBody>
          <a:bodyPr wrap="square" lIns="0" tIns="0" rIns="0" bIns="0" rtlCol="0" anchor="ctr"/>
          <a:lstStyle/>
          <a:p>
            <a:pPr indent="0" marL="0">
              <a:buNone/>
            </a:pPr>
            <a:r>
              <a:rPr lang="en-US" sz="1100" b="1" dirty="0">
                <a:solidFill>
                  <a:srgbClr val="1A1A1A"/>
                </a:solidFill>
                <a:latin typeface="맑은 고딕" pitchFamily="34" charset="0"/>
                <a:ea typeface="맑은 고딕" pitchFamily="34" charset="-122"/>
                <a:cs typeface="맑은 고딕" pitchFamily="34" charset="-120"/>
              </a:rPr>
              <a:t>올의 방</a:t>
            </a:r>
            <a:endParaRPr lang="en-US" sz="1100" dirty="0"/>
          </a:p>
        </p:txBody>
      </p:sp>
      <p:sp>
        <p:nvSpPr>
          <p:cNvPr id="40" name="Text 38"/>
          <p:cNvSpPr/>
          <p:nvPr/>
        </p:nvSpPr>
        <p:spPr>
          <a:xfrm>
            <a:off x="9692640" y="3209544"/>
            <a:ext cx="1828800" cy="301752"/>
          </a:xfrm>
          <a:prstGeom prst="rect">
            <a:avLst/>
          </a:prstGeom>
          <a:noFill/>
          <a:ln/>
        </p:spPr>
        <p:txBody>
          <a:bodyPr wrap="square" lIns="0" tIns="0" rIns="0" bIns="0" rtlCol="0" anchor="ctr"/>
          <a:lstStyle/>
          <a:p>
            <a:pPr algn="r" indent="0" marL="0">
              <a:buNone/>
            </a:pPr>
            <a:r>
              <a:rPr lang="en-US" sz="950" dirty="0">
                <a:solidFill>
                  <a:srgbClr val="6E6A65"/>
                </a:solidFill>
                <a:latin typeface="맑은 고딕" pitchFamily="34" charset="0"/>
                <a:ea typeface="맑은 고딕" pitchFamily="34" charset="-122"/>
                <a:cs typeface="맑은 고딕" pitchFamily="34" charset="-120"/>
              </a:rPr>
              <a:t>자투리 원단 직조</a:t>
            </a:r>
            <a:endParaRPr lang="en-US" sz="950" dirty="0"/>
          </a:p>
        </p:txBody>
      </p:sp>
      <p:sp>
        <p:nvSpPr>
          <p:cNvPr id="41" name="Shape 39"/>
          <p:cNvSpPr/>
          <p:nvPr/>
        </p:nvSpPr>
        <p:spPr>
          <a:xfrm>
            <a:off x="7772400" y="3643884"/>
            <a:ext cx="3840480" cy="429768"/>
          </a:xfrm>
          <a:prstGeom prst="rect">
            <a:avLst/>
          </a:prstGeom>
          <a:solidFill>
            <a:srgbClr val="FFFFFF"/>
          </a:solidFill>
          <a:ln w="9525">
            <a:solidFill>
              <a:srgbClr val="D8D4CE"/>
            </a:solidFill>
            <a:prstDash val="solid"/>
          </a:ln>
        </p:spPr>
      </p:sp>
      <p:sp>
        <p:nvSpPr>
          <p:cNvPr id="42" name="Shape 40"/>
          <p:cNvSpPr/>
          <p:nvPr/>
        </p:nvSpPr>
        <p:spPr>
          <a:xfrm>
            <a:off x="7882128" y="3717036"/>
            <a:ext cx="283464" cy="283464"/>
          </a:xfrm>
          <a:prstGeom prst="ellipse">
            <a:avLst/>
          </a:prstGeom>
          <a:solidFill>
            <a:srgbClr val="9C6B3C"/>
          </a:solidFill>
          <a:ln/>
        </p:spPr>
      </p:sp>
      <p:sp>
        <p:nvSpPr>
          <p:cNvPr id="43" name="Text 41"/>
          <p:cNvSpPr/>
          <p:nvPr/>
        </p:nvSpPr>
        <p:spPr>
          <a:xfrm>
            <a:off x="7882128" y="3717036"/>
            <a:ext cx="283464" cy="283464"/>
          </a:xfrm>
          <a:prstGeom prst="rect">
            <a:avLst/>
          </a:prstGeom>
          <a:noFill/>
          <a:ln/>
        </p:spPr>
        <p:txBody>
          <a:bodyPr wrap="square" lIns="0" tIns="0" rIns="0" bIns="0" rtlCol="0" anchor="ctr"/>
          <a:lstStyle/>
          <a:p>
            <a:pPr algn="ctr" indent="0" marL="0">
              <a:buNone/>
            </a:pPr>
            <a:r>
              <a:rPr lang="en-US" sz="1000" b="1" dirty="0">
                <a:solidFill>
                  <a:srgbClr val="FFFFFF"/>
                </a:solidFill>
                <a:latin typeface="맑은 고딕" pitchFamily="34" charset="0"/>
                <a:ea typeface="맑은 고딕" pitchFamily="34" charset="-122"/>
                <a:cs typeface="맑은 고딕" pitchFamily="34" charset="-120"/>
              </a:rPr>
              <a:t>⑤</a:t>
            </a:r>
            <a:endParaRPr lang="en-US" sz="1000" dirty="0"/>
          </a:p>
        </p:txBody>
      </p:sp>
      <p:sp>
        <p:nvSpPr>
          <p:cNvPr id="44" name="Text 42"/>
          <p:cNvSpPr/>
          <p:nvPr/>
        </p:nvSpPr>
        <p:spPr>
          <a:xfrm>
            <a:off x="8247888" y="3707892"/>
            <a:ext cx="1417320" cy="301752"/>
          </a:xfrm>
          <a:prstGeom prst="rect">
            <a:avLst/>
          </a:prstGeom>
          <a:noFill/>
          <a:ln/>
        </p:spPr>
        <p:txBody>
          <a:bodyPr wrap="square" lIns="0" tIns="0" rIns="0" bIns="0" rtlCol="0" anchor="ctr"/>
          <a:lstStyle/>
          <a:p>
            <a:pPr indent="0" marL="0">
              <a:buNone/>
            </a:pPr>
            <a:r>
              <a:rPr lang="en-US" sz="1100" b="1" dirty="0">
                <a:solidFill>
                  <a:srgbClr val="1A1A1A"/>
                </a:solidFill>
                <a:latin typeface="맑은 고딕" pitchFamily="34" charset="0"/>
                <a:ea typeface="맑은 고딕" pitchFamily="34" charset="-122"/>
                <a:cs typeface="맑은 고딕" pitchFamily="34" charset="-120"/>
              </a:rPr>
              <a:t>직조된 도시</a:t>
            </a:r>
            <a:endParaRPr lang="en-US" sz="1100" dirty="0"/>
          </a:p>
        </p:txBody>
      </p:sp>
      <p:sp>
        <p:nvSpPr>
          <p:cNvPr id="45" name="Text 43"/>
          <p:cNvSpPr/>
          <p:nvPr/>
        </p:nvSpPr>
        <p:spPr>
          <a:xfrm>
            <a:off x="9692640" y="3707892"/>
            <a:ext cx="1828800" cy="301752"/>
          </a:xfrm>
          <a:prstGeom prst="rect">
            <a:avLst/>
          </a:prstGeom>
          <a:noFill/>
          <a:ln/>
        </p:spPr>
        <p:txBody>
          <a:bodyPr wrap="square" lIns="0" tIns="0" rIns="0" bIns="0" rtlCol="0" anchor="ctr"/>
          <a:lstStyle/>
          <a:p>
            <a:pPr algn="r" indent="0" marL="0">
              <a:buNone/>
            </a:pPr>
            <a:r>
              <a:rPr lang="en-US" sz="950" dirty="0">
                <a:solidFill>
                  <a:srgbClr val="6E6A65"/>
                </a:solidFill>
                <a:latin typeface="맑은 고딕" pitchFamily="34" charset="0"/>
                <a:ea typeface="맑은 고딕" pitchFamily="34" charset="-122"/>
                <a:cs typeface="맑은 고딕" pitchFamily="34" charset="-120"/>
              </a:rPr>
              <a:t>메인홀 · 미디어</a:t>
            </a:r>
            <a:endParaRPr lang="en-US" sz="950" dirty="0"/>
          </a:p>
        </p:txBody>
      </p:sp>
      <p:sp>
        <p:nvSpPr>
          <p:cNvPr id="46" name="Shape 44"/>
          <p:cNvSpPr/>
          <p:nvPr/>
        </p:nvSpPr>
        <p:spPr>
          <a:xfrm>
            <a:off x="7772400" y="4142232"/>
            <a:ext cx="3840480" cy="429768"/>
          </a:xfrm>
          <a:prstGeom prst="rect">
            <a:avLst/>
          </a:prstGeom>
          <a:solidFill>
            <a:srgbClr val="FFFFFF"/>
          </a:solidFill>
          <a:ln w="9525">
            <a:solidFill>
              <a:srgbClr val="D8D4CE"/>
            </a:solidFill>
            <a:prstDash val="solid"/>
          </a:ln>
        </p:spPr>
      </p:sp>
      <p:sp>
        <p:nvSpPr>
          <p:cNvPr id="47" name="Shape 45"/>
          <p:cNvSpPr/>
          <p:nvPr/>
        </p:nvSpPr>
        <p:spPr>
          <a:xfrm>
            <a:off x="7882128" y="4215384"/>
            <a:ext cx="283464" cy="283464"/>
          </a:xfrm>
          <a:prstGeom prst="ellipse">
            <a:avLst/>
          </a:prstGeom>
          <a:solidFill>
            <a:srgbClr val="7A4A45"/>
          </a:solidFill>
          <a:ln/>
        </p:spPr>
      </p:sp>
      <p:sp>
        <p:nvSpPr>
          <p:cNvPr id="48" name="Text 46"/>
          <p:cNvSpPr/>
          <p:nvPr/>
        </p:nvSpPr>
        <p:spPr>
          <a:xfrm>
            <a:off x="7882128" y="4215384"/>
            <a:ext cx="283464" cy="283464"/>
          </a:xfrm>
          <a:prstGeom prst="rect">
            <a:avLst/>
          </a:prstGeom>
          <a:noFill/>
          <a:ln/>
        </p:spPr>
        <p:txBody>
          <a:bodyPr wrap="square" lIns="0" tIns="0" rIns="0" bIns="0" rtlCol="0" anchor="ctr"/>
          <a:lstStyle/>
          <a:p>
            <a:pPr algn="ctr" indent="0" marL="0">
              <a:buNone/>
            </a:pPr>
            <a:r>
              <a:rPr lang="en-US" sz="1000" b="1" dirty="0">
                <a:solidFill>
                  <a:srgbClr val="FFFFFF"/>
                </a:solidFill>
                <a:latin typeface="맑은 고딕" pitchFamily="34" charset="0"/>
                <a:ea typeface="맑은 고딕" pitchFamily="34" charset="-122"/>
                <a:cs typeface="맑은 고딕" pitchFamily="34" charset="-120"/>
              </a:rPr>
              <a:t>⑥</a:t>
            </a:r>
            <a:endParaRPr lang="en-US" sz="1000" dirty="0"/>
          </a:p>
        </p:txBody>
      </p:sp>
      <p:sp>
        <p:nvSpPr>
          <p:cNvPr id="49" name="Text 47"/>
          <p:cNvSpPr/>
          <p:nvPr/>
        </p:nvSpPr>
        <p:spPr>
          <a:xfrm>
            <a:off x="8247888" y="4206240"/>
            <a:ext cx="1417320" cy="301752"/>
          </a:xfrm>
          <a:prstGeom prst="rect">
            <a:avLst/>
          </a:prstGeom>
          <a:noFill/>
          <a:ln/>
        </p:spPr>
        <p:txBody>
          <a:bodyPr wrap="square" lIns="0" tIns="0" rIns="0" bIns="0" rtlCol="0" anchor="ctr"/>
          <a:lstStyle/>
          <a:p>
            <a:pPr indent="0" marL="0">
              <a:buNone/>
            </a:pPr>
            <a:r>
              <a:rPr lang="en-US" sz="1100" b="1" dirty="0">
                <a:solidFill>
                  <a:srgbClr val="1A1A1A"/>
                </a:solidFill>
                <a:latin typeface="맑은 고딕" pitchFamily="34" charset="0"/>
                <a:ea typeface="맑은 고딕" pitchFamily="34" charset="-122"/>
                <a:cs typeface="맑은 고딕" pitchFamily="34" charset="-120"/>
              </a:rPr>
              <a:t>창살 너머</a:t>
            </a:r>
            <a:endParaRPr lang="en-US" sz="1100" dirty="0"/>
          </a:p>
        </p:txBody>
      </p:sp>
      <p:sp>
        <p:nvSpPr>
          <p:cNvPr id="50" name="Text 48"/>
          <p:cNvSpPr/>
          <p:nvPr/>
        </p:nvSpPr>
        <p:spPr>
          <a:xfrm>
            <a:off x="9692640" y="4206240"/>
            <a:ext cx="1828800" cy="301752"/>
          </a:xfrm>
          <a:prstGeom prst="rect">
            <a:avLst/>
          </a:prstGeom>
          <a:noFill/>
          <a:ln/>
        </p:spPr>
        <p:txBody>
          <a:bodyPr wrap="square" lIns="0" tIns="0" rIns="0" bIns="0" rtlCol="0" anchor="ctr"/>
          <a:lstStyle/>
          <a:p>
            <a:pPr algn="r" indent="0" marL="0">
              <a:buNone/>
            </a:pPr>
            <a:r>
              <a:rPr lang="en-US" sz="950" dirty="0">
                <a:solidFill>
                  <a:srgbClr val="6E6A65"/>
                </a:solidFill>
                <a:latin typeface="맑은 고딕" pitchFamily="34" charset="0"/>
                <a:ea typeface="맑은 고딕" pitchFamily="34" charset="-122"/>
                <a:cs typeface="맑은 고딕" pitchFamily="34" charset="-120"/>
              </a:rPr>
              <a:t>사진·회화</a:t>
            </a:r>
            <a:endParaRPr lang="en-US" sz="950" dirty="0"/>
          </a:p>
        </p:txBody>
      </p:sp>
      <p:sp>
        <p:nvSpPr>
          <p:cNvPr id="51" name="Shape 49"/>
          <p:cNvSpPr/>
          <p:nvPr/>
        </p:nvSpPr>
        <p:spPr>
          <a:xfrm>
            <a:off x="7772400" y="4640580"/>
            <a:ext cx="3840480" cy="429768"/>
          </a:xfrm>
          <a:prstGeom prst="rect">
            <a:avLst/>
          </a:prstGeom>
          <a:solidFill>
            <a:srgbClr val="FFFFFF"/>
          </a:solidFill>
          <a:ln w="9525">
            <a:solidFill>
              <a:srgbClr val="D8D4CE"/>
            </a:solidFill>
            <a:prstDash val="solid"/>
          </a:ln>
        </p:spPr>
      </p:sp>
      <p:sp>
        <p:nvSpPr>
          <p:cNvPr id="52" name="Shape 50"/>
          <p:cNvSpPr/>
          <p:nvPr/>
        </p:nvSpPr>
        <p:spPr>
          <a:xfrm>
            <a:off x="7882128" y="4713732"/>
            <a:ext cx="283464" cy="283464"/>
          </a:xfrm>
          <a:prstGeom prst="ellipse">
            <a:avLst/>
          </a:prstGeom>
          <a:solidFill>
            <a:srgbClr val="7A4A45"/>
          </a:solidFill>
          <a:ln/>
        </p:spPr>
      </p:sp>
      <p:sp>
        <p:nvSpPr>
          <p:cNvPr id="53" name="Text 51"/>
          <p:cNvSpPr/>
          <p:nvPr/>
        </p:nvSpPr>
        <p:spPr>
          <a:xfrm>
            <a:off x="7882128" y="4713732"/>
            <a:ext cx="283464" cy="283464"/>
          </a:xfrm>
          <a:prstGeom prst="rect">
            <a:avLst/>
          </a:prstGeom>
          <a:noFill/>
          <a:ln/>
        </p:spPr>
        <p:txBody>
          <a:bodyPr wrap="square" lIns="0" tIns="0" rIns="0" bIns="0" rtlCol="0" anchor="ctr"/>
          <a:lstStyle/>
          <a:p>
            <a:pPr algn="ctr" indent="0" marL="0">
              <a:buNone/>
            </a:pPr>
            <a:r>
              <a:rPr lang="en-US" sz="1000" b="1" dirty="0">
                <a:solidFill>
                  <a:srgbClr val="FFFFFF"/>
                </a:solidFill>
                <a:latin typeface="맑은 고딕" pitchFamily="34" charset="0"/>
                <a:ea typeface="맑은 고딕" pitchFamily="34" charset="-122"/>
                <a:cs typeface="맑은 고딕" pitchFamily="34" charset="-120"/>
              </a:rPr>
              <a:t>⑦</a:t>
            </a:r>
            <a:endParaRPr lang="en-US" sz="1000" dirty="0"/>
          </a:p>
        </p:txBody>
      </p:sp>
      <p:sp>
        <p:nvSpPr>
          <p:cNvPr id="54" name="Text 52"/>
          <p:cNvSpPr/>
          <p:nvPr/>
        </p:nvSpPr>
        <p:spPr>
          <a:xfrm>
            <a:off x="8247888" y="4704588"/>
            <a:ext cx="1417320" cy="301752"/>
          </a:xfrm>
          <a:prstGeom prst="rect">
            <a:avLst/>
          </a:prstGeom>
          <a:noFill/>
          <a:ln/>
        </p:spPr>
        <p:txBody>
          <a:bodyPr wrap="square" lIns="0" tIns="0" rIns="0" bIns="0" rtlCol="0" anchor="ctr"/>
          <a:lstStyle/>
          <a:p>
            <a:pPr indent="0" marL="0">
              <a:buNone/>
            </a:pPr>
            <a:r>
              <a:rPr lang="en-US" sz="1100" b="1" dirty="0">
                <a:solidFill>
                  <a:srgbClr val="1A1A1A"/>
                </a:solidFill>
                <a:latin typeface="맑은 고딕" pitchFamily="34" charset="0"/>
                <a:ea typeface="맑은 고딕" pitchFamily="34" charset="-122"/>
                <a:cs typeface="맑은 고딕" pitchFamily="34" charset="-120"/>
              </a:rPr>
              <a:t>덧대는 방</a:t>
            </a:r>
            <a:endParaRPr lang="en-US" sz="1100" dirty="0"/>
          </a:p>
        </p:txBody>
      </p:sp>
      <p:sp>
        <p:nvSpPr>
          <p:cNvPr id="55" name="Text 53"/>
          <p:cNvSpPr/>
          <p:nvPr/>
        </p:nvSpPr>
        <p:spPr>
          <a:xfrm>
            <a:off x="9692640" y="4704588"/>
            <a:ext cx="1828800" cy="301752"/>
          </a:xfrm>
          <a:prstGeom prst="rect">
            <a:avLst/>
          </a:prstGeom>
          <a:noFill/>
          <a:ln/>
        </p:spPr>
        <p:txBody>
          <a:bodyPr wrap="square" lIns="0" tIns="0" rIns="0" bIns="0" rtlCol="0" anchor="ctr"/>
          <a:lstStyle/>
          <a:p>
            <a:pPr algn="r" indent="0" marL="0">
              <a:buNone/>
            </a:pPr>
            <a:r>
              <a:rPr lang="en-US" sz="950" dirty="0">
                <a:solidFill>
                  <a:srgbClr val="6E6A65"/>
                </a:solidFill>
                <a:latin typeface="맑은 고딕" pitchFamily="34" charset="0"/>
                <a:ea typeface="맑은 고딕" pitchFamily="34" charset="-122"/>
                <a:cs typeface="맑은 고딕" pitchFamily="34" charset="-120"/>
              </a:rPr>
              <a:t>주민 참여 드로잉</a:t>
            </a:r>
            <a:endParaRPr lang="en-US" sz="950" dirty="0"/>
          </a:p>
        </p:txBody>
      </p:sp>
      <p:sp>
        <p:nvSpPr>
          <p:cNvPr id="56" name="Shape 54"/>
          <p:cNvSpPr/>
          <p:nvPr/>
        </p:nvSpPr>
        <p:spPr>
          <a:xfrm>
            <a:off x="7772400" y="5138928"/>
            <a:ext cx="3840480" cy="429768"/>
          </a:xfrm>
          <a:prstGeom prst="rect">
            <a:avLst/>
          </a:prstGeom>
          <a:solidFill>
            <a:srgbClr val="FFFFFF"/>
          </a:solidFill>
          <a:ln w="9525">
            <a:solidFill>
              <a:srgbClr val="D8D4CE"/>
            </a:solidFill>
            <a:prstDash val="solid"/>
          </a:ln>
        </p:spPr>
      </p:sp>
      <p:sp>
        <p:nvSpPr>
          <p:cNvPr id="57" name="Shape 55"/>
          <p:cNvSpPr/>
          <p:nvPr/>
        </p:nvSpPr>
        <p:spPr>
          <a:xfrm>
            <a:off x="7882128" y="5212080"/>
            <a:ext cx="283464" cy="283464"/>
          </a:xfrm>
          <a:prstGeom prst="ellipse">
            <a:avLst/>
          </a:prstGeom>
          <a:solidFill>
            <a:srgbClr val="7A4A45"/>
          </a:solidFill>
          <a:ln/>
        </p:spPr>
      </p:sp>
      <p:sp>
        <p:nvSpPr>
          <p:cNvPr id="58" name="Text 56"/>
          <p:cNvSpPr/>
          <p:nvPr/>
        </p:nvSpPr>
        <p:spPr>
          <a:xfrm>
            <a:off x="7882128" y="5212080"/>
            <a:ext cx="283464" cy="283464"/>
          </a:xfrm>
          <a:prstGeom prst="rect">
            <a:avLst/>
          </a:prstGeom>
          <a:noFill/>
          <a:ln/>
        </p:spPr>
        <p:txBody>
          <a:bodyPr wrap="square" lIns="0" tIns="0" rIns="0" bIns="0" rtlCol="0" anchor="ctr"/>
          <a:lstStyle/>
          <a:p>
            <a:pPr algn="ctr" indent="0" marL="0">
              <a:buNone/>
            </a:pPr>
            <a:r>
              <a:rPr lang="en-US" sz="1000" b="1" dirty="0">
                <a:solidFill>
                  <a:srgbClr val="FFFFFF"/>
                </a:solidFill>
                <a:latin typeface="맑은 고딕" pitchFamily="34" charset="0"/>
                <a:ea typeface="맑은 고딕" pitchFamily="34" charset="-122"/>
                <a:cs typeface="맑은 고딕" pitchFamily="34" charset="-120"/>
              </a:rPr>
              <a:t>⑧</a:t>
            </a:r>
            <a:endParaRPr lang="en-US" sz="1000" dirty="0"/>
          </a:p>
        </p:txBody>
      </p:sp>
      <p:sp>
        <p:nvSpPr>
          <p:cNvPr id="59" name="Text 57"/>
          <p:cNvSpPr/>
          <p:nvPr/>
        </p:nvSpPr>
        <p:spPr>
          <a:xfrm>
            <a:off x="8247888" y="5202936"/>
            <a:ext cx="1417320" cy="301752"/>
          </a:xfrm>
          <a:prstGeom prst="rect">
            <a:avLst/>
          </a:prstGeom>
          <a:noFill/>
          <a:ln/>
        </p:spPr>
        <p:txBody>
          <a:bodyPr wrap="square" lIns="0" tIns="0" rIns="0" bIns="0" rtlCol="0" anchor="ctr"/>
          <a:lstStyle/>
          <a:p>
            <a:pPr indent="0" marL="0">
              <a:buNone/>
            </a:pPr>
            <a:r>
              <a:rPr lang="en-US" sz="1100" b="1" dirty="0">
                <a:solidFill>
                  <a:srgbClr val="1A1A1A"/>
                </a:solidFill>
                <a:latin typeface="맑은 고딕" pitchFamily="34" charset="0"/>
                <a:ea typeface="맑은 고딕" pitchFamily="34" charset="-122"/>
                <a:cs typeface="맑은 고딕" pitchFamily="34" charset="-120"/>
              </a:rPr>
              <a:t>불의 자리</a:t>
            </a:r>
            <a:endParaRPr lang="en-US" sz="1100" dirty="0"/>
          </a:p>
        </p:txBody>
      </p:sp>
      <p:sp>
        <p:nvSpPr>
          <p:cNvPr id="60" name="Text 58"/>
          <p:cNvSpPr/>
          <p:nvPr/>
        </p:nvSpPr>
        <p:spPr>
          <a:xfrm>
            <a:off x="9692640" y="5202936"/>
            <a:ext cx="1828800" cy="301752"/>
          </a:xfrm>
          <a:prstGeom prst="rect">
            <a:avLst/>
          </a:prstGeom>
          <a:noFill/>
          <a:ln/>
        </p:spPr>
        <p:txBody>
          <a:bodyPr wrap="square" lIns="0" tIns="0" rIns="0" bIns="0" rtlCol="0" anchor="ctr"/>
          <a:lstStyle/>
          <a:p>
            <a:pPr algn="r" indent="0" marL="0">
              <a:buNone/>
            </a:pPr>
            <a:r>
              <a:rPr lang="en-US" sz="950" dirty="0">
                <a:solidFill>
                  <a:srgbClr val="6E6A65"/>
                </a:solidFill>
                <a:latin typeface="맑은 고딕" pitchFamily="34" charset="0"/>
                <a:ea typeface="맑은 고딕" pitchFamily="34" charset="-122"/>
                <a:cs typeface="맑은 고딕" pitchFamily="34" charset="-120"/>
              </a:rPr>
              <a:t>에필로그 · 커뮤니티</a:t>
            </a:r>
            <a:endParaRPr lang="en-US" sz="950" dirty="0"/>
          </a:p>
        </p:txBody>
      </p:sp>
      <p:sp>
        <p:nvSpPr>
          <p:cNvPr id="61" name="Shape 59"/>
          <p:cNvSpPr/>
          <p:nvPr/>
        </p:nvSpPr>
        <p:spPr>
          <a:xfrm>
            <a:off x="7772400" y="5637276"/>
            <a:ext cx="3840480" cy="429768"/>
          </a:xfrm>
          <a:prstGeom prst="rect">
            <a:avLst/>
          </a:prstGeom>
          <a:solidFill>
            <a:srgbClr val="F3F1ED"/>
          </a:solidFill>
          <a:ln w="9525">
            <a:solidFill>
              <a:srgbClr val="D8D4CE"/>
            </a:solidFill>
            <a:prstDash val="solid"/>
          </a:ln>
        </p:spPr>
      </p:sp>
      <p:sp>
        <p:nvSpPr>
          <p:cNvPr id="62" name="Shape 60"/>
          <p:cNvSpPr/>
          <p:nvPr/>
        </p:nvSpPr>
        <p:spPr>
          <a:xfrm>
            <a:off x="7882128" y="5710428"/>
            <a:ext cx="283464" cy="283464"/>
          </a:xfrm>
          <a:prstGeom prst="ellipse">
            <a:avLst/>
          </a:prstGeom>
          <a:solidFill>
            <a:srgbClr val="4A4A4A"/>
          </a:solidFill>
          <a:ln/>
        </p:spPr>
      </p:sp>
      <p:sp>
        <p:nvSpPr>
          <p:cNvPr id="63" name="Text 61"/>
          <p:cNvSpPr/>
          <p:nvPr/>
        </p:nvSpPr>
        <p:spPr>
          <a:xfrm>
            <a:off x="7882128" y="5710428"/>
            <a:ext cx="283464" cy="283464"/>
          </a:xfrm>
          <a:prstGeom prst="rect">
            <a:avLst/>
          </a:prstGeom>
          <a:noFill/>
          <a:ln/>
        </p:spPr>
        <p:txBody>
          <a:bodyPr wrap="square" lIns="0" tIns="0" rIns="0" bIns="0" rtlCol="0" anchor="ctr"/>
          <a:lstStyle/>
          <a:p>
            <a:pPr algn="ctr" indent="0" marL="0">
              <a:buNone/>
            </a:pPr>
            <a:r>
              <a:rPr lang="en-US" sz="1000" b="1" dirty="0">
                <a:solidFill>
                  <a:srgbClr val="FFFFFF"/>
                </a:solidFill>
                <a:latin typeface="맑은 고딕" pitchFamily="34" charset="0"/>
                <a:ea typeface="맑은 고딕" pitchFamily="34" charset="-122"/>
                <a:cs typeface="맑은 고딕" pitchFamily="34" charset="-120"/>
              </a:rPr>
              <a:t>②</a:t>
            </a:r>
            <a:endParaRPr lang="en-US" sz="1000" dirty="0"/>
          </a:p>
        </p:txBody>
      </p:sp>
      <p:sp>
        <p:nvSpPr>
          <p:cNvPr id="64" name="Text 62"/>
          <p:cNvSpPr/>
          <p:nvPr/>
        </p:nvSpPr>
        <p:spPr>
          <a:xfrm>
            <a:off x="8247888" y="5701284"/>
            <a:ext cx="1417320" cy="301752"/>
          </a:xfrm>
          <a:prstGeom prst="rect">
            <a:avLst/>
          </a:prstGeom>
          <a:noFill/>
          <a:ln/>
        </p:spPr>
        <p:txBody>
          <a:bodyPr wrap="square" lIns="0" tIns="0" rIns="0" bIns="0" rtlCol="0" anchor="ctr"/>
          <a:lstStyle/>
          <a:p>
            <a:pPr indent="0" marL="0">
              <a:buNone/>
            </a:pPr>
            <a:r>
              <a:rPr lang="en-US" sz="1100" b="1" dirty="0">
                <a:solidFill>
                  <a:srgbClr val="1A1A1A"/>
                </a:solidFill>
                <a:latin typeface="맑은 고딕" pitchFamily="34" charset="0"/>
                <a:ea typeface="맑은 고딕" pitchFamily="34" charset="-122"/>
                <a:cs typeface="맑은 고딕" pitchFamily="34" charset="-120"/>
              </a:rPr>
              <a:t>지층 열람실</a:t>
            </a:r>
            <a:endParaRPr lang="en-US" sz="1100" dirty="0"/>
          </a:p>
        </p:txBody>
      </p:sp>
      <p:sp>
        <p:nvSpPr>
          <p:cNvPr id="65" name="Text 63"/>
          <p:cNvSpPr/>
          <p:nvPr/>
        </p:nvSpPr>
        <p:spPr>
          <a:xfrm>
            <a:off x="9692640" y="5701284"/>
            <a:ext cx="1828800" cy="301752"/>
          </a:xfrm>
          <a:prstGeom prst="rect">
            <a:avLst/>
          </a:prstGeom>
          <a:noFill/>
          <a:ln/>
        </p:spPr>
        <p:txBody>
          <a:bodyPr wrap="square" lIns="0" tIns="0" rIns="0" bIns="0" rtlCol="0" anchor="ctr"/>
          <a:lstStyle/>
          <a:p>
            <a:pPr algn="r" indent="0" marL="0">
              <a:buNone/>
            </a:pPr>
            <a:r>
              <a:rPr lang="en-US" sz="950" dirty="0">
                <a:solidFill>
                  <a:srgbClr val="6E6A65"/>
                </a:solidFill>
                <a:latin typeface="맑은 고딕" pitchFamily="34" charset="0"/>
                <a:ea typeface="맑은 고딕" pitchFamily="34" charset="-122"/>
                <a:cs typeface="맑은 고딕" pitchFamily="34" charset="-120"/>
              </a:rPr>
              <a:t>세 겹을 관통하는 아카이브</a:t>
            </a:r>
            <a:endParaRPr lang="en-US" sz="950" dirty="0"/>
          </a:p>
        </p:txBody>
      </p:sp>
      <p:sp>
        <p:nvSpPr>
          <p:cNvPr id="66" name="Text 64"/>
          <p:cNvSpPr/>
          <p:nvPr/>
        </p:nvSpPr>
        <p:spPr>
          <a:xfrm>
            <a:off x="7772400" y="6144768"/>
            <a:ext cx="3840480" cy="256032"/>
          </a:xfrm>
          <a:prstGeom prst="rect">
            <a:avLst/>
          </a:prstGeom>
          <a:noFill/>
          <a:ln/>
        </p:spPr>
        <p:txBody>
          <a:bodyPr wrap="square" lIns="0" tIns="0" rIns="0" bIns="0" rtlCol="0" anchor="ctr"/>
          <a:lstStyle/>
          <a:p>
            <a:pPr indent="0" marL="0">
              <a:buNone/>
            </a:pPr>
            <a:r>
              <a:rPr lang="en-US" sz="850" dirty="0">
                <a:solidFill>
                  <a:srgbClr val="8A857E"/>
                </a:solidFill>
                <a:latin typeface="맑은 고딕" pitchFamily="34" charset="0"/>
                <a:ea typeface="맑은 고딕" pitchFamily="34" charset="-122"/>
                <a:cs typeface="맑은 고딕" pitchFamily="34" charset="-120"/>
              </a:rPr>
              <a:t>※ ②실은 특정 층위에 속하지 않고 세 겹 전체를 관통하는 열람 공간으로 운용한다.</a:t>
            </a:r>
            <a:endParaRPr lang="en-US" sz="850" dirty="0"/>
          </a:p>
        </p:txBody>
      </p:sp>
      <p:sp>
        <p:nvSpPr>
          <p:cNvPr id="67" name="Text 65"/>
          <p:cNvSpPr/>
          <p:nvPr/>
        </p:nvSpPr>
        <p:spPr>
          <a:xfrm>
            <a:off x="548640" y="6419088"/>
            <a:ext cx="7315200" cy="274320"/>
          </a:xfrm>
          <a:prstGeom prst="rect">
            <a:avLst/>
          </a:prstGeom>
          <a:noFill/>
          <a:ln/>
        </p:spPr>
        <p:txBody>
          <a:bodyPr wrap="square" lIns="0" tIns="0" rIns="0" bIns="0" rtlCol="0" anchor="ctr"/>
          <a:lstStyle/>
          <a:p>
            <a:pPr algn="l" indent="0" marL="0">
              <a:buNone/>
            </a:pPr>
            <a:r>
              <a:rPr lang="en-US" sz="800" dirty="0">
                <a:solidFill>
                  <a:srgbClr val="8A857E"/>
                </a:solidFill>
                <a:latin typeface="맑은 고딕" pitchFamily="34" charset="0"/>
                <a:ea typeface="맑은 고딕" pitchFamily="34" charset="-122"/>
                <a:cs typeface="맑은 고딕" pitchFamily="34" charset="-120"/>
              </a:rPr>
              <a:t>아이테르 문화예술기획제안서   ·   덮인 물, 남은 올   ·   기획 추병곤</a:t>
            </a:r>
            <a:endParaRPr lang="en-US" sz="800" dirty="0"/>
          </a:p>
        </p:txBody>
      </p:sp>
      <p:sp>
        <p:nvSpPr>
          <p:cNvPr id="68" name="Text 66"/>
          <p:cNvSpPr/>
          <p:nvPr/>
        </p:nvSpPr>
        <p:spPr>
          <a:xfrm>
            <a:off x="10972800" y="6419088"/>
            <a:ext cx="640080" cy="274320"/>
          </a:xfrm>
          <a:prstGeom prst="rect">
            <a:avLst/>
          </a:prstGeom>
          <a:noFill/>
          <a:ln/>
        </p:spPr>
        <p:txBody>
          <a:bodyPr wrap="square" lIns="0" tIns="0" rIns="0" bIns="0" rtlCol="0" anchor="ctr"/>
          <a:lstStyle/>
          <a:p>
            <a:pPr algn="r" indent="0" marL="0">
              <a:buNone/>
            </a:pPr>
            <a:r>
              <a:rPr lang="en-US" sz="900" dirty="0">
                <a:solidFill>
                  <a:srgbClr val="8A857E"/>
                </a:solidFill>
                <a:latin typeface="Cambria" pitchFamily="34" charset="0"/>
                <a:ea typeface="Cambria" pitchFamily="34" charset="-122"/>
                <a:cs typeface="Cambria" pitchFamily="34" charset="-120"/>
              </a:rPr>
              <a:t>09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7315200" cy="237744"/>
          </a:xfrm>
          <a:prstGeom prst="rect">
            <a:avLst/>
          </a:prstGeom>
          <a:noFill/>
          <a:ln/>
        </p:spPr>
        <p:txBody>
          <a:bodyPr wrap="square" lIns="0" tIns="0" rIns="0" bIns="0" rtlCol="0" anchor="ctr"/>
          <a:lstStyle/>
          <a:p>
            <a:pPr indent="0" marL="0">
              <a:buNone/>
            </a:pPr>
            <a:r>
              <a:rPr lang="en-US" sz="1050" spc="250" kern="0" dirty="0">
                <a:solidFill>
                  <a:srgbClr val="8A857E"/>
                </a:solidFill>
                <a:latin typeface="Cambria" pitchFamily="34" charset="0"/>
                <a:ea typeface="Cambria" pitchFamily="34" charset="-122"/>
                <a:cs typeface="Cambria" pitchFamily="34" charset="-120"/>
              </a:rPr>
              <a:t>06  OVERVIEW</a:t>
            </a:r>
            <a:endParaRPr lang="en-US" sz="1050" dirty="0"/>
          </a:p>
        </p:txBody>
      </p:sp>
      <p:sp>
        <p:nvSpPr>
          <p:cNvPr id="3" name="Text 1"/>
          <p:cNvSpPr/>
          <p:nvPr/>
        </p:nvSpPr>
        <p:spPr>
          <a:xfrm>
            <a:off x="548640" y="694944"/>
            <a:ext cx="10058400" cy="502920"/>
          </a:xfrm>
          <a:prstGeom prst="rect">
            <a:avLst/>
          </a:prstGeom>
          <a:noFill/>
          <a:ln/>
        </p:spPr>
        <p:txBody>
          <a:bodyPr wrap="square" lIns="0" tIns="0" rIns="0" bIns="0" rtlCol="0" anchor="ctr"/>
          <a:lstStyle/>
          <a:p>
            <a:pPr indent="0" marL="0">
              <a:buNone/>
            </a:pPr>
            <a:r>
              <a:rPr lang="en-US" sz="2700" b="1" dirty="0">
                <a:solidFill>
                  <a:srgbClr val="1A1A1A"/>
                </a:solidFill>
                <a:latin typeface="맑은 고딕" pitchFamily="34" charset="0"/>
                <a:ea typeface="맑은 고딕" pitchFamily="34" charset="-122"/>
                <a:cs typeface="맑은 고딕" pitchFamily="34" charset="-120"/>
              </a:rPr>
              <a:t>전시 개요</a:t>
            </a:r>
            <a:endParaRPr lang="en-US" sz="27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64240" cy="914400"/>
        </p:xfrm>
        <a:graphic>
          <a:graphicData uri="http://schemas.openxmlformats.org/drawingml/2006/table">
            <a:tbl>
              <a:tblPr/>
              <a:tblGrid>
                <a:gridCol w="1737360"/>
                <a:gridCol w="9326880"/>
              </a:tblGrid>
              <a:tr h="384048">
                <a:tc>
                  <a:txBody>
                    <a:bodyPr/>
                    <a:lstStyle/>
                    <a:p>
                      <a:pPr algn="ctr" indent="0" marL="0">
                        <a:buNone/>
                      </a:pPr>
                      <a:r>
                        <a:rPr lang="en-US" sz="1100" b="1" dirty="0">
                          <a:solidFill>
                            <a:srgbClr val="FFFFFF"/>
                          </a:solidFill>
                          <a:latin typeface="맑은 고딕" pitchFamily="34" charset="0"/>
                          <a:ea typeface="맑은 고딕" pitchFamily="34" charset="-122"/>
                          <a:cs typeface="맑은 고딕" pitchFamily="34" charset="-120"/>
                        </a:rPr>
                        <a:t>전 시 명</a:t>
                      </a:r>
                      <a:endParaRPr lang="en-US" sz="1100" dirty="0">
                        <a:latin typeface="맑은 고딕" charset="0"/>
                        <a:ea typeface="맑은 고딕" charset="0"/>
                        <a:cs typeface="맑은 고딕" charset="0"/>
                      </a:endParaRPr>
                    </a:p>
                  </a:txBody>
                  <a:tcPr marL="127000" marR="127000" marT="50800" marB="508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A1A1A"/>
                    </a:solidFill>
                  </a:tcPr>
                </a:tc>
                <a:tc>
                  <a:txBody>
                    <a:bodyPr/>
                    <a:lstStyle/>
                    <a:p>
                      <a:pPr indent="0" marL="0">
                        <a:buNone/>
                      </a:pPr>
                      <a:r>
                        <a:rPr lang="en-US" sz="1100" dirty="0">
                          <a:solidFill>
                            <a:srgbClr val="2E2A26"/>
                          </a:solidFill>
                          <a:latin typeface="맑은 고딕" pitchFamily="34" charset="0"/>
                          <a:ea typeface="맑은 고딕" pitchFamily="34" charset="-122"/>
                          <a:cs typeface="맑은 고딕" pitchFamily="34" charset="-120"/>
                        </a:rPr>
                        <a:t>《덮인 물, 남은 올》  Covered Water, Remaining Thread</a:t>
                      </a:r>
                      <a:endParaRPr lang="en-US" sz="1100" dirty="0">
                        <a:latin typeface="맑은 고딕" charset="0"/>
                        <a:ea typeface="맑은 고딕" charset="0"/>
                        <a:cs typeface="맑은 고딕" charset="0"/>
                      </a:endParaRPr>
                    </a:p>
                  </a:txBody>
                  <a:tcPr marL="127000" marR="127000" marT="50800" marB="508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1ED"/>
                    </a:solidFill>
                  </a:tcPr>
                </a:tc>
              </a:tr>
              <a:tr h="384048">
                <a:tc>
                  <a:txBody>
                    <a:bodyPr/>
                    <a:lstStyle/>
                    <a:p>
                      <a:pPr algn="ctr" indent="0" marL="0">
                        <a:buNone/>
                      </a:pPr>
                      <a:r>
                        <a:rPr lang="en-US" sz="1100" b="1" dirty="0">
                          <a:solidFill>
                            <a:srgbClr val="FFFFFF"/>
                          </a:solidFill>
                          <a:latin typeface="맑은 고딕" pitchFamily="34" charset="0"/>
                          <a:ea typeface="맑은 고딕" pitchFamily="34" charset="-122"/>
                          <a:cs typeface="맑은 고딕" pitchFamily="34" charset="-120"/>
                        </a:rPr>
                        <a:t>기        간</a:t>
                      </a:r>
                      <a:endParaRPr lang="en-US" sz="1100" dirty="0">
                        <a:latin typeface="맑은 고딕" charset="0"/>
                        <a:ea typeface="맑은 고딕" charset="0"/>
                        <a:cs typeface="맑은 고딕" charset="0"/>
                      </a:endParaRPr>
                    </a:p>
                  </a:txBody>
                  <a:tcPr marL="127000" marR="127000" marT="50800" marB="508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A1A1A"/>
                    </a:solidFill>
                  </a:tcPr>
                </a:tc>
                <a:tc>
                  <a:txBody>
                    <a:bodyPr/>
                    <a:lstStyle/>
                    <a:p>
                      <a:pPr indent="0" marL="0">
                        <a:buNone/>
                      </a:pPr>
                      <a:r>
                        <a:rPr lang="en-US" sz="1100" dirty="0">
                          <a:solidFill>
                            <a:srgbClr val="2E2A26"/>
                          </a:solidFill>
                          <a:latin typeface="맑은 고딕" pitchFamily="34" charset="0"/>
                          <a:ea typeface="맑은 고딕" pitchFamily="34" charset="-122"/>
                          <a:cs typeface="맑은 고딕" pitchFamily="34" charset="-120"/>
                        </a:rPr>
                        <a:t>2027. 9. 3(금) – 11. 7(일)  ·  총 66일 / 개관 57일  ·  화–일 10:00–18:00 (월 휴관)</a:t>
                      </a:r>
                      <a:endParaRPr lang="en-US" sz="1100" dirty="0">
                        <a:latin typeface="맑은 고딕" charset="0"/>
                        <a:ea typeface="맑은 고딕" charset="0"/>
                        <a:cs typeface="맑은 고딕" charset="0"/>
                      </a:endParaRPr>
                    </a:p>
                  </a:txBody>
                  <a:tcPr marL="127000" marR="127000" marT="50800" marB="508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1ED"/>
                    </a:solidFill>
                  </a:tcPr>
                </a:tc>
              </a:tr>
              <a:tr h="384048">
                <a:tc>
                  <a:txBody>
                    <a:bodyPr/>
                    <a:lstStyle/>
                    <a:p>
                      <a:pPr algn="ctr" indent="0" marL="0">
                        <a:buNone/>
                      </a:pPr>
                      <a:r>
                        <a:rPr lang="en-US" sz="1100" b="1" dirty="0">
                          <a:solidFill>
                            <a:srgbClr val="FFFFFF"/>
                          </a:solidFill>
                          <a:latin typeface="맑은 고딕" pitchFamily="34" charset="0"/>
                          <a:ea typeface="맑은 고딕" pitchFamily="34" charset="-122"/>
                          <a:cs typeface="맑은 고딕" pitchFamily="34" charset="-120"/>
                        </a:rPr>
                        <a:t>개        막</a:t>
                      </a:r>
                      <a:endParaRPr lang="en-US" sz="1100" dirty="0">
                        <a:latin typeface="맑은 고딕" charset="0"/>
                        <a:ea typeface="맑은 고딕" charset="0"/>
                        <a:cs typeface="맑은 고딕" charset="0"/>
                      </a:endParaRPr>
                    </a:p>
                  </a:txBody>
                  <a:tcPr marL="127000" marR="127000" marT="50800" marB="508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A1A1A"/>
                    </a:solidFill>
                  </a:tcPr>
                </a:tc>
                <a:tc>
                  <a:txBody>
                    <a:bodyPr/>
                    <a:lstStyle/>
                    <a:p>
                      <a:pPr indent="0" marL="0">
                        <a:buNone/>
                      </a:pPr>
                      <a:r>
                        <a:rPr lang="en-US" sz="1100" dirty="0">
                          <a:solidFill>
                            <a:srgbClr val="2E2A26"/>
                          </a:solidFill>
                          <a:latin typeface="맑은 고딕" pitchFamily="34" charset="0"/>
                          <a:ea typeface="맑은 고딕" pitchFamily="34" charset="-122"/>
                          <a:cs typeface="맑은 고딕" pitchFamily="34" charset="-120"/>
                        </a:rPr>
                        <a:t>2027. 9. 2(목) 18:00  전야 개막 · 작가 인사 · 진시장 상인회 초청</a:t>
                      </a:r>
                      <a:endParaRPr lang="en-US" sz="1100" dirty="0">
                        <a:latin typeface="맑은 고딕" charset="0"/>
                        <a:ea typeface="맑은 고딕" charset="0"/>
                        <a:cs typeface="맑은 고딕" charset="0"/>
                      </a:endParaRPr>
                    </a:p>
                  </a:txBody>
                  <a:tcPr marL="127000" marR="127000" marT="50800" marB="508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1ED"/>
                    </a:solidFill>
                  </a:tcPr>
                </a:tc>
              </a:tr>
              <a:tr h="384048">
                <a:tc>
                  <a:txBody>
                    <a:bodyPr/>
                    <a:lstStyle/>
                    <a:p>
                      <a:pPr algn="ctr" indent="0" marL="0">
                        <a:buNone/>
                      </a:pPr>
                      <a:r>
                        <a:rPr lang="en-US" sz="1100" b="1" dirty="0">
                          <a:solidFill>
                            <a:srgbClr val="FFFFFF"/>
                          </a:solidFill>
                          <a:latin typeface="맑은 고딕" pitchFamily="34" charset="0"/>
                          <a:ea typeface="맑은 고딕" pitchFamily="34" charset="-122"/>
                          <a:cs typeface="맑은 고딕" pitchFamily="34" charset="-120"/>
                        </a:rPr>
                        <a:t>장        소</a:t>
                      </a:r>
                      <a:endParaRPr lang="en-US" sz="1100" dirty="0">
                        <a:latin typeface="맑은 고딕" charset="0"/>
                        <a:ea typeface="맑은 고딕" charset="0"/>
                        <a:cs typeface="맑은 고딕" charset="0"/>
                      </a:endParaRPr>
                    </a:p>
                  </a:txBody>
                  <a:tcPr marL="127000" marR="127000" marT="50800" marB="508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A1A1A"/>
                    </a:solidFill>
                  </a:tcPr>
                </a:tc>
                <a:tc>
                  <a:txBody>
                    <a:bodyPr/>
                    <a:lstStyle/>
                    <a:p>
                      <a:pPr indent="0" marL="0">
                        <a:buNone/>
                      </a:pPr>
                      <a:r>
                        <a:rPr lang="en-US" sz="1100" dirty="0">
                          <a:solidFill>
                            <a:srgbClr val="2E2A26"/>
                          </a:solidFill>
                          <a:latin typeface="맑은 고딕" pitchFamily="34" charset="0"/>
                          <a:ea typeface="맑은 고딕" pitchFamily="34" charset="-122"/>
                          <a:cs typeface="맑은 고딕" pitchFamily="34" charset="-120"/>
                        </a:rPr>
                        <a:t>아이테르 범일가옥 4F 전시관(8실, 33평) / 5F 라운지(프로그램·토크)</a:t>
                      </a:r>
                      <a:endParaRPr lang="en-US" sz="1100" dirty="0">
                        <a:latin typeface="맑은 고딕" charset="0"/>
                        <a:ea typeface="맑은 고딕" charset="0"/>
                        <a:cs typeface="맑은 고딕" charset="0"/>
                      </a:endParaRPr>
                    </a:p>
                  </a:txBody>
                  <a:tcPr marL="127000" marR="127000" marT="50800" marB="508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1ED"/>
                    </a:solidFill>
                  </a:tcPr>
                </a:tc>
              </a:tr>
              <a:tr h="384048">
                <a:tc>
                  <a:txBody>
                    <a:bodyPr/>
                    <a:lstStyle/>
                    <a:p>
                      <a:pPr algn="ctr" indent="0" marL="0">
                        <a:buNone/>
                      </a:pPr>
                      <a:r>
                        <a:rPr lang="en-US" sz="1100" b="1" dirty="0">
                          <a:solidFill>
                            <a:srgbClr val="FFFFFF"/>
                          </a:solidFill>
                          <a:latin typeface="맑은 고딕" pitchFamily="34" charset="0"/>
                          <a:ea typeface="맑은 고딕" pitchFamily="34" charset="-122"/>
                          <a:cs typeface="맑은 고딕" pitchFamily="34" charset="-120"/>
                        </a:rPr>
                        <a:t>주최 · 주관</a:t>
                      </a:r>
                      <a:endParaRPr lang="en-US" sz="1100" dirty="0">
                        <a:latin typeface="맑은 고딕" charset="0"/>
                        <a:ea typeface="맑은 고딕" charset="0"/>
                        <a:cs typeface="맑은 고딕" charset="0"/>
                      </a:endParaRPr>
                    </a:p>
                  </a:txBody>
                  <a:tcPr marL="127000" marR="127000" marT="50800" marB="508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A1A1A"/>
                    </a:solidFill>
                  </a:tcPr>
                </a:tc>
                <a:tc>
                  <a:txBody>
                    <a:bodyPr/>
                    <a:lstStyle/>
                    <a:p>
                      <a:pPr indent="0" marL="0">
                        <a:buNone/>
                      </a:pPr>
                      <a:r>
                        <a:rPr lang="en-US" sz="1100" dirty="0">
                          <a:solidFill>
                            <a:srgbClr val="2E2A26"/>
                          </a:solidFill>
                          <a:latin typeface="맑은 고딕" pitchFamily="34" charset="0"/>
                          <a:ea typeface="맑은 고딕" pitchFamily="34" charset="-122"/>
                          <a:cs typeface="맑은 고딕" pitchFamily="34" charset="-120"/>
                        </a:rPr>
                        <a:t>주최 (제안 기관)  ·  주관 예술협회 아이테르 AITHER  ·  기획 추병곤</a:t>
                      </a:r>
                      <a:endParaRPr lang="en-US" sz="1100" dirty="0">
                        <a:latin typeface="맑은 고딕" charset="0"/>
                        <a:ea typeface="맑은 고딕" charset="0"/>
                        <a:cs typeface="맑은 고딕" charset="0"/>
                      </a:endParaRPr>
                    </a:p>
                  </a:txBody>
                  <a:tcPr marL="127000" marR="127000" marT="50800" marB="508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1ED"/>
                    </a:solidFill>
                  </a:tcPr>
                </a:tc>
              </a:tr>
              <a:tr h="384048">
                <a:tc>
                  <a:txBody>
                    <a:bodyPr/>
                    <a:lstStyle/>
                    <a:p>
                      <a:pPr algn="ctr" indent="0" marL="0">
                        <a:buNone/>
                      </a:pPr>
                      <a:r>
                        <a:rPr lang="en-US" sz="1100" b="1" dirty="0">
                          <a:solidFill>
                            <a:srgbClr val="FFFFFF"/>
                          </a:solidFill>
                          <a:latin typeface="맑은 고딕" pitchFamily="34" charset="0"/>
                          <a:ea typeface="맑은 고딕" pitchFamily="34" charset="-122"/>
                          <a:cs typeface="맑은 고딕" pitchFamily="34" charset="-120"/>
                        </a:rPr>
                        <a:t>후원 · 협력</a:t>
                      </a:r>
                      <a:endParaRPr lang="en-US" sz="1100" dirty="0">
                        <a:latin typeface="맑은 고딕" charset="0"/>
                        <a:ea typeface="맑은 고딕" charset="0"/>
                        <a:cs typeface="맑은 고딕" charset="0"/>
                      </a:endParaRPr>
                    </a:p>
                  </a:txBody>
                  <a:tcPr marL="127000" marR="127000" marT="50800" marB="508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A1A1A"/>
                    </a:solidFill>
                  </a:tcPr>
                </a:tc>
                <a:tc>
                  <a:txBody>
                    <a:bodyPr/>
                    <a:lstStyle/>
                    <a:p>
                      <a:pPr indent="0" marL="0">
                        <a:buNone/>
                      </a:pPr>
                      <a:r>
                        <a:rPr lang="en-US" sz="1100" dirty="0">
                          <a:solidFill>
                            <a:srgbClr val="2E2A26"/>
                          </a:solidFill>
                          <a:latin typeface="맑은 고딕" pitchFamily="34" charset="0"/>
                          <a:ea typeface="맑은 고딕" pitchFamily="34" charset="-122"/>
                          <a:cs typeface="맑은 고딕" pitchFamily="34" charset="-120"/>
                        </a:rPr>
                        <a:t>후원 (제안 기업)  ·  협력 부산진시장 상인회, 동구 관내 도서관·학교, 미디어 기술협약사</a:t>
                      </a:r>
                      <a:endParaRPr lang="en-US" sz="1100" dirty="0">
                        <a:latin typeface="맑은 고딕" charset="0"/>
                        <a:ea typeface="맑은 고딕" charset="0"/>
                        <a:cs typeface="맑은 고딕" charset="0"/>
                      </a:endParaRPr>
                    </a:p>
                  </a:txBody>
                  <a:tcPr marL="127000" marR="127000" marT="50800" marB="508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1ED"/>
                    </a:solidFill>
                  </a:tcPr>
                </a:tc>
              </a:tr>
              <a:tr h="384048">
                <a:tc>
                  <a:txBody>
                    <a:bodyPr/>
                    <a:lstStyle/>
                    <a:p>
                      <a:pPr algn="ctr" indent="0" marL="0">
                        <a:buNone/>
                      </a:pPr>
                      <a:r>
                        <a:rPr lang="en-US" sz="1100" b="1" dirty="0">
                          <a:solidFill>
                            <a:srgbClr val="FFFFFF"/>
                          </a:solidFill>
                          <a:latin typeface="맑은 고딕" pitchFamily="34" charset="0"/>
                          <a:ea typeface="맑은 고딕" pitchFamily="34" charset="-122"/>
                          <a:cs typeface="맑은 고딕" pitchFamily="34" charset="-120"/>
                        </a:rPr>
                        <a:t>참 여 작 가</a:t>
                      </a:r>
                      <a:endParaRPr lang="en-US" sz="1100" dirty="0">
                        <a:latin typeface="맑은 고딕" charset="0"/>
                        <a:ea typeface="맑은 고딕" charset="0"/>
                        <a:cs typeface="맑은 고딕" charset="0"/>
                      </a:endParaRPr>
                    </a:p>
                  </a:txBody>
                  <a:tcPr marL="127000" marR="127000" marT="50800" marB="508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A1A1A"/>
                    </a:solidFill>
                  </a:tcPr>
                </a:tc>
                <a:tc>
                  <a:txBody>
                    <a:bodyPr/>
                    <a:lstStyle/>
                    <a:p>
                      <a:pPr indent="0" marL="0">
                        <a:buNone/>
                      </a:pPr>
                      <a:r>
                        <a:rPr lang="en-US" sz="1100" dirty="0">
                          <a:solidFill>
                            <a:srgbClr val="2E2A26"/>
                          </a:solidFill>
                          <a:latin typeface="맑은 고딕" pitchFamily="34" charset="0"/>
                          <a:ea typeface="맑은 고딕" pitchFamily="34" charset="-122"/>
                          <a:cs typeface="맑은 고딕" pitchFamily="34" charset="-120"/>
                        </a:rPr>
                        <a:t>7인(팀)  ·  회화 / 설치 2 / 섬유·텍스타일 / 사진·아카이브 / 미디어 / 사운드</a:t>
                      </a:r>
                      <a:endParaRPr lang="en-US" sz="1100" dirty="0">
                        <a:latin typeface="맑은 고딕" charset="0"/>
                        <a:ea typeface="맑은 고딕" charset="0"/>
                        <a:cs typeface="맑은 고딕" charset="0"/>
                      </a:endParaRPr>
                    </a:p>
                  </a:txBody>
                  <a:tcPr marL="127000" marR="127000" marT="50800" marB="508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1ED"/>
                    </a:solidFill>
                  </a:tcPr>
                </a:tc>
              </a:tr>
              <a:tr h="384048">
                <a:tc>
                  <a:txBody>
                    <a:bodyPr/>
                    <a:lstStyle/>
                    <a:p>
                      <a:pPr algn="ctr" indent="0" marL="0">
                        <a:buNone/>
                      </a:pPr>
                      <a:r>
                        <a:rPr lang="en-US" sz="1100" b="1" dirty="0">
                          <a:solidFill>
                            <a:srgbClr val="FFFFFF"/>
                          </a:solidFill>
                          <a:latin typeface="맑은 고딕" pitchFamily="34" charset="0"/>
                          <a:ea typeface="맑은 고딕" pitchFamily="34" charset="-122"/>
                          <a:cs typeface="맑은 고딕" pitchFamily="34" charset="-120"/>
                        </a:rPr>
                        <a:t>관 람 료</a:t>
                      </a:r>
                      <a:endParaRPr lang="en-US" sz="1100" dirty="0">
                        <a:latin typeface="맑은 고딕" charset="0"/>
                        <a:ea typeface="맑은 고딕" charset="0"/>
                        <a:cs typeface="맑은 고딕" charset="0"/>
                      </a:endParaRPr>
                    </a:p>
                  </a:txBody>
                  <a:tcPr marL="127000" marR="127000" marT="50800" marB="508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A1A1A"/>
                    </a:solidFill>
                  </a:tcPr>
                </a:tc>
                <a:tc>
                  <a:txBody>
                    <a:bodyPr/>
                    <a:lstStyle/>
                    <a:p>
                      <a:pPr indent="0" marL="0">
                        <a:buNone/>
                      </a:pPr>
                      <a:r>
                        <a:rPr lang="en-US" sz="1100" dirty="0">
                          <a:solidFill>
                            <a:srgbClr val="2E2A26"/>
                          </a:solidFill>
                          <a:latin typeface="맑은 고딕" pitchFamily="34" charset="0"/>
                          <a:ea typeface="맑은 고딕" pitchFamily="34" charset="-122"/>
                          <a:cs typeface="맑은 고딕" pitchFamily="34" charset="-120"/>
                        </a:rPr>
                        <a:t>무료 (워킹투어·워크숍 등 일부 프로그램 유료·사전예약)</a:t>
                      </a:r>
                      <a:endParaRPr lang="en-US" sz="1100" dirty="0">
                        <a:latin typeface="맑은 고딕" charset="0"/>
                        <a:ea typeface="맑은 고딕" charset="0"/>
                        <a:cs typeface="맑은 고딕" charset="0"/>
                      </a:endParaRPr>
                    </a:p>
                  </a:txBody>
                  <a:tcPr marL="127000" marR="127000" marT="50800" marB="508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1ED"/>
                    </a:solidFill>
                  </a:tcPr>
                </a:tc>
              </a:tr>
              <a:tr h="384048">
                <a:tc>
                  <a:txBody>
                    <a:bodyPr/>
                    <a:lstStyle/>
                    <a:p>
                      <a:pPr algn="ctr" indent="0" marL="0">
                        <a:buNone/>
                      </a:pPr>
                      <a:r>
                        <a:rPr lang="en-US" sz="1100" b="1" dirty="0">
                          <a:solidFill>
                            <a:srgbClr val="FFFFFF"/>
                          </a:solidFill>
                          <a:latin typeface="맑은 고딕" pitchFamily="34" charset="0"/>
                          <a:ea typeface="맑은 고딕" pitchFamily="34" charset="-122"/>
                          <a:cs typeface="맑은 고딕" pitchFamily="34" charset="-120"/>
                        </a:rPr>
                        <a:t>총 사 업 비</a:t>
                      </a:r>
                      <a:endParaRPr lang="en-US" sz="1100" dirty="0">
                        <a:latin typeface="맑은 고딕" charset="0"/>
                        <a:ea typeface="맑은 고딕" charset="0"/>
                        <a:cs typeface="맑은 고딕" charset="0"/>
                      </a:endParaRPr>
                    </a:p>
                  </a:txBody>
                  <a:tcPr marL="127000" marR="127000" marT="50800" marB="508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A1A1A"/>
                    </a:solidFill>
                  </a:tcPr>
                </a:tc>
                <a:tc>
                  <a:txBody>
                    <a:bodyPr/>
                    <a:lstStyle/>
                    <a:p>
                      <a:pPr indent="0" marL="0">
                        <a:buNone/>
                      </a:pPr>
                      <a:r>
                        <a:rPr lang="en-US" sz="1100" dirty="0">
                          <a:solidFill>
                            <a:srgbClr val="2E2A26"/>
                          </a:solidFill>
                          <a:latin typeface="맑은 고딕" pitchFamily="34" charset="0"/>
                          <a:ea typeface="맑은 고딕" pitchFamily="34" charset="-122"/>
                          <a:cs typeface="맑은 고딕" pitchFamily="34" charset="-120"/>
                        </a:rPr>
                        <a:t>80,000천원 (기관 보조 50% · 기업 협찬 30% · 아이테르 자부담·현물 15% · 자체수익 5%)</a:t>
                      </a:r>
                      <a:endParaRPr lang="en-US" sz="1100" dirty="0">
                        <a:latin typeface="맑은 고딕" charset="0"/>
                        <a:ea typeface="맑은 고딕" charset="0"/>
                        <a:cs typeface="맑은 고딕" charset="0"/>
                      </a:endParaRPr>
                    </a:p>
                  </a:txBody>
                  <a:tcPr marL="127000" marR="127000" marT="50800" marB="508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1ED"/>
                    </a:solidFill>
                  </a:tcPr>
                </a:tc>
              </a:tr>
              <a:tr h="384048">
                <a:tc>
                  <a:txBody>
                    <a:bodyPr/>
                    <a:lstStyle/>
                    <a:p>
                      <a:pPr algn="ctr" indent="0" marL="0">
                        <a:buNone/>
                      </a:pPr>
                      <a:r>
                        <a:rPr lang="en-US" sz="1100" b="1" dirty="0">
                          <a:solidFill>
                            <a:srgbClr val="FFFFFF"/>
                          </a:solidFill>
                          <a:latin typeface="맑은 고딕" pitchFamily="34" charset="0"/>
                          <a:ea typeface="맑은 고딕" pitchFamily="34" charset="-122"/>
                          <a:cs typeface="맑은 고딕" pitchFamily="34" charset="-120"/>
                        </a:rPr>
                        <a:t>성 과 물</a:t>
                      </a:r>
                      <a:endParaRPr lang="en-US" sz="1100" dirty="0">
                        <a:latin typeface="맑은 고딕" charset="0"/>
                        <a:ea typeface="맑은 고딕" charset="0"/>
                        <a:cs typeface="맑은 고딕" charset="0"/>
                      </a:endParaRPr>
                    </a:p>
                  </a:txBody>
                  <a:tcPr marL="127000" marR="127000" marT="50800" marB="508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1A1A1A"/>
                    </a:solidFill>
                  </a:tcPr>
                </a:tc>
                <a:tc>
                  <a:txBody>
                    <a:bodyPr/>
                    <a:lstStyle/>
                    <a:p>
                      <a:pPr indent="0" marL="0">
                        <a:buNone/>
                      </a:pPr>
                      <a:r>
                        <a:rPr lang="en-US" sz="1100" dirty="0">
                          <a:solidFill>
                            <a:srgbClr val="2E2A26"/>
                          </a:solidFill>
                          <a:latin typeface="맑은 고딕" pitchFamily="34" charset="0"/>
                          <a:ea typeface="맑은 고딕" pitchFamily="34" charset="-122"/>
                          <a:cs typeface="맑은 고딕" pitchFamily="34" charset="-120"/>
                        </a:rPr>
                        <a:t>도록 1권 · 비평문 3편 · 웹 아카이브 300건 · 구술 30인 · 참여 드로잉 500점</a:t>
                      </a:r>
                      <a:endParaRPr lang="en-US" sz="1100" dirty="0">
                        <a:latin typeface="맑은 고딕" charset="0"/>
                        <a:ea typeface="맑은 고딕" charset="0"/>
                        <a:cs typeface="맑은 고딕" charset="0"/>
                      </a:endParaRPr>
                    </a:p>
                  </a:txBody>
                  <a:tcPr marL="127000" marR="127000" marT="50800" marB="508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1ED"/>
                    </a:solidFill>
                  </a:tcPr>
                </a:tc>
              </a:tr>
            </a:tbl>
          </a:graphicData>
        </a:graphic>
      </p:graphicFrame>
      <p:sp>
        <p:nvSpPr>
          <p:cNvPr id="5" name="Text 2"/>
          <p:cNvSpPr/>
          <p:nvPr/>
        </p:nvSpPr>
        <p:spPr>
          <a:xfrm>
            <a:off x="548640" y="5742432"/>
            <a:ext cx="11064240" cy="274320"/>
          </a:xfrm>
          <a:prstGeom prst="rect">
            <a:avLst/>
          </a:prstGeom>
          <a:noFill/>
          <a:ln/>
        </p:spPr>
        <p:txBody>
          <a:bodyPr wrap="square" lIns="0" tIns="0" rIns="0" bIns="0" rtlCol="0" anchor="ctr"/>
          <a:lstStyle/>
          <a:p>
            <a:pPr indent="0" marL="0">
              <a:buNone/>
            </a:pPr>
            <a:r>
              <a:rPr lang="en-US" sz="950" dirty="0">
                <a:solidFill>
                  <a:srgbClr val="8A857E"/>
                </a:solidFill>
                <a:latin typeface="맑은 고딕" pitchFamily="34" charset="0"/>
                <a:ea typeface="맑은 고딕" pitchFamily="34" charset="-122"/>
                <a:cs typeface="맑은 고딕" pitchFamily="34" charset="-120"/>
              </a:rPr>
              <a:t>※ 일정은 협의에 따라 조정 가능하며, 9월 개막은 전국미술주간 및 동구 조방거리 축제 시기와의 연계 효과를 고려한 안입니다.</a:t>
            </a:r>
            <a:endParaRPr lang="en-US" sz="950" dirty="0"/>
          </a:p>
        </p:txBody>
      </p:sp>
      <p:sp>
        <p:nvSpPr>
          <p:cNvPr id="6" name="Text 3"/>
          <p:cNvSpPr/>
          <p:nvPr/>
        </p:nvSpPr>
        <p:spPr>
          <a:xfrm>
            <a:off x="548640" y="6419088"/>
            <a:ext cx="7315200" cy="274320"/>
          </a:xfrm>
          <a:prstGeom prst="rect">
            <a:avLst/>
          </a:prstGeom>
          <a:noFill/>
          <a:ln/>
        </p:spPr>
        <p:txBody>
          <a:bodyPr wrap="square" lIns="0" tIns="0" rIns="0" bIns="0" rtlCol="0" anchor="ctr"/>
          <a:lstStyle/>
          <a:p>
            <a:pPr algn="l" indent="0" marL="0">
              <a:buNone/>
            </a:pPr>
            <a:r>
              <a:rPr lang="en-US" sz="800" dirty="0">
                <a:solidFill>
                  <a:srgbClr val="8A857E"/>
                </a:solidFill>
                <a:latin typeface="맑은 고딕" pitchFamily="34" charset="0"/>
                <a:ea typeface="맑은 고딕" pitchFamily="34" charset="-122"/>
                <a:cs typeface="맑은 고딕" pitchFamily="34" charset="-120"/>
              </a:rPr>
              <a:t>아이테르 문화예술기획제안서   ·   덮인 물, 남은 올   ·   기획 추병곤</a:t>
            </a:r>
            <a:endParaRPr lang="en-US" sz="800" dirty="0"/>
          </a:p>
        </p:txBody>
      </p:sp>
      <p:sp>
        <p:nvSpPr>
          <p:cNvPr id="7" name="Text 4"/>
          <p:cNvSpPr/>
          <p:nvPr/>
        </p:nvSpPr>
        <p:spPr>
          <a:xfrm>
            <a:off x="10972800" y="6419088"/>
            <a:ext cx="640080" cy="274320"/>
          </a:xfrm>
          <a:prstGeom prst="rect">
            <a:avLst/>
          </a:prstGeom>
          <a:noFill/>
          <a:ln/>
        </p:spPr>
        <p:txBody>
          <a:bodyPr wrap="square" lIns="0" tIns="0" rIns="0" bIns="0" rtlCol="0" anchor="ctr"/>
          <a:lstStyle/>
          <a:p>
            <a:pPr algn="r" indent="0" marL="0">
              <a:buNone/>
            </a:pPr>
            <a:r>
              <a:rPr lang="en-US" sz="900" dirty="0">
                <a:solidFill>
                  <a:srgbClr val="8A857E"/>
                </a:solidFill>
                <a:latin typeface="Cambria" pitchFamily="34" charset="0"/>
                <a:ea typeface="Cambria" pitchFamily="34" charset="-122"/>
                <a:cs typeface="Cambria"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7315200" cy="237744"/>
          </a:xfrm>
          <a:prstGeom prst="rect">
            <a:avLst/>
          </a:prstGeom>
          <a:noFill/>
          <a:ln/>
        </p:spPr>
        <p:txBody>
          <a:bodyPr wrap="square" lIns="0" tIns="0" rIns="0" bIns="0" rtlCol="0" anchor="ctr"/>
          <a:lstStyle/>
          <a:p>
            <a:pPr indent="0" marL="0">
              <a:buNone/>
            </a:pPr>
            <a:r>
              <a:rPr lang="en-US" sz="1050" spc="250" kern="0" dirty="0">
                <a:solidFill>
                  <a:srgbClr val="8A857E"/>
                </a:solidFill>
                <a:latin typeface="Cambria" pitchFamily="34" charset="0"/>
                <a:ea typeface="Cambria" pitchFamily="34" charset="-122"/>
                <a:cs typeface="Cambria" pitchFamily="34" charset="-120"/>
              </a:rPr>
              <a:t>07  DIAGRAM 3</a:t>
            </a:r>
            <a:endParaRPr lang="en-US" sz="1050" dirty="0"/>
          </a:p>
        </p:txBody>
      </p:sp>
      <p:sp>
        <p:nvSpPr>
          <p:cNvPr id="3" name="Text 1"/>
          <p:cNvSpPr/>
          <p:nvPr/>
        </p:nvSpPr>
        <p:spPr>
          <a:xfrm>
            <a:off x="548640" y="694944"/>
            <a:ext cx="10058400" cy="502920"/>
          </a:xfrm>
          <a:prstGeom prst="rect">
            <a:avLst/>
          </a:prstGeom>
          <a:noFill/>
          <a:ln/>
        </p:spPr>
        <p:txBody>
          <a:bodyPr wrap="square" lIns="0" tIns="0" rIns="0" bIns="0" rtlCol="0" anchor="ctr"/>
          <a:lstStyle/>
          <a:p>
            <a:pPr indent="0" marL="0">
              <a:buNone/>
            </a:pPr>
            <a:r>
              <a:rPr lang="en-US" sz="2700" b="1" dirty="0">
                <a:solidFill>
                  <a:srgbClr val="1A1A1A"/>
                </a:solidFill>
                <a:latin typeface="맑은 고딕" pitchFamily="34" charset="0"/>
                <a:ea typeface="맑은 고딕" pitchFamily="34" charset="-122"/>
                <a:cs typeface="맑은 고딕" pitchFamily="34" charset="-120"/>
              </a:rPr>
              <a:t>[도식 3] 공간 구성도 — 여덟 개의 방과 동선</a:t>
            </a:r>
            <a:endParaRPr lang="en-US" sz="2700" dirty="0"/>
          </a:p>
        </p:txBody>
      </p:sp>
      <p:sp>
        <p:nvSpPr>
          <p:cNvPr id="4" name="Text 2"/>
          <p:cNvSpPr/>
          <p:nvPr/>
        </p:nvSpPr>
        <p:spPr>
          <a:xfrm>
            <a:off x="548640" y="1225296"/>
            <a:ext cx="10607040" cy="310896"/>
          </a:xfrm>
          <a:prstGeom prst="rect">
            <a:avLst/>
          </a:prstGeom>
          <a:noFill/>
          <a:ln/>
        </p:spPr>
        <p:txBody>
          <a:bodyPr wrap="square" lIns="0" tIns="0" rIns="0" bIns="0" rtlCol="0" anchor="ctr"/>
          <a:lstStyle/>
          <a:p>
            <a:pPr indent="0" marL="0">
              <a:buNone/>
            </a:pPr>
            <a:r>
              <a:rPr lang="en-US" sz="1200" dirty="0">
                <a:solidFill>
                  <a:srgbClr val="8A857E"/>
                </a:solidFill>
                <a:latin typeface="맑은 고딕" pitchFamily="34" charset="0"/>
                <a:ea typeface="맑은 고딕" pitchFamily="34" charset="-122"/>
                <a:cs typeface="맑은 고딕" pitchFamily="34" charset="-120"/>
              </a:rPr>
              <a:t>33평 · 8개 전시실 · 개념 배치도(실제 도면 기준 단순화)</a:t>
            </a:r>
            <a:endParaRPr lang="en-US" sz="1200" dirty="0"/>
          </a:p>
        </p:txBody>
      </p:sp>
      <p:sp>
        <p:nvSpPr>
          <p:cNvPr id="5" name="Shape 3"/>
          <p:cNvSpPr/>
          <p:nvPr/>
        </p:nvSpPr>
        <p:spPr>
          <a:xfrm>
            <a:off x="640080" y="1874520"/>
            <a:ext cx="6400800" cy="3611880"/>
          </a:xfrm>
          <a:prstGeom prst="rect">
            <a:avLst/>
          </a:prstGeom>
          <a:solidFill>
            <a:srgbClr val="FAF9F7"/>
          </a:solidFill>
          <a:ln w="19050">
            <a:solidFill>
              <a:srgbClr val="9A948C"/>
            </a:solidFill>
            <a:prstDash val="solid"/>
          </a:ln>
        </p:spPr>
      </p:sp>
      <p:sp>
        <p:nvSpPr>
          <p:cNvPr id="6" name="Shape 4"/>
          <p:cNvSpPr/>
          <p:nvPr/>
        </p:nvSpPr>
        <p:spPr>
          <a:xfrm>
            <a:off x="777240" y="2011680"/>
            <a:ext cx="1325880" cy="3337560"/>
          </a:xfrm>
          <a:prstGeom prst="rect">
            <a:avLst/>
          </a:prstGeom>
          <a:solidFill>
            <a:srgbClr val="FFFFFF"/>
          </a:solidFill>
          <a:ln w="15875">
            <a:solidFill>
              <a:srgbClr val="7A4A45"/>
            </a:solidFill>
            <a:prstDash val="solid"/>
          </a:ln>
        </p:spPr>
      </p:sp>
      <p:sp>
        <p:nvSpPr>
          <p:cNvPr id="7" name="Shape 5"/>
          <p:cNvSpPr/>
          <p:nvPr/>
        </p:nvSpPr>
        <p:spPr>
          <a:xfrm>
            <a:off x="850392" y="2084832"/>
            <a:ext cx="274320" cy="274320"/>
          </a:xfrm>
          <a:prstGeom prst="ellipse">
            <a:avLst/>
          </a:prstGeom>
          <a:solidFill>
            <a:srgbClr val="7A4A45"/>
          </a:solidFill>
          <a:ln/>
        </p:spPr>
      </p:sp>
      <p:sp>
        <p:nvSpPr>
          <p:cNvPr id="8" name="Text 6"/>
          <p:cNvSpPr/>
          <p:nvPr/>
        </p:nvSpPr>
        <p:spPr>
          <a:xfrm>
            <a:off x="850392" y="2084832"/>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맑은 고딕" pitchFamily="34" charset="0"/>
                <a:ea typeface="맑은 고딕" pitchFamily="34" charset="-122"/>
                <a:cs typeface="맑은 고딕" pitchFamily="34" charset="-120"/>
              </a:rPr>
              <a:t>⑧</a:t>
            </a:r>
            <a:endParaRPr lang="en-US" sz="1000" dirty="0"/>
          </a:p>
        </p:txBody>
      </p:sp>
      <p:sp>
        <p:nvSpPr>
          <p:cNvPr id="9" name="Text 7"/>
          <p:cNvSpPr/>
          <p:nvPr/>
        </p:nvSpPr>
        <p:spPr>
          <a:xfrm>
            <a:off x="832104" y="2414016"/>
            <a:ext cx="1216152" cy="274320"/>
          </a:xfrm>
          <a:prstGeom prst="rect">
            <a:avLst/>
          </a:prstGeom>
          <a:noFill/>
          <a:ln/>
        </p:spPr>
        <p:txBody>
          <a:bodyPr wrap="square" lIns="0" tIns="0" rIns="0" bIns="0" rtlCol="0" anchor="ctr"/>
          <a:lstStyle/>
          <a:p>
            <a:pPr indent="0" marL="0">
              <a:buNone/>
            </a:pPr>
            <a:r>
              <a:rPr lang="en-US" sz="950" b="1" dirty="0">
                <a:solidFill>
                  <a:srgbClr val="1A1A1A"/>
                </a:solidFill>
                <a:latin typeface="맑은 고딕" pitchFamily="34" charset="0"/>
                <a:ea typeface="맑은 고딕" pitchFamily="34" charset="-122"/>
                <a:cs typeface="맑은 고딕" pitchFamily="34" charset="-120"/>
              </a:rPr>
              <a:t>불의 자리</a:t>
            </a:r>
            <a:endParaRPr lang="en-US" sz="950" dirty="0"/>
          </a:p>
        </p:txBody>
      </p:sp>
      <p:sp>
        <p:nvSpPr>
          <p:cNvPr id="10" name="Text 8"/>
          <p:cNvSpPr/>
          <p:nvPr/>
        </p:nvSpPr>
        <p:spPr>
          <a:xfrm>
            <a:off x="832104" y="2670048"/>
            <a:ext cx="1216152" cy="237744"/>
          </a:xfrm>
          <a:prstGeom prst="rect">
            <a:avLst/>
          </a:prstGeom>
          <a:noFill/>
          <a:ln/>
        </p:spPr>
        <p:txBody>
          <a:bodyPr wrap="square" lIns="0" tIns="0" rIns="0" bIns="0" rtlCol="0" anchor="ctr"/>
          <a:lstStyle/>
          <a:p>
            <a:pPr indent="0" marL="0">
              <a:buNone/>
            </a:pPr>
            <a:r>
              <a:rPr lang="en-US" sz="850" dirty="0">
                <a:solidFill>
                  <a:srgbClr val="8A857E"/>
                </a:solidFill>
                <a:latin typeface="맑은 고딕" pitchFamily="34" charset="0"/>
                <a:ea typeface="맑은 고딕" pitchFamily="34" charset="-122"/>
                <a:cs typeface="맑은 고딕" pitchFamily="34" charset="-120"/>
              </a:rPr>
              <a:t>부엌·계단</a:t>
            </a:r>
            <a:endParaRPr lang="en-US" sz="850" dirty="0"/>
          </a:p>
        </p:txBody>
      </p:sp>
      <p:sp>
        <p:nvSpPr>
          <p:cNvPr id="11" name="Shape 9"/>
          <p:cNvSpPr/>
          <p:nvPr/>
        </p:nvSpPr>
        <p:spPr>
          <a:xfrm>
            <a:off x="2194560" y="2011680"/>
            <a:ext cx="2606040" cy="2011680"/>
          </a:xfrm>
          <a:prstGeom prst="rect">
            <a:avLst/>
          </a:prstGeom>
          <a:solidFill>
            <a:srgbClr val="FFFFFF"/>
          </a:solidFill>
          <a:ln w="15875">
            <a:solidFill>
              <a:srgbClr val="9C6B3C"/>
            </a:solidFill>
            <a:prstDash val="solid"/>
          </a:ln>
        </p:spPr>
      </p:sp>
      <p:sp>
        <p:nvSpPr>
          <p:cNvPr id="12" name="Shape 10"/>
          <p:cNvSpPr/>
          <p:nvPr/>
        </p:nvSpPr>
        <p:spPr>
          <a:xfrm>
            <a:off x="2267712" y="2084832"/>
            <a:ext cx="274320" cy="274320"/>
          </a:xfrm>
          <a:prstGeom prst="ellipse">
            <a:avLst/>
          </a:prstGeom>
          <a:solidFill>
            <a:srgbClr val="9C6B3C"/>
          </a:solidFill>
          <a:ln/>
        </p:spPr>
      </p:sp>
      <p:sp>
        <p:nvSpPr>
          <p:cNvPr id="13" name="Text 11"/>
          <p:cNvSpPr/>
          <p:nvPr/>
        </p:nvSpPr>
        <p:spPr>
          <a:xfrm>
            <a:off x="2267712" y="2084832"/>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맑은 고딕" pitchFamily="34" charset="0"/>
                <a:ea typeface="맑은 고딕" pitchFamily="34" charset="-122"/>
                <a:cs typeface="맑은 고딕" pitchFamily="34" charset="-120"/>
              </a:rPr>
              <a:t>⑤</a:t>
            </a:r>
            <a:endParaRPr lang="en-US" sz="1000" dirty="0"/>
          </a:p>
        </p:txBody>
      </p:sp>
      <p:sp>
        <p:nvSpPr>
          <p:cNvPr id="14" name="Text 12"/>
          <p:cNvSpPr/>
          <p:nvPr/>
        </p:nvSpPr>
        <p:spPr>
          <a:xfrm>
            <a:off x="2249424" y="2414016"/>
            <a:ext cx="2496312" cy="274320"/>
          </a:xfrm>
          <a:prstGeom prst="rect">
            <a:avLst/>
          </a:prstGeom>
          <a:noFill/>
          <a:ln/>
        </p:spPr>
        <p:txBody>
          <a:bodyPr wrap="square" lIns="0" tIns="0" rIns="0" bIns="0" rtlCol="0" anchor="ctr"/>
          <a:lstStyle/>
          <a:p>
            <a:pPr indent="0" marL="0">
              <a:buNone/>
            </a:pPr>
            <a:r>
              <a:rPr lang="en-US" sz="950" b="1" dirty="0">
                <a:solidFill>
                  <a:srgbClr val="1A1A1A"/>
                </a:solidFill>
                <a:latin typeface="맑은 고딕" pitchFamily="34" charset="0"/>
                <a:ea typeface="맑은 고딕" pitchFamily="34" charset="-122"/>
                <a:cs typeface="맑은 고딕" pitchFamily="34" charset="-120"/>
              </a:rPr>
              <a:t>직조된 도시</a:t>
            </a:r>
            <a:endParaRPr lang="en-US" sz="950" dirty="0"/>
          </a:p>
        </p:txBody>
      </p:sp>
      <p:sp>
        <p:nvSpPr>
          <p:cNvPr id="15" name="Text 13"/>
          <p:cNvSpPr/>
          <p:nvPr/>
        </p:nvSpPr>
        <p:spPr>
          <a:xfrm>
            <a:off x="2249424" y="2670048"/>
            <a:ext cx="2496312" cy="237744"/>
          </a:xfrm>
          <a:prstGeom prst="rect">
            <a:avLst/>
          </a:prstGeom>
          <a:noFill/>
          <a:ln/>
        </p:spPr>
        <p:txBody>
          <a:bodyPr wrap="square" lIns="0" tIns="0" rIns="0" bIns="0" rtlCol="0" anchor="ctr"/>
          <a:lstStyle/>
          <a:p>
            <a:pPr indent="0" marL="0">
              <a:buNone/>
            </a:pPr>
            <a:r>
              <a:rPr lang="en-US" sz="850" dirty="0">
                <a:solidFill>
                  <a:srgbClr val="8A857E"/>
                </a:solidFill>
                <a:latin typeface="맑은 고딕" pitchFamily="34" charset="0"/>
                <a:ea typeface="맑은 고딕" pitchFamily="34" charset="-122"/>
                <a:cs typeface="맑은 고딕" pitchFamily="34" charset="-120"/>
              </a:rPr>
              <a:t>마루·메인홀</a:t>
            </a:r>
            <a:endParaRPr lang="en-US" sz="850" dirty="0"/>
          </a:p>
        </p:txBody>
      </p:sp>
      <p:sp>
        <p:nvSpPr>
          <p:cNvPr id="16" name="Shape 14"/>
          <p:cNvSpPr/>
          <p:nvPr/>
        </p:nvSpPr>
        <p:spPr>
          <a:xfrm>
            <a:off x="4892040" y="2011680"/>
            <a:ext cx="1234440" cy="960120"/>
          </a:xfrm>
          <a:prstGeom prst="rect">
            <a:avLst/>
          </a:prstGeom>
          <a:solidFill>
            <a:srgbClr val="FFFFFF"/>
          </a:solidFill>
          <a:ln w="15875">
            <a:solidFill>
              <a:srgbClr val="9C6B3C"/>
            </a:solidFill>
            <a:prstDash val="solid"/>
          </a:ln>
        </p:spPr>
      </p:sp>
      <p:sp>
        <p:nvSpPr>
          <p:cNvPr id="17" name="Shape 15"/>
          <p:cNvSpPr/>
          <p:nvPr/>
        </p:nvSpPr>
        <p:spPr>
          <a:xfrm>
            <a:off x="4965192" y="2084832"/>
            <a:ext cx="274320" cy="274320"/>
          </a:xfrm>
          <a:prstGeom prst="ellipse">
            <a:avLst/>
          </a:prstGeom>
          <a:solidFill>
            <a:srgbClr val="9C6B3C"/>
          </a:solidFill>
          <a:ln/>
        </p:spPr>
      </p:sp>
      <p:sp>
        <p:nvSpPr>
          <p:cNvPr id="18" name="Text 16"/>
          <p:cNvSpPr/>
          <p:nvPr/>
        </p:nvSpPr>
        <p:spPr>
          <a:xfrm>
            <a:off x="4965192" y="2084832"/>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맑은 고딕" pitchFamily="34" charset="0"/>
                <a:ea typeface="맑은 고딕" pitchFamily="34" charset="-122"/>
                <a:cs typeface="맑은 고딕" pitchFamily="34" charset="-120"/>
              </a:rPr>
              <a:t>④</a:t>
            </a:r>
            <a:endParaRPr lang="en-US" sz="1000" dirty="0"/>
          </a:p>
        </p:txBody>
      </p:sp>
      <p:sp>
        <p:nvSpPr>
          <p:cNvPr id="19" name="Text 17"/>
          <p:cNvSpPr/>
          <p:nvPr/>
        </p:nvSpPr>
        <p:spPr>
          <a:xfrm>
            <a:off x="4946904" y="2414016"/>
            <a:ext cx="1124712" cy="274320"/>
          </a:xfrm>
          <a:prstGeom prst="rect">
            <a:avLst/>
          </a:prstGeom>
          <a:noFill/>
          <a:ln/>
        </p:spPr>
        <p:txBody>
          <a:bodyPr wrap="square" lIns="0" tIns="0" rIns="0" bIns="0" rtlCol="0" anchor="ctr"/>
          <a:lstStyle/>
          <a:p>
            <a:pPr indent="0" marL="0">
              <a:buNone/>
            </a:pPr>
            <a:r>
              <a:rPr lang="en-US" sz="950" b="1" dirty="0">
                <a:solidFill>
                  <a:srgbClr val="1A1A1A"/>
                </a:solidFill>
                <a:latin typeface="맑은 고딕" pitchFamily="34" charset="0"/>
                <a:ea typeface="맑은 고딕" pitchFamily="34" charset="-122"/>
                <a:cs typeface="맑은 고딕" pitchFamily="34" charset="-120"/>
              </a:rPr>
              <a:t>올의 방</a:t>
            </a:r>
            <a:endParaRPr lang="en-US" sz="950" dirty="0"/>
          </a:p>
        </p:txBody>
      </p:sp>
      <p:sp>
        <p:nvSpPr>
          <p:cNvPr id="20" name="Shape 18"/>
          <p:cNvSpPr/>
          <p:nvPr/>
        </p:nvSpPr>
        <p:spPr>
          <a:xfrm>
            <a:off x="4892040" y="3063240"/>
            <a:ext cx="566928" cy="960120"/>
          </a:xfrm>
          <a:prstGeom prst="rect">
            <a:avLst/>
          </a:prstGeom>
          <a:solidFill>
            <a:srgbClr val="FFFFFF"/>
          </a:solidFill>
          <a:ln w="15875">
            <a:solidFill>
              <a:srgbClr val="2F4858"/>
            </a:solidFill>
            <a:prstDash val="solid"/>
          </a:ln>
        </p:spPr>
      </p:sp>
      <p:sp>
        <p:nvSpPr>
          <p:cNvPr id="21" name="Shape 19"/>
          <p:cNvSpPr/>
          <p:nvPr/>
        </p:nvSpPr>
        <p:spPr>
          <a:xfrm>
            <a:off x="4965192" y="3136392"/>
            <a:ext cx="274320" cy="274320"/>
          </a:xfrm>
          <a:prstGeom prst="ellipse">
            <a:avLst/>
          </a:prstGeom>
          <a:solidFill>
            <a:srgbClr val="2F4858"/>
          </a:solidFill>
          <a:ln/>
        </p:spPr>
      </p:sp>
      <p:sp>
        <p:nvSpPr>
          <p:cNvPr id="22" name="Text 20"/>
          <p:cNvSpPr/>
          <p:nvPr/>
        </p:nvSpPr>
        <p:spPr>
          <a:xfrm>
            <a:off x="4965192" y="3136392"/>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맑은 고딕" pitchFamily="34" charset="0"/>
                <a:ea typeface="맑은 고딕" pitchFamily="34" charset="-122"/>
                <a:cs typeface="맑은 고딕" pitchFamily="34" charset="-120"/>
              </a:rPr>
              <a:t>③</a:t>
            </a:r>
            <a:endParaRPr lang="en-US" sz="1000" dirty="0"/>
          </a:p>
        </p:txBody>
      </p:sp>
      <p:sp>
        <p:nvSpPr>
          <p:cNvPr id="23" name="Text 21"/>
          <p:cNvSpPr/>
          <p:nvPr/>
        </p:nvSpPr>
        <p:spPr>
          <a:xfrm>
            <a:off x="4946904" y="3465576"/>
            <a:ext cx="457200" cy="274320"/>
          </a:xfrm>
          <a:prstGeom prst="rect">
            <a:avLst/>
          </a:prstGeom>
          <a:noFill/>
          <a:ln/>
        </p:spPr>
        <p:txBody>
          <a:bodyPr wrap="square" lIns="0" tIns="0" rIns="0" bIns="0" rtlCol="0" anchor="ctr"/>
          <a:lstStyle/>
          <a:p>
            <a:pPr indent="0" marL="0">
              <a:buNone/>
            </a:pPr>
            <a:r>
              <a:rPr lang="en-US" sz="950" b="1" dirty="0">
                <a:solidFill>
                  <a:srgbClr val="1A1A1A"/>
                </a:solidFill>
                <a:latin typeface="맑은 고딕" pitchFamily="34" charset="0"/>
                <a:ea typeface="맑은 고딕" pitchFamily="34" charset="-122"/>
                <a:cs typeface="맑은 고딕" pitchFamily="34" charset="-120"/>
              </a:rPr>
              <a:t>물의 방</a:t>
            </a:r>
            <a:endParaRPr lang="en-US" sz="950" dirty="0"/>
          </a:p>
        </p:txBody>
      </p:sp>
      <p:sp>
        <p:nvSpPr>
          <p:cNvPr id="24" name="Shape 22"/>
          <p:cNvSpPr/>
          <p:nvPr/>
        </p:nvSpPr>
        <p:spPr>
          <a:xfrm>
            <a:off x="5550408" y="3063240"/>
            <a:ext cx="576072" cy="960120"/>
          </a:xfrm>
          <a:prstGeom prst="rect">
            <a:avLst/>
          </a:prstGeom>
          <a:solidFill>
            <a:srgbClr val="FFFFFF"/>
          </a:solidFill>
          <a:ln w="15875">
            <a:solidFill>
              <a:srgbClr val="4A4A4A"/>
            </a:solidFill>
            <a:prstDash val="solid"/>
          </a:ln>
        </p:spPr>
      </p:sp>
      <p:sp>
        <p:nvSpPr>
          <p:cNvPr id="25" name="Shape 23"/>
          <p:cNvSpPr/>
          <p:nvPr/>
        </p:nvSpPr>
        <p:spPr>
          <a:xfrm>
            <a:off x="5623560" y="3136392"/>
            <a:ext cx="274320" cy="274320"/>
          </a:xfrm>
          <a:prstGeom prst="ellipse">
            <a:avLst/>
          </a:prstGeom>
          <a:solidFill>
            <a:srgbClr val="4A4A4A"/>
          </a:solidFill>
          <a:ln/>
        </p:spPr>
      </p:sp>
      <p:sp>
        <p:nvSpPr>
          <p:cNvPr id="26" name="Text 24"/>
          <p:cNvSpPr/>
          <p:nvPr/>
        </p:nvSpPr>
        <p:spPr>
          <a:xfrm>
            <a:off x="5623560" y="3136392"/>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맑은 고딕" pitchFamily="34" charset="0"/>
                <a:ea typeface="맑은 고딕" pitchFamily="34" charset="-122"/>
                <a:cs typeface="맑은 고딕" pitchFamily="34" charset="-120"/>
              </a:rPr>
              <a:t>②</a:t>
            </a:r>
            <a:endParaRPr lang="en-US" sz="1000" dirty="0"/>
          </a:p>
        </p:txBody>
      </p:sp>
      <p:sp>
        <p:nvSpPr>
          <p:cNvPr id="27" name="Text 25"/>
          <p:cNvSpPr/>
          <p:nvPr/>
        </p:nvSpPr>
        <p:spPr>
          <a:xfrm>
            <a:off x="5605272" y="3465576"/>
            <a:ext cx="466344" cy="274320"/>
          </a:xfrm>
          <a:prstGeom prst="rect">
            <a:avLst/>
          </a:prstGeom>
          <a:noFill/>
          <a:ln/>
        </p:spPr>
        <p:txBody>
          <a:bodyPr wrap="square" lIns="0" tIns="0" rIns="0" bIns="0" rtlCol="0" anchor="ctr"/>
          <a:lstStyle/>
          <a:p>
            <a:pPr indent="0" marL="0">
              <a:buNone/>
            </a:pPr>
            <a:r>
              <a:rPr lang="en-US" sz="950" b="1" dirty="0">
                <a:solidFill>
                  <a:srgbClr val="1A1A1A"/>
                </a:solidFill>
                <a:latin typeface="맑은 고딕" pitchFamily="34" charset="0"/>
                <a:ea typeface="맑은 고딕" pitchFamily="34" charset="-122"/>
                <a:cs typeface="맑은 고딕" pitchFamily="34" charset="-120"/>
              </a:rPr>
              <a:t>지층 열람실</a:t>
            </a:r>
            <a:endParaRPr lang="en-US" sz="950" dirty="0"/>
          </a:p>
        </p:txBody>
      </p:sp>
      <p:sp>
        <p:nvSpPr>
          <p:cNvPr id="28" name="Shape 26"/>
          <p:cNvSpPr/>
          <p:nvPr/>
        </p:nvSpPr>
        <p:spPr>
          <a:xfrm>
            <a:off x="2194560" y="4114800"/>
            <a:ext cx="1261872" cy="1234440"/>
          </a:xfrm>
          <a:prstGeom prst="rect">
            <a:avLst/>
          </a:prstGeom>
          <a:solidFill>
            <a:srgbClr val="FFFFFF"/>
          </a:solidFill>
          <a:ln w="15875">
            <a:solidFill>
              <a:srgbClr val="7A4A45"/>
            </a:solidFill>
            <a:prstDash val="solid"/>
          </a:ln>
        </p:spPr>
      </p:sp>
      <p:sp>
        <p:nvSpPr>
          <p:cNvPr id="29" name="Shape 27"/>
          <p:cNvSpPr/>
          <p:nvPr/>
        </p:nvSpPr>
        <p:spPr>
          <a:xfrm>
            <a:off x="2267712" y="4187952"/>
            <a:ext cx="274320" cy="274320"/>
          </a:xfrm>
          <a:prstGeom prst="ellipse">
            <a:avLst/>
          </a:prstGeom>
          <a:solidFill>
            <a:srgbClr val="7A4A45"/>
          </a:solidFill>
          <a:ln/>
        </p:spPr>
      </p:sp>
      <p:sp>
        <p:nvSpPr>
          <p:cNvPr id="30" name="Text 28"/>
          <p:cNvSpPr/>
          <p:nvPr/>
        </p:nvSpPr>
        <p:spPr>
          <a:xfrm>
            <a:off x="2267712" y="4187952"/>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맑은 고딕" pitchFamily="34" charset="0"/>
                <a:ea typeface="맑은 고딕" pitchFamily="34" charset="-122"/>
                <a:cs typeface="맑은 고딕" pitchFamily="34" charset="-120"/>
              </a:rPr>
              <a:t>⑦</a:t>
            </a:r>
            <a:endParaRPr lang="en-US" sz="1000" dirty="0"/>
          </a:p>
        </p:txBody>
      </p:sp>
      <p:sp>
        <p:nvSpPr>
          <p:cNvPr id="31" name="Text 29"/>
          <p:cNvSpPr/>
          <p:nvPr/>
        </p:nvSpPr>
        <p:spPr>
          <a:xfrm>
            <a:off x="2249424" y="4517136"/>
            <a:ext cx="1152144" cy="274320"/>
          </a:xfrm>
          <a:prstGeom prst="rect">
            <a:avLst/>
          </a:prstGeom>
          <a:noFill/>
          <a:ln/>
        </p:spPr>
        <p:txBody>
          <a:bodyPr wrap="square" lIns="0" tIns="0" rIns="0" bIns="0" rtlCol="0" anchor="ctr"/>
          <a:lstStyle/>
          <a:p>
            <a:pPr indent="0" marL="0">
              <a:buNone/>
            </a:pPr>
            <a:r>
              <a:rPr lang="en-US" sz="950" b="1" dirty="0">
                <a:solidFill>
                  <a:srgbClr val="1A1A1A"/>
                </a:solidFill>
                <a:latin typeface="맑은 고딕" pitchFamily="34" charset="0"/>
                <a:ea typeface="맑은 고딕" pitchFamily="34" charset="-122"/>
                <a:cs typeface="맑은 고딕" pitchFamily="34" charset="-120"/>
              </a:rPr>
              <a:t>덧대는 방</a:t>
            </a:r>
            <a:endParaRPr lang="en-US" sz="950" dirty="0"/>
          </a:p>
        </p:txBody>
      </p:sp>
      <p:sp>
        <p:nvSpPr>
          <p:cNvPr id="32" name="Shape 30"/>
          <p:cNvSpPr/>
          <p:nvPr/>
        </p:nvSpPr>
        <p:spPr>
          <a:xfrm>
            <a:off x="3547872" y="4114800"/>
            <a:ext cx="1252728" cy="1234440"/>
          </a:xfrm>
          <a:prstGeom prst="rect">
            <a:avLst/>
          </a:prstGeom>
          <a:solidFill>
            <a:srgbClr val="FFFFFF"/>
          </a:solidFill>
          <a:ln w="15875">
            <a:solidFill>
              <a:srgbClr val="7A4A45"/>
            </a:solidFill>
            <a:prstDash val="solid"/>
          </a:ln>
        </p:spPr>
      </p:sp>
      <p:sp>
        <p:nvSpPr>
          <p:cNvPr id="33" name="Shape 31"/>
          <p:cNvSpPr/>
          <p:nvPr/>
        </p:nvSpPr>
        <p:spPr>
          <a:xfrm>
            <a:off x="3621024" y="4187952"/>
            <a:ext cx="274320" cy="274320"/>
          </a:xfrm>
          <a:prstGeom prst="ellipse">
            <a:avLst/>
          </a:prstGeom>
          <a:solidFill>
            <a:srgbClr val="7A4A45"/>
          </a:solidFill>
          <a:ln/>
        </p:spPr>
      </p:sp>
      <p:sp>
        <p:nvSpPr>
          <p:cNvPr id="34" name="Text 32"/>
          <p:cNvSpPr/>
          <p:nvPr/>
        </p:nvSpPr>
        <p:spPr>
          <a:xfrm>
            <a:off x="3621024" y="4187952"/>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맑은 고딕" pitchFamily="34" charset="0"/>
                <a:ea typeface="맑은 고딕" pitchFamily="34" charset="-122"/>
                <a:cs typeface="맑은 고딕" pitchFamily="34" charset="-120"/>
              </a:rPr>
              <a:t>⑥</a:t>
            </a:r>
            <a:endParaRPr lang="en-US" sz="1000" dirty="0"/>
          </a:p>
        </p:txBody>
      </p:sp>
      <p:sp>
        <p:nvSpPr>
          <p:cNvPr id="35" name="Text 33"/>
          <p:cNvSpPr/>
          <p:nvPr/>
        </p:nvSpPr>
        <p:spPr>
          <a:xfrm>
            <a:off x="3602736" y="4517136"/>
            <a:ext cx="1143000" cy="274320"/>
          </a:xfrm>
          <a:prstGeom prst="rect">
            <a:avLst/>
          </a:prstGeom>
          <a:noFill/>
          <a:ln/>
        </p:spPr>
        <p:txBody>
          <a:bodyPr wrap="square" lIns="0" tIns="0" rIns="0" bIns="0" rtlCol="0" anchor="ctr"/>
          <a:lstStyle/>
          <a:p>
            <a:pPr indent="0" marL="0">
              <a:buNone/>
            </a:pPr>
            <a:r>
              <a:rPr lang="en-US" sz="950" b="1" dirty="0">
                <a:solidFill>
                  <a:srgbClr val="1A1A1A"/>
                </a:solidFill>
                <a:latin typeface="맑은 고딕" pitchFamily="34" charset="0"/>
                <a:ea typeface="맑은 고딕" pitchFamily="34" charset="-122"/>
                <a:cs typeface="맑은 고딕" pitchFamily="34" charset="-120"/>
              </a:rPr>
              <a:t>창살 너머</a:t>
            </a:r>
            <a:endParaRPr lang="en-US" sz="950" dirty="0"/>
          </a:p>
        </p:txBody>
      </p:sp>
      <p:sp>
        <p:nvSpPr>
          <p:cNvPr id="36" name="Shape 34"/>
          <p:cNvSpPr/>
          <p:nvPr/>
        </p:nvSpPr>
        <p:spPr>
          <a:xfrm>
            <a:off x="4892040" y="4114800"/>
            <a:ext cx="1234440" cy="1234440"/>
          </a:xfrm>
          <a:prstGeom prst="rect">
            <a:avLst/>
          </a:prstGeom>
          <a:solidFill>
            <a:srgbClr val="FFFFFF"/>
          </a:solidFill>
          <a:ln w="15875">
            <a:solidFill>
              <a:srgbClr val="2F4858"/>
            </a:solidFill>
            <a:prstDash val="solid"/>
          </a:ln>
        </p:spPr>
      </p:sp>
      <p:sp>
        <p:nvSpPr>
          <p:cNvPr id="37" name="Shape 35"/>
          <p:cNvSpPr/>
          <p:nvPr/>
        </p:nvSpPr>
        <p:spPr>
          <a:xfrm>
            <a:off x="4965192" y="4187952"/>
            <a:ext cx="274320" cy="274320"/>
          </a:xfrm>
          <a:prstGeom prst="ellipse">
            <a:avLst/>
          </a:prstGeom>
          <a:solidFill>
            <a:srgbClr val="2F4858"/>
          </a:solidFill>
          <a:ln/>
        </p:spPr>
      </p:sp>
      <p:sp>
        <p:nvSpPr>
          <p:cNvPr id="38" name="Text 36"/>
          <p:cNvSpPr/>
          <p:nvPr/>
        </p:nvSpPr>
        <p:spPr>
          <a:xfrm>
            <a:off x="4965192" y="4187952"/>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맑은 고딕" pitchFamily="34" charset="0"/>
                <a:ea typeface="맑은 고딕" pitchFamily="34" charset="-122"/>
                <a:cs typeface="맑은 고딕" pitchFamily="34" charset="-120"/>
              </a:rPr>
              <a:t>①</a:t>
            </a:r>
            <a:endParaRPr lang="en-US" sz="1000" dirty="0"/>
          </a:p>
        </p:txBody>
      </p:sp>
      <p:sp>
        <p:nvSpPr>
          <p:cNvPr id="39" name="Text 37"/>
          <p:cNvSpPr/>
          <p:nvPr/>
        </p:nvSpPr>
        <p:spPr>
          <a:xfrm>
            <a:off x="4946904" y="4517136"/>
            <a:ext cx="1124712" cy="274320"/>
          </a:xfrm>
          <a:prstGeom prst="rect">
            <a:avLst/>
          </a:prstGeom>
          <a:noFill/>
          <a:ln/>
        </p:spPr>
        <p:txBody>
          <a:bodyPr wrap="square" lIns="0" tIns="0" rIns="0" bIns="0" rtlCol="0" anchor="ctr"/>
          <a:lstStyle/>
          <a:p>
            <a:pPr indent="0" marL="0">
              <a:buNone/>
            </a:pPr>
            <a:r>
              <a:rPr lang="en-US" sz="950" b="1" dirty="0">
                <a:solidFill>
                  <a:srgbClr val="1A1A1A"/>
                </a:solidFill>
                <a:latin typeface="맑은 고딕" pitchFamily="34" charset="0"/>
                <a:ea typeface="맑은 고딕" pitchFamily="34" charset="-122"/>
                <a:cs typeface="맑은 고딕" pitchFamily="34" charset="-120"/>
              </a:rPr>
              <a:t>범내를 부르다</a:t>
            </a:r>
            <a:endParaRPr lang="en-US" sz="950" dirty="0"/>
          </a:p>
        </p:txBody>
      </p:sp>
      <p:sp>
        <p:nvSpPr>
          <p:cNvPr id="40" name="Shape 38"/>
          <p:cNvSpPr/>
          <p:nvPr/>
        </p:nvSpPr>
        <p:spPr>
          <a:xfrm>
            <a:off x="6236208" y="4434840"/>
            <a:ext cx="658368" cy="594360"/>
          </a:xfrm>
          <a:prstGeom prst="rect">
            <a:avLst/>
          </a:prstGeom>
          <a:solidFill>
            <a:srgbClr val="1A1A1A"/>
          </a:solidFill>
          <a:ln/>
        </p:spPr>
      </p:sp>
      <p:sp>
        <p:nvSpPr>
          <p:cNvPr id="41" name="Text 39"/>
          <p:cNvSpPr/>
          <p:nvPr/>
        </p:nvSpPr>
        <p:spPr>
          <a:xfrm>
            <a:off x="6236208" y="4434840"/>
            <a:ext cx="658368" cy="594360"/>
          </a:xfrm>
          <a:prstGeom prst="rect">
            <a:avLst/>
          </a:prstGeom>
          <a:noFill/>
          <a:ln/>
        </p:spPr>
        <p:txBody>
          <a:bodyPr wrap="square" lIns="0" tIns="0" rIns="0" bIns="0" rtlCol="0" anchor="ctr"/>
          <a:lstStyle/>
          <a:p>
            <a:pPr algn="ctr" indent="0" marL="0">
              <a:buNone/>
            </a:pPr>
            <a:r>
              <a:rPr lang="en-US" sz="900" b="1" dirty="0">
                <a:solidFill>
                  <a:srgbClr val="FFFFFF"/>
                </a:solidFill>
                <a:latin typeface="맑은 고딕" pitchFamily="34" charset="0"/>
                <a:ea typeface="맑은 고딕" pitchFamily="34" charset="-122"/>
                <a:cs typeface="맑은 고딕" pitchFamily="34" charset="-120"/>
              </a:rPr>
              <a:t>입구</a:t>
            </a:r>
            <a:endParaRPr lang="en-US" sz="900" dirty="0"/>
          </a:p>
        </p:txBody>
      </p:sp>
      <p:sp>
        <p:nvSpPr>
          <p:cNvPr id="42" name="Shape 40"/>
          <p:cNvSpPr/>
          <p:nvPr/>
        </p:nvSpPr>
        <p:spPr>
          <a:xfrm>
            <a:off x="2194560" y="4069080"/>
            <a:ext cx="2606040" cy="0"/>
          </a:xfrm>
          <a:prstGeom prst="line">
            <a:avLst/>
          </a:prstGeom>
          <a:noFill/>
          <a:ln w="44450">
            <a:solidFill>
              <a:srgbClr val="9C6B3C"/>
            </a:solidFill>
            <a:prstDash val="sysDot"/>
          </a:ln>
        </p:spPr>
      </p:sp>
      <p:sp>
        <p:nvSpPr>
          <p:cNvPr id="43" name="Shape 41"/>
          <p:cNvSpPr/>
          <p:nvPr/>
        </p:nvSpPr>
        <p:spPr>
          <a:xfrm>
            <a:off x="4846320" y="2011680"/>
            <a:ext cx="0" cy="2011680"/>
          </a:xfrm>
          <a:prstGeom prst="line">
            <a:avLst/>
          </a:prstGeom>
          <a:noFill/>
          <a:ln w="44450">
            <a:solidFill>
              <a:srgbClr val="9C6B3C"/>
            </a:solidFill>
            <a:prstDash val="sysDot"/>
          </a:ln>
        </p:spPr>
      </p:sp>
      <p:sp>
        <p:nvSpPr>
          <p:cNvPr id="44" name="Text 42"/>
          <p:cNvSpPr/>
          <p:nvPr/>
        </p:nvSpPr>
        <p:spPr>
          <a:xfrm>
            <a:off x="640080" y="5596128"/>
            <a:ext cx="6400800" cy="274320"/>
          </a:xfrm>
          <a:prstGeom prst="rect">
            <a:avLst/>
          </a:prstGeom>
          <a:noFill/>
          <a:ln/>
        </p:spPr>
        <p:txBody>
          <a:bodyPr wrap="square" lIns="0" tIns="0" rIns="0" bIns="0" rtlCol="0" anchor="ctr"/>
          <a:lstStyle/>
          <a:p>
            <a:pPr indent="0" marL="0">
              <a:buNone/>
            </a:pPr>
            <a:r>
              <a:rPr lang="en-US" sz="900" dirty="0">
                <a:solidFill>
                  <a:srgbClr val="8A857E"/>
                </a:solidFill>
                <a:latin typeface="맑은 고딕" pitchFamily="34" charset="0"/>
                <a:ea typeface="맑은 고딕" pitchFamily="34" charset="-122"/>
                <a:cs typeface="맑은 고딕" pitchFamily="34" charset="-120"/>
              </a:rPr>
              <a:t>면적 33평  ·  동시 관람 정원 25인(회차제)  ·  평균 관람 45분  ·  가벽 렌탈 12매(자립식) 적용 구간 ▩</a:t>
            </a:r>
            <a:endParaRPr lang="en-US" sz="900" dirty="0"/>
          </a:p>
        </p:txBody>
      </p:sp>
      <p:sp>
        <p:nvSpPr>
          <p:cNvPr id="45" name="Shape 43"/>
          <p:cNvSpPr/>
          <p:nvPr/>
        </p:nvSpPr>
        <p:spPr>
          <a:xfrm>
            <a:off x="7406640" y="1874520"/>
            <a:ext cx="4206240" cy="4206240"/>
          </a:xfrm>
          <a:prstGeom prst="rect">
            <a:avLst/>
          </a:prstGeom>
          <a:solidFill>
            <a:srgbClr val="F3F1ED"/>
          </a:solidFill>
          <a:ln/>
        </p:spPr>
      </p:sp>
      <p:sp>
        <p:nvSpPr>
          <p:cNvPr id="46" name="Text 44"/>
          <p:cNvSpPr/>
          <p:nvPr/>
        </p:nvSpPr>
        <p:spPr>
          <a:xfrm>
            <a:off x="7662672" y="2057400"/>
            <a:ext cx="3657600" cy="274320"/>
          </a:xfrm>
          <a:prstGeom prst="rect">
            <a:avLst/>
          </a:prstGeom>
          <a:noFill/>
          <a:ln/>
        </p:spPr>
        <p:txBody>
          <a:bodyPr wrap="square" lIns="0" tIns="0" rIns="0" bIns="0" rtlCol="0" anchor="ctr"/>
          <a:lstStyle/>
          <a:p>
            <a:pPr indent="0" marL="0">
              <a:buNone/>
            </a:pPr>
            <a:r>
              <a:rPr lang="en-US" sz="1200" b="1" dirty="0">
                <a:solidFill>
                  <a:srgbClr val="1A1A1A"/>
                </a:solidFill>
                <a:latin typeface="맑은 고딕" pitchFamily="34" charset="0"/>
                <a:ea typeface="맑은 고딕" pitchFamily="34" charset="-122"/>
                <a:cs typeface="맑은 고딕" pitchFamily="34" charset="-120"/>
              </a:rPr>
              <a:t>관람 동선</a:t>
            </a:r>
            <a:endParaRPr lang="en-US" sz="1200" dirty="0"/>
          </a:p>
        </p:txBody>
      </p:sp>
      <p:sp>
        <p:nvSpPr>
          <p:cNvPr id="47" name="Shape 45"/>
          <p:cNvSpPr/>
          <p:nvPr/>
        </p:nvSpPr>
        <p:spPr>
          <a:xfrm>
            <a:off x="7699248" y="2423160"/>
            <a:ext cx="118872" cy="118872"/>
          </a:xfrm>
          <a:prstGeom prst="ellipse">
            <a:avLst/>
          </a:prstGeom>
          <a:solidFill>
            <a:srgbClr val="4A4A4A"/>
          </a:solidFill>
          <a:ln/>
        </p:spPr>
      </p:sp>
      <p:sp>
        <p:nvSpPr>
          <p:cNvPr id="48" name="Text 46"/>
          <p:cNvSpPr/>
          <p:nvPr/>
        </p:nvSpPr>
        <p:spPr>
          <a:xfrm>
            <a:off x="7918704" y="2359152"/>
            <a:ext cx="1600200" cy="274320"/>
          </a:xfrm>
          <a:prstGeom prst="rect">
            <a:avLst/>
          </a:prstGeom>
          <a:noFill/>
          <a:ln/>
        </p:spPr>
        <p:txBody>
          <a:bodyPr wrap="square" lIns="0" tIns="0" rIns="0" bIns="0" rtlCol="0" anchor="ctr"/>
          <a:lstStyle/>
          <a:p>
            <a:pPr indent="0" marL="0">
              <a:buNone/>
            </a:pPr>
            <a:r>
              <a:rPr lang="en-US" sz="1000" b="1" dirty="0">
                <a:solidFill>
                  <a:srgbClr val="1A1A1A"/>
                </a:solidFill>
                <a:latin typeface="맑은 고딕" pitchFamily="34" charset="0"/>
                <a:ea typeface="맑은 고딕" pitchFamily="34" charset="-122"/>
                <a:cs typeface="맑은 고딕" pitchFamily="34" charset="-120"/>
              </a:rPr>
              <a:t>입구</a:t>
            </a:r>
            <a:endParaRPr lang="en-US" sz="1000" dirty="0"/>
          </a:p>
        </p:txBody>
      </p:sp>
      <p:sp>
        <p:nvSpPr>
          <p:cNvPr id="49" name="Text 47"/>
          <p:cNvSpPr/>
          <p:nvPr/>
        </p:nvSpPr>
        <p:spPr>
          <a:xfrm>
            <a:off x="9528048" y="2368296"/>
            <a:ext cx="1965960" cy="274320"/>
          </a:xfrm>
          <a:prstGeom prst="rect">
            <a:avLst/>
          </a:prstGeom>
          <a:noFill/>
          <a:ln/>
        </p:spPr>
        <p:txBody>
          <a:bodyPr wrap="square" lIns="0" tIns="0" rIns="0" bIns="0" rtlCol="0" anchor="ctr"/>
          <a:lstStyle/>
          <a:p>
            <a:pPr indent="0" marL="0">
              <a:buNone/>
            </a:pPr>
            <a:r>
              <a:rPr lang="en-US" sz="850" dirty="0">
                <a:solidFill>
                  <a:srgbClr val="6E6A65"/>
                </a:solidFill>
                <a:latin typeface="맑은 고딕" pitchFamily="34" charset="0"/>
                <a:ea typeface="맑은 고딕" pitchFamily="34" charset="-122"/>
                <a:cs typeface="맑은 고딕" pitchFamily="34" charset="-120"/>
              </a:rPr>
              <a:t>회차 안내 · 실내화 · 소지품</a:t>
            </a:r>
            <a:endParaRPr lang="en-US" sz="850" dirty="0"/>
          </a:p>
        </p:txBody>
      </p:sp>
      <p:sp>
        <p:nvSpPr>
          <p:cNvPr id="50" name="Shape 48"/>
          <p:cNvSpPr/>
          <p:nvPr/>
        </p:nvSpPr>
        <p:spPr>
          <a:xfrm>
            <a:off x="7699248" y="2720340"/>
            <a:ext cx="118872" cy="118872"/>
          </a:xfrm>
          <a:prstGeom prst="ellipse">
            <a:avLst/>
          </a:prstGeom>
          <a:solidFill>
            <a:srgbClr val="2F4858"/>
          </a:solidFill>
          <a:ln/>
        </p:spPr>
      </p:sp>
      <p:sp>
        <p:nvSpPr>
          <p:cNvPr id="51" name="Text 49"/>
          <p:cNvSpPr/>
          <p:nvPr/>
        </p:nvSpPr>
        <p:spPr>
          <a:xfrm>
            <a:off x="7918704" y="2656332"/>
            <a:ext cx="1600200" cy="274320"/>
          </a:xfrm>
          <a:prstGeom prst="rect">
            <a:avLst/>
          </a:prstGeom>
          <a:noFill/>
          <a:ln/>
        </p:spPr>
        <p:txBody>
          <a:bodyPr wrap="square" lIns="0" tIns="0" rIns="0" bIns="0" rtlCol="0" anchor="ctr"/>
          <a:lstStyle/>
          <a:p>
            <a:pPr indent="0" marL="0">
              <a:buNone/>
            </a:pPr>
            <a:r>
              <a:rPr lang="en-US" sz="1000" b="1" dirty="0">
                <a:solidFill>
                  <a:srgbClr val="1A1A1A"/>
                </a:solidFill>
                <a:latin typeface="맑은 고딕" pitchFamily="34" charset="0"/>
                <a:ea typeface="맑은 고딕" pitchFamily="34" charset="-122"/>
                <a:cs typeface="맑은 고딕" pitchFamily="34" charset="-120"/>
              </a:rPr>
              <a:t>① 범내를 부르다</a:t>
            </a:r>
            <a:endParaRPr lang="en-US" sz="1000" dirty="0"/>
          </a:p>
        </p:txBody>
      </p:sp>
      <p:sp>
        <p:nvSpPr>
          <p:cNvPr id="52" name="Text 50"/>
          <p:cNvSpPr/>
          <p:nvPr/>
        </p:nvSpPr>
        <p:spPr>
          <a:xfrm>
            <a:off x="9528048" y="2665476"/>
            <a:ext cx="1965960" cy="274320"/>
          </a:xfrm>
          <a:prstGeom prst="rect">
            <a:avLst/>
          </a:prstGeom>
          <a:noFill/>
          <a:ln/>
        </p:spPr>
        <p:txBody>
          <a:bodyPr wrap="square" lIns="0" tIns="0" rIns="0" bIns="0" rtlCol="0" anchor="ctr"/>
          <a:lstStyle/>
          <a:p>
            <a:pPr indent="0" marL="0">
              <a:buNone/>
            </a:pPr>
            <a:r>
              <a:rPr lang="en-US" sz="850" dirty="0">
                <a:solidFill>
                  <a:srgbClr val="6E6A65"/>
                </a:solidFill>
                <a:latin typeface="맑은 고딕" pitchFamily="34" charset="0"/>
                <a:ea typeface="맑은 고딕" pitchFamily="34" charset="-122"/>
                <a:cs typeface="맑은 고딕" pitchFamily="34" charset="-120"/>
              </a:rPr>
              <a:t>복개천 수음 8채널 · 어둠과 물소리</a:t>
            </a:r>
            <a:endParaRPr lang="en-US" sz="850" dirty="0"/>
          </a:p>
        </p:txBody>
      </p:sp>
      <p:sp>
        <p:nvSpPr>
          <p:cNvPr id="53" name="Shape 51"/>
          <p:cNvSpPr/>
          <p:nvPr/>
        </p:nvSpPr>
        <p:spPr>
          <a:xfrm>
            <a:off x="7699248" y="3017520"/>
            <a:ext cx="118872" cy="118872"/>
          </a:xfrm>
          <a:prstGeom prst="ellipse">
            <a:avLst/>
          </a:prstGeom>
          <a:solidFill>
            <a:srgbClr val="4A4A4A"/>
          </a:solidFill>
          <a:ln/>
        </p:spPr>
      </p:sp>
      <p:sp>
        <p:nvSpPr>
          <p:cNvPr id="54" name="Text 52"/>
          <p:cNvSpPr/>
          <p:nvPr/>
        </p:nvSpPr>
        <p:spPr>
          <a:xfrm>
            <a:off x="7918704" y="2953512"/>
            <a:ext cx="1600200" cy="274320"/>
          </a:xfrm>
          <a:prstGeom prst="rect">
            <a:avLst/>
          </a:prstGeom>
          <a:noFill/>
          <a:ln/>
        </p:spPr>
        <p:txBody>
          <a:bodyPr wrap="square" lIns="0" tIns="0" rIns="0" bIns="0" rtlCol="0" anchor="ctr"/>
          <a:lstStyle/>
          <a:p>
            <a:pPr indent="0" marL="0">
              <a:buNone/>
            </a:pPr>
            <a:r>
              <a:rPr lang="en-US" sz="1000" b="1" dirty="0">
                <a:solidFill>
                  <a:srgbClr val="1A1A1A"/>
                </a:solidFill>
                <a:latin typeface="맑은 고딕" pitchFamily="34" charset="0"/>
                <a:ea typeface="맑은 고딕" pitchFamily="34" charset="-122"/>
                <a:cs typeface="맑은 고딕" pitchFamily="34" charset="-120"/>
              </a:rPr>
              <a:t>② 지층 열람실</a:t>
            </a:r>
            <a:endParaRPr lang="en-US" sz="1000" dirty="0"/>
          </a:p>
        </p:txBody>
      </p:sp>
      <p:sp>
        <p:nvSpPr>
          <p:cNvPr id="55" name="Text 53"/>
          <p:cNvSpPr/>
          <p:nvPr/>
        </p:nvSpPr>
        <p:spPr>
          <a:xfrm>
            <a:off x="9528048" y="2962656"/>
            <a:ext cx="1965960" cy="274320"/>
          </a:xfrm>
          <a:prstGeom prst="rect">
            <a:avLst/>
          </a:prstGeom>
          <a:noFill/>
          <a:ln/>
        </p:spPr>
        <p:txBody>
          <a:bodyPr wrap="square" lIns="0" tIns="0" rIns="0" bIns="0" rtlCol="0" anchor="ctr"/>
          <a:lstStyle/>
          <a:p>
            <a:pPr indent="0" marL="0">
              <a:buNone/>
            </a:pPr>
            <a:r>
              <a:rPr lang="en-US" sz="850" dirty="0">
                <a:solidFill>
                  <a:srgbClr val="6E6A65"/>
                </a:solidFill>
                <a:latin typeface="맑은 고딕" pitchFamily="34" charset="0"/>
                <a:ea typeface="맑은 고딕" pitchFamily="34" charset="-122"/>
                <a:cs typeface="맑은 고딕" pitchFamily="34" charset="-120"/>
              </a:rPr>
              <a:t>지도·매축 도면·조방 사진 아카이브</a:t>
            </a:r>
            <a:endParaRPr lang="en-US" sz="850" dirty="0"/>
          </a:p>
        </p:txBody>
      </p:sp>
      <p:sp>
        <p:nvSpPr>
          <p:cNvPr id="56" name="Shape 54"/>
          <p:cNvSpPr/>
          <p:nvPr/>
        </p:nvSpPr>
        <p:spPr>
          <a:xfrm>
            <a:off x="7699248" y="3314700"/>
            <a:ext cx="118872" cy="118872"/>
          </a:xfrm>
          <a:prstGeom prst="ellipse">
            <a:avLst/>
          </a:prstGeom>
          <a:solidFill>
            <a:srgbClr val="2F4858"/>
          </a:solidFill>
          <a:ln/>
        </p:spPr>
      </p:sp>
      <p:sp>
        <p:nvSpPr>
          <p:cNvPr id="57" name="Text 55"/>
          <p:cNvSpPr/>
          <p:nvPr/>
        </p:nvSpPr>
        <p:spPr>
          <a:xfrm>
            <a:off x="7918704" y="3250692"/>
            <a:ext cx="1600200" cy="274320"/>
          </a:xfrm>
          <a:prstGeom prst="rect">
            <a:avLst/>
          </a:prstGeom>
          <a:noFill/>
          <a:ln/>
        </p:spPr>
        <p:txBody>
          <a:bodyPr wrap="square" lIns="0" tIns="0" rIns="0" bIns="0" rtlCol="0" anchor="ctr"/>
          <a:lstStyle/>
          <a:p>
            <a:pPr indent="0" marL="0">
              <a:buNone/>
            </a:pPr>
            <a:r>
              <a:rPr lang="en-US" sz="1000" b="1" dirty="0">
                <a:solidFill>
                  <a:srgbClr val="1A1A1A"/>
                </a:solidFill>
                <a:latin typeface="맑은 고딕" pitchFamily="34" charset="0"/>
                <a:ea typeface="맑은 고딕" pitchFamily="34" charset="-122"/>
                <a:cs typeface="맑은 고딕" pitchFamily="34" charset="-120"/>
              </a:rPr>
              <a:t>③ 물의 방</a:t>
            </a:r>
            <a:endParaRPr lang="en-US" sz="1000" dirty="0"/>
          </a:p>
        </p:txBody>
      </p:sp>
      <p:sp>
        <p:nvSpPr>
          <p:cNvPr id="58" name="Text 56"/>
          <p:cNvSpPr/>
          <p:nvPr/>
        </p:nvSpPr>
        <p:spPr>
          <a:xfrm>
            <a:off x="9528048" y="3259836"/>
            <a:ext cx="1965960" cy="274320"/>
          </a:xfrm>
          <a:prstGeom prst="rect">
            <a:avLst/>
          </a:prstGeom>
          <a:noFill/>
          <a:ln/>
        </p:spPr>
        <p:txBody>
          <a:bodyPr wrap="square" lIns="0" tIns="0" rIns="0" bIns="0" rtlCol="0" anchor="ctr"/>
          <a:lstStyle/>
          <a:p>
            <a:pPr indent="0" marL="0">
              <a:buNone/>
            </a:pPr>
            <a:r>
              <a:rPr lang="en-US" sz="850" dirty="0">
                <a:solidFill>
                  <a:srgbClr val="6E6A65"/>
                </a:solidFill>
                <a:latin typeface="맑은 고딕" pitchFamily="34" charset="0"/>
                <a:ea typeface="맑은 고딕" pitchFamily="34" charset="-122"/>
                <a:cs typeface="맑은 고딕" pitchFamily="34" charset="-120"/>
              </a:rPr>
              <a:t>욕조와 세면대, 결로와 수면 영상</a:t>
            </a:r>
            <a:endParaRPr lang="en-US" sz="850" dirty="0"/>
          </a:p>
        </p:txBody>
      </p:sp>
      <p:sp>
        <p:nvSpPr>
          <p:cNvPr id="59" name="Shape 57"/>
          <p:cNvSpPr/>
          <p:nvPr/>
        </p:nvSpPr>
        <p:spPr>
          <a:xfrm>
            <a:off x="7699248" y="3611880"/>
            <a:ext cx="118872" cy="118872"/>
          </a:xfrm>
          <a:prstGeom prst="ellipse">
            <a:avLst/>
          </a:prstGeom>
          <a:solidFill>
            <a:srgbClr val="9C6B3C"/>
          </a:solidFill>
          <a:ln/>
        </p:spPr>
      </p:sp>
      <p:sp>
        <p:nvSpPr>
          <p:cNvPr id="60" name="Text 58"/>
          <p:cNvSpPr/>
          <p:nvPr/>
        </p:nvSpPr>
        <p:spPr>
          <a:xfrm>
            <a:off x="7918704" y="3547872"/>
            <a:ext cx="1600200" cy="274320"/>
          </a:xfrm>
          <a:prstGeom prst="rect">
            <a:avLst/>
          </a:prstGeom>
          <a:noFill/>
          <a:ln/>
        </p:spPr>
        <p:txBody>
          <a:bodyPr wrap="square" lIns="0" tIns="0" rIns="0" bIns="0" rtlCol="0" anchor="ctr"/>
          <a:lstStyle/>
          <a:p>
            <a:pPr indent="0" marL="0">
              <a:buNone/>
            </a:pPr>
            <a:r>
              <a:rPr lang="en-US" sz="1000" b="1" dirty="0">
                <a:solidFill>
                  <a:srgbClr val="1A1A1A"/>
                </a:solidFill>
                <a:latin typeface="맑은 고딕" pitchFamily="34" charset="0"/>
                <a:ea typeface="맑은 고딕" pitchFamily="34" charset="-122"/>
                <a:cs typeface="맑은 고딕" pitchFamily="34" charset="-120"/>
              </a:rPr>
              <a:t>④ 올의 방</a:t>
            </a:r>
            <a:endParaRPr lang="en-US" sz="1000" dirty="0"/>
          </a:p>
        </p:txBody>
      </p:sp>
      <p:sp>
        <p:nvSpPr>
          <p:cNvPr id="61" name="Text 59"/>
          <p:cNvSpPr/>
          <p:nvPr/>
        </p:nvSpPr>
        <p:spPr>
          <a:xfrm>
            <a:off x="9528048" y="3557016"/>
            <a:ext cx="1965960" cy="274320"/>
          </a:xfrm>
          <a:prstGeom prst="rect">
            <a:avLst/>
          </a:prstGeom>
          <a:noFill/>
          <a:ln/>
        </p:spPr>
        <p:txBody>
          <a:bodyPr wrap="square" lIns="0" tIns="0" rIns="0" bIns="0" rtlCol="0" anchor="ctr"/>
          <a:lstStyle/>
          <a:p>
            <a:pPr indent="0" marL="0">
              <a:buNone/>
            </a:pPr>
            <a:r>
              <a:rPr lang="en-US" sz="850" dirty="0">
                <a:solidFill>
                  <a:srgbClr val="6E6A65"/>
                </a:solidFill>
                <a:latin typeface="맑은 고딕" pitchFamily="34" charset="0"/>
                <a:ea typeface="맑은 고딕" pitchFamily="34" charset="-122"/>
                <a:cs typeface="맑은 고딕" pitchFamily="34" charset="-120"/>
              </a:rPr>
              <a:t>진시장 자투리 원단 대형 직조</a:t>
            </a:r>
            <a:endParaRPr lang="en-US" sz="850" dirty="0"/>
          </a:p>
        </p:txBody>
      </p:sp>
      <p:sp>
        <p:nvSpPr>
          <p:cNvPr id="62" name="Shape 60"/>
          <p:cNvSpPr/>
          <p:nvPr/>
        </p:nvSpPr>
        <p:spPr>
          <a:xfrm>
            <a:off x="7699248" y="3909060"/>
            <a:ext cx="118872" cy="118872"/>
          </a:xfrm>
          <a:prstGeom prst="ellipse">
            <a:avLst/>
          </a:prstGeom>
          <a:solidFill>
            <a:srgbClr val="9C6B3C"/>
          </a:solidFill>
          <a:ln/>
        </p:spPr>
      </p:sp>
      <p:sp>
        <p:nvSpPr>
          <p:cNvPr id="63" name="Text 61"/>
          <p:cNvSpPr/>
          <p:nvPr/>
        </p:nvSpPr>
        <p:spPr>
          <a:xfrm>
            <a:off x="7918704" y="3845052"/>
            <a:ext cx="1600200" cy="274320"/>
          </a:xfrm>
          <a:prstGeom prst="rect">
            <a:avLst/>
          </a:prstGeom>
          <a:noFill/>
          <a:ln/>
        </p:spPr>
        <p:txBody>
          <a:bodyPr wrap="square" lIns="0" tIns="0" rIns="0" bIns="0" rtlCol="0" anchor="ctr"/>
          <a:lstStyle/>
          <a:p>
            <a:pPr indent="0" marL="0">
              <a:buNone/>
            </a:pPr>
            <a:r>
              <a:rPr lang="en-US" sz="1000" b="1" dirty="0">
                <a:solidFill>
                  <a:srgbClr val="1A1A1A"/>
                </a:solidFill>
                <a:latin typeface="맑은 고딕" pitchFamily="34" charset="0"/>
                <a:ea typeface="맑은 고딕" pitchFamily="34" charset="-122"/>
                <a:cs typeface="맑은 고딕" pitchFamily="34" charset="-120"/>
              </a:rPr>
              <a:t>⑤ 직조된 도시</a:t>
            </a:r>
            <a:endParaRPr lang="en-US" sz="1000" dirty="0"/>
          </a:p>
        </p:txBody>
      </p:sp>
      <p:sp>
        <p:nvSpPr>
          <p:cNvPr id="64" name="Text 62"/>
          <p:cNvSpPr/>
          <p:nvPr/>
        </p:nvSpPr>
        <p:spPr>
          <a:xfrm>
            <a:off x="9528048" y="3854196"/>
            <a:ext cx="1965960" cy="274320"/>
          </a:xfrm>
          <a:prstGeom prst="rect">
            <a:avLst/>
          </a:prstGeom>
          <a:noFill/>
          <a:ln/>
        </p:spPr>
        <p:txBody>
          <a:bodyPr wrap="square" lIns="0" tIns="0" rIns="0" bIns="0" rtlCol="0" anchor="ctr"/>
          <a:lstStyle/>
          <a:p>
            <a:pPr indent="0" marL="0">
              <a:buNone/>
            </a:pPr>
            <a:r>
              <a:rPr lang="en-US" sz="850" dirty="0">
                <a:solidFill>
                  <a:srgbClr val="6E6A65"/>
                </a:solidFill>
                <a:latin typeface="맑은 고딕" pitchFamily="34" charset="0"/>
                <a:ea typeface="맑은 고딕" pitchFamily="34" charset="-122"/>
                <a:cs typeface="맑은 고딕" pitchFamily="34" charset="-120"/>
              </a:rPr>
              <a:t>메인홀 · 3면+바닥 프로젝션</a:t>
            </a:r>
            <a:endParaRPr lang="en-US" sz="850" dirty="0"/>
          </a:p>
        </p:txBody>
      </p:sp>
      <p:sp>
        <p:nvSpPr>
          <p:cNvPr id="65" name="Shape 63"/>
          <p:cNvSpPr/>
          <p:nvPr/>
        </p:nvSpPr>
        <p:spPr>
          <a:xfrm>
            <a:off x="7699248" y="4206240"/>
            <a:ext cx="118872" cy="118872"/>
          </a:xfrm>
          <a:prstGeom prst="ellipse">
            <a:avLst/>
          </a:prstGeom>
          <a:solidFill>
            <a:srgbClr val="7A4A45"/>
          </a:solidFill>
          <a:ln/>
        </p:spPr>
      </p:sp>
      <p:sp>
        <p:nvSpPr>
          <p:cNvPr id="66" name="Text 64"/>
          <p:cNvSpPr/>
          <p:nvPr/>
        </p:nvSpPr>
        <p:spPr>
          <a:xfrm>
            <a:off x="7918704" y="4142232"/>
            <a:ext cx="1600200" cy="274320"/>
          </a:xfrm>
          <a:prstGeom prst="rect">
            <a:avLst/>
          </a:prstGeom>
          <a:noFill/>
          <a:ln/>
        </p:spPr>
        <p:txBody>
          <a:bodyPr wrap="square" lIns="0" tIns="0" rIns="0" bIns="0" rtlCol="0" anchor="ctr"/>
          <a:lstStyle/>
          <a:p>
            <a:pPr indent="0" marL="0">
              <a:buNone/>
            </a:pPr>
            <a:r>
              <a:rPr lang="en-US" sz="1000" b="1" dirty="0">
                <a:solidFill>
                  <a:srgbClr val="1A1A1A"/>
                </a:solidFill>
                <a:latin typeface="맑은 고딕" pitchFamily="34" charset="0"/>
                <a:ea typeface="맑은 고딕" pitchFamily="34" charset="-122"/>
                <a:cs typeface="맑은 고딕" pitchFamily="34" charset="-120"/>
              </a:rPr>
              <a:t>⑥ 창살 너머</a:t>
            </a:r>
            <a:endParaRPr lang="en-US" sz="1000" dirty="0"/>
          </a:p>
        </p:txBody>
      </p:sp>
      <p:sp>
        <p:nvSpPr>
          <p:cNvPr id="67" name="Text 65"/>
          <p:cNvSpPr/>
          <p:nvPr/>
        </p:nvSpPr>
        <p:spPr>
          <a:xfrm>
            <a:off x="9528048" y="4151376"/>
            <a:ext cx="1965960" cy="274320"/>
          </a:xfrm>
          <a:prstGeom prst="rect">
            <a:avLst/>
          </a:prstGeom>
          <a:noFill/>
          <a:ln/>
        </p:spPr>
        <p:txBody>
          <a:bodyPr wrap="square" lIns="0" tIns="0" rIns="0" bIns="0" rtlCol="0" anchor="ctr"/>
          <a:lstStyle/>
          <a:p>
            <a:pPr indent="0" marL="0">
              <a:buNone/>
            </a:pPr>
            <a:r>
              <a:rPr lang="en-US" sz="850" dirty="0">
                <a:solidFill>
                  <a:srgbClr val="6E6A65"/>
                </a:solidFill>
                <a:latin typeface="맑은 고딕" pitchFamily="34" charset="0"/>
                <a:ea typeface="맑은 고딕" pitchFamily="34" charset="-122"/>
                <a:cs typeface="맑은 고딕" pitchFamily="34" charset="-120"/>
              </a:rPr>
              <a:t>창살 그림자와 시간, 사진·회화</a:t>
            </a:r>
            <a:endParaRPr lang="en-US" sz="850" dirty="0"/>
          </a:p>
        </p:txBody>
      </p:sp>
      <p:sp>
        <p:nvSpPr>
          <p:cNvPr id="68" name="Shape 66"/>
          <p:cNvSpPr/>
          <p:nvPr/>
        </p:nvSpPr>
        <p:spPr>
          <a:xfrm>
            <a:off x="7699248" y="4503420"/>
            <a:ext cx="118872" cy="118872"/>
          </a:xfrm>
          <a:prstGeom prst="ellipse">
            <a:avLst/>
          </a:prstGeom>
          <a:solidFill>
            <a:srgbClr val="7A4A45"/>
          </a:solidFill>
          <a:ln/>
        </p:spPr>
      </p:sp>
      <p:sp>
        <p:nvSpPr>
          <p:cNvPr id="69" name="Text 67"/>
          <p:cNvSpPr/>
          <p:nvPr/>
        </p:nvSpPr>
        <p:spPr>
          <a:xfrm>
            <a:off x="7918704" y="4439412"/>
            <a:ext cx="1600200" cy="274320"/>
          </a:xfrm>
          <a:prstGeom prst="rect">
            <a:avLst/>
          </a:prstGeom>
          <a:noFill/>
          <a:ln/>
        </p:spPr>
        <p:txBody>
          <a:bodyPr wrap="square" lIns="0" tIns="0" rIns="0" bIns="0" rtlCol="0" anchor="ctr"/>
          <a:lstStyle/>
          <a:p>
            <a:pPr indent="0" marL="0">
              <a:buNone/>
            </a:pPr>
            <a:r>
              <a:rPr lang="en-US" sz="1000" b="1" dirty="0">
                <a:solidFill>
                  <a:srgbClr val="1A1A1A"/>
                </a:solidFill>
                <a:latin typeface="맑은 고딕" pitchFamily="34" charset="0"/>
                <a:ea typeface="맑은 고딕" pitchFamily="34" charset="-122"/>
                <a:cs typeface="맑은 고딕" pitchFamily="34" charset="-120"/>
              </a:rPr>
              <a:t>⑦ 덧대는 방</a:t>
            </a:r>
            <a:endParaRPr lang="en-US" sz="1000" dirty="0"/>
          </a:p>
        </p:txBody>
      </p:sp>
      <p:sp>
        <p:nvSpPr>
          <p:cNvPr id="70" name="Text 68"/>
          <p:cNvSpPr/>
          <p:nvPr/>
        </p:nvSpPr>
        <p:spPr>
          <a:xfrm>
            <a:off x="9528048" y="4448556"/>
            <a:ext cx="1965960" cy="274320"/>
          </a:xfrm>
          <a:prstGeom prst="rect">
            <a:avLst/>
          </a:prstGeom>
          <a:noFill/>
          <a:ln/>
        </p:spPr>
        <p:txBody>
          <a:bodyPr wrap="square" lIns="0" tIns="0" rIns="0" bIns="0" rtlCol="0" anchor="ctr"/>
          <a:lstStyle/>
          <a:p>
            <a:pPr indent="0" marL="0">
              <a:buNone/>
            </a:pPr>
            <a:r>
              <a:rPr lang="en-US" sz="850" dirty="0">
                <a:solidFill>
                  <a:srgbClr val="6E6A65"/>
                </a:solidFill>
                <a:latin typeface="맑은 고딕" pitchFamily="34" charset="0"/>
                <a:ea typeface="맑은 고딕" pitchFamily="34" charset="-122"/>
                <a:cs typeface="맑은 고딕" pitchFamily="34" charset="-120"/>
              </a:rPr>
              <a:t>주민 참여 드로잉맵 상시 증축</a:t>
            </a:r>
            <a:endParaRPr lang="en-US" sz="850" dirty="0"/>
          </a:p>
        </p:txBody>
      </p:sp>
      <p:sp>
        <p:nvSpPr>
          <p:cNvPr id="71" name="Shape 69"/>
          <p:cNvSpPr/>
          <p:nvPr/>
        </p:nvSpPr>
        <p:spPr>
          <a:xfrm>
            <a:off x="7699248" y="4800600"/>
            <a:ext cx="118872" cy="118872"/>
          </a:xfrm>
          <a:prstGeom prst="ellipse">
            <a:avLst/>
          </a:prstGeom>
          <a:solidFill>
            <a:srgbClr val="7A4A45"/>
          </a:solidFill>
          <a:ln/>
        </p:spPr>
      </p:sp>
      <p:sp>
        <p:nvSpPr>
          <p:cNvPr id="72" name="Text 70"/>
          <p:cNvSpPr/>
          <p:nvPr/>
        </p:nvSpPr>
        <p:spPr>
          <a:xfrm>
            <a:off x="7918704" y="4736592"/>
            <a:ext cx="1600200" cy="274320"/>
          </a:xfrm>
          <a:prstGeom prst="rect">
            <a:avLst/>
          </a:prstGeom>
          <a:noFill/>
          <a:ln/>
        </p:spPr>
        <p:txBody>
          <a:bodyPr wrap="square" lIns="0" tIns="0" rIns="0" bIns="0" rtlCol="0" anchor="ctr"/>
          <a:lstStyle/>
          <a:p>
            <a:pPr indent="0" marL="0">
              <a:buNone/>
            </a:pPr>
            <a:r>
              <a:rPr lang="en-US" sz="1000" b="1" dirty="0">
                <a:solidFill>
                  <a:srgbClr val="1A1A1A"/>
                </a:solidFill>
                <a:latin typeface="맑은 고딕" pitchFamily="34" charset="0"/>
                <a:ea typeface="맑은 고딕" pitchFamily="34" charset="-122"/>
                <a:cs typeface="맑은 고딕" pitchFamily="34" charset="-120"/>
              </a:rPr>
              <a:t>⑧ 불의 자리</a:t>
            </a:r>
            <a:endParaRPr lang="en-US" sz="1000" dirty="0"/>
          </a:p>
        </p:txBody>
      </p:sp>
      <p:sp>
        <p:nvSpPr>
          <p:cNvPr id="73" name="Text 71"/>
          <p:cNvSpPr/>
          <p:nvPr/>
        </p:nvSpPr>
        <p:spPr>
          <a:xfrm>
            <a:off x="9528048" y="4745736"/>
            <a:ext cx="1965960" cy="274320"/>
          </a:xfrm>
          <a:prstGeom prst="rect">
            <a:avLst/>
          </a:prstGeom>
          <a:noFill/>
          <a:ln/>
        </p:spPr>
        <p:txBody>
          <a:bodyPr wrap="square" lIns="0" tIns="0" rIns="0" bIns="0" rtlCol="0" anchor="ctr"/>
          <a:lstStyle/>
          <a:p>
            <a:pPr indent="0" marL="0">
              <a:buNone/>
            </a:pPr>
            <a:r>
              <a:rPr lang="en-US" sz="850" dirty="0">
                <a:solidFill>
                  <a:srgbClr val="6E6A65"/>
                </a:solidFill>
                <a:latin typeface="맑은 고딕" pitchFamily="34" charset="0"/>
                <a:ea typeface="맑은 고딕" pitchFamily="34" charset="-122"/>
                <a:cs typeface="맑은 고딕" pitchFamily="34" charset="-120"/>
              </a:rPr>
              <a:t>부엌·커뮤니티 테이블 · 구술 상영</a:t>
            </a:r>
            <a:endParaRPr lang="en-US" sz="850" dirty="0"/>
          </a:p>
        </p:txBody>
      </p:sp>
      <p:sp>
        <p:nvSpPr>
          <p:cNvPr id="74" name="Text 72"/>
          <p:cNvSpPr/>
          <p:nvPr/>
        </p:nvSpPr>
        <p:spPr>
          <a:xfrm>
            <a:off x="640080" y="5870448"/>
            <a:ext cx="6400800" cy="274320"/>
          </a:xfrm>
          <a:prstGeom prst="rect">
            <a:avLst/>
          </a:prstGeom>
          <a:noFill/>
          <a:ln/>
        </p:spPr>
        <p:txBody>
          <a:bodyPr wrap="square" lIns="0" tIns="0" rIns="0" bIns="0" rtlCol="0" anchor="ctr"/>
          <a:lstStyle/>
          <a:p>
            <a:pPr indent="0" marL="0">
              <a:buNone/>
            </a:pPr>
            <a:r>
              <a:rPr lang="en-US" sz="900" dirty="0">
                <a:solidFill>
                  <a:srgbClr val="5A554F"/>
                </a:solidFill>
                <a:latin typeface="맑은 고딕" pitchFamily="34" charset="0"/>
                <a:ea typeface="맑은 고딕" pitchFamily="34" charset="-122"/>
                <a:cs typeface="맑은 고딕" pitchFamily="34" charset="-120"/>
              </a:rPr>
              <a:t>층위  ● 물(水)   ● 올(絲)   ● 사람(人)   ● 아카이브(관통)</a:t>
            </a:r>
            <a:endParaRPr lang="en-US" sz="900" dirty="0"/>
          </a:p>
        </p:txBody>
      </p:sp>
      <p:pic>
        <p:nvPicPr>
          <p:cNvPr id="75" name="Image 0" descr="/home/claude/aither/img/A20_1.jpeg">    </p:cNvPr>
          <p:cNvPicPr>
            <a:picLocks noChangeAspect="1"/>
          </p:cNvPicPr>
          <p:nvPr/>
        </p:nvPicPr>
        <p:blipFill>
          <a:blip r:embed="rId1"/>
          <a:srcRect l="0" r="0" t="0" b="0"/>
          <a:stretch/>
        </p:blipFill>
        <p:spPr>
          <a:xfrm>
            <a:off x="7699248" y="4892040"/>
            <a:ext cx="1691640" cy="960120"/>
          </a:xfrm>
          <a:prstGeom prst="rect">
            <a:avLst/>
          </a:prstGeom>
        </p:spPr>
      </p:pic>
      <p:sp>
        <p:nvSpPr>
          <p:cNvPr id="76" name="Text 73"/>
          <p:cNvSpPr/>
          <p:nvPr/>
        </p:nvSpPr>
        <p:spPr>
          <a:xfrm>
            <a:off x="9555480" y="4956048"/>
            <a:ext cx="1920240" cy="822960"/>
          </a:xfrm>
          <a:prstGeom prst="rect">
            <a:avLst/>
          </a:prstGeom>
          <a:noFill/>
          <a:ln/>
        </p:spPr>
        <p:txBody>
          <a:bodyPr wrap="square" lIns="0" tIns="0" rIns="0" bIns="0" rtlCol="0" anchor="ctr"/>
          <a:lstStyle/>
          <a:p>
            <a:pPr indent="0" marL="0">
              <a:lnSpc>
                <a:spcPts val="1100"/>
              </a:lnSpc>
              <a:buNone/>
            </a:pPr>
            <a:r>
              <a:rPr lang="en-US" sz="800" dirty="0">
                <a:solidFill>
                  <a:srgbClr val="6E6A65"/>
                </a:solidFill>
                <a:latin typeface="맑은 고딕" pitchFamily="34" charset="0"/>
                <a:ea typeface="맑은 고딕" pitchFamily="34" charset="-122"/>
                <a:cs typeface="맑은 고딕" pitchFamily="34" charset="-120"/>
              </a:rPr>
              <a:t>아이테르 제공 4F 실제 배치 도면</a:t>
            </a:r>
            <a:endParaRPr lang="en-US" sz="800" dirty="0"/>
          </a:p>
          <a:p>
            <a:pPr indent="0" marL="0">
              <a:lnSpc>
                <a:spcPts val="1100"/>
              </a:lnSpc>
              <a:buNone/>
            </a:pPr>
            <a:r>
              <a:rPr lang="en-US" sz="800" dirty="0">
                <a:solidFill>
                  <a:srgbClr val="6E6A65"/>
                </a:solidFill>
                <a:latin typeface="맑은 고딕" pitchFamily="34" charset="0"/>
                <a:ea typeface="맑은 고딕" pitchFamily="34" charset="-122"/>
                <a:cs typeface="맑은 고딕" pitchFamily="34" charset="-120"/>
              </a:rPr>
              <a:t>위 개념도는 이 도면을</a:t>
            </a:r>
            <a:endParaRPr lang="en-US" sz="800" dirty="0"/>
          </a:p>
          <a:p>
            <a:pPr indent="0" marL="0">
              <a:lnSpc>
                <a:spcPts val="1100"/>
              </a:lnSpc>
              <a:buNone/>
            </a:pPr>
            <a:r>
              <a:rPr lang="en-US" sz="800" dirty="0">
                <a:solidFill>
                  <a:srgbClr val="6E6A65"/>
                </a:solidFill>
                <a:latin typeface="맑은 고딕" pitchFamily="34" charset="0"/>
                <a:ea typeface="맑은 고딕" pitchFamily="34" charset="-122"/>
                <a:cs typeface="맑은 고딕" pitchFamily="34" charset="-120"/>
              </a:rPr>
              <a:t>단순화한 것입니다.</a:t>
            </a:r>
            <a:endParaRPr lang="en-US" sz="800" dirty="0"/>
          </a:p>
        </p:txBody>
      </p:sp>
      <p:sp>
        <p:nvSpPr>
          <p:cNvPr id="77" name="Text 74"/>
          <p:cNvSpPr/>
          <p:nvPr/>
        </p:nvSpPr>
        <p:spPr>
          <a:xfrm>
            <a:off x="548640" y="6419088"/>
            <a:ext cx="7315200" cy="274320"/>
          </a:xfrm>
          <a:prstGeom prst="rect">
            <a:avLst/>
          </a:prstGeom>
          <a:noFill/>
          <a:ln/>
        </p:spPr>
        <p:txBody>
          <a:bodyPr wrap="square" lIns="0" tIns="0" rIns="0" bIns="0" rtlCol="0" anchor="ctr"/>
          <a:lstStyle/>
          <a:p>
            <a:pPr algn="l" indent="0" marL="0">
              <a:buNone/>
            </a:pPr>
            <a:r>
              <a:rPr lang="en-US" sz="800" dirty="0">
                <a:solidFill>
                  <a:srgbClr val="8A857E"/>
                </a:solidFill>
                <a:latin typeface="맑은 고딕" pitchFamily="34" charset="0"/>
                <a:ea typeface="맑은 고딕" pitchFamily="34" charset="-122"/>
                <a:cs typeface="맑은 고딕" pitchFamily="34" charset="-120"/>
              </a:rPr>
              <a:t>아이테르 문화예술기획제안서   ·   덮인 물, 남은 올   ·   기획 추병곤</a:t>
            </a:r>
            <a:endParaRPr lang="en-US" sz="800" dirty="0"/>
          </a:p>
        </p:txBody>
      </p:sp>
      <p:sp>
        <p:nvSpPr>
          <p:cNvPr id="78" name="Text 75"/>
          <p:cNvSpPr/>
          <p:nvPr/>
        </p:nvSpPr>
        <p:spPr>
          <a:xfrm>
            <a:off x="10972800" y="6419088"/>
            <a:ext cx="640080" cy="274320"/>
          </a:xfrm>
          <a:prstGeom prst="rect">
            <a:avLst/>
          </a:prstGeom>
          <a:noFill/>
          <a:ln/>
        </p:spPr>
        <p:txBody>
          <a:bodyPr wrap="square" lIns="0" tIns="0" rIns="0" bIns="0" rtlCol="0" anchor="ctr"/>
          <a:lstStyle/>
          <a:p>
            <a:pPr algn="r" indent="0" marL="0">
              <a:buNone/>
            </a:pPr>
            <a:r>
              <a:rPr lang="en-US" sz="900" dirty="0">
                <a:solidFill>
                  <a:srgbClr val="8A857E"/>
                </a:solidFill>
                <a:latin typeface="Cambria" pitchFamily="34" charset="0"/>
                <a:ea typeface="Cambria" pitchFamily="34" charset="-122"/>
                <a:cs typeface="Cambria"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7315200" cy="237744"/>
          </a:xfrm>
          <a:prstGeom prst="rect">
            <a:avLst/>
          </a:prstGeom>
          <a:noFill/>
          <a:ln/>
        </p:spPr>
        <p:txBody>
          <a:bodyPr wrap="square" lIns="0" tIns="0" rIns="0" bIns="0" rtlCol="0" anchor="ctr"/>
          <a:lstStyle/>
          <a:p>
            <a:pPr indent="0" marL="0">
              <a:buNone/>
            </a:pPr>
            <a:r>
              <a:rPr lang="en-US" sz="1050" spc="250" kern="0" dirty="0">
                <a:solidFill>
                  <a:srgbClr val="8A857E"/>
                </a:solidFill>
                <a:latin typeface="Cambria" pitchFamily="34" charset="0"/>
                <a:ea typeface="Cambria" pitchFamily="34" charset="-122"/>
                <a:cs typeface="Cambria" pitchFamily="34" charset="-120"/>
              </a:rPr>
              <a:t>08  SECTION A</a:t>
            </a:r>
            <a:endParaRPr lang="en-US" sz="1050" dirty="0"/>
          </a:p>
        </p:txBody>
      </p:sp>
      <p:sp>
        <p:nvSpPr>
          <p:cNvPr id="3" name="Text 1"/>
          <p:cNvSpPr/>
          <p:nvPr/>
        </p:nvSpPr>
        <p:spPr>
          <a:xfrm>
            <a:off x="548640" y="694944"/>
            <a:ext cx="10058400" cy="502920"/>
          </a:xfrm>
          <a:prstGeom prst="rect">
            <a:avLst/>
          </a:prstGeom>
          <a:noFill/>
          <a:ln/>
        </p:spPr>
        <p:txBody>
          <a:bodyPr wrap="square" lIns="0" tIns="0" rIns="0" bIns="0" rtlCol="0" anchor="ctr"/>
          <a:lstStyle/>
          <a:p>
            <a:pPr indent="0" marL="0">
              <a:buNone/>
            </a:pPr>
            <a:r>
              <a:rPr lang="en-US" sz="2700" b="1" dirty="0">
                <a:solidFill>
                  <a:srgbClr val="1A1A1A"/>
                </a:solidFill>
                <a:latin typeface="맑은 고딕" pitchFamily="34" charset="0"/>
                <a:ea typeface="맑은 고딕" pitchFamily="34" charset="-122"/>
                <a:cs typeface="맑은 고딕" pitchFamily="34" charset="-120"/>
              </a:rPr>
              <a:t>물의 층 — 덮인 것을 듣는다</a:t>
            </a:r>
            <a:endParaRPr lang="en-US" sz="2700" dirty="0"/>
          </a:p>
        </p:txBody>
      </p:sp>
      <p:sp>
        <p:nvSpPr>
          <p:cNvPr id="4" name="Text 2"/>
          <p:cNvSpPr/>
          <p:nvPr/>
        </p:nvSpPr>
        <p:spPr>
          <a:xfrm>
            <a:off x="548640" y="1225296"/>
            <a:ext cx="10607040" cy="310896"/>
          </a:xfrm>
          <a:prstGeom prst="rect">
            <a:avLst/>
          </a:prstGeom>
          <a:noFill/>
          <a:ln/>
        </p:spPr>
        <p:txBody>
          <a:bodyPr wrap="square" lIns="0" tIns="0" rIns="0" bIns="0" rtlCol="0" anchor="ctr"/>
          <a:lstStyle/>
          <a:p>
            <a:pPr indent="0" marL="0">
              <a:buNone/>
            </a:pPr>
            <a:r>
              <a:rPr lang="en-US" sz="1200" dirty="0">
                <a:solidFill>
                  <a:srgbClr val="8A857E"/>
                </a:solidFill>
                <a:latin typeface="맑은 고딕" pitchFamily="34" charset="0"/>
                <a:ea typeface="맑은 고딕" pitchFamily="34" charset="-122"/>
                <a:cs typeface="맑은 고딕" pitchFamily="34" charset="-120"/>
              </a:rPr>
              <a:t>①실 프롤로그 · ③실 물의 방</a:t>
            </a:r>
            <a:endParaRPr lang="en-US" sz="1200" dirty="0"/>
          </a:p>
        </p:txBody>
      </p:sp>
      <p:sp>
        <p:nvSpPr>
          <p:cNvPr id="5" name="Shape 3"/>
          <p:cNvSpPr/>
          <p:nvPr/>
        </p:nvSpPr>
        <p:spPr>
          <a:xfrm>
            <a:off x="548640" y="1737360"/>
            <a:ext cx="566928" cy="566928"/>
          </a:xfrm>
          <a:prstGeom prst="rect">
            <a:avLst/>
          </a:prstGeom>
          <a:solidFill>
            <a:srgbClr val="2F4858"/>
          </a:solidFill>
          <a:ln/>
        </p:spPr>
      </p:sp>
      <p:sp>
        <p:nvSpPr>
          <p:cNvPr id="6" name="Text 4"/>
          <p:cNvSpPr/>
          <p:nvPr/>
        </p:nvSpPr>
        <p:spPr>
          <a:xfrm>
            <a:off x="548640" y="1737360"/>
            <a:ext cx="566928" cy="566928"/>
          </a:xfrm>
          <a:prstGeom prst="rect">
            <a:avLst/>
          </a:prstGeom>
          <a:noFill/>
          <a:ln/>
        </p:spPr>
        <p:txBody>
          <a:bodyPr wrap="square" lIns="0" tIns="0" rIns="0" bIns="0" rtlCol="0" anchor="ctr"/>
          <a:lstStyle/>
          <a:p>
            <a:pPr algn="ctr" indent="0" marL="0">
              <a:buNone/>
            </a:pPr>
            <a:r>
              <a:rPr lang="en-US" sz="2200" dirty="0">
                <a:solidFill>
                  <a:srgbClr val="FFFFFF"/>
                </a:solidFill>
                <a:latin typeface="바탕" pitchFamily="34" charset="0"/>
                <a:ea typeface="바탕" pitchFamily="34" charset="-122"/>
                <a:cs typeface="바탕" pitchFamily="34" charset="-120"/>
              </a:rPr>
              <a:t>水</a:t>
            </a:r>
            <a:endParaRPr lang="en-US" sz="2200" dirty="0"/>
          </a:p>
        </p:txBody>
      </p:sp>
      <p:sp>
        <p:nvSpPr>
          <p:cNvPr id="7" name="Text 5"/>
          <p:cNvSpPr/>
          <p:nvPr/>
        </p:nvSpPr>
        <p:spPr>
          <a:xfrm>
            <a:off x="1298448" y="1737360"/>
            <a:ext cx="6309360" cy="603504"/>
          </a:xfrm>
          <a:prstGeom prst="rect">
            <a:avLst/>
          </a:prstGeom>
          <a:noFill/>
          <a:ln/>
        </p:spPr>
        <p:txBody>
          <a:bodyPr wrap="square" lIns="0" tIns="0" rIns="0" bIns="0" rtlCol="0" anchor="ctr"/>
          <a:lstStyle/>
          <a:p>
            <a:pPr indent="0" marL="0">
              <a:lnSpc>
                <a:spcPts val="1800"/>
              </a:lnSpc>
              <a:buNone/>
            </a:pPr>
            <a:r>
              <a:rPr lang="en-US" sz="1150" dirty="0">
                <a:solidFill>
                  <a:srgbClr val="3E3A35"/>
                </a:solidFill>
                <a:latin typeface="맑은 고딕" pitchFamily="34" charset="0"/>
                <a:ea typeface="맑은 고딕" pitchFamily="34" charset="-122"/>
                <a:cs typeface="맑은 고딕" pitchFamily="34" charset="-120"/>
              </a:rPr>
              <a:t>관람의 시작은 '보는 것'이 아니라 '듣는 것'이다. 복개 구간에서 채집한 물소리가 관람객을 지표 아래로 데려간다.</a:t>
            </a:r>
            <a:endParaRPr lang="en-US" sz="1150" dirty="0"/>
          </a:p>
        </p:txBody>
      </p:sp>
      <p:sp>
        <p:nvSpPr>
          <p:cNvPr id="8" name="Shape 6"/>
          <p:cNvSpPr/>
          <p:nvPr/>
        </p:nvSpPr>
        <p:spPr>
          <a:xfrm>
            <a:off x="548640" y="2542032"/>
            <a:ext cx="7059168" cy="1572768"/>
          </a:xfrm>
          <a:prstGeom prst="rect">
            <a:avLst/>
          </a:prstGeom>
          <a:solidFill>
            <a:srgbClr val="FFFFFF"/>
          </a:solidFill>
          <a:ln w="9525">
            <a:solidFill>
              <a:srgbClr val="D8D4CE"/>
            </a:solidFill>
            <a:prstDash val="solid"/>
          </a:ln>
        </p:spPr>
      </p:sp>
      <p:sp>
        <p:nvSpPr>
          <p:cNvPr id="9" name="Shape 7"/>
          <p:cNvSpPr/>
          <p:nvPr/>
        </p:nvSpPr>
        <p:spPr>
          <a:xfrm>
            <a:off x="749808" y="2724912"/>
            <a:ext cx="384048" cy="384048"/>
          </a:xfrm>
          <a:prstGeom prst="ellipse">
            <a:avLst/>
          </a:prstGeom>
          <a:solidFill>
            <a:srgbClr val="2F4858"/>
          </a:solidFill>
          <a:ln/>
        </p:spPr>
      </p:sp>
      <p:sp>
        <p:nvSpPr>
          <p:cNvPr id="10" name="Text 8"/>
          <p:cNvSpPr/>
          <p:nvPr/>
        </p:nvSpPr>
        <p:spPr>
          <a:xfrm>
            <a:off x="749808" y="272491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①</a:t>
            </a:r>
            <a:endParaRPr lang="en-US" sz="1300" dirty="0"/>
          </a:p>
        </p:txBody>
      </p:sp>
      <p:sp>
        <p:nvSpPr>
          <p:cNvPr id="11" name="Text 9"/>
          <p:cNvSpPr/>
          <p:nvPr/>
        </p:nvSpPr>
        <p:spPr>
          <a:xfrm>
            <a:off x="1280160" y="2688336"/>
            <a:ext cx="2926080" cy="310896"/>
          </a:xfrm>
          <a:prstGeom prst="rect">
            <a:avLst/>
          </a:prstGeom>
          <a:noFill/>
          <a:ln/>
        </p:spPr>
        <p:txBody>
          <a:bodyPr wrap="square" lIns="0" tIns="0" rIns="0" bIns="0" rtlCol="0" anchor="ctr"/>
          <a:lstStyle/>
          <a:p>
            <a:pPr indent="0" marL="0">
              <a:buNone/>
            </a:pPr>
            <a:r>
              <a:rPr lang="en-US" sz="1400" b="1" dirty="0">
                <a:solidFill>
                  <a:srgbClr val="1A1A1A"/>
                </a:solidFill>
                <a:latin typeface="맑은 고딕" pitchFamily="34" charset="0"/>
                <a:ea typeface="맑은 고딕" pitchFamily="34" charset="-122"/>
                <a:cs typeface="맑은 고딕" pitchFamily="34" charset="-120"/>
              </a:rPr>
              <a:t>범내를 부르다</a:t>
            </a:r>
            <a:endParaRPr lang="en-US" sz="1400" dirty="0"/>
          </a:p>
        </p:txBody>
      </p:sp>
      <p:sp>
        <p:nvSpPr>
          <p:cNvPr id="12" name="Text 10"/>
          <p:cNvSpPr/>
          <p:nvPr/>
        </p:nvSpPr>
        <p:spPr>
          <a:xfrm>
            <a:off x="4251960" y="2724912"/>
            <a:ext cx="3200400" cy="256032"/>
          </a:xfrm>
          <a:prstGeom prst="rect">
            <a:avLst/>
          </a:prstGeom>
          <a:noFill/>
          <a:ln/>
        </p:spPr>
        <p:txBody>
          <a:bodyPr wrap="square" lIns="0" tIns="0" rIns="0" bIns="0" rtlCol="0" anchor="ctr"/>
          <a:lstStyle/>
          <a:p>
            <a:pPr algn="r" indent="0" marL="0">
              <a:buNone/>
            </a:pPr>
            <a:r>
              <a:rPr lang="en-US" sz="950" dirty="0">
                <a:solidFill>
                  <a:srgbClr val="2F4858"/>
                </a:solidFill>
                <a:latin typeface="맑은 고딕" pitchFamily="34" charset="0"/>
                <a:ea typeface="맑은 고딕" pitchFamily="34" charset="-122"/>
                <a:cs typeface="맑은 고딕" pitchFamily="34" charset="-120"/>
              </a:rPr>
              <a:t>사운드 인스톨레이션 · 프롤로그</a:t>
            </a:r>
            <a:endParaRPr lang="en-US" sz="950" dirty="0"/>
          </a:p>
        </p:txBody>
      </p:sp>
      <p:sp>
        <p:nvSpPr>
          <p:cNvPr id="13" name="Text 11"/>
          <p:cNvSpPr/>
          <p:nvPr/>
        </p:nvSpPr>
        <p:spPr>
          <a:xfrm>
            <a:off x="1280160" y="3035808"/>
            <a:ext cx="6144768" cy="950976"/>
          </a:xfrm>
          <a:prstGeom prst="rect">
            <a:avLst/>
          </a:prstGeom>
          <a:noFill/>
          <a:ln/>
        </p:spPr>
        <p:txBody>
          <a:bodyPr wrap="square" lIns="0" tIns="0" rIns="0" bIns="0" rtlCol="0" anchor="t"/>
          <a:lstStyle/>
          <a:p>
            <a:pPr indent="0" marL="0">
              <a:lnSpc>
                <a:spcPts val="1700"/>
              </a:lnSpc>
              <a:buNone/>
            </a:pPr>
            <a:r>
              <a:rPr lang="en-US" sz="1050" dirty="0">
                <a:solidFill>
                  <a:srgbClr val="4A453F"/>
                </a:solidFill>
                <a:latin typeface="맑은 고딕" pitchFamily="34" charset="0"/>
                <a:ea typeface="맑은 고딕" pitchFamily="34" charset="-122"/>
                <a:cs typeface="맑은 고딕" pitchFamily="34" charset="-120"/>
              </a:rPr>
              <a:t>복개된 범내 구간과 진시장 지하 배수로에서 하이드로폰으로 채집한 물소리를 8채널로 재생한다. 조도를 최소로 낮춘 3평 남짓의 방에서 관람객은 발밑을 흐르는 소리를 먼저 만난다. 벽면에는 지명의 변천만 한 줄로 적힌다 — 범내 · 凡川 · 虎川 · 범일.</a:t>
            </a:r>
            <a:endParaRPr lang="en-US" sz="1050" dirty="0"/>
          </a:p>
        </p:txBody>
      </p:sp>
      <p:sp>
        <p:nvSpPr>
          <p:cNvPr id="14" name="Shape 12"/>
          <p:cNvSpPr/>
          <p:nvPr/>
        </p:nvSpPr>
        <p:spPr>
          <a:xfrm>
            <a:off x="548640" y="4279392"/>
            <a:ext cx="7059168" cy="1572768"/>
          </a:xfrm>
          <a:prstGeom prst="rect">
            <a:avLst/>
          </a:prstGeom>
          <a:solidFill>
            <a:srgbClr val="FFFFFF"/>
          </a:solidFill>
          <a:ln w="9525">
            <a:solidFill>
              <a:srgbClr val="D8D4CE"/>
            </a:solidFill>
            <a:prstDash val="solid"/>
          </a:ln>
        </p:spPr>
      </p:sp>
      <p:sp>
        <p:nvSpPr>
          <p:cNvPr id="15" name="Shape 13"/>
          <p:cNvSpPr/>
          <p:nvPr/>
        </p:nvSpPr>
        <p:spPr>
          <a:xfrm>
            <a:off x="749808" y="4462272"/>
            <a:ext cx="384048" cy="384048"/>
          </a:xfrm>
          <a:prstGeom prst="ellipse">
            <a:avLst/>
          </a:prstGeom>
          <a:solidFill>
            <a:srgbClr val="2F4858"/>
          </a:solidFill>
          <a:ln/>
        </p:spPr>
      </p:sp>
      <p:sp>
        <p:nvSpPr>
          <p:cNvPr id="16" name="Text 14"/>
          <p:cNvSpPr/>
          <p:nvPr/>
        </p:nvSpPr>
        <p:spPr>
          <a:xfrm>
            <a:off x="749808" y="446227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③</a:t>
            </a:r>
            <a:endParaRPr lang="en-US" sz="1300" dirty="0"/>
          </a:p>
        </p:txBody>
      </p:sp>
      <p:sp>
        <p:nvSpPr>
          <p:cNvPr id="17" name="Text 15"/>
          <p:cNvSpPr/>
          <p:nvPr/>
        </p:nvSpPr>
        <p:spPr>
          <a:xfrm>
            <a:off x="1280160" y="4425696"/>
            <a:ext cx="2926080" cy="310896"/>
          </a:xfrm>
          <a:prstGeom prst="rect">
            <a:avLst/>
          </a:prstGeom>
          <a:noFill/>
          <a:ln/>
        </p:spPr>
        <p:txBody>
          <a:bodyPr wrap="square" lIns="0" tIns="0" rIns="0" bIns="0" rtlCol="0" anchor="ctr"/>
          <a:lstStyle/>
          <a:p>
            <a:pPr indent="0" marL="0">
              <a:buNone/>
            </a:pPr>
            <a:r>
              <a:rPr lang="en-US" sz="1400" b="1" dirty="0">
                <a:solidFill>
                  <a:srgbClr val="1A1A1A"/>
                </a:solidFill>
                <a:latin typeface="맑은 고딕" pitchFamily="34" charset="0"/>
                <a:ea typeface="맑은 고딕" pitchFamily="34" charset="-122"/>
                <a:cs typeface="맑은 고딕" pitchFamily="34" charset="-120"/>
              </a:rPr>
              <a:t>물의 방</a:t>
            </a:r>
            <a:endParaRPr lang="en-US" sz="1400" dirty="0"/>
          </a:p>
        </p:txBody>
      </p:sp>
      <p:sp>
        <p:nvSpPr>
          <p:cNvPr id="18" name="Text 16"/>
          <p:cNvSpPr/>
          <p:nvPr/>
        </p:nvSpPr>
        <p:spPr>
          <a:xfrm>
            <a:off x="4251960" y="4462272"/>
            <a:ext cx="3200400" cy="256032"/>
          </a:xfrm>
          <a:prstGeom prst="rect">
            <a:avLst/>
          </a:prstGeom>
          <a:noFill/>
          <a:ln/>
        </p:spPr>
        <p:txBody>
          <a:bodyPr wrap="square" lIns="0" tIns="0" rIns="0" bIns="0" rtlCol="0" anchor="ctr"/>
          <a:lstStyle/>
          <a:p>
            <a:pPr algn="r" indent="0" marL="0">
              <a:buNone/>
            </a:pPr>
            <a:r>
              <a:rPr lang="en-US" sz="950" dirty="0">
                <a:solidFill>
                  <a:srgbClr val="2F4858"/>
                </a:solidFill>
                <a:latin typeface="맑은 고딕" pitchFamily="34" charset="0"/>
                <a:ea typeface="맑은 고딕" pitchFamily="34" charset="-122"/>
                <a:cs typeface="맑은 고딕" pitchFamily="34" charset="-120"/>
              </a:rPr>
              <a:t>설치 · 영상 · 결로</a:t>
            </a:r>
            <a:endParaRPr lang="en-US" sz="950" dirty="0"/>
          </a:p>
        </p:txBody>
      </p:sp>
      <p:sp>
        <p:nvSpPr>
          <p:cNvPr id="19" name="Text 17"/>
          <p:cNvSpPr/>
          <p:nvPr/>
        </p:nvSpPr>
        <p:spPr>
          <a:xfrm>
            <a:off x="1280160" y="4773168"/>
            <a:ext cx="6144768" cy="950976"/>
          </a:xfrm>
          <a:prstGeom prst="rect">
            <a:avLst/>
          </a:prstGeom>
          <a:noFill/>
          <a:ln/>
        </p:spPr>
        <p:txBody>
          <a:bodyPr wrap="square" lIns="0" tIns="0" rIns="0" bIns="0" rtlCol="0" anchor="t"/>
          <a:lstStyle/>
          <a:p>
            <a:pPr indent="0" marL="0">
              <a:lnSpc>
                <a:spcPts val="1700"/>
              </a:lnSpc>
              <a:buNone/>
            </a:pPr>
            <a:r>
              <a:rPr lang="en-US" sz="1050" dirty="0">
                <a:solidFill>
                  <a:srgbClr val="4A453F"/>
                </a:solidFill>
                <a:latin typeface="맑은 고딕" pitchFamily="34" charset="0"/>
                <a:ea typeface="맑은 고딕" pitchFamily="34" charset="-122"/>
                <a:cs typeface="맑은 고딕" pitchFamily="34" charset="-120"/>
              </a:rPr>
              <a:t>욕조와 세면대가 그대로 남은 방. 욕조에 물을 채우고 수면에 저휘도 영상을 투사해 매축 이전의 해안선과 현재의 도로망을 겹친다. 여름철 결로가 맺히는 벽면은 지우지 않고 조명으로 드러내, 이 집이 여전히 물과 협상 중임을 보여 준다.</a:t>
            </a:r>
            <a:endParaRPr lang="en-US" sz="1050" dirty="0"/>
          </a:p>
        </p:txBody>
      </p:sp>
      <p:pic>
        <p:nvPicPr>
          <p:cNvPr id="20" name="Image 0" descr="/home/claude/aither/img/A33_2.jpeg">    </p:cNvPr>
          <p:cNvPicPr>
            <a:picLocks noChangeAspect="1"/>
          </p:cNvPicPr>
          <p:nvPr/>
        </p:nvPicPr>
        <p:blipFill>
          <a:blip r:embed="rId1"/>
          <a:srcRect l="0" r="0" t="0" b="0"/>
          <a:stretch/>
        </p:blipFill>
        <p:spPr>
          <a:xfrm>
            <a:off x="7863840" y="1737360"/>
            <a:ext cx="3749040" cy="2148840"/>
          </a:xfrm>
          <a:prstGeom prst="rect">
            <a:avLst/>
          </a:prstGeom>
        </p:spPr>
      </p:pic>
      <p:sp>
        <p:nvSpPr>
          <p:cNvPr id="21" name="Text 18"/>
          <p:cNvSpPr/>
          <p:nvPr/>
        </p:nvSpPr>
        <p:spPr>
          <a:xfrm>
            <a:off x="7863840" y="3931920"/>
            <a:ext cx="3749040" cy="219456"/>
          </a:xfrm>
          <a:prstGeom prst="rect">
            <a:avLst/>
          </a:prstGeom>
          <a:noFill/>
          <a:ln/>
        </p:spPr>
        <p:txBody>
          <a:bodyPr wrap="square" lIns="0" tIns="0" rIns="0" bIns="0" rtlCol="0" anchor="ctr"/>
          <a:lstStyle/>
          <a:p>
            <a:pPr indent="0" marL="0">
              <a:buNone/>
            </a:pPr>
            <a:r>
              <a:rPr lang="en-US" sz="850" dirty="0">
                <a:solidFill>
                  <a:srgbClr val="8A857E"/>
                </a:solidFill>
                <a:latin typeface="맑은 고딕" pitchFamily="34" charset="0"/>
                <a:ea typeface="맑은 고딕" pitchFamily="34" charset="-122"/>
                <a:cs typeface="맑은 고딕" pitchFamily="34" charset="-120"/>
              </a:rPr>
              <a:t>③⑧실 — 욕조·세면대와 부엌의 타일 바닥 (아이테르 제공)</a:t>
            </a:r>
            <a:endParaRPr lang="en-US" sz="850" dirty="0"/>
          </a:p>
        </p:txBody>
      </p:sp>
      <p:sp>
        <p:nvSpPr>
          <p:cNvPr id="22" name="Shape 19"/>
          <p:cNvSpPr/>
          <p:nvPr/>
        </p:nvSpPr>
        <p:spPr>
          <a:xfrm>
            <a:off x="7863840" y="4279392"/>
            <a:ext cx="3749040" cy="1874520"/>
          </a:xfrm>
          <a:prstGeom prst="rect">
            <a:avLst/>
          </a:prstGeom>
          <a:solidFill>
            <a:srgbClr val="F3F1ED"/>
          </a:solidFill>
          <a:ln/>
        </p:spPr>
      </p:sp>
      <p:sp>
        <p:nvSpPr>
          <p:cNvPr id="23" name="Text 20"/>
          <p:cNvSpPr/>
          <p:nvPr/>
        </p:nvSpPr>
        <p:spPr>
          <a:xfrm>
            <a:off x="8119872" y="4462272"/>
            <a:ext cx="3291840" cy="256032"/>
          </a:xfrm>
          <a:prstGeom prst="rect">
            <a:avLst/>
          </a:prstGeom>
          <a:noFill/>
          <a:ln/>
        </p:spPr>
        <p:txBody>
          <a:bodyPr wrap="square" lIns="0" tIns="0" rIns="0" bIns="0" rtlCol="0" anchor="ctr"/>
          <a:lstStyle/>
          <a:p>
            <a:pPr indent="0" marL="0">
              <a:buNone/>
            </a:pPr>
            <a:r>
              <a:rPr lang="en-US" sz="1100" b="1" dirty="0">
                <a:solidFill>
                  <a:srgbClr val="2F4858"/>
                </a:solidFill>
                <a:latin typeface="맑은 고딕" pitchFamily="34" charset="0"/>
                <a:ea typeface="맑은 고딕" pitchFamily="34" charset="-122"/>
                <a:cs typeface="맑은 고딕" pitchFamily="34" charset="-120"/>
              </a:rPr>
              <a:t>제작 · 안전 노트</a:t>
            </a:r>
            <a:endParaRPr lang="en-US" sz="1100" dirty="0"/>
          </a:p>
        </p:txBody>
      </p:sp>
      <p:sp>
        <p:nvSpPr>
          <p:cNvPr id="24" name="Text 21"/>
          <p:cNvSpPr/>
          <p:nvPr/>
        </p:nvSpPr>
        <p:spPr>
          <a:xfrm>
            <a:off x="8119872" y="4754880"/>
            <a:ext cx="3291840" cy="1280160"/>
          </a:xfrm>
          <a:prstGeom prst="rect">
            <a:avLst/>
          </a:prstGeom>
          <a:noFill/>
          <a:ln/>
        </p:spPr>
        <p:txBody>
          <a:bodyPr wrap="square" lIns="0" tIns="0" rIns="0" bIns="0" rtlCol="0" anchor="ctr"/>
          <a:lstStyle/>
          <a:p>
            <a:pPr indent="0" marL="0">
              <a:lnSpc>
                <a:spcPts val="1500"/>
              </a:lnSpc>
              <a:buNone/>
            </a:pPr>
            <a:r>
              <a:rPr lang="en-US" sz="950" dirty="0">
                <a:solidFill>
                  <a:srgbClr val="4A453F"/>
                </a:solidFill>
                <a:latin typeface="맑은 고딕" pitchFamily="34" charset="0"/>
                <a:ea typeface="맑은 고딕" pitchFamily="34" charset="-122"/>
                <a:cs typeface="맑은 고딕" pitchFamily="34" charset="-120"/>
              </a:rPr>
              <a:t>· 하이드로폰 현장 수음: 2027년 3–4월, 동구청·상인회 사전 협의 후 진행</a:t>
            </a:r>
            <a:endParaRPr lang="en-US" sz="950" dirty="0"/>
          </a:p>
          <a:p>
            <a:pPr indent="0" marL="0">
              <a:lnSpc>
                <a:spcPts val="1500"/>
              </a:lnSpc>
              <a:buNone/>
            </a:pPr>
            <a:r>
              <a:rPr lang="en-US" sz="950" dirty="0">
                <a:solidFill>
                  <a:srgbClr val="4A453F"/>
                </a:solidFill>
                <a:latin typeface="맑은 고딕" pitchFamily="34" charset="0"/>
                <a:ea typeface="맑은 고딕" pitchFamily="34" charset="-122"/>
                <a:cs typeface="맑은 고딕" pitchFamily="34" charset="-120"/>
              </a:rPr>
              <a:t>· 욕조 수량 최소화(깊이 5cm 이하)·방수 트레이·주 2회 배수, 누수 감지 센서 설치</a:t>
            </a:r>
            <a:endParaRPr lang="en-US" sz="950" dirty="0"/>
          </a:p>
          <a:p>
            <a:pPr indent="0" marL="0">
              <a:lnSpc>
                <a:spcPts val="1500"/>
              </a:lnSpc>
              <a:buNone/>
            </a:pPr>
            <a:r>
              <a:rPr lang="en-US" sz="950" dirty="0">
                <a:solidFill>
                  <a:srgbClr val="4A453F"/>
                </a:solidFill>
                <a:latin typeface="맑은 고딕" pitchFamily="34" charset="0"/>
                <a:ea typeface="맑은 고딕" pitchFamily="34" charset="-122"/>
                <a:cs typeface="맑은 고딕" pitchFamily="34" charset="-120"/>
              </a:rPr>
              <a:t>· 저휘도·저열 프로젝터 사용, 목재 마감부와 60cm 이상 이격</a:t>
            </a:r>
            <a:endParaRPr lang="en-US" sz="950" dirty="0"/>
          </a:p>
        </p:txBody>
      </p:sp>
      <p:sp>
        <p:nvSpPr>
          <p:cNvPr id="25" name="Text 22"/>
          <p:cNvSpPr/>
          <p:nvPr/>
        </p:nvSpPr>
        <p:spPr>
          <a:xfrm>
            <a:off x="548640" y="6419088"/>
            <a:ext cx="7315200" cy="274320"/>
          </a:xfrm>
          <a:prstGeom prst="rect">
            <a:avLst/>
          </a:prstGeom>
          <a:noFill/>
          <a:ln/>
        </p:spPr>
        <p:txBody>
          <a:bodyPr wrap="square" lIns="0" tIns="0" rIns="0" bIns="0" rtlCol="0" anchor="ctr"/>
          <a:lstStyle/>
          <a:p>
            <a:pPr algn="l" indent="0" marL="0">
              <a:buNone/>
            </a:pPr>
            <a:r>
              <a:rPr lang="en-US" sz="800" dirty="0">
                <a:solidFill>
                  <a:srgbClr val="8A857E"/>
                </a:solidFill>
                <a:latin typeface="맑은 고딕" pitchFamily="34" charset="0"/>
                <a:ea typeface="맑은 고딕" pitchFamily="34" charset="-122"/>
                <a:cs typeface="맑은 고딕" pitchFamily="34" charset="-120"/>
              </a:rPr>
              <a:t>아이테르 문화예술기획제안서   ·   덮인 물, 남은 올   ·   기획 추병곤</a:t>
            </a:r>
            <a:endParaRPr lang="en-US" sz="800" dirty="0"/>
          </a:p>
        </p:txBody>
      </p:sp>
      <p:sp>
        <p:nvSpPr>
          <p:cNvPr id="26" name="Text 23"/>
          <p:cNvSpPr/>
          <p:nvPr/>
        </p:nvSpPr>
        <p:spPr>
          <a:xfrm>
            <a:off x="10972800" y="6419088"/>
            <a:ext cx="640080" cy="274320"/>
          </a:xfrm>
          <a:prstGeom prst="rect">
            <a:avLst/>
          </a:prstGeom>
          <a:noFill/>
          <a:ln/>
        </p:spPr>
        <p:txBody>
          <a:bodyPr wrap="square" lIns="0" tIns="0" rIns="0" bIns="0" rtlCol="0" anchor="ctr"/>
          <a:lstStyle/>
          <a:p>
            <a:pPr algn="r" indent="0" marL="0">
              <a:buNone/>
            </a:pPr>
            <a:r>
              <a:rPr lang="en-US" sz="900" dirty="0">
                <a:solidFill>
                  <a:srgbClr val="8A857E"/>
                </a:solidFill>
                <a:latin typeface="Cambria" pitchFamily="34" charset="0"/>
                <a:ea typeface="Cambria" pitchFamily="34" charset="-122"/>
                <a:cs typeface="Cambria"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7315200" cy="237744"/>
          </a:xfrm>
          <a:prstGeom prst="rect">
            <a:avLst/>
          </a:prstGeom>
          <a:noFill/>
          <a:ln/>
        </p:spPr>
        <p:txBody>
          <a:bodyPr wrap="square" lIns="0" tIns="0" rIns="0" bIns="0" rtlCol="0" anchor="ctr"/>
          <a:lstStyle/>
          <a:p>
            <a:pPr indent="0" marL="0">
              <a:buNone/>
            </a:pPr>
            <a:r>
              <a:rPr lang="en-US" sz="1050" spc="250" kern="0" dirty="0">
                <a:solidFill>
                  <a:srgbClr val="8A857E"/>
                </a:solidFill>
                <a:latin typeface="Cambria" pitchFamily="34" charset="0"/>
                <a:ea typeface="Cambria" pitchFamily="34" charset="-122"/>
                <a:cs typeface="Cambria" pitchFamily="34" charset="-120"/>
              </a:rPr>
              <a:t>09  SECTION B</a:t>
            </a:r>
            <a:endParaRPr lang="en-US" sz="1050" dirty="0"/>
          </a:p>
        </p:txBody>
      </p:sp>
      <p:sp>
        <p:nvSpPr>
          <p:cNvPr id="3" name="Text 1"/>
          <p:cNvSpPr/>
          <p:nvPr/>
        </p:nvSpPr>
        <p:spPr>
          <a:xfrm>
            <a:off x="548640" y="694944"/>
            <a:ext cx="10058400" cy="502920"/>
          </a:xfrm>
          <a:prstGeom prst="rect">
            <a:avLst/>
          </a:prstGeom>
          <a:noFill/>
          <a:ln/>
        </p:spPr>
        <p:txBody>
          <a:bodyPr wrap="square" lIns="0" tIns="0" rIns="0" bIns="0" rtlCol="0" anchor="ctr"/>
          <a:lstStyle/>
          <a:p>
            <a:pPr indent="0" marL="0">
              <a:buNone/>
            </a:pPr>
            <a:r>
              <a:rPr lang="en-US" sz="2700" b="1" dirty="0">
                <a:solidFill>
                  <a:srgbClr val="1A1A1A"/>
                </a:solidFill>
                <a:latin typeface="맑은 고딕" pitchFamily="34" charset="0"/>
                <a:ea typeface="맑은 고딕" pitchFamily="34" charset="-122"/>
                <a:cs typeface="맑은 고딕" pitchFamily="34" charset="-120"/>
              </a:rPr>
              <a:t>올의 층 — 도시를 짜다</a:t>
            </a:r>
            <a:endParaRPr lang="en-US" sz="2700" dirty="0"/>
          </a:p>
        </p:txBody>
      </p:sp>
      <p:sp>
        <p:nvSpPr>
          <p:cNvPr id="4" name="Text 2"/>
          <p:cNvSpPr/>
          <p:nvPr/>
        </p:nvSpPr>
        <p:spPr>
          <a:xfrm>
            <a:off x="548640" y="1225296"/>
            <a:ext cx="10607040" cy="310896"/>
          </a:xfrm>
          <a:prstGeom prst="rect">
            <a:avLst/>
          </a:prstGeom>
          <a:noFill/>
          <a:ln/>
        </p:spPr>
        <p:txBody>
          <a:bodyPr wrap="square" lIns="0" tIns="0" rIns="0" bIns="0" rtlCol="0" anchor="ctr"/>
          <a:lstStyle/>
          <a:p>
            <a:pPr indent="0" marL="0">
              <a:buNone/>
            </a:pPr>
            <a:r>
              <a:rPr lang="en-US" sz="1200" dirty="0">
                <a:solidFill>
                  <a:srgbClr val="8A857E"/>
                </a:solidFill>
                <a:latin typeface="맑은 고딕" pitchFamily="34" charset="0"/>
                <a:ea typeface="맑은 고딕" pitchFamily="34" charset="-122"/>
                <a:cs typeface="맑은 고딕" pitchFamily="34" charset="-120"/>
              </a:rPr>
              <a:t>④실 올의 방 · ⑤실 메인홀</a:t>
            </a:r>
            <a:endParaRPr lang="en-US" sz="1200" dirty="0"/>
          </a:p>
        </p:txBody>
      </p:sp>
      <p:sp>
        <p:nvSpPr>
          <p:cNvPr id="5" name="Shape 3"/>
          <p:cNvSpPr/>
          <p:nvPr/>
        </p:nvSpPr>
        <p:spPr>
          <a:xfrm>
            <a:off x="548640" y="1737360"/>
            <a:ext cx="566928" cy="566928"/>
          </a:xfrm>
          <a:prstGeom prst="rect">
            <a:avLst/>
          </a:prstGeom>
          <a:solidFill>
            <a:srgbClr val="9C6B3C"/>
          </a:solidFill>
          <a:ln/>
        </p:spPr>
      </p:sp>
      <p:sp>
        <p:nvSpPr>
          <p:cNvPr id="6" name="Text 4"/>
          <p:cNvSpPr/>
          <p:nvPr/>
        </p:nvSpPr>
        <p:spPr>
          <a:xfrm>
            <a:off x="548640" y="1737360"/>
            <a:ext cx="566928" cy="566928"/>
          </a:xfrm>
          <a:prstGeom prst="rect">
            <a:avLst/>
          </a:prstGeom>
          <a:noFill/>
          <a:ln/>
        </p:spPr>
        <p:txBody>
          <a:bodyPr wrap="square" lIns="0" tIns="0" rIns="0" bIns="0" rtlCol="0" anchor="ctr"/>
          <a:lstStyle/>
          <a:p>
            <a:pPr algn="ctr" indent="0" marL="0">
              <a:buNone/>
            </a:pPr>
            <a:r>
              <a:rPr lang="en-US" sz="2200" dirty="0">
                <a:solidFill>
                  <a:srgbClr val="FFFFFF"/>
                </a:solidFill>
                <a:latin typeface="바탕" pitchFamily="34" charset="0"/>
                <a:ea typeface="바탕" pitchFamily="34" charset="-122"/>
                <a:cs typeface="바탕" pitchFamily="34" charset="-120"/>
              </a:rPr>
              <a:t>絲</a:t>
            </a:r>
            <a:endParaRPr lang="en-US" sz="2200" dirty="0"/>
          </a:p>
        </p:txBody>
      </p:sp>
      <p:sp>
        <p:nvSpPr>
          <p:cNvPr id="7" name="Text 5"/>
          <p:cNvSpPr/>
          <p:nvPr/>
        </p:nvSpPr>
        <p:spPr>
          <a:xfrm>
            <a:off x="1298448" y="1737360"/>
            <a:ext cx="6309360" cy="603504"/>
          </a:xfrm>
          <a:prstGeom prst="rect">
            <a:avLst/>
          </a:prstGeom>
          <a:noFill/>
          <a:ln/>
        </p:spPr>
        <p:txBody>
          <a:bodyPr wrap="square" lIns="0" tIns="0" rIns="0" bIns="0" rtlCol="0" anchor="ctr"/>
          <a:lstStyle/>
          <a:p>
            <a:pPr indent="0" marL="0">
              <a:lnSpc>
                <a:spcPts val="1800"/>
              </a:lnSpc>
              <a:buNone/>
            </a:pPr>
            <a:r>
              <a:rPr lang="en-US" sz="1150" dirty="0">
                <a:solidFill>
                  <a:srgbClr val="3E3A35"/>
                </a:solidFill>
                <a:latin typeface="맑은 고딕" pitchFamily="34" charset="0"/>
                <a:ea typeface="맑은 고딕" pitchFamily="34" charset="-122"/>
                <a:cs typeface="맑은 고딕" pitchFamily="34" charset="-120"/>
              </a:rPr>
              <a:t>조선방직의 직기에서 부산진시장의 원단으로 이어진 한 세기를 '짜는 행위' 그 자체로 번역한다.</a:t>
            </a:r>
            <a:endParaRPr lang="en-US" sz="1150" dirty="0"/>
          </a:p>
        </p:txBody>
      </p:sp>
      <p:sp>
        <p:nvSpPr>
          <p:cNvPr id="8" name="Shape 6"/>
          <p:cNvSpPr/>
          <p:nvPr/>
        </p:nvSpPr>
        <p:spPr>
          <a:xfrm>
            <a:off x="548640" y="2542032"/>
            <a:ext cx="7059168" cy="1572768"/>
          </a:xfrm>
          <a:prstGeom prst="rect">
            <a:avLst/>
          </a:prstGeom>
          <a:solidFill>
            <a:srgbClr val="FFFFFF"/>
          </a:solidFill>
          <a:ln w="9525">
            <a:solidFill>
              <a:srgbClr val="D8D4CE"/>
            </a:solidFill>
            <a:prstDash val="solid"/>
          </a:ln>
        </p:spPr>
      </p:sp>
      <p:sp>
        <p:nvSpPr>
          <p:cNvPr id="9" name="Shape 7"/>
          <p:cNvSpPr/>
          <p:nvPr/>
        </p:nvSpPr>
        <p:spPr>
          <a:xfrm>
            <a:off x="749808" y="2724912"/>
            <a:ext cx="384048" cy="384048"/>
          </a:xfrm>
          <a:prstGeom prst="ellipse">
            <a:avLst/>
          </a:prstGeom>
          <a:solidFill>
            <a:srgbClr val="9C6B3C"/>
          </a:solidFill>
          <a:ln/>
        </p:spPr>
      </p:sp>
      <p:sp>
        <p:nvSpPr>
          <p:cNvPr id="10" name="Text 8"/>
          <p:cNvSpPr/>
          <p:nvPr/>
        </p:nvSpPr>
        <p:spPr>
          <a:xfrm>
            <a:off x="749808" y="272491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④</a:t>
            </a:r>
            <a:endParaRPr lang="en-US" sz="1300" dirty="0"/>
          </a:p>
        </p:txBody>
      </p:sp>
      <p:sp>
        <p:nvSpPr>
          <p:cNvPr id="11" name="Text 9"/>
          <p:cNvSpPr/>
          <p:nvPr/>
        </p:nvSpPr>
        <p:spPr>
          <a:xfrm>
            <a:off x="1280160" y="2688336"/>
            <a:ext cx="2926080" cy="310896"/>
          </a:xfrm>
          <a:prstGeom prst="rect">
            <a:avLst/>
          </a:prstGeom>
          <a:noFill/>
          <a:ln/>
        </p:spPr>
        <p:txBody>
          <a:bodyPr wrap="square" lIns="0" tIns="0" rIns="0" bIns="0" rtlCol="0" anchor="ctr"/>
          <a:lstStyle/>
          <a:p>
            <a:pPr indent="0" marL="0">
              <a:buNone/>
            </a:pPr>
            <a:r>
              <a:rPr lang="en-US" sz="1400" b="1" dirty="0">
                <a:solidFill>
                  <a:srgbClr val="1A1A1A"/>
                </a:solidFill>
                <a:latin typeface="맑은 고딕" pitchFamily="34" charset="0"/>
                <a:ea typeface="맑은 고딕" pitchFamily="34" charset="-122"/>
                <a:cs typeface="맑은 고딕" pitchFamily="34" charset="-120"/>
              </a:rPr>
              <a:t>올의 방</a:t>
            </a:r>
            <a:endParaRPr lang="en-US" sz="1400" dirty="0"/>
          </a:p>
        </p:txBody>
      </p:sp>
      <p:sp>
        <p:nvSpPr>
          <p:cNvPr id="12" name="Text 10"/>
          <p:cNvSpPr/>
          <p:nvPr/>
        </p:nvSpPr>
        <p:spPr>
          <a:xfrm>
            <a:off x="4251960" y="2724912"/>
            <a:ext cx="3200400" cy="256032"/>
          </a:xfrm>
          <a:prstGeom prst="rect">
            <a:avLst/>
          </a:prstGeom>
          <a:noFill/>
          <a:ln/>
        </p:spPr>
        <p:txBody>
          <a:bodyPr wrap="square" lIns="0" tIns="0" rIns="0" bIns="0" rtlCol="0" anchor="ctr"/>
          <a:lstStyle/>
          <a:p>
            <a:pPr algn="r" indent="0" marL="0">
              <a:buNone/>
            </a:pPr>
            <a:r>
              <a:rPr lang="en-US" sz="950" dirty="0">
                <a:solidFill>
                  <a:srgbClr val="9C6B3C"/>
                </a:solidFill>
                <a:latin typeface="맑은 고딕" pitchFamily="34" charset="0"/>
                <a:ea typeface="맑은 고딕" pitchFamily="34" charset="-122"/>
                <a:cs typeface="맑은 고딕" pitchFamily="34" charset="-120"/>
              </a:rPr>
              <a:t>섬유 설치 · 상인 협업</a:t>
            </a:r>
            <a:endParaRPr lang="en-US" sz="950" dirty="0"/>
          </a:p>
        </p:txBody>
      </p:sp>
      <p:sp>
        <p:nvSpPr>
          <p:cNvPr id="13" name="Text 11"/>
          <p:cNvSpPr/>
          <p:nvPr/>
        </p:nvSpPr>
        <p:spPr>
          <a:xfrm>
            <a:off x="1280160" y="3035808"/>
            <a:ext cx="6144768" cy="950976"/>
          </a:xfrm>
          <a:prstGeom prst="rect">
            <a:avLst/>
          </a:prstGeom>
          <a:noFill/>
          <a:ln/>
        </p:spPr>
        <p:txBody>
          <a:bodyPr wrap="square" lIns="0" tIns="0" rIns="0" bIns="0" rtlCol="0" anchor="t"/>
          <a:lstStyle/>
          <a:p>
            <a:pPr indent="0" marL="0">
              <a:lnSpc>
                <a:spcPts val="1700"/>
              </a:lnSpc>
              <a:buNone/>
            </a:pPr>
            <a:r>
              <a:rPr lang="en-US" sz="1050" dirty="0">
                <a:solidFill>
                  <a:srgbClr val="4A453F"/>
                </a:solidFill>
                <a:latin typeface="맑은 고딕" pitchFamily="34" charset="0"/>
                <a:ea typeface="맑은 고딕" pitchFamily="34" charset="-122"/>
                <a:cs typeface="맑은 고딕" pitchFamily="34" charset="-120"/>
              </a:rPr>
              <a:t>부산진시장 상인들에게서 수집한 자투리 원단으로 방 전체를 관통하는 대형 직조물을 만든다. 원단마다 상호와 연도를 태그로 달아, 작품이 동시에 상권의 명부(名簿)가 되게 한다. 제작 과정은 '원단학교' 워크숍으로 공개하며, 관람객도 마지막 날까지 한 올씩 더할 수 있다.</a:t>
            </a:r>
            <a:endParaRPr lang="en-US" sz="1050" dirty="0"/>
          </a:p>
        </p:txBody>
      </p:sp>
      <p:sp>
        <p:nvSpPr>
          <p:cNvPr id="14" name="Shape 12"/>
          <p:cNvSpPr/>
          <p:nvPr/>
        </p:nvSpPr>
        <p:spPr>
          <a:xfrm>
            <a:off x="548640" y="4279392"/>
            <a:ext cx="7059168" cy="1572768"/>
          </a:xfrm>
          <a:prstGeom prst="rect">
            <a:avLst/>
          </a:prstGeom>
          <a:solidFill>
            <a:srgbClr val="FFFFFF"/>
          </a:solidFill>
          <a:ln w="9525">
            <a:solidFill>
              <a:srgbClr val="D8D4CE"/>
            </a:solidFill>
            <a:prstDash val="solid"/>
          </a:ln>
        </p:spPr>
      </p:sp>
      <p:sp>
        <p:nvSpPr>
          <p:cNvPr id="15" name="Shape 13"/>
          <p:cNvSpPr/>
          <p:nvPr/>
        </p:nvSpPr>
        <p:spPr>
          <a:xfrm>
            <a:off x="749808" y="4462272"/>
            <a:ext cx="384048" cy="384048"/>
          </a:xfrm>
          <a:prstGeom prst="ellipse">
            <a:avLst/>
          </a:prstGeom>
          <a:solidFill>
            <a:srgbClr val="9C6B3C"/>
          </a:solidFill>
          <a:ln/>
        </p:spPr>
      </p:sp>
      <p:sp>
        <p:nvSpPr>
          <p:cNvPr id="16" name="Text 14"/>
          <p:cNvSpPr/>
          <p:nvPr/>
        </p:nvSpPr>
        <p:spPr>
          <a:xfrm>
            <a:off x="749808" y="446227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⑤</a:t>
            </a:r>
            <a:endParaRPr lang="en-US" sz="1300" dirty="0"/>
          </a:p>
        </p:txBody>
      </p:sp>
      <p:sp>
        <p:nvSpPr>
          <p:cNvPr id="17" name="Text 15"/>
          <p:cNvSpPr/>
          <p:nvPr/>
        </p:nvSpPr>
        <p:spPr>
          <a:xfrm>
            <a:off x="1280160" y="4425696"/>
            <a:ext cx="2926080" cy="310896"/>
          </a:xfrm>
          <a:prstGeom prst="rect">
            <a:avLst/>
          </a:prstGeom>
          <a:noFill/>
          <a:ln/>
        </p:spPr>
        <p:txBody>
          <a:bodyPr wrap="square" lIns="0" tIns="0" rIns="0" bIns="0" rtlCol="0" anchor="ctr"/>
          <a:lstStyle/>
          <a:p>
            <a:pPr indent="0" marL="0">
              <a:buNone/>
            </a:pPr>
            <a:r>
              <a:rPr lang="en-US" sz="1400" b="1" dirty="0">
                <a:solidFill>
                  <a:srgbClr val="1A1A1A"/>
                </a:solidFill>
                <a:latin typeface="맑은 고딕" pitchFamily="34" charset="0"/>
                <a:ea typeface="맑은 고딕" pitchFamily="34" charset="-122"/>
                <a:cs typeface="맑은 고딕" pitchFamily="34" charset="-120"/>
              </a:rPr>
              <a:t>직조된 도시</a:t>
            </a:r>
            <a:endParaRPr lang="en-US" sz="1400" dirty="0"/>
          </a:p>
        </p:txBody>
      </p:sp>
      <p:sp>
        <p:nvSpPr>
          <p:cNvPr id="18" name="Text 16"/>
          <p:cNvSpPr/>
          <p:nvPr/>
        </p:nvSpPr>
        <p:spPr>
          <a:xfrm>
            <a:off x="4251960" y="4462272"/>
            <a:ext cx="3200400" cy="256032"/>
          </a:xfrm>
          <a:prstGeom prst="rect">
            <a:avLst/>
          </a:prstGeom>
          <a:noFill/>
          <a:ln/>
        </p:spPr>
        <p:txBody>
          <a:bodyPr wrap="square" lIns="0" tIns="0" rIns="0" bIns="0" rtlCol="0" anchor="ctr"/>
          <a:lstStyle/>
          <a:p>
            <a:pPr algn="r" indent="0" marL="0">
              <a:buNone/>
            </a:pPr>
            <a:r>
              <a:rPr lang="en-US" sz="950" dirty="0">
                <a:solidFill>
                  <a:srgbClr val="9C6B3C"/>
                </a:solidFill>
                <a:latin typeface="맑은 고딕" pitchFamily="34" charset="0"/>
                <a:ea typeface="맑은 고딕" pitchFamily="34" charset="-122"/>
                <a:cs typeface="맑은 고딕" pitchFamily="34" charset="-120"/>
              </a:rPr>
              <a:t>메인홀 · 미디어 · 3면+바닥 프로젝션</a:t>
            </a:r>
            <a:endParaRPr lang="en-US" sz="950" dirty="0"/>
          </a:p>
        </p:txBody>
      </p:sp>
      <p:sp>
        <p:nvSpPr>
          <p:cNvPr id="19" name="Text 17"/>
          <p:cNvSpPr/>
          <p:nvPr/>
        </p:nvSpPr>
        <p:spPr>
          <a:xfrm>
            <a:off x="1280160" y="4773168"/>
            <a:ext cx="6144768" cy="950976"/>
          </a:xfrm>
          <a:prstGeom prst="rect">
            <a:avLst/>
          </a:prstGeom>
          <a:noFill/>
          <a:ln/>
        </p:spPr>
        <p:txBody>
          <a:bodyPr wrap="square" lIns="0" tIns="0" rIns="0" bIns="0" rtlCol="0" anchor="t"/>
          <a:lstStyle/>
          <a:p>
            <a:pPr indent="0" marL="0">
              <a:lnSpc>
                <a:spcPts val="1700"/>
              </a:lnSpc>
              <a:buNone/>
            </a:pPr>
            <a:r>
              <a:rPr lang="en-US" sz="1050" dirty="0">
                <a:solidFill>
                  <a:srgbClr val="4A453F"/>
                </a:solidFill>
                <a:latin typeface="맑은 고딕" pitchFamily="34" charset="0"/>
                <a:ea typeface="맑은 고딕" pitchFamily="34" charset="-122"/>
                <a:cs typeface="맑은 고딕" pitchFamily="34" charset="-120"/>
              </a:rPr>
              <a:t>마루가 남은 가장 큰 방을 미디어홀로 전환한다. 1917년 조방 배치도에서 시작해 매축 도면, 시장 상권도, 현재 위성사진까지 도시의 평면을 '직물의 조직도'처럼 겹쳐 짠다. 직기의 규칙적인 소리가 도시의 리듬으로 변조되며, 바닥 투사로 관람객이 직물 위를 걷게 한다.</a:t>
            </a:r>
            <a:endParaRPr lang="en-US" sz="1050" dirty="0"/>
          </a:p>
        </p:txBody>
      </p:sp>
      <p:pic>
        <p:nvPicPr>
          <p:cNvPr id="20" name="Image 0" descr="/home/claude/aither/img/A21_1.jpeg">    </p:cNvPr>
          <p:cNvPicPr>
            <a:picLocks noChangeAspect="1"/>
          </p:cNvPicPr>
          <p:nvPr/>
        </p:nvPicPr>
        <p:blipFill>
          <a:blip r:embed="rId1"/>
          <a:srcRect l="0" r="0" t="0" b="0"/>
          <a:stretch/>
        </p:blipFill>
        <p:spPr>
          <a:xfrm>
            <a:off x="7863840" y="1737360"/>
            <a:ext cx="3749040" cy="2148840"/>
          </a:xfrm>
          <a:prstGeom prst="rect">
            <a:avLst/>
          </a:prstGeom>
        </p:spPr>
      </p:pic>
      <p:sp>
        <p:nvSpPr>
          <p:cNvPr id="21" name="Text 18"/>
          <p:cNvSpPr/>
          <p:nvPr/>
        </p:nvSpPr>
        <p:spPr>
          <a:xfrm>
            <a:off x="7863840" y="3931920"/>
            <a:ext cx="3749040" cy="219456"/>
          </a:xfrm>
          <a:prstGeom prst="rect">
            <a:avLst/>
          </a:prstGeom>
          <a:noFill/>
          <a:ln/>
        </p:spPr>
        <p:txBody>
          <a:bodyPr wrap="square" lIns="0" tIns="0" rIns="0" bIns="0" rtlCol="0" anchor="ctr"/>
          <a:lstStyle/>
          <a:p>
            <a:pPr indent="0" marL="0">
              <a:buNone/>
            </a:pPr>
            <a:r>
              <a:rPr lang="en-US" sz="850" dirty="0">
                <a:solidFill>
                  <a:srgbClr val="8A857E"/>
                </a:solidFill>
                <a:latin typeface="맑은 고딕" pitchFamily="34" charset="0"/>
                <a:ea typeface="맑은 고딕" pitchFamily="34" charset="-122"/>
                <a:cs typeface="맑은 고딕" pitchFamily="34" charset="-120"/>
              </a:rPr>
              <a:t>가옥의 방에 놓인 작품과 세간 (아이테르 제공)</a:t>
            </a:r>
            <a:endParaRPr lang="en-US" sz="850" dirty="0"/>
          </a:p>
        </p:txBody>
      </p:sp>
      <p:sp>
        <p:nvSpPr>
          <p:cNvPr id="22" name="Shape 19"/>
          <p:cNvSpPr/>
          <p:nvPr/>
        </p:nvSpPr>
        <p:spPr>
          <a:xfrm>
            <a:off x="7863840" y="4279392"/>
            <a:ext cx="3749040" cy="1874520"/>
          </a:xfrm>
          <a:prstGeom prst="rect">
            <a:avLst/>
          </a:prstGeom>
          <a:solidFill>
            <a:srgbClr val="F3F1ED"/>
          </a:solidFill>
          <a:ln/>
        </p:spPr>
      </p:sp>
      <p:sp>
        <p:nvSpPr>
          <p:cNvPr id="23" name="Text 20"/>
          <p:cNvSpPr/>
          <p:nvPr/>
        </p:nvSpPr>
        <p:spPr>
          <a:xfrm>
            <a:off x="8119872" y="4462272"/>
            <a:ext cx="3291840" cy="256032"/>
          </a:xfrm>
          <a:prstGeom prst="rect">
            <a:avLst/>
          </a:prstGeom>
          <a:noFill/>
          <a:ln/>
        </p:spPr>
        <p:txBody>
          <a:bodyPr wrap="square" lIns="0" tIns="0" rIns="0" bIns="0" rtlCol="0" anchor="ctr"/>
          <a:lstStyle/>
          <a:p>
            <a:pPr indent="0" marL="0">
              <a:buNone/>
            </a:pPr>
            <a:r>
              <a:rPr lang="en-US" sz="1100" b="1" dirty="0">
                <a:solidFill>
                  <a:srgbClr val="9C6B3C"/>
                </a:solidFill>
                <a:latin typeface="맑은 고딕" pitchFamily="34" charset="0"/>
                <a:ea typeface="맑은 고딕" pitchFamily="34" charset="-122"/>
                <a:cs typeface="맑은 고딕" pitchFamily="34" charset="-120"/>
              </a:rPr>
              <a:t>지역 협업 구조</a:t>
            </a:r>
            <a:endParaRPr lang="en-US" sz="1100" dirty="0"/>
          </a:p>
        </p:txBody>
      </p:sp>
      <p:sp>
        <p:nvSpPr>
          <p:cNvPr id="24" name="Text 21"/>
          <p:cNvSpPr/>
          <p:nvPr/>
        </p:nvSpPr>
        <p:spPr>
          <a:xfrm>
            <a:off x="8119872" y="4754880"/>
            <a:ext cx="3291840" cy="1280160"/>
          </a:xfrm>
          <a:prstGeom prst="rect">
            <a:avLst/>
          </a:prstGeom>
          <a:noFill/>
          <a:ln/>
        </p:spPr>
        <p:txBody>
          <a:bodyPr wrap="square" lIns="0" tIns="0" rIns="0" bIns="0" rtlCol="0" anchor="ctr"/>
          <a:lstStyle/>
          <a:p>
            <a:pPr indent="0" marL="0">
              <a:lnSpc>
                <a:spcPts val="1500"/>
              </a:lnSpc>
              <a:buNone/>
            </a:pPr>
            <a:r>
              <a:rPr lang="en-US" sz="950" dirty="0">
                <a:solidFill>
                  <a:srgbClr val="4A453F"/>
                </a:solidFill>
                <a:latin typeface="맑은 고딕" pitchFamily="34" charset="0"/>
                <a:ea typeface="맑은 고딕" pitchFamily="34" charset="-122"/>
                <a:cs typeface="맑은 고딕" pitchFamily="34" charset="-120"/>
              </a:rPr>
              <a:t>· 원단 수집: 진시장·평화시장 상점 12곳 협약, 매주 자투리 회수 루트 운영</a:t>
            </a:r>
            <a:endParaRPr lang="en-US" sz="950" dirty="0"/>
          </a:p>
          <a:p>
            <a:pPr indent="0" marL="0">
              <a:lnSpc>
                <a:spcPts val="1500"/>
              </a:lnSpc>
              <a:buNone/>
            </a:pPr>
            <a:r>
              <a:rPr lang="en-US" sz="950" dirty="0">
                <a:solidFill>
                  <a:srgbClr val="4A453F"/>
                </a:solidFill>
                <a:latin typeface="맑은 고딕" pitchFamily="34" charset="0"/>
                <a:ea typeface="맑은 고딕" pitchFamily="34" charset="-122"/>
                <a:cs typeface="맑은 고딕" pitchFamily="34" charset="-120"/>
              </a:rPr>
              <a:t>· 작품 소유권: 전시 후 동구 관내 공공시설 기증 또는 굿즈 전환, 수익 일부 상인회 환원</a:t>
            </a:r>
            <a:endParaRPr lang="en-US" sz="950" dirty="0"/>
          </a:p>
          <a:p>
            <a:pPr indent="0" marL="0">
              <a:lnSpc>
                <a:spcPts val="1500"/>
              </a:lnSpc>
              <a:buNone/>
            </a:pPr>
            <a:r>
              <a:rPr lang="en-US" sz="950" dirty="0">
                <a:solidFill>
                  <a:srgbClr val="4A453F"/>
                </a:solidFill>
                <a:latin typeface="맑은 고딕" pitchFamily="34" charset="0"/>
                <a:ea typeface="맑은 고딕" pitchFamily="34" charset="-122"/>
                <a:cs typeface="맑은 고딕" pitchFamily="34" charset="-120"/>
              </a:rPr>
              <a:t>· 상호 태그는 상인 동의서 확보 후 표기</a:t>
            </a:r>
            <a:endParaRPr lang="en-US" sz="950" dirty="0"/>
          </a:p>
        </p:txBody>
      </p:sp>
      <p:sp>
        <p:nvSpPr>
          <p:cNvPr id="25" name="Text 22"/>
          <p:cNvSpPr/>
          <p:nvPr/>
        </p:nvSpPr>
        <p:spPr>
          <a:xfrm>
            <a:off x="548640" y="6419088"/>
            <a:ext cx="7315200" cy="274320"/>
          </a:xfrm>
          <a:prstGeom prst="rect">
            <a:avLst/>
          </a:prstGeom>
          <a:noFill/>
          <a:ln/>
        </p:spPr>
        <p:txBody>
          <a:bodyPr wrap="square" lIns="0" tIns="0" rIns="0" bIns="0" rtlCol="0" anchor="ctr"/>
          <a:lstStyle/>
          <a:p>
            <a:pPr algn="l" indent="0" marL="0">
              <a:buNone/>
            </a:pPr>
            <a:r>
              <a:rPr lang="en-US" sz="800" dirty="0">
                <a:solidFill>
                  <a:srgbClr val="8A857E"/>
                </a:solidFill>
                <a:latin typeface="맑은 고딕" pitchFamily="34" charset="0"/>
                <a:ea typeface="맑은 고딕" pitchFamily="34" charset="-122"/>
                <a:cs typeface="맑은 고딕" pitchFamily="34" charset="-120"/>
              </a:rPr>
              <a:t>아이테르 문화예술기획제안서   ·   덮인 물, 남은 올   ·   기획 추병곤</a:t>
            </a:r>
            <a:endParaRPr lang="en-US" sz="800" dirty="0"/>
          </a:p>
        </p:txBody>
      </p:sp>
      <p:sp>
        <p:nvSpPr>
          <p:cNvPr id="26" name="Text 23"/>
          <p:cNvSpPr/>
          <p:nvPr/>
        </p:nvSpPr>
        <p:spPr>
          <a:xfrm>
            <a:off x="10972800" y="6419088"/>
            <a:ext cx="640080" cy="274320"/>
          </a:xfrm>
          <a:prstGeom prst="rect">
            <a:avLst/>
          </a:prstGeom>
          <a:noFill/>
          <a:ln/>
        </p:spPr>
        <p:txBody>
          <a:bodyPr wrap="square" lIns="0" tIns="0" rIns="0" bIns="0" rtlCol="0" anchor="ctr"/>
          <a:lstStyle/>
          <a:p>
            <a:pPr algn="r" indent="0" marL="0">
              <a:buNone/>
            </a:pPr>
            <a:r>
              <a:rPr lang="en-US" sz="900" dirty="0">
                <a:solidFill>
                  <a:srgbClr val="8A857E"/>
                </a:solidFill>
                <a:latin typeface="Cambria" pitchFamily="34" charset="0"/>
                <a:ea typeface="Cambria" pitchFamily="34" charset="-122"/>
                <a:cs typeface="Cambria"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7315200" cy="237744"/>
          </a:xfrm>
          <a:prstGeom prst="rect">
            <a:avLst/>
          </a:prstGeom>
          <a:noFill/>
          <a:ln/>
        </p:spPr>
        <p:txBody>
          <a:bodyPr wrap="square" lIns="0" tIns="0" rIns="0" bIns="0" rtlCol="0" anchor="ctr"/>
          <a:lstStyle/>
          <a:p>
            <a:pPr indent="0" marL="0">
              <a:buNone/>
            </a:pPr>
            <a:r>
              <a:rPr lang="en-US" sz="1050" spc="250" kern="0" dirty="0">
                <a:solidFill>
                  <a:srgbClr val="8A857E"/>
                </a:solidFill>
                <a:latin typeface="Cambria" pitchFamily="34" charset="0"/>
                <a:ea typeface="Cambria" pitchFamily="34" charset="-122"/>
                <a:cs typeface="Cambria" pitchFamily="34" charset="-120"/>
              </a:rPr>
              <a:t>10  SECTION C</a:t>
            </a:r>
            <a:endParaRPr lang="en-US" sz="1050" dirty="0"/>
          </a:p>
        </p:txBody>
      </p:sp>
      <p:sp>
        <p:nvSpPr>
          <p:cNvPr id="3" name="Text 1"/>
          <p:cNvSpPr/>
          <p:nvPr/>
        </p:nvSpPr>
        <p:spPr>
          <a:xfrm>
            <a:off x="548640" y="694944"/>
            <a:ext cx="10058400" cy="502920"/>
          </a:xfrm>
          <a:prstGeom prst="rect">
            <a:avLst/>
          </a:prstGeom>
          <a:noFill/>
          <a:ln/>
        </p:spPr>
        <p:txBody>
          <a:bodyPr wrap="square" lIns="0" tIns="0" rIns="0" bIns="0" rtlCol="0" anchor="ctr"/>
          <a:lstStyle/>
          <a:p>
            <a:pPr indent="0" marL="0">
              <a:buNone/>
            </a:pPr>
            <a:r>
              <a:rPr lang="en-US" sz="2700" b="1" dirty="0">
                <a:solidFill>
                  <a:srgbClr val="1A1A1A"/>
                </a:solidFill>
                <a:latin typeface="맑은 고딕" pitchFamily="34" charset="0"/>
                <a:ea typeface="맑은 고딕" pitchFamily="34" charset="-122"/>
                <a:cs typeface="맑은 고딕" pitchFamily="34" charset="-120"/>
              </a:rPr>
              <a:t>사람의 층 — 방이 기억하는 법</a:t>
            </a:r>
            <a:endParaRPr lang="en-US" sz="2700" dirty="0"/>
          </a:p>
        </p:txBody>
      </p:sp>
      <p:sp>
        <p:nvSpPr>
          <p:cNvPr id="4" name="Text 2"/>
          <p:cNvSpPr/>
          <p:nvPr/>
        </p:nvSpPr>
        <p:spPr>
          <a:xfrm>
            <a:off x="548640" y="1225296"/>
            <a:ext cx="10607040" cy="310896"/>
          </a:xfrm>
          <a:prstGeom prst="rect">
            <a:avLst/>
          </a:prstGeom>
          <a:noFill/>
          <a:ln/>
        </p:spPr>
        <p:txBody>
          <a:bodyPr wrap="square" lIns="0" tIns="0" rIns="0" bIns="0" rtlCol="0" anchor="ctr"/>
          <a:lstStyle/>
          <a:p>
            <a:pPr indent="0" marL="0">
              <a:buNone/>
            </a:pPr>
            <a:r>
              <a:rPr lang="en-US" sz="1200" dirty="0">
                <a:solidFill>
                  <a:srgbClr val="8A857E"/>
                </a:solidFill>
                <a:latin typeface="맑은 고딕" pitchFamily="34" charset="0"/>
                <a:ea typeface="맑은 고딕" pitchFamily="34" charset="-122"/>
                <a:cs typeface="맑은 고딕" pitchFamily="34" charset="-120"/>
              </a:rPr>
              <a:t>⑥실 창살 너머 · ⑦실 덧대는 방 · ⑧실 불의 자리</a:t>
            </a:r>
            <a:endParaRPr lang="en-US" sz="1200" dirty="0"/>
          </a:p>
        </p:txBody>
      </p:sp>
      <p:sp>
        <p:nvSpPr>
          <p:cNvPr id="5" name="Shape 3"/>
          <p:cNvSpPr/>
          <p:nvPr/>
        </p:nvSpPr>
        <p:spPr>
          <a:xfrm>
            <a:off x="548640" y="1737360"/>
            <a:ext cx="566928" cy="566928"/>
          </a:xfrm>
          <a:prstGeom prst="rect">
            <a:avLst/>
          </a:prstGeom>
          <a:solidFill>
            <a:srgbClr val="7A4A45"/>
          </a:solidFill>
          <a:ln/>
        </p:spPr>
      </p:sp>
      <p:sp>
        <p:nvSpPr>
          <p:cNvPr id="6" name="Text 4"/>
          <p:cNvSpPr/>
          <p:nvPr/>
        </p:nvSpPr>
        <p:spPr>
          <a:xfrm>
            <a:off x="548640" y="1737360"/>
            <a:ext cx="566928" cy="566928"/>
          </a:xfrm>
          <a:prstGeom prst="rect">
            <a:avLst/>
          </a:prstGeom>
          <a:noFill/>
          <a:ln/>
        </p:spPr>
        <p:txBody>
          <a:bodyPr wrap="square" lIns="0" tIns="0" rIns="0" bIns="0" rtlCol="0" anchor="ctr"/>
          <a:lstStyle/>
          <a:p>
            <a:pPr algn="ctr" indent="0" marL="0">
              <a:buNone/>
            </a:pPr>
            <a:r>
              <a:rPr lang="en-US" sz="2200" dirty="0">
                <a:solidFill>
                  <a:srgbClr val="FFFFFF"/>
                </a:solidFill>
                <a:latin typeface="바탕" pitchFamily="34" charset="0"/>
                <a:ea typeface="바탕" pitchFamily="34" charset="-122"/>
                <a:cs typeface="바탕" pitchFamily="34" charset="-120"/>
              </a:rPr>
              <a:t>人</a:t>
            </a:r>
            <a:endParaRPr lang="en-US" sz="2200" dirty="0"/>
          </a:p>
        </p:txBody>
      </p:sp>
      <p:sp>
        <p:nvSpPr>
          <p:cNvPr id="7" name="Text 5"/>
          <p:cNvSpPr/>
          <p:nvPr/>
        </p:nvSpPr>
        <p:spPr>
          <a:xfrm>
            <a:off x="1298448" y="1737360"/>
            <a:ext cx="6309360" cy="603504"/>
          </a:xfrm>
          <a:prstGeom prst="rect">
            <a:avLst/>
          </a:prstGeom>
          <a:noFill/>
          <a:ln/>
        </p:spPr>
        <p:txBody>
          <a:bodyPr wrap="square" lIns="0" tIns="0" rIns="0" bIns="0" rtlCol="0" anchor="ctr"/>
          <a:lstStyle/>
          <a:p>
            <a:pPr indent="0" marL="0">
              <a:lnSpc>
                <a:spcPts val="1800"/>
              </a:lnSpc>
              <a:buNone/>
            </a:pPr>
            <a:r>
              <a:rPr lang="en-US" sz="1150" dirty="0">
                <a:solidFill>
                  <a:srgbClr val="3E3A35"/>
                </a:solidFill>
                <a:latin typeface="맑은 고딕" pitchFamily="34" charset="0"/>
                <a:ea typeface="맑은 고딕" pitchFamily="34" charset="-122"/>
                <a:cs typeface="맑은 고딕" pitchFamily="34" charset="-120"/>
              </a:rPr>
              <a:t>가장 얇고 가장 가까운 지층. 여기서 전시는 작가의 것에서 주민의 것으로 넘어간다.</a:t>
            </a:r>
            <a:endParaRPr lang="en-US" sz="1150" dirty="0"/>
          </a:p>
        </p:txBody>
      </p:sp>
      <p:sp>
        <p:nvSpPr>
          <p:cNvPr id="8" name="Shape 6"/>
          <p:cNvSpPr/>
          <p:nvPr/>
        </p:nvSpPr>
        <p:spPr>
          <a:xfrm>
            <a:off x="548640" y="2542032"/>
            <a:ext cx="7059168" cy="1042416"/>
          </a:xfrm>
          <a:prstGeom prst="rect">
            <a:avLst/>
          </a:prstGeom>
          <a:solidFill>
            <a:srgbClr val="FFFFFF"/>
          </a:solidFill>
          <a:ln w="9525">
            <a:solidFill>
              <a:srgbClr val="D8D4CE"/>
            </a:solidFill>
            <a:prstDash val="solid"/>
          </a:ln>
        </p:spPr>
      </p:sp>
      <p:sp>
        <p:nvSpPr>
          <p:cNvPr id="9" name="Shape 7"/>
          <p:cNvSpPr/>
          <p:nvPr/>
        </p:nvSpPr>
        <p:spPr>
          <a:xfrm>
            <a:off x="749808" y="2724912"/>
            <a:ext cx="384048" cy="384048"/>
          </a:xfrm>
          <a:prstGeom prst="ellipse">
            <a:avLst/>
          </a:prstGeom>
          <a:solidFill>
            <a:srgbClr val="7A4A45"/>
          </a:solidFill>
          <a:ln/>
        </p:spPr>
      </p:sp>
      <p:sp>
        <p:nvSpPr>
          <p:cNvPr id="10" name="Text 8"/>
          <p:cNvSpPr/>
          <p:nvPr/>
        </p:nvSpPr>
        <p:spPr>
          <a:xfrm>
            <a:off x="749808" y="272491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⑥</a:t>
            </a:r>
            <a:endParaRPr lang="en-US" sz="1300" dirty="0"/>
          </a:p>
        </p:txBody>
      </p:sp>
      <p:sp>
        <p:nvSpPr>
          <p:cNvPr id="11" name="Text 9"/>
          <p:cNvSpPr/>
          <p:nvPr/>
        </p:nvSpPr>
        <p:spPr>
          <a:xfrm>
            <a:off x="1280160" y="2688336"/>
            <a:ext cx="2926080" cy="310896"/>
          </a:xfrm>
          <a:prstGeom prst="rect">
            <a:avLst/>
          </a:prstGeom>
          <a:noFill/>
          <a:ln/>
        </p:spPr>
        <p:txBody>
          <a:bodyPr wrap="square" lIns="0" tIns="0" rIns="0" bIns="0" rtlCol="0" anchor="ctr"/>
          <a:lstStyle/>
          <a:p>
            <a:pPr indent="0" marL="0">
              <a:buNone/>
            </a:pPr>
            <a:r>
              <a:rPr lang="en-US" sz="1400" b="1" dirty="0">
                <a:solidFill>
                  <a:srgbClr val="1A1A1A"/>
                </a:solidFill>
                <a:latin typeface="맑은 고딕" pitchFamily="34" charset="0"/>
                <a:ea typeface="맑은 고딕" pitchFamily="34" charset="-122"/>
                <a:cs typeface="맑은 고딕" pitchFamily="34" charset="-120"/>
              </a:rPr>
              <a:t>창살 너머</a:t>
            </a:r>
            <a:endParaRPr lang="en-US" sz="1400" dirty="0"/>
          </a:p>
        </p:txBody>
      </p:sp>
      <p:sp>
        <p:nvSpPr>
          <p:cNvPr id="12" name="Text 10"/>
          <p:cNvSpPr/>
          <p:nvPr/>
        </p:nvSpPr>
        <p:spPr>
          <a:xfrm>
            <a:off x="4251960" y="2724912"/>
            <a:ext cx="3200400" cy="256032"/>
          </a:xfrm>
          <a:prstGeom prst="rect">
            <a:avLst/>
          </a:prstGeom>
          <a:noFill/>
          <a:ln/>
        </p:spPr>
        <p:txBody>
          <a:bodyPr wrap="square" lIns="0" tIns="0" rIns="0" bIns="0" rtlCol="0" anchor="ctr"/>
          <a:lstStyle/>
          <a:p>
            <a:pPr algn="r" indent="0" marL="0">
              <a:buNone/>
            </a:pPr>
            <a:r>
              <a:rPr lang="en-US" sz="950" dirty="0">
                <a:solidFill>
                  <a:srgbClr val="7A4A45"/>
                </a:solidFill>
                <a:latin typeface="맑은 고딕" pitchFamily="34" charset="0"/>
                <a:ea typeface="맑은 고딕" pitchFamily="34" charset="-122"/>
                <a:cs typeface="맑은 고딕" pitchFamily="34" charset="-120"/>
              </a:rPr>
              <a:t>사진 · 회화</a:t>
            </a:r>
            <a:endParaRPr lang="en-US" sz="950" dirty="0"/>
          </a:p>
        </p:txBody>
      </p:sp>
      <p:sp>
        <p:nvSpPr>
          <p:cNvPr id="13" name="Text 11"/>
          <p:cNvSpPr/>
          <p:nvPr/>
        </p:nvSpPr>
        <p:spPr>
          <a:xfrm>
            <a:off x="1280160" y="3035808"/>
            <a:ext cx="6144768" cy="420624"/>
          </a:xfrm>
          <a:prstGeom prst="rect">
            <a:avLst/>
          </a:prstGeom>
          <a:noFill/>
          <a:ln/>
        </p:spPr>
        <p:txBody>
          <a:bodyPr wrap="square" lIns="0" tIns="0" rIns="0" bIns="0" rtlCol="0" anchor="t"/>
          <a:lstStyle/>
          <a:p>
            <a:pPr indent="0" marL="0">
              <a:lnSpc>
                <a:spcPts val="1700"/>
              </a:lnSpc>
              <a:buNone/>
            </a:pPr>
            <a:r>
              <a:rPr lang="en-US" sz="1050" dirty="0">
                <a:solidFill>
                  <a:srgbClr val="4A453F"/>
                </a:solidFill>
                <a:latin typeface="맑은 고딕" pitchFamily="34" charset="0"/>
                <a:ea typeface="맑은 고딕" pitchFamily="34" charset="-122"/>
                <a:cs typeface="맑은 고딕" pitchFamily="34" charset="-120"/>
              </a:rPr>
              <a:t>창살이 만드는 그림자를 하루의 시간표로 삼아, 그 궤적 위에 사진과 회화를 건다. 여공의 길·극장·골목을 다룬 아카이브 사진과 동시대 작가의 화면이 같은 벽에서 만난다.</a:t>
            </a:r>
            <a:endParaRPr lang="en-US" sz="1050" dirty="0"/>
          </a:p>
        </p:txBody>
      </p:sp>
      <p:sp>
        <p:nvSpPr>
          <p:cNvPr id="14" name="Shape 12"/>
          <p:cNvSpPr/>
          <p:nvPr/>
        </p:nvSpPr>
        <p:spPr>
          <a:xfrm>
            <a:off x="548640" y="3703320"/>
            <a:ext cx="7059168" cy="1042416"/>
          </a:xfrm>
          <a:prstGeom prst="rect">
            <a:avLst/>
          </a:prstGeom>
          <a:solidFill>
            <a:srgbClr val="FFFFFF"/>
          </a:solidFill>
          <a:ln w="9525">
            <a:solidFill>
              <a:srgbClr val="D8D4CE"/>
            </a:solidFill>
            <a:prstDash val="solid"/>
          </a:ln>
        </p:spPr>
      </p:sp>
      <p:sp>
        <p:nvSpPr>
          <p:cNvPr id="15" name="Shape 13"/>
          <p:cNvSpPr/>
          <p:nvPr/>
        </p:nvSpPr>
        <p:spPr>
          <a:xfrm>
            <a:off x="749808" y="3886200"/>
            <a:ext cx="384048" cy="384048"/>
          </a:xfrm>
          <a:prstGeom prst="ellipse">
            <a:avLst/>
          </a:prstGeom>
          <a:solidFill>
            <a:srgbClr val="7A4A45"/>
          </a:solidFill>
          <a:ln/>
        </p:spPr>
      </p:sp>
      <p:sp>
        <p:nvSpPr>
          <p:cNvPr id="16" name="Text 14"/>
          <p:cNvSpPr/>
          <p:nvPr/>
        </p:nvSpPr>
        <p:spPr>
          <a:xfrm>
            <a:off x="749808" y="38862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⑦</a:t>
            </a:r>
            <a:endParaRPr lang="en-US" sz="1300" dirty="0"/>
          </a:p>
        </p:txBody>
      </p:sp>
      <p:sp>
        <p:nvSpPr>
          <p:cNvPr id="17" name="Text 15"/>
          <p:cNvSpPr/>
          <p:nvPr/>
        </p:nvSpPr>
        <p:spPr>
          <a:xfrm>
            <a:off x="1280160" y="3849624"/>
            <a:ext cx="2926080" cy="310896"/>
          </a:xfrm>
          <a:prstGeom prst="rect">
            <a:avLst/>
          </a:prstGeom>
          <a:noFill/>
          <a:ln/>
        </p:spPr>
        <p:txBody>
          <a:bodyPr wrap="square" lIns="0" tIns="0" rIns="0" bIns="0" rtlCol="0" anchor="ctr"/>
          <a:lstStyle/>
          <a:p>
            <a:pPr indent="0" marL="0">
              <a:buNone/>
            </a:pPr>
            <a:r>
              <a:rPr lang="en-US" sz="1400" b="1" dirty="0">
                <a:solidFill>
                  <a:srgbClr val="1A1A1A"/>
                </a:solidFill>
                <a:latin typeface="맑은 고딕" pitchFamily="34" charset="0"/>
                <a:ea typeface="맑은 고딕" pitchFamily="34" charset="-122"/>
                <a:cs typeface="맑은 고딕" pitchFamily="34" charset="-120"/>
              </a:rPr>
              <a:t>덧대는 방</a:t>
            </a:r>
            <a:endParaRPr lang="en-US" sz="1400" dirty="0"/>
          </a:p>
        </p:txBody>
      </p:sp>
      <p:sp>
        <p:nvSpPr>
          <p:cNvPr id="18" name="Text 16"/>
          <p:cNvSpPr/>
          <p:nvPr/>
        </p:nvSpPr>
        <p:spPr>
          <a:xfrm>
            <a:off x="4251960" y="3886200"/>
            <a:ext cx="3200400" cy="256032"/>
          </a:xfrm>
          <a:prstGeom prst="rect">
            <a:avLst/>
          </a:prstGeom>
          <a:noFill/>
          <a:ln/>
        </p:spPr>
        <p:txBody>
          <a:bodyPr wrap="square" lIns="0" tIns="0" rIns="0" bIns="0" rtlCol="0" anchor="ctr"/>
          <a:lstStyle/>
          <a:p>
            <a:pPr algn="r" indent="0" marL="0">
              <a:buNone/>
            </a:pPr>
            <a:r>
              <a:rPr lang="en-US" sz="950" dirty="0">
                <a:solidFill>
                  <a:srgbClr val="7A4A45"/>
                </a:solidFill>
                <a:latin typeface="맑은 고딕" pitchFamily="34" charset="0"/>
                <a:ea typeface="맑은 고딕" pitchFamily="34" charset="-122"/>
                <a:cs typeface="맑은 고딕" pitchFamily="34" charset="-120"/>
              </a:rPr>
              <a:t>참여형 드로잉맵 · 상시 증축</a:t>
            </a:r>
            <a:endParaRPr lang="en-US" sz="950" dirty="0"/>
          </a:p>
        </p:txBody>
      </p:sp>
      <p:sp>
        <p:nvSpPr>
          <p:cNvPr id="19" name="Text 17"/>
          <p:cNvSpPr/>
          <p:nvPr/>
        </p:nvSpPr>
        <p:spPr>
          <a:xfrm>
            <a:off x="1280160" y="4197096"/>
            <a:ext cx="6144768" cy="420624"/>
          </a:xfrm>
          <a:prstGeom prst="rect">
            <a:avLst/>
          </a:prstGeom>
          <a:noFill/>
          <a:ln/>
        </p:spPr>
        <p:txBody>
          <a:bodyPr wrap="square" lIns="0" tIns="0" rIns="0" bIns="0" rtlCol="0" anchor="t"/>
          <a:lstStyle/>
          <a:p>
            <a:pPr indent="0" marL="0">
              <a:lnSpc>
                <a:spcPts val="1700"/>
              </a:lnSpc>
              <a:buNone/>
            </a:pPr>
            <a:r>
              <a:rPr lang="en-US" sz="1050" dirty="0">
                <a:solidFill>
                  <a:srgbClr val="4A453F"/>
                </a:solidFill>
                <a:latin typeface="맑은 고딕" pitchFamily="34" charset="0"/>
                <a:ea typeface="맑은 고딕" pitchFamily="34" charset="-122"/>
                <a:cs typeface="맑은 고딕" pitchFamily="34" charset="-120"/>
              </a:rPr>
              <a:t>관람객과 주민이 자기가 살던 방의 평면을 그려 벽에 덧붙인다. 기획자가 아파트 주민들과 진행해 온 참여형 드로잉맵 방법론을 노후 주택 지역으로 확장한 것으로, 전시가 진행될수록 벽이 두꺼워진다.</a:t>
            </a:r>
            <a:endParaRPr lang="en-US" sz="1050" dirty="0"/>
          </a:p>
        </p:txBody>
      </p:sp>
      <p:sp>
        <p:nvSpPr>
          <p:cNvPr id="20" name="Shape 18"/>
          <p:cNvSpPr/>
          <p:nvPr/>
        </p:nvSpPr>
        <p:spPr>
          <a:xfrm>
            <a:off x="548640" y="4864608"/>
            <a:ext cx="7059168" cy="1042416"/>
          </a:xfrm>
          <a:prstGeom prst="rect">
            <a:avLst/>
          </a:prstGeom>
          <a:solidFill>
            <a:srgbClr val="FFFFFF"/>
          </a:solidFill>
          <a:ln w="9525">
            <a:solidFill>
              <a:srgbClr val="D8D4CE"/>
            </a:solidFill>
            <a:prstDash val="solid"/>
          </a:ln>
        </p:spPr>
      </p:sp>
      <p:sp>
        <p:nvSpPr>
          <p:cNvPr id="21" name="Shape 19"/>
          <p:cNvSpPr/>
          <p:nvPr/>
        </p:nvSpPr>
        <p:spPr>
          <a:xfrm>
            <a:off x="749808" y="5047488"/>
            <a:ext cx="384048" cy="384048"/>
          </a:xfrm>
          <a:prstGeom prst="ellipse">
            <a:avLst/>
          </a:prstGeom>
          <a:solidFill>
            <a:srgbClr val="7A4A45"/>
          </a:solidFill>
          <a:ln/>
        </p:spPr>
      </p:sp>
      <p:sp>
        <p:nvSpPr>
          <p:cNvPr id="22" name="Text 20"/>
          <p:cNvSpPr/>
          <p:nvPr/>
        </p:nvSpPr>
        <p:spPr>
          <a:xfrm>
            <a:off x="749808" y="504748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⑧</a:t>
            </a:r>
            <a:endParaRPr lang="en-US" sz="1300" dirty="0"/>
          </a:p>
        </p:txBody>
      </p:sp>
      <p:sp>
        <p:nvSpPr>
          <p:cNvPr id="23" name="Text 21"/>
          <p:cNvSpPr/>
          <p:nvPr/>
        </p:nvSpPr>
        <p:spPr>
          <a:xfrm>
            <a:off x="1280160" y="5010912"/>
            <a:ext cx="2926080" cy="310896"/>
          </a:xfrm>
          <a:prstGeom prst="rect">
            <a:avLst/>
          </a:prstGeom>
          <a:noFill/>
          <a:ln/>
        </p:spPr>
        <p:txBody>
          <a:bodyPr wrap="square" lIns="0" tIns="0" rIns="0" bIns="0" rtlCol="0" anchor="ctr"/>
          <a:lstStyle/>
          <a:p>
            <a:pPr indent="0" marL="0">
              <a:buNone/>
            </a:pPr>
            <a:r>
              <a:rPr lang="en-US" sz="1400" b="1" dirty="0">
                <a:solidFill>
                  <a:srgbClr val="1A1A1A"/>
                </a:solidFill>
                <a:latin typeface="맑은 고딕" pitchFamily="34" charset="0"/>
                <a:ea typeface="맑은 고딕" pitchFamily="34" charset="-122"/>
                <a:cs typeface="맑은 고딕" pitchFamily="34" charset="-120"/>
              </a:rPr>
              <a:t>불의 자리</a:t>
            </a:r>
            <a:endParaRPr lang="en-US" sz="1400" dirty="0"/>
          </a:p>
        </p:txBody>
      </p:sp>
      <p:sp>
        <p:nvSpPr>
          <p:cNvPr id="24" name="Text 22"/>
          <p:cNvSpPr/>
          <p:nvPr/>
        </p:nvSpPr>
        <p:spPr>
          <a:xfrm>
            <a:off x="4251960" y="5047488"/>
            <a:ext cx="3200400" cy="256032"/>
          </a:xfrm>
          <a:prstGeom prst="rect">
            <a:avLst/>
          </a:prstGeom>
          <a:noFill/>
          <a:ln/>
        </p:spPr>
        <p:txBody>
          <a:bodyPr wrap="square" lIns="0" tIns="0" rIns="0" bIns="0" rtlCol="0" anchor="ctr"/>
          <a:lstStyle/>
          <a:p>
            <a:pPr algn="r" indent="0" marL="0">
              <a:buNone/>
            </a:pPr>
            <a:r>
              <a:rPr lang="en-US" sz="950" dirty="0">
                <a:solidFill>
                  <a:srgbClr val="7A4A45"/>
                </a:solidFill>
                <a:latin typeface="맑은 고딕" pitchFamily="34" charset="0"/>
                <a:ea typeface="맑은 고딕" pitchFamily="34" charset="-122"/>
                <a:cs typeface="맑은 고딕" pitchFamily="34" charset="-120"/>
              </a:rPr>
              <a:t>에필로그 · 커뮤니티 테이블</a:t>
            </a:r>
            <a:endParaRPr lang="en-US" sz="950" dirty="0"/>
          </a:p>
        </p:txBody>
      </p:sp>
      <p:sp>
        <p:nvSpPr>
          <p:cNvPr id="25" name="Text 23"/>
          <p:cNvSpPr/>
          <p:nvPr/>
        </p:nvSpPr>
        <p:spPr>
          <a:xfrm>
            <a:off x="1280160" y="5358384"/>
            <a:ext cx="6144768" cy="420624"/>
          </a:xfrm>
          <a:prstGeom prst="rect">
            <a:avLst/>
          </a:prstGeom>
          <a:noFill/>
          <a:ln/>
        </p:spPr>
        <p:txBody>
          <a:bodyPr wrap="square" lIns="0" tIns="0" rIns="0" bIns="0" rtlCol="0" anchor="t"/>
          <a:lstStyle/>
          <a:p>
            <a:pPr indent="0" marL="0">
              <a:lnSpc>
                <a:spcPts val="1700"/>
              </a:lnSpc>
              <a:buNone/>
            </a:pPr>
            <a:r>
              <a:rPr lang="en-US" sz="1050" dirty="0">
                <a:solidFill>
                  <a:srgbClr val="4A453F"/>
                </a:solidFill>
                <a:latin typeface="맑은 고딕" pitchFamily="34" charset="0"/>
                <a:ea typeface="맑은 고딕" pitchFamily="34" charset="-122"/>
                <a:cs typeface="맑은 고딕" pitchFamily="34" charset="-120"/>
              </a:rPr>
              <a:t>부엌의 잔재가 남은 마지막 방에 긴 상을 편다. 주민·상인 구술 영상이 낮게 흐르고, 주말에는 이 상 위에서 토크와 낭독이 열린다. 전시는 여기서 끝나지 않고 대화로 이어진다.</a:t>
            </a:r>
            <a:endParaRPr lang="en-US" sz="1050" dirty="0"/>
          </a:p>
        </p:txBody>
      </p:sp>
      <p:pic>
        <p:nvPicPr>
          <p:cNvPr id="26" name="Image 0" descr="/home/claude/aither/img/A25_0.jpeg">    </p:cNvPr>
          <p:cNvPicPr>
            <a:picLocks noChangeAspect="1"/>
          </p:cNvPicPr>
          <p:nvPr/>
        </p:nvPicPr>
        <p:blipFill>
          <a:blip r:embed="rId1"/>
          <a:srcRect l="0" r="0" t="0" b="0"/>
          <a:stretch/>
        </p:blipFill>
        <p:spPr>
          <a:xfrm>
            <a:off x="7863840" y="1737360"/>
            <a:ext cx="3749040" cy="2148840"/>
          </a:xfrm>
          <a:prstGeom prst="rect">
            <a:avLst/>
          </a:prstGeom>
        </p:spPr>
      </p:pic>
      <p:sp>
        <p:nvSpPr>
          <p:cNvPr id="27" name="Text 24"/>
          <p:cNvSpPr/>
          <p:nvPr/>
        </p:nvSpPr>
        <p:spPr>
          <a:xfrm>
            <a:off x="7863840" y="3931920"/>
            <a:ext cx="3749040" cy="219456"/>
          </a:xfrm>
          <a:prstGeom prst="rect">
            <a:avLst/>
          </a:prstGeom>
          <a:noFill/>
          <a:ln/>
        </p:spPr>
        <p:txBody>
          <a:bodyPr wrap="square" lIns="0" tIns="0" rIns="0" bIns="0" rtlCol="0" anchor="ctr"/>
          <a:lstStyle/>
          <a:p>
            <a:pPr indent="0" marL="0">
              <a:buNone/>
            </a:pPr>
            <a:r>
              <a:rPr lang="en-US" sz="850" dirty="0">
                <a:solidFill>
                  <a:srgbClr val="8A857E"/>
                </a:solidFill>
                <a:latin typeface="맑은 고딕" pitchFamily="34" charset="0"/>
                <a:ea typeface="맑은 고딕" pitchFamily="34" charset="-122"/>
                <a:cs typeface="맑은 고딕" pitchFamily="34" charset="-120"/>
              </a:rPr>
              <a:t>⑥실 창살 목창과 설치 작업 (아이테르 제공)</a:t>
            </a:r>
            <a:endParaRPr lang="en-US" sz="850" dirty="0"/>
          </a:p>
        </p:txBody>
      </p:sp>
      <p:sp>
        <p:nvSpPr>
          <p:cNvPr id="28" name="Shape 25"/>
          <p:cNvSpPr/>
          <p:nvPr/>
        </p:nvSpPr>
        <p:spPr>
          <a:xfrm>
            <a:off x="7863840" y="4279392"/>
            <a:ext cx="3749040" cy="1874520"/>
          </a:xfrm>
          <a:prstGeom prst="rect">
            <a:avLst/>
          </a:prstGeom>
          <a:solidFill>
            <a:srgbClr val="F3F1ED"/>
          </a:solidFill>
          <a:ln/>
        </p:spPr>
      </p:sp>
      <p:sp>
        <p:nvSpPr>
          <p:cNvPr id="29" name="Text 26"/>
          <p:cNvSpPr/>
          <p:nvPr/>
        </p:nvSpPr>
        <p:spPr>
          <a:xfrm>
            <a:off x="8119872" y="4462272"/>
            <a:ext cx="3291840" cy="256032"/>
          </a:xfrm>
          <a:prstGeom prst="rect">
            <a:avLst/>
          </a:prstGeom>
          <a:noFill/>
          <a:ln/>
        </p:spPr>
        <p:txBody>
          <a:bodyPr wrap="square" lIns="0" tIns="0" rIns="0" bIns="0" rtlCol="0" anchor="ctr"/>
          <a:lstStyle/>
          <a:p>
            <a:pPr indent="0" marL="0">
              <a:buNone/>
            </a:pPr>
            <a:r>
              <a:rPr lang="en-US" sz="1100" b="1" dirty="0">
                <a:solidFill>
                  <a:srgbClr val="7A4A45"/>
                </a:solidFill>
                <a:latin typeface="맑은 고딕" pitchFamily="34" charset="0"/>
                <a:ea typeface="맑은 고딕" pitchFamily="34" charset="-122"/>
                <a:cs typeface="맑은 고딕" pitchFamily="34" charset="-120"/>
              </a:rPr>
              <a:t>참여 설계</a:t>
            </a:r>
            <a:endParaRPr lang="en-US" sz="1100" dirty="0"/>
          </a:p>
        </p:txBody>
      </p:sp>
      <p:sp>
        <p:nvSpPr>
          <p:cNvPr id="30" name="Text 27"/>
          <p:cNvSpPr/>
          <p:nvPr/>
        </p:nvSpPr>
        <p:spPr>
          <a:xfrm>
            <a:off x="8119872" y="4754880"/>
            <a:ext cx="3291840" cy="1280160"/>
          </a:xfrm>
          <a:prstGeom prst="rect">
            <a:avLst/>
          </a:prstGeom>
          <a:noFill/>
          <a:ln/>
        </p:spPr>
        <p:txBody>
          <a:bodyPr wrap="square" lIns="0" tIns="0" rIns="0" bIns="0" rtlCol="0" anchor="ctr"/>
          <a:lstStyle/>
          <a:p>
            <a:pPr indent="0" marL="0">
              <a:lnSpc>
                <a:spcPts val="1500"/>
              </a:lnSpc>
              <a:buNone/>
            </a:pPr>
            <a:r>
              <a:rPr lang="en-US" sz="950" dirty="0">
                <a:solidFill>
                  <a:srgbClr val="4A453F"/>
                </a:solidFill>
                <a:latin typeface="맑은 고딕" pitchFamily="34" charset="0"/>
                <a:ea typeface="맑은 고딕" pitchFamily="34" charset="-122"/>
                <a:cs typeface="맑은 고딕" pitchFamily="34" charset="-120"/>
              </a:rPr>
              <a:t>· 드로잉맵: A5 트레이싱지 · 상시 비치, 회차당 참여율 25% 목표(누적 500점)</a:t>
            </a:r>
            <a:endParaRPr lang="en-US" sz="950" dirty="0"/>
          </a:p>
          <a:p>
            <a:pPr indent="0" marL="0">
              <a:lnSpc>
                <a:spcPts val="1500"/>
              </a:lnSpc>
              <a:buNone/>
            </a:pPr>
            <a:r>
              <a:rPr lang="en-US" sz="950" dirty="0">
                <a:solidFill>
                  <a:srgbClr val="4A453F"/>
                </a:solidFill>
                <a:latin typeface="맑은 고딕" pitchFamily="34" charset="0"/>
                <a:ea typeface="맑은 고딕" pitchFamily="34" charset="-122"/>
                <a:cs typeface="맑은 고딕" pitchFamily="34" charset="-120"/>
              </a:rPr>
              <a:t>· 구술 채록 30인: 사전 동의서·초상권·활용범위 명시, 원본은 기록관 이관</a:t>
            </a:r>
            <a:endParaRPr lang="en-US" sz="950" dirty="0"/>
          </a:p>
          <a:p>
            <a:pPr indent="0" marL="0">
              <a:lnSpc>
                <a:spcPts val="1500"/>
              </a:lnSpc>
              <a:buNone/>
            </a:pPr>
            <a:r>
              <a:rPr lang="en-US" sz="950" dirty="0">
                <a:solidFill>
                  <a:srgbClr val="4A453F"/>
                </a:solidFill>
                <a:latin typeface="맑은 고딕" pitchFamily="34" charset="0"/>
                <a:ea typeface="맑은 고딕" pitchFamily="34" charset="-122"/>
                <a:cs typeface="맑은 고딕" pitchFamily="34" charset="-120"/>
              </a:rPr>
              <a:t>· ⑧실 정원 16인, 화기 사용 없음(F&amp;B는 5F 라운지에서 운용)</a:t>
            </a:r>
            <a:endParaRPr lang="en-US" sz="950" dirty="0"/>
          </a:p>
        </p:txBody>
      </p:sp>
      <p:sp>
        <p:nvSpPr>
          <p:cNvPr id="31" name="Text 28"/>
          <p:cNvSpPr/>
          <p:nvPr/>
        </p:nvSpPr>
        <p:spPr>
          <a:xfrm>
            <a:off x="548640" y="6419088"/>
            <a:ext cx="7315200" cy="274320"/>
          </a:xfrm>
          <a:prstGeom prst="rect">
            <a:avLst/>
          </a:prstGeom>
          <a:noFill/>
          <a:ln/>
        </p:spPr>
        <p:txBody>
          <a:bodyPr wrap="square" lIns="0" tIns="0" rIns="0" bIns="0" rtlCol="0" anchor="ctr"/>
          <a:lstStyle/>
          <a:p>
            <a:pPr algn="l" indent="0" marL="0">
              <a:buNone/>
            </a:pPr>
            <a:r>
              <a:rPr lang="en-US" sz="800" dirty="0">
                <a:solidFill>
                  <a:srgbClr val="8A857E"/>
                </a:solidFill>
                <a:latin typeface="맑은 고딕" pitchFamily="34" charset="0"/>
                <a:ea typeface="맑은 고딕" pitchFamily="34" charset="-122"/>
                <a:cs typeface="맑은 고딕" pitchFamily="34" charset="-120"/>
              </a:rPr>
              <a:t>아이테르 문화예술기획제안서   ·   덮인 물, 남은 올   ·   기획 추병곤</a:t>
            </a:r>
            <a:endParaRPr lang="en-US" sz="800" dirty="0"/>
          </a:p>
        </p:txBody>
      </p:sp>
      <p:sp>
        <p:nvSpPr>
          <p:cNvPr id="32" name="Text 29"/>
          <p:cNvSpPr/>
          <p:nvPr/>
        </p:nvSpPr>
        <p:spPr>
          <a:xfrm>
            <a:off x="10972800" y="6419088"/>
            <a:ext cx="640080" cy="274320"/>
          </a:xfrm>
          <a:prstGeom prst="rect">
            <a:avLst/>
          </a:prstGeom>
          <a:noFill/>
          <a:ln/>
        </p:spPr>
        <p:txBody>
          <a:bodyPr wrap="square" lIns="0" tIns="0" rIns="0" bIns="0" rtlCol="0" anchor="ctr"/>
          <a:lstStyle/>
          <a:p>
            <a:pPr algn="r" indent="0" marL="0">
              <a:buNone/>
            </a:pPr>
            <a:r>
              <a:rPr lang="en-US" sz="900" dirty="0">
                <a:solidFill>
                  <a:srgbClr val="8A857E"/>
                </a:solidFill>
                <a:latin typeface="Cambria" pitchFamily="34" charset="0"/>
                <a:ea typeface="Cambria" pitchFamily="34" charset="-122"/>
                <a:cs typeface="Cambria"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7315200" cy="237744"/>
          </a:xfrm>
          <a:prstGeom prst="rect">
            <a:avLst/>
          </a:prstGeom>
          <a:noFill/>
          <a:ln/>
        </p:spPr>
        <p:txBody>
          <a:bodyPr wrap="square" lIns="0" tIns="0" rIns="0" bIns="0" rtlCol="0" anchor="ctr"/>
          <a:lstStyle/>
          <a:p>
            <a:pPr indent="0" marL="0">
              <a:buNone/>
            </a:pPr>
            <a:r>
              <a:rPr lang="en-US" sz="1050" spc="250" kern="0" dirty="0">
                <a:solidFill>
                  <a:srgbClr val="8A857E"/>
                </a:solidFill>
                <a:latin typeface="Cambria" pitchFamily="34" charset="0"/>
                <a:ea typeface="Cambria" pitchFamily="34" charset="-122"/>
                <a:cs typeface="Cambria" pitchFamily="34" charset="-120"/>
              </a:rPr>
              <a:t>11  DIAGRAM 4</a:t>
            </a:r>
            <a:endParaRPr lang="en-US" sz="1050" dirty="0"/>
          </a:p>
        </p:txBody>
      </p:sp>
      <p:sp>
        <p:nvSpPr>
          <p:cNvPr id="3" name="Text 1"/>
          <p:cNvSpPr/>
          <p:nvPr/>
        </p:nvSpPr>
        <p:spPr>
          <a:xfrm>
            <a:off x="548640" y="694944"/>
            <a:ext cx="10058400" cy="502920"/>
          </a:xfrm>
          <a:prstGeom prst="rect">
            <a:avLst/>
          </a:prstGeom>
          <a:noFill/>
          <a:ln/>
        </p:spPr>
        <p:txBody>
          <a:bodyPr wrap="square" lIns="0" tIns="0" rIns="0" bIns="0" rtlCol="0" anchor="ctr"/>
          <a:lstStyle/>
          <a:p>
            <a:pPr indent="0" marL="0">
              <a:buNone/>
            </a:pPr>
            <a:r>
              <a:rPr lang="en-US" sz="2700" b="1" dirty="0">
                <a:solidFill>
                  <a:srgbClr val="1A1A1A"/>
                </a:solidFill>
                <a:latin typeface="맑은 고딕" pitchFamily="34" charset="0"/>
                <a:ea typeface="맑은 고딕" pitchFamily="34" charset="-122"/>
                <a:cs typeface="맑은 고딕" pitchFamily="34" charset="-120"/>
              </a:rPr>
              <a:t>②실 지층 열람실과 [도식 4] 아카이브 구조</a:t>
            </a:r>
            <a:endParaRPr lang="en-US" sz="2700" dirty="0"/>
          </a:p>
        </p:txBody>
      </p:sp>
      <p:sp>
        <p:nvSpPr>
          <p:cNvPr id="4" name="Text 2"/>
          <p:cNvSpPr/>
          <p:nvPr/>
        </p:nvSpPr>
        <p:spPr>
          <a:xfrm>
            <a:off x="548640" y="1225296"/>
            <a:ext cx="10607040" cy="310896"/>
          </a:xfrm>
          <a:prstGeom prst="rect">
            <a:avLst/>
          </a:prstGeom>
          <a:noFill/>
          <a:ln/>
        </p:spPr>
        <p:txBody>
          <a:bodyPr wrap="square" lIns="0" tIns="0" rIns="0" bIns="0" rtlCol="0" anchor="ctr"/>
          <a:lstStyle/>
          <a:p>
            <a:pPr indent="0" marL="0">
              <a:buNone/>
            </a:pPr>
            <a:r>
              <a:rPr lang="en-US" sz="1200" dirty="0">
                <a:solidFill>
                  <a:srgbClr val="8A857E"/>
                </a:solidFill>
                <a:latin typeface="맑은 고딕" pitchFamily="34" charset="0"/>
                <a:ea typeface="맑은 고딕" pitchFamily="34" charset="-122"/>
                <a:cs typeface="맑은 고딕" pitchFamily="34" charset="-120"/>
              </a:rPr>
              <a:t>전시가 끝난 뒤에 남는 것을 먼저 설계한다 — 미술관·도서관·기록관을 잇는 M·L·A 모델</a:t>
            </a:r>
            <a:endParaRPr lang="en-US" sz="1200" dirty="0"/>
          </a:p>
        </p:txBody>
      </p:sp>
      <p:pic>
        <p:nvPicPr>
          <p:cNvPr id="5" name="Image 0" descr="/home/claude/aither/img/A25_3.jpeg">    </p:cNvPr>
          <p:cNvPicPr>
            <a:picLocks noChangeAspect="1"/>
          </p:cNvPicPr>
          <p:nvPr/>
        </p:nvPicPr>
        <p:blipFill>
          <a:blip r:embed="rId1"/>
          <a:srcRect l="0" r="0" t="0" b="0"/>
          <a:stretch/>
        </p:blipFill>
        <p:spPr>
          <a:xfrm>
            <a:off x="548640" y="1783080"/>
            <a:ext cx="3200400" cy="1481328"/>
          </a:xfrm>
          <a:prstGeom prst="rect">
            <a:avLst/>
          </a:prstGeom>
        </p:spPr>
      </p:pic>
      <p:sp>
        <p:nvSpPr>
          <p:cNvPr id="6" name="Shape 3"/>
          <p:cNvSpPr/>
          <p:nvPr/>
        </p:nvSpPr>
        <p:spPr>
          <a:xfrm>
            <a:off x="548640" y="3337560"/>
            <a:ext cx="3200400" cy="2788920"/>
          </a:xfrm>
          <a:prstGeom prst="rect">
            <a:avLst/>
          </a:prstGeom>
          <a:solidFill>
            <a:srgbClr val="F3F1ED"/>
          </a:solidFill>
          <a:ln/>
        </p:spPr>
      </p:sp>
      <p:sp>
        <p:nvSpPr>
          <p:cNvPr id="7" name="Shape 4"/>
          <p:cNvSpPr/>
          <p:nvPr/>
        </p:nvSpPr>
        <p:spPr>
          <a:xfrm>
            <a:off x="777240" y="3520440"/>
            <a:ext cx="384048" cy="384048"/>
          </a:xfrm>
          <a:prstGeom prst="ellipse">
            <a:avLst/>
          </a:prstGeom>
          <a:solidFill>
            <a:srgbClr val="4A4A4A"/>
          </a:solidFill>
          <a:ln/>
        </p:spPr>
      </p:sp>
      <p:sp>
        <p:nvSpPr>
          <p:cNvPr id="8" name="Text 5"/>
          <p:cNvSpPr/>
          <p:nvPr/>
        </p:nvSpPr>
        <p:spPr>
          <a:xfrm>
            <a:off x="777240" y="35204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맑은 고딕" pitchFamily="34" charset="0"/>
                <a:ea typeface="맑은 고딕" pitchFamily="34" charset="-122"/>
                <a:cs typeface="맑은 고딕" pitchFamily="34" charset="-120"/>
              </a:rPr>
              <a:t>②</a:t>
            </a:r>
            <a:endParaRPr lang="en-US" sz="1300" dirty="0"/>
          </a:p>
        </p:txBody>
      </p:sp>
      <p:sp>
        <p:nvSpPr>
          <p:cNvPr id="9" name="Text 6"/>
          <p:cNvSpPr/>
          <p:nvPr/>
        </p:nvSpPr>
        <p:spPr>
          <a:xfrm>
            <a:off x="1298448" y="3538728"/>
            <a:ext cx="2286000" cy="320040"/>
          </a:xfrm>
          <a:prstGeom prst="rect">
            <a:avLst/>
          </a:prstGeom>
          <a:noFill/>
          <a:ln/>
        </p:spPr>
        <p:txBody>
          <a:bodyPr wrap="square" lIns="0" tIns="0" rIns="0" bIns="0" rtlCol="0" anchor="ctr"/>
          <a:lstStyle/>
          <a:p>
            <a:pPr indent="0" marL="0">
              <a:buNone/>
            </a:pPr>
            <a:r>
              <a:rPr lang="en-US" sz="1500" b="1" dirty="0">
                <a:solidFill>
                  <a:srgbClr val="1A1A1A"/>
                </a:solidFill>
                <a:latin typeface="맑은 고딕" pitchFamily="34" charset="0"/>
                <a:ea typeface="맑은 고딕" pitchFamily="34" charset="-122"/>
                <a:cs typeface="맑은 고딕" pitchFamily="34" charset="-120"/>
              </a:rPr>
              <a:t>지층 열람실</a:t>
            </a:r>
            <a:endParaRPr lang="en-US" sz="1500" dirty="0"/>
          </a:p>
        </p:txBody>
      </p:sp>
      <p:sp>
        <p:nvSpPr>
          <p:cNvPr id="10" name="Text 7"/>
          <p:cNvSpPr/>
          <p:nvPr/>
        </p:nvSpPr>
        <p:spPr>
          <a:xfrm>
            <a:off x="822960" y="3986784"/>
            <a:ext cx="2651760" cy="2011680"/>
          </a:xfrm>
          <a:prstGeom prst="rect">
            <a:avLst/>
          </a:prstGeom>
          <a:noFill/>
          <a:ln/>
        </p:spPr>
        <p:txBody>
          <a:bodyPr wrap="square" lIns="0" tIns="0" rIns="0" bIns="0" rtlCol="0" anchor="t"/>
          <a:lstStyle/>
          <a:p>
            <a:pPr indent="0" marL="0">
              <a:lnSpc>
                <a:spcPts val="1500"/>
              </a:lnSpc>
              <a:buNone/>
            </a:pPr>
            <a:r>
              <a:rPr lang="en-US" sz="950" dirty="0">
                <a:solidFill>
                  <a:srgbClr val="3E3A35"/>
                </a:solidFill>
                <a:latin typeface="맑은 고딕" pitchFamily="34" charset="0"/>
                <a:ea typeface="맑은 고딕" pitchFamily="34" charset="-122"/>
                <a:cs typeface="맑은 고딕" pitchFamily="34" charset="-120"/>
              </a:rPr>
              <a:t>전시실이자 열람실. 관람객은 벽에 걸린 작품이 아니라 서랍과 파일을 연다. 1917년 조방 배치도, 부산진매축 도면, 시장 상권 변천도, 여공의 사진, 그리고 이번 전시에서 새로 채록한 구술과 원단 실물 표본이 같은 서가에 놓인다.</a:t>
            </a:r>
            <a:endParaRPr lang="en-US" sz="950" dirty="0"/>
          </a:p>
          <a:p>
            <a:pPr indent="0" marL="0">
              <a:lnSpc>
                <a:spcPts val="1500"/>
              </a:lnSpc>
              <a:buNone/>
            </a:pPr>
            <a:endParaRPr lang="en-US" sz="950" dirty="0"/>
          </a:p>
          <a:p>
            <a:pPr indent="0" marL="0">
              <a:lnSpc>
                <a:spcPts val="1500"/>
              </a:lnSpc>
              <a:buNone/>
            </a:pPr>
            <a:r>
              <a:rPr lang="en-US" sz="950" dirty="0">
                <a:solidFill>
                  <a:srgbClr val="3E3A35"/>
                </a:solidFill>
                <a:latin typeface="맑은 고딕" pitchFamily="34" charset="0"/>
                <a:ea typeface="맑은 고딕" pitchFamily="34" charset="-122"/>
                <a:cs typeface="맑은 고딕" pitchFamily="34" charset="-120"/>
              </a:rPr>
              <a:t>기획자의 사서·북큐레이터·평생교육사 자격을 살려, 이 방을 전시 종료 후 동구 관내 도서관의 '범일 서가'로 이관 가능한 형태로 설계한다.</a:t>
            </a:r>
            <a:endParaRPr lang="en-US" sz="950" dirty="0"/>
          </a:p>
        </p:txBody>
      </p:sp>
      <p:sp>
        <p:nvSpPr>
          <p:cNvPr id="11" name="Shape 8"/>
          <p:cNvSpPr/>
          <p:nvPr/>
        </p:nvSpPr>
        <p:spPr>
          <a:xfrm>
            <a:off x="4023360" y="1783080"/>
            <a:ext cx="2395728" cy="457200"/>
          </a:xfrm>
          <a:prstGeom prst="rect">
            <a:avLst/>
          </a:prstGeom>
          <a:solidFill>
            <a:srgbClr val="4A4A4A"/>
          </a:solidFill>
          <a:ln/>
        </p:spPr>
      </p:sp>
      <p:sp>
        <p:nvSpPr>
          <p:cNvPr id="12" name="Text 9"/>
          <p:cNvSpPr/>
          <p:nvPr/>
        </p:nvSpPr>
        <p:spPr>
          <a:xfrm>
            <a:off x="4160520" y="1783080"/>
            <a:ext cx="2148840" cy="457200"/>
          </a:xfrm>
          <a:prstGeom prst="rect">
            <a:avLst/>
          </a:prstGeom>
          <a:noFill/>
          <a:ln/>
        </p:spPr>
        <p:txBody>
          <a:bodyPr wrap="square" lIns="0" tIns="0" rIns="0" bIns="0" rtlCol="0" anchor="ctr"/>
          <a:lstStyle/>
          <a:p>
            <a:pPr indent="0" marL="0">
              <a:buNone/>
            </a:pPr>
            <a:r>
              <a:rPr lang="en-US" sz="1050" b="1" dirty="0">
                <a:solidFill>
                  <a:srgbClr val="FFFFFF"/>
                </a:solidFill>
                <a:latin typeface="맑은 고딕" pitchFamily="34" charset="0"/>
                <a:ea typeface="맑은 고딕" pitchFamily="34" charset="-122"/>
                <a:cs typeface="맑은 고딕" pitchFamily="34" charset="-120"/>
              </a:rPr>
              <a:t>01  수집  COLLECT</a:t>
            </a:r>
            <a:endParaRPr lang="en-US" sz="1050" dirty="0"/>
          </a:p>
        </p:txBody>
      </p:sp>
      <p:sp>
        <p:nvSpPr>
          <p:cNvPr id="13" name="Shape 10"/>
          <p:cNvSpPr/>
          <p:nvPr/>
        </p:nvSpPr>
        <p:spPr>
          <a:xfrm>
            <a:off x="4023360" y="2240280"/>
            <a:ext cx="2395728" cy="2194560"/>
          </a:xfrm>
          <a:prstGeom prst="rect">
            <a:avLst/>
          </a:prstGeom>
          <a:solidFill>
            <a:srgbClr val="FFFFFF"/>
          </a:solidFill>
          <a:ln w="9525">
            <a:solidFill>
              <a:srgbClr val="D8D4CE"/>
            </a:solidFill>
            <a:prstDash val="solid"/>
          </a:ln>
        </p:spPr>
      </p:sp>
      <p:sp>
        <p:nvSpPr>
          <p:cNvPr id="14" name="Text 11"/>
          <p:cNvSpPr/>
          <p:nvPr/>
        </p:nvSpPr>
        <p:spPr>
          <a:xfrm>
            <a:off x="4133088" y="2377440"/>
            <a:ext cx="2194560" cy="1965960"/>
          </a:xfrm>
          <a:prstGeom prst="rect">
            <a:avLst/>
          </a:prstGeom>
          <a:noFill/>
          <a:ln/>
        </p:spPr>
        <p:txBody>
          <a:bodyPr wrap="square" lIns="0" tIns="0" rIns="0" bIns="0" rtlCol="0" anchor="t"/>
          <a:lstStyle/>
          <a:p>
            <a:pPr marL="342900" indent="-342900">
              <a:lnSpc>
                <a:spcPts val="1400"/>
              </a:lnSpc>
              <a:spcAft>
                <a:spcPts val="600"/>
              </a:spcAft>
              <a:buSzPct val="100000"/>
              <a:buChar char="•"/>
            </a:pPr>
            <a:r>
              <a:rPr lang="en-US" sz="950" dirty="0">
                <a:solidFill>
                  <a:srgbClr val="3E3A35"/>
                </a:solidFill>
                <a:latin typeface="맑은 고딕" pitchFamily="34" charset="0"/>
                <a:ea typeface="맑은 고딕" pitchFamily="34" charset="-122"/>
                <a:cs typeface="맑은 고딕" pitchFamily="34" charset="-120"/>
              </a:rPr>
              <a:t>현장 기록 사진·영상 (8실 정기 기록)</a:t>
            </a:r>
            <a:endParaRPr lang="en-US" sz="950" dirty="0"/>
          </a:p>
          <a:p>
            <a:pPr marL="342900" indent="-342900">
              <a:lnSpc>
                <a:spcPts val="1400"/>
              </a:lnSpc>
              <a:spcAft>
                <a:spcPts val="600"/>
              </a:spcAft>
              <a:buSzPct val="100000"/>
              <a:buChar char="•"/>
            </a:pPr>
            <a:r>
              <a:rPr lang="en-US" sz="950" dirty="0">
                <a:solidFill>
                  <a:srgbClr val="3E3A35"/>
                </a:solidFill>
                <a:latin typeface="맑은 고딕" pitchFamily="34" charset="0"/>
                <a:ea typeface="맑은 고딕" pitchFamily="34" charset="-122"/>
                <a:cs typeface="맑은 고딕" pitchFamily="34" charset="-120"/>
              </a:rPr>
              <a:t>구술 채록 30인 · 원본 음원</a:t>
            </a:r>
            <a:endParaRPr lang="en-US" sz="950" dirty="0"/>
          </a:p>
          <a:p>
            <a:pPr marL="342900" indent="-342900">
              <a:lnSpc>
                <a:spcPts val="1400"/>
              </a:lnSpc>
              <a:spcAft>
                <a:spcPts val="600"/>
              </a:spcAft>
              <a:buSzPct val="100000"/>
              <a:buChar char="•"/>
            </a:pPr>
            <a:r>
              <a:rPr lang="en-US" sz="950" dirty="0">
                <a:solidFill>
                  <a:srgbClr val="3E3A35"/>
                </a:solidFill>
                <a:latin typeface="맑은 고딕" pitchFamily="34" charset="0"/>
                <a:ea typeface="맑은 고딕" pitchFamily="34" charset="-122"/>
                <a:cs typeface="맑은 고딕" pitchFamily="34" charset="-120"/>
              </a:rPr>
              <a:t>도면·지도·사진 (기관 협조 수집)</a:t>
            </a:r>
            <a:endParaRPr lang="en-US" sz="950" dirty="0"/>
          </a:p>
          <a:p>
            <a:pPr marL="342900" indent="-342900">
              <a:lnSpc>
                <a:spcPts val="1400"/>
              </a:lnSpc>
              <a:spcAft>
                <a:spcPts val="600"/>
              </a:spcAft>
              <a:buSzPct val="100000"/>
              <a:buChar char="•"/>
            </a:pPr>
            <a:r>
              <a:rPr lang="en-US" sz="950" dirty="0">
                <a:solidFill>
                  <a:srgbClr val="3E3A35"/>
                </a:solidFill>
                <a:latin typeface="맑은 고딕" pitchFamily="34" charset="0"/>
                <a:ea typeface="맑은 고딕" pitchFamily="34" charset="-122"/>
                <a:cs typeface="맑은 고딕" pitchFamily="34" charset="-120"/>
              </a:rPr>
              <a:t>원단 실물 표본 · 상점 명부</a:t>
            </a:r>
            <a:endParaRPr lang="en-US" sz="950" dirty="0"/>
          </a:p>
          <a:p>
            <a:pPr marL="342900" indent="-342900">
              <a:lnSpc>
                <a:spcPts val="1400"/>
              </a:lnSpc>
              <a:spcAft>
                <a:spcPts val="600"/>
              </a:spcAft>
              <a:buSzPct val="100000"/>
              <a:buChar char="•"/>
            </a:pPr>
            <a:r>
              <a:rPr lang="en-US" sz="950" dirty="0">
                <a:solidFill>
                  <a:srgbClr val="3E3A35"/>
                </a:solidFill>
                <a:latin typeface="맑은 고딕" pitchFamily="34" charset="0"/>
                <a:ea typeface="맑은 고딕" pitchFamily="34" charset="-122"/>
                <a:cs typeface="맑은 고딕" pitchFamily="34" charset="-120"/>
              </a:rPr>
              <a:t>참여 드로잉 500점 스캔</a:t>
            </a:r>
            <a:endParaRPr lang="en-US" sz="950" dirty="0"/>
          </a:p>
        </p:txBody>
      </p:sp>
      <p:sp>
        <p:nvSpPr>
          <p:cNvPr id="15" name="Shape 12"/>
          <p:cNvSpPr/>
          <p:nvPr/>
        </p:nvSpPr>
        <p:spPr>
          <a:xfrm>
            <a:off x="6455664" y="3154680"/>
            <a:ext cx="173736" cy="274320"/>
          </a:xfrm>
          <a:prstGeom prst="rightArrow">
            <a:avLst/>
          </a:prstGeom>
          <a:solidFill>
            <a:srgbClr val="D8D4CE"/>
          </a:solidFill>
          <a:ln/>
        </p:spPr>
      </p:sp>
      <p:sp>
        <p:nvSpPr>
          <p:cNvPr id="16" name="Shape 13"/>
          <p:cNvSpPr/>
          <p:nvPr/>
        </p:nvSpPr>
        <p:spPr>
          <a:xfrm>
            <a:off x="6647688" y="1783080"/>
            <a:ext cx="2395728" cy="457200"/>
          </a:xfrm>
          <a:prstGeom prst="rect">
            <a:avLst/>
          </a:prstGeom>
          <a:solidFill>
            <a:srgbClr val="2F4858"/>
          </a:solidFill>
          <a:ln/>
        </p:spPr>
      </p:sp>
      <p:sp>
        <p:nvSpPr>
          <p:cNvPr id="17" name="Text 14"/>
          <p:cNvSpPr/>
          <p:nvPr/>
        </p:nvSpPr>
        <p:spPr>
          <a:xfrm>
            <a:off x="6784848" y="1783080"/>
            <a:ext cx="2148840" cy="457200"/>
          </a:xfrm>
          <a:prstGeom prst="rect">
            <a:avLst/>
          </a:prstGeom>
          <a:noFill/>
          <a:ln/>
        </p:spPr>
        <p:txBody>
          <a:bodyPr wrap="square" lIns="0" tIns="0" rIns="0" bIns="0" rtlCol="0" anchor="ctr"/>
          <a:lstStyle/>
          <a:p>
            <a:pPr indent="0" marL="0">
              <a:buNone/>
            </a:pPr>
            <a:r>
              <a:rPr lang="en-US" sz="1050" b="1" dirty="0">
                <a:solidFill>
                  <a:srgbClr val="FFFFFF"/>
                </a:solidFill>
                <a:latin typeface="맑은 고딕" pitchFamily="34" charset="0"/>
                <a:ea typeface="맑은 고딕" pitchFamily="34" charset="-122"/>
                <a:cs typeface="맑은 고딕" pitchFamily="34" charset="-120"/>
              </a:rPr>
              <a:t>02  정리  PROCESS</a:t>
            </a:r>
            <a:endParaRPr lang="en-US" sz="1050" dirty="0"/>
          </a:p>
        </p:txBody>
      </p:sp>
      <p:sp>
        <p:nvSpPr>
          <p:cNvPr id="18" name="Shape 15"/>
          <p:cNvSpPr/>
          <p:nvPr/>
        </p:nvSpPr>
        <p:spPr>
          <a:xfrm>
            <a:off x="6647688" y="2240280"/>
            <a:ext cx="2395728" cy="2194560"/>
          </a:xfrm>
          <a:prstGeom prst="rect">
            <a:avLst/>
          </a:prstGeom>
          <a:solidFill>
            <a:srgbClr val="FFFFFF"/>
          </a:solidFill>
          <a:ln w="9525">
            <a:solidFill>
              <a:srgbClr val="D8D4CE"/>
            </a:solidFill>
            <a:prstDash val="solid"/>
          </a:ln>
        </p:spPr>
      </p:sp>
      <p:sp>
        <p:nvSpPr>
          <p:cNvPr id="19" name="Text 16"/>
          <p:cNvSpPr/>
          <p:nvPr/>
        </p:nvSpPr>
        <p:spPr>
          <a:xfrm>
            <a:off x="6757416" y="2377440"/>
            <a:ext cx="2194560" cy="1965960"/>
          </a:xfrm>
          <a:prstGeom prst="rect">
            <a:avLst/>
          </a:prstGeom>
          <a:noFill/>
          <a:ln/>
        </p:spPr>
        <p:txBody>
          <a:bodyPr wrap="square" lIns="0" tIns="0" rIns="0" bIns="0" rtlCol="0" anchor="t"/>
          <a:lstStyle/>
          <a:p>
            <a:pPr marL="342900" indent="-342900">
              <a:lnSpc>
                <a:spcPts val="1400"/>
              </a:lnSpc>
              <a:spcAft>
                <a:spcPts val="600"/>
              </a:spcAft>
              <a:buSzPct val="100000"/>
              <a:buChar char="•"/>
            </a:pPr>
            <a:r>
              <a:rPr lang="en-US" sz="950" dirty="0">
                <a:solidFill>
                  <a:srgbClr val="3E3A35"/>
                </a:solidFill>
                <a:latin typeface="맑은 고딕" pitchFamily="34" charset="0"/>
                <a:ea typeface="맑은 고딕" pitchFamily="34" charset="-122"/>
                <a:cs typeface="맑은 고딕" pitchFamily="34" charset="-120"/>
              </a:rPr>
              <a:t>메타데이터 표준 항목 15종 적용</a:t>
            </a:r>
            <a:endParaRPr lang="en-US" sz="950" dirty="0"/>
          </a:p>
          <a:p>
            <a:pPr marL="342900" indent="-342900">
              <a:lnSpc>
                <a:spcPts val="1400"/>
              </a:lnSpc>
              <a:spcAft>
                <a:spcPts val="600"/>
              </a:spcAft>
              <a:buSzPct val="100000"/>
              <a:buChar char="•"/>
            </a:pPr>
            <a:r>
              <a:rPr lang="en-US" sz="950" dirty="0">
                <a:solidFill>
                  <a:srgbClr val="3E3A35"/>
                </a:solidFill>
                <a:latin typeface="맑은 고딕" pitchFamily="34" charset="0"/>
                <a:ea typeface="맑은 고딕" pitchFamily="34" charset="-122"/>
                <a:cs typeface="맑은 고딕" pitchFamily="34" charset="-120"/>
              </a:rPr>
              <a:t>권리 처리(초상권·저작권) 동의서</a:t>
            </a:r>
            <a:endParaRPr lang="en-US" sz="950" dirty="0"/>
          </a:p>
          <a:p>
            <a:pPr marL="342900" indent="-342900">
              <a:lnSpc>
                <a:spcPts val="1400"/>
              </a:lnSpc>
              <a:spcAft>
                <a:spcPts val="600"/>
              </a:spcAft>
              <a:buSzPct val="100000"/>
              <a:buChar char="•"/>
            </a:pPr>
            <a:r>
              <a:rPr lang="en-US" sz="950" dirty="0">
                <a:solidFill>
                  <a:srgbClr val="3E3A35"/>
                </a:solidFill>
                <a:latin typeface="맑은 고딕" pitchFamily="34" charset="0"/>
                <a:ea typeface="맑은 고딕" pitchFamily="34" charset="-122"/>
                <a:cs typeface="맑은 고딕" pitchFamily="34" charset="-120"/>
              </a:rPr>
              <a:t>국문·영문 이중 기술</a:t>
            </a:r>
            <a:endParaRPr lang="en-US" sz="950" dirty="0"/>
          </a:p>
          <a:p>
            <a:pPr marL="342900" indent="-342900">
              <a:lnSpc>
                <a:spcPts val="1400"/>
              </a:lnSpc>
              <a:spcAft>
                <a:spcPts val="600"/>
              </a:spcAft>
              <a:buSzPct val="100000"/>
              <a:buChar char="•"/>
            </a:pPr>
            <a:r>
              <a:rPr lang="en-US" sz="950" dirty="0">
                <a:solidFill>
                  <a:srgbClr val="3E3A35"/>
                </a:solidFill>
                <a:latin typeface="맑은 고딕" pitchFamily="34" charset="0"/>
                <a:ea typeface="맑은 고딕" pitchFamily="34" charset="-122"/>
                <a:cs typeface="맑은 고딕" pitchFamily="34" charset="-120"/>
              </a:rPr>
              <a:t>주제어: 물길·직물·주거·노동·이주</a:t>
            </a:r>
            <a:endParaRPr lang="en-US" sz="950" dirty="0"/>
          </a:p>
          <a:p>
            <a:pPr marL="342900" indent="-342900">
              <a:lnSpc>
                <a:spcPts val="1400"/>
              </a:lnSpc>
              <a:spcAft>
                <a:spcPts val="600"/>
              </a:spcAft>
              <a:buSzPct val="100000"/>
              <a:buChar char="•"/>
            </a:pPr>
            <a:r>
              <a:rPr lang="en-US" sz="950" dirty="0">
                <a:solidFill>
                  <a:srgbClr val="3E3A35"/>
                </a:solidFill>
                <a:latin typeface="맑은 고딕" pitchFamily="34" charset="0"/>
                <a:ea typeface="맑은 고딕" pitchFamily="34" charset="-122"/>
                <a:cs typeface="맑은 고딕" pitchFamily="34" charset="-120"/>
              </a:rPr>
              <a:t>보존용/열람용 이중 파일 생성</a:t>
            </a:r>
            <a:endParaRPr lang="en-US" sz="950" dirty="0"/>
          </a:p>
        </p:txBody>
      </p:sp>
      <p:sp>
        <p:nvSpPr>
          <p:cNvPr id="20" name="Shape 17"/>
          <p:cNvSpPr/>
          <p:nvPr/>
        </p:nvSpPr>
        <p:spPr>
          <a:xfrm>
            <a:off x="9079992" y="3154680"/>
            <a:ext cx="173736" cy="274320"/>
          </a:xfrm>
          <a:prstGeom prst="rightArrow">
            <a:avLst/>
          </a:prstGeom>
          <a:solidFill>
            <a:srgbClr val="D8D4CE"/>
          </a:solidFill>
          <a:ln/>
        </p:spPr>
      </p:sp>
      <p:sp>
        <p:nvSpPr>
          <p:cNvPr id="21" name="Shape 18"/>
          <p:cNvSpPr/>
          <p:nvPr/>
        </p:nvSpPr>
        <p:spPr>
          <a:xfrm>
            <a:off x="9272016" y="1783080"/>
            <a:ext cx="2395728" cy="457200"/>
          </a:xfrm>
          <a:prstGeom prst="rect">
            <a:avLst/>
          </a:prstGeom>
          <a:solidFill>
            <a:srgbClr val="9C6B3C"/>
          </a:solidFill>
          <a:ln/>
        </p:spPr>
      </p:sp>
      <p:sp>
        <p:nvSpPr>
          <p:cNvPr id="22" name="Text 19"/>
          <p:cNvSpPr/>
          <p:nvPr/>
        </p:nvSpPr>
        <p:spPr>
          <a:xfrm>
            <a:off x="9409176" y="1783080"/>
            <a:ext cx="2148840" cy="457200"/>
          </a:xfrm>
          <a:prstGeom prst="rect">
            <a:avLst/>
          </a:prstGeom>
          <a:noFill/>
          <a:ln/>
        </p:spPr>
        <p:txBody>
          <a:bodyPr wrap="square" lIns="0" tIns="0" rIns="0" bIns="0" rtlCol="0" anchor="ctr"/>
          <a:lstStyle/>
          <a:p>
            <a:pPr indent="0" marL="0">
              <a:buNone/>
            </a:pPr>
            <a:r>
              <a:rPr lang="en-US" sz="1050" b="1" dirty="0">
                <a:solidFill>
                  <a:srgbClr val="FFFFFF"/>
                </a:solidFill>
                <a:latin typeface="맑은 고딕" pitchFamily="34" charset="0"/>
                <a:ea typeface="맑은 고딕" pitchFamily="34" charset="-122"/>
                <a:cs typeface="맑은 고딕" pitchFamily="34" charset="-120"/>
              </a:rPr>
              <a:t>03  개방  OPEN</a:t>
            </a:r>
            <a:endParaRPr lang="en-US" sz="1050" dirty="0"/>
          </a:p>
        </p:txBody>
      </p:sp>
      <p:sp>
        <p:nvSpPr>
          <p:cNvPr id="23" name="Shape 20"/>
          <p:cNvSpPr/>
          <p:nvPr/>
        </p:nvSpPr>
        <p:spPr>
          <a:xfrm>
            <a:off x="9272016" y="2240280"/>
            <a:ext cx="2395728" cy="2194560"/>
          </a:xfrm>
          <a:prstGeom prst="rect">
            <a:avLst/>
          </a:prstGeom>
          <a:solidFill>
            <a:srgbClr val="FFFFFF"/>
          </a:solidFill>
          <a:ln w="9525">
            <a:solidFill>
              <a:srgbClr val="D8D4CE"/>
            </a:solidFill>
            <a:prstDash val="solid"/>
          </a:ln>
        </p:spPr>
      </p:sp>
      <p:sp>
        <p:nvSpPr>
          <p:cNvPr id="24" name="Text 21"/>
          <p:cNvSpPr/>
          <p:nvPr/>
        </p:nvSpPr>
        <p:spPr>
          <a:xfrm>
            <a:off x="9381744" y="2377440"/>
            <a:ext cx="2194560" cy="1965960"/>
          </a:xfrm>
          <a:prstGeom prst="rect">
            <a:avLst/>
          </a:prstGeom>
          <a:noFill/>
          <a:ln/>
        </p:spPr>
        <p:txBody>
          <a:bodyPr wrap="square" lIns="0" tIns="0" rIns="0" bIns="0" rtlCol="0" anchor="t"/>
          <a:lstStyle/>
          <a:p>
            <a:pPr marL="342900" indent="-342900">
              <a:lnSpc>
                <a:spcPts val="1400"/>
              </a:lnSpc>
              <a:spcAft>
                <a:spcPts val="600"/>
              </a:spcAft>
              <a:buSzPct val="100000"/>
              <a:buChar char="•"/>
            </a:pPr>
            <a:r>
              <a:rPr lang="en-US" sz="950" dirty="0">
                <a:solidFill>
                  <a:srgbClr val="3E3A35"/>
                </a:solidFill>
                <a:latin typeface="맑은 고딕" pitchFamily="34" charset="0"/>
                <a:ea typeface="맑은 고딕" pitchFamily="34" charset="-122"/>
                <a:cs typeface="맑은 고딕" pitchFamily="34" charset="-120"/>
              </a:rPr>
              <a:t>웹 아카이브 공개 300건 (CC 라이선스)</a:t>
            </a:r>
            <a:endParaRPr lang="en-US" sz="950" dirty="0"/>
          </a:p>
          <a:p>
            <a:pPr marL="342900" indent="-342900">
              <a:lnSpc>
                <a:spcPts val="1400"/>
              </a:lnSpc>
              <a:spcAft>
                <a:spcPts val="600"/>
              </a:spcAft>
              <a:buSzPct val="100000"/>
              <a:buChar char="•"/>
            </a:pPr>
            <a:r>
              <a:rPr lang="en-US" sz="950" dirty="0">
                <a:solidFill>
                  <a:srgbClr val="3E3A35"/>
                </a:solidFill>
                <a:latin typeface="맑은 고딕" pitchFamily="34" charset="0"/>
                <a:ea typeface="맑은 고딕" pitchFamily="34" charset="-122"/>
                <a:cs typeface="맑은 고딕" pitchFamily="34" charset="-120"/>
              </a:rPr>
              <a:t>도서관 '범일 서가' 북큐레이션 이관</a:t>
            </a:r>
            <a:endParaRPr lang="en-US" sz="950" dirty="0"/>
          </a:p>
          <a:p>
            <a:pPr marL="342900" indent="-342900">
              <a:lnSpc>
                <a:spcPts val="1400"/>
              </a:lnSpc>
              <a:spcAft>
                <a:spcPts val="600"/>
              </a:spcAft>
              <a:buSzPct val="100000"/>
              <a:buChar char="•"/>
            </a:pPr>
            <a:r>
              <a:rPr lang="en-US" sz="950" dirty="0">
                <a:solidFill>
                  <a:srgbClr val="3E3A35"/>
                </a:solidFill>
                <a:latin typeface="맑은 고딕" pitchFamily="34" charset="0"/>
                <a:ea typeface="맑은 고딕" pitchFamily="34" charset="-122"/>
                <a:cs typeface="맑은 고딕" pitchFamily="34" charset="-120"/>
              </a:rPr>
              <a:t>구술 원본 기록관 이관·영구 보존</a:t>
            </a:r>
            <a:endParaRPr lang="en-US" sz="950" dirty="0"/>
          </a:p>
          <a:p>
            <a:pPr marL="342900" indent="-342900">
              <a:lnSpc>
                <a:spcPts val="1400"/>
              </a:lnSpc>
              <a:spcAft>
                <a:spcPts val="600"/>
              </a:spcAft>
              <a:buSzPct val="100000"/>
              <a:buChar char="•"/>
            </a:pPr>
            <a:r>
              <a:rPr lang="en-US" sz="950" dirty="0">
                <a:solidFill>
                  <a:srgbClr val="3E3A35"/>
                </a:solidFill>
                <a:latin typeface="맑은 고딕" pitchFamily="34" charset="0"/>
                <a:ea typeface="맑은 고딕" pitchFamily="34" charset="-122"/>
                <a:cs typeface="맑은 고딕" pitchFamily="34" charset="-120"/>
              </a:rPr>
              <a:t>도록 1권 · 비평문 3편 발간</a:t>
            </a:r>
            <a:endParaRPr lang="en-US" sz="950" dirty="0"/>
          </a:p>
          <a:p>
            <a:pPr marL="342900" indent="-342900">
              <a:lnSpc>
                <a:spcPts val="1400"/>
              </a:lnSpc>
              <a:spcAft>
                <a:spcPts val="600"/>
              </a:spcAft>
              <a:buSzPct val="100000"/>
              <a:buChar char="•"/>
            </a:pPr>
            <a:r>
              <a:rPr lang="en-US" sz="950" dirty="0">
                <a:solidFill>
                  <a:srgbClr val="3E3A35"/>
                </a:solidFill>
                <a:latin typeface="맑은 고딕" pitchFamily="34" charset="0"/>
                <a:ea typeface="맑은 고딕" pitchFamily="34" charset="-122"/>
                <a:cs typeface="맑은 고딕" pitchFamily="34" charset="-120"/>
              </a:rPr>
              <a:t>차기 전시·연구자 재활용 허용</a:t>
            </a:r>
            <a:endParaRPr lang="en-US" sz="950" dirty="0"/>
          </a:p>
        </p:txBody>
      </p:sp>
      <p:sp>
        <p:nvSpPr>
          <p:cNvPr id="25" name="Text 22"/>
          <p:cNvSpPr/>
          <p:nvPr/>
        </p:nvSpPr>
        <p:spPr>
          <a:xfrm>
            <a:off x="4023360" y="4590288"/>
            <a:ext cx="7589520" cy="274320"/>
          </a:xfrm>
          <a:prstGeom prst="rect">
            <a:avLst/>
          </a:prstGeom>
          <a:noFill/>
          <a:ln/>
        </p:spPr>
        <p:txBody>
          <a:bodyPr wrap="square" lIns="0" tIns="0" rIns="0" bIns="0" rtlCol="0" anchor="ctr"/>
          <a:lstStyle/>
          <a:p>
            <a:pPr indent="0" marL="0">
              <a:buNone/>
            </a:pPr>
            <a:r>
              <a:rPr lang="en-US" sz="1100" b="1" dirty="0">
                <a:solidFill>
                  <a:srgbClr val="1A1A1A"/>
                </a:solidFill>
                <a:latin typeface="맑은 고딕" pitchFamily="34" charset="0"/>
                <a:ea typeface="맑은 고딕" pitchFamily="34" charset="-122"/>
                <a:cs typeface="맑은 고딕" pitchFamily="34" charset="-120"/>
              </a:rPr>
              <a:t>M · L · A 연계 — 하나의 자료를 세 기관이 함께 쓴다</a:t>
            </a:r>
            <a:endParaRPr lang="en-US" sz="1100" dirty="0"/>
          </a:p>
        </p:txBody>
      </p:sp>
      <p:sp>
        <p:nvSpPr>
          <p:cNvPr id="26" name="Shape 23"/>
          <p:cNvSpPr/>
          <p:nvPr/>
        </p:nvSpPr>
        <p:spPr>
          <a:xfrm>
            <a:off x="4023360" y="4937760"/>
            <a:ext cx="2395728" cy="868680"/>
          </a:xfrm>
          <a:prstGeom prst="rect">
            <a:avLst/>
          </a:prstGeom>
          <a:solidFill>
            <a:srgbClr val="1A1A1A"/>
          </a:solidFill>
          <a:ln/>
        </p:spPr>
      </p:sp>
      <p:sp>
        <p:nvSpPr>
          <p:cNvPr id="27" name="Text 24"/>
          <p:cNvSpPr/>
          <p:nvPr/>
        </p:nvSpPr>
        <p:spPr>
          <a:xfrm>
            <a:off x="4187952" y="5074920"/>
            <a:ext cx="2103120" cy="256032"/>
          </a:xfrm>
          <a:prstGeom prst="rect">
            <a:avLst/>
          </a:prstGeom>
          <a:noFill/>
          <a:ln/>
        </p:spPr>
        <p:txBody>
          <a:bodyPr wrap="square" lIns="0" tIns="0" rIns="0" bIns="0" rtlCol="0" anchor="ctr"/>
          <a:lstStyle/>
          <a:p>
            <a:pPr indent="0" marL="0">
              <a:buNone/>
            </a:pPr>
            <a:r>
              <a:rPr lang="en-US" sz="1050" b="1" dirty="0">
                <a:solidFill>
                  <a:srgbClr val="FFFFFF"/>
                </a:solidFill>
                <a:latin typeface="맑은 고딕" pitchFamily="34" charset="0"/>
                <a:ea typeface="맑은 고딕" pitchFamily="34" charset="-122"/>
                <a:cs typeface="맑은 고딕" pitchFamily="34" charset="-120"/>
              </a:rPr>
              <a:t>MUSEUM  미술관</a:t>
            </a:r>
            <a:endParaRPr lang="en-US" sz="1050" dirty="0"/>
          </a:p>
        </p:txBody>
      </p:sp>
      <p:sp>
        <p:nvSpPr>
          <p:cNvPr id="28" name="Text 25"/>
          <p:cNvSpPr/>
          <p:nvPr/>
        </p:nvSpPr>
        <p:spPr>
          <a:xfrm>
            <a:off x="4187952" y="5349240"/>
            <a:ext cx="2103120" cy="310896"/>
          </a:xfrm>
          <a:prstGeom prst="rect">
            <a:avLst/>
          </a:prstGeom>
          <a:noFill/>
          <a:ln/>
        </p:spPr>
        <p:txBody>
          <a:bodyPr wrap="square" lIns="0" tIns="0" rIns="0" bIns="0" rtlCol="0" anchor="ctr"/>
          <a:lstStyle/>
          <a:p>
            <a:pPr indent="0" marL="0">
              <a:buNone/>
            </a:pPr>
            <a:r>
              <a:rPr lang="en-US" sz="950" dirty="0">
                <a:solidFill>
                  <a:srgbClr val="B0A99F"/>
                </a:solidFill>
                <a:latin typeface="맑은 고딕" pitchFamily="34" charset="0"/>
                <a:ea typeface="맑은 고딕" pitchFamily="34" charset="-122"/>
                <a:cs typeface="맑은 고딕" pitchFamily="34" charset="-120"/>
              </a:rPr>
              <a:t>전시 — 8실 구성과 작품</a:t>
            </a:r>
            <a:endParaRPr lang="en-US" sz="950" dirty="0"/>
          </a:p>
        </p:txBody>
      </p:sp>
      <p:sp>
        <p:nvSpPr>
          <p:cNvPr id="29" name="Shape 26"/>
          <p:cNvSpPr/>
          <p:nvPr/>
        </p:nvSpPr>
        <p:spPr>
          <a:xfrm>
            <a:off x="6108192" y="5074920"/>
            <a:ext cx="146304" cy="146304"/>
          </a:xfrm>
          <a:prstGeom prst="rect">
            <a:avLst/>
          </a:prstGeom>
          <a:solidFill>
            <a:srgbClr val="2F4858"/>
          </a:solidFill>
          <a:ln/>
        </p:spPr>
      </p:sp>
      <p:sp>
        <p:nvSpPr>
          <p:cNvPr id="30" name="Shape 27"/>
          <p:cNvSpPr/>
          <p:nvPr/>
        </p:nvSpPr>
        <p:spPr>
          <a:xfrm>
            <a:off x="6647688" y="4937760"/>
            <a:ext cx="2395728" cy="868680"/>
          </a:xfrm>
          <a:prstGeom prst="rect">
            <a:avLst/>
          </a:prstGeom>
          <a:solidFill>
            <a:srgbClr val="1A1A1A"/>
          </a:solidFill>
          <a:ln/>
        </p:spPr>
      </p:sp>
      <p:sp>
        <p:nvSpPr>
          <p:cNvPr id="31" name="Text 28"/>
          <p:cNvSpPr/>
          <p:nvPr/>
        </p:nvSpPr>
        <p:spPr>
          <a:xfrm>
            <a:off x="6812280" y="5074920"/>
            <a:ext cx="2103120" cy="256032"/>
          </a:xfrm>
          <a:prstGeom prst="rect">
            <a:avLst/>
          </a:prstGeom>
          <a:noFill/>
          <a:ln/>
        </p:spPr>
        <p:txBody>
          <a:bodyPr wrap="square" lIns="0" tIns="0" rIns="0" bIns="0" rtlCol="0" anchor="ctr"/>
          <a:lstStyle/>
          <a:p>
            <a:pPr indent="0" marL="0">
              <a:buNone/>
            </a:pPr>
            <a:r>
              <a:rPr lang="en-US" sz="1050" b="1" dirty="0">
                <a:solidFill>
                  <a:srgbClr val="FFFFFF"/>
                </a:solidFill>
                <a:latin typeface="맑은 고딕" pitchFamily="34" charset="0"/>
                <a:ea typeface="맑은 고딕" pitchFamily="34" charset="-122"/>
                <a:cs typeface="맑은 고딕" pitchFamily="34" charset="-120"/>
              </a:rPr>
              <a:t>LIBRARY  도서관</a:t>
            </a:r>
            <a:endParaRPr lang="en-US" sz="1050" dirty="0"/>
          </a:p>
        </p:txBody>
      </p:sp>
      <p:sp>
        <p:nvSpPr>
          <p:cNvPr id="32" name="Text 29"/>
          <p:cNvSpPr/>
          <p:nvPr/>
        </p:nvSpPr>
        <p:spPr>
          <a:xfrm>
            <a:off x="6812280" y="5349240"/>
            <a:ext cx="2103120" cy="310896"/>
          </a:xfrm>
          <a:prstGeom prst="rect">
            <a:avLst/>
          </a:prstGeom>
          <a:noFill/>
          <a:ln/>
        </p:spPr>
        <p:txBody>
          <a:bodyPr wrap="square" lIns="0" tIns="0" rIns="0" bIns="0" rtlCol="0" anchor="ctr"/>
          <a:lstStyle/>
          <a:p>
            <a:pPr indent="0" marL="0">
              <a:buNone/>
            </a:pPr>
            <a:r>
              <a:rPr lang="en-US" sz="950" dirty="0">
                <a:solidFill>
                  <a:srgbClr val="B0A99F"/>
                </a:solidFill>
                <a:latin typeface="맑은 고딕" pitchFamily="34" charset="0"/>
                <a:ea typeface="맑은 고딕" pitchFamily="34" charset="-122"/>
                <a:cs typeface="맑은 고딕" pitchFamily="34" charset="-120"/>
              </a:rPr>
              <a:t>북큐레이션 — 범일 서가</a:t>
            </a:r>
            <a:endParaRPr lang="en-US" sz="950" dirty="0"/>
          </a:p>
        </p:txBody>
      </p:sp>
      <p:sp>
        <p:nvSpPr>
          <p:cNvPr id="33" name="Shape 30"/>
          <p:cNvSpPr/>
          <p:nvPr/>
        </p:nvSpPr>
        <p:spPr>
          <a:xfrm>
            <a:off x="8732520" y="5074920"/>
            <a:ext cx="146304" cy="146304"/>
          </a:xfrm>
          <a:prstGeom prst="rect">
            <a:avLst/>
          </a:prstGeom>
          <a:solidFill>
            <a:srgbClr val="9C6B3C"/>
          </a:solidFill>
          <a:ln/>
        </p:spPr>
      </p:sp>
      <p:sp>
        <p:nvSpPr>
          <p:cNvPr id="34" name="Shape 31"/>
          <p:cNvSpPr/>
          <p:nvPr/>
        </p:nvSpPr>
        <p:spPr>
          <a:xfrm>
            <a:off x="9272016" y="4937760"/>
            <a:ext cx="2395728" cy="868680"/>
          </a:xfrm>
          <a:prstGeom prst="rect">
            <a:avLst/>
          </a:prstGeom>
          <a:solidFill>
            <a:srgbClr val="1A1A1A"/>
          </a:solidFill>
          <a:ln/>
        </p:spPr>
      </p:sp>
      <p:sp>
        <p:nvSpPr>
          <p:cNvPr id="35" name="Text 32"/>
          <p:cNvSpPr/>
          <p:nvPr/>
        </p:nvSpPr>
        <p:spPr>
          <a:xfrm>
            <a:off x="9436608" y="5074920"/>
            <a:ext cx="2103120" cy="256032"/>
          </a:xfrm>
          <a:prstGeom prst="rect">
            <a:avLst/>
          </a:prstGeom>
          <a:noFill/>
          <a:ln/>
        </p:spPr>
        <p:txBody>
          <a:bodyPr wrap="square" lIns="0" tIns="0" rIns="0" bIns="0" rtlCol="0" anchor="ctr"/>
          <a:lstStyle/>
          <a:p>
            <a:pPr indent="0" marL="0">
              <a:buNone/>
            </a:pPr>
            <a:r>
              <a:rPr lang="en-US" sz="1050" b="1" dirty="0">
                <a:solidFill>
                  <a:srgbClr val="FFFFFF"/>
                </a:solidFill>
                <a:latin typeface="맑은 고딕" pitchFamily="34" charset="0"/>
                <a:ea typeface="맑은 고딕" pitchFamily="34" charset="-122"/>
                <a:cs typeface="맑은 고딕" pitchFamily="34" charset="-120"/>
              </a:rPr>
              <a:t>ARCHIVE  기록관</a:t>
            </a:r>
            <a:endParaRPr lang="en-US" sz="1050" dirty="0"/>
          </a:p>
        </p:txBody>
      </p:sp>
      <p:sp>
        <p:nvSpPr>
          <p:cNvPr id="36" name="Text 33"/>
          <p:cNvSpPr/>
          <p:nvPr/>
        </p:nvSpPr>
        <p:spPr>
          <a:xfrm>
            <a:off x="9436608" y="5349240"/>
            <a:ext cx="2103120" cy="310896"/>
          </a:xfrm>
          <a:prstGeom prst="rect">
            <a:avLst/>
          </a:prstGeom>
          <a:noFill/>
          <a:ln/>
        </p:spPr>
        <p:txBody>
          <a:bodyPr wrap="square" lIns="0" tIns="0" rIns="0" bIns="0" rtlCol="0" anchor="ctr"/>
          <a:lstStyle/>
          <a:p>
            <a:pPr indent="0" marL="0">
              <a:buNone/>
            </a:pPr>
            <a:r>
              <a:rPr lang="en-US" sz="950" dirty="0">
                <a:solidFill>
                  <a:srgbClr val="B0A99F"/>
                </a:solidFill>
                <a:latin typeface="맑은 고딕" pitchFamily="34" charset="0"/>
                <a:ea typeface="맑은 고딕" pitchFamily="34" charset="-122"/>
                <a:cs typeface="맑은 고딕" pitchFamily="34" charset="-120"/>
              </a:rPr>
              <a:t>구술·행정기록 영구 보존</a:t>
            </a:r>
            <a:endParaRPr lang="en-US" sz="950" dirty="0"/>
          </a:p>
        </p:txBody>
      </p:sp>
      <p:sp>
        <p:nvSpPr>
          <p:cNvPr id="37" name="Shape 34"/>
          <p:cNvSpPr/>
          <p:nvPr/>
        </p:nvSpPr>
        <p:spPr>
          <a:xfrm>
            <a:off x="11356848" y="5074920"/>
            <a:ext cx="146304" cy="146304"/>
          </a:xfrm>
          <a:prstGeom prst="rect">
            <a:avLst/>
          </a:prstGeom>
          <a:solidFill>
            <a:srgbClr val="7A4A45"/>
          </a:solidFill>
          <a:ln/>
        </p:spPr>
      </p:sp>
      <p:sp>
        <p:nvSpPr>
          <p:cNvPr id="38" name="Text 35"/>
          <p:cNvSpPr/>
          <p:nvPr/>
        </p:nvSpPr>
        <p:spPr>
          <a:xfrm>
            <a:off x="4023360" y="5897880"/>
            <a:ext cx="7589520" cy="274320"/>
          </a:xfrm>
          <a:prstGeom prst="rect">
            <a:avLst/>
          </a:prstGeom>
          <a:noFill/>
          <a:ln/>
        </p:spPr>
        <p:txBody>
          <a:bodyPr wrap="square" lIns="0" tIns="0" rIns="0" bIns="0" rtlCol="0" anchor="ctr"/>
          <a:lstStyle/>
          <a:p>
            <a:pPr indent="0" marL="0">
              <a:buNone/>
            </a:pPr>
            <a:r>
              <a:rPr lang="en-US" sz="950" dirty="0">
                <a:solidFill>
                  <a:srgbClr val="8A857E"/>
                </a:solidFill>
                <a:latin typeface="맑은 고딕" pitchFamily="34" charset="0"/>
                <a:ea typeface="맑은 고딕" pitchFamily="34" charset="-122"/>
                <a:cs typeface="맑은 고딕" pitchFamily="34" charset="-120"/>
              </a:rPr>
              <a:t>※ 전시는 66일이지만 아카이브는 남는다. 기관·기업의 지원이 일회성 행사비가 아니라 지역의 영구 자산으로 전환되는 지점이다.</a:t>
            </a:r>
            <a:endParaRPr lang="en-US" sz="950" dirty="0"/>
          </a:p>
        </p:txBody>
      </p:sp>
      <p:sp>
        <p:nvSpPr>
          <p:cNvPr id="39" name="Text 36"/>
          <p:cNvSpPr/>
          <p:nvPr/>
        </p:nvSpPr>
        <p:spPr>
          <a:xfrm>
            <a:off x="548640" y="6419088"/>
            <a:ext cx="7315200" cy="274320"/>
          </a:xfrm>
          <a:prstGeom prst="rect">
            <a:avLst/>
          </a:prstGeom>
          <a:noFill/>
          <a:ln/>
        </p:spPr>
        <p:txBody>
          <a:bodyPr wrap="square" lIns="0" tIns="0" rIns="0" bIns="0" rtlCol="0" anchor="ctr"/>
          <a:lstStyle/>
          <a:p>
            <a:pPr algn="l" indent="0" marL="0">
              <a:buNone/>
            </a:pPr>
            <a:r>
              <a:rPr lang="en-US" sz="800" dirty="0">
                <a:solidFill>
                  <a:srgbClr val="8A857E"/>
                </a:solidFill>
                <a:latin typeface="맑은 고딕" pitchFamily="34" charset="0"/>
                <a:ea typeface="맑은 고딕" pitchFamily="34" charset="-122"/>
                <a:cs typeface="맑은 고딕" pitchFamily="34" charset="-120"/>
              </a:rPr>
              <a:t>아이테르 문화예술기획제안서   ·   덮인 물, 남은 올   ·   기획 추병곤</a:t>
            </a:r>
            <a:endParaRPr lang="en-US" sz="800" dirty="0"/>
          </a:p>
        </p:txBody>
      </p:sp>
      <p:sp>
        <p:nvSpPr>
          <p:cNvPr id="40" name="Text 37"/>
          <p:cNvSpPr/>
          <p:nvPr/>
        </p:nvSpPr>
        <p:spPr>
          <a:xfrm>
            <a:off x="10972800" y="6419088"/>
            <a:ext cx="640080" cy="274320"/>
          </a:xfrm>
          <a:prstGeom prst="rect">
            <a:avLst/>
          </a:prstGeom>
          <a:noFill/>
          <a:ln/>
        </p:spPr>
        <p:txBody>
          <a:bodyPr wrap="square" lIns="0" tIns="0" rIns="0" bIns="0" rtlCol="0" anchor="ctr"/>
          <a:lstStyle/>
          <a:p>
            <a:pPr algn="r" indent="0" marL="0">
              <a:buNone/>
            </a:pPr>
            <a:r>
              <a:rPr lang="en-US" sz="900" dirty="0">
                <a:solidFill>
                  <a:srgbClr val="8A857E"/>
                </a:solidFill>
                <a:latin typeface="Cambria" pitchFamily="34" charset="0"/>
                <a:ea typeface="Cambria" pitchFamily="34" charset="-122"/>
                <a:cs typeface="Cambria"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7315200" cy="237744"/>
          </a:xfrm>
          <a:prstGeom prst="rect">
            <a:avLst/>
          </a:prstGeom>
          <a:noFill/>
          <a:ln/>
        </p:spPr>
        <p:txBody>
          <a:bodyPr wrap="square" lIns="0" tIns="0" rIns="0" bIns="0" rtlCol="0" anchor="ctr"/>
          <a:lstStyle/>
          <a:p>
            <a:pPr indent="0" marL="0">
              <a:buNone/>
            </a:pPr>
            <a:r>
              <a:rPr lang="en-US" sz="1050" spc="250" kern="0" dirty="0">
                <a:solidFill>
                  <a:srgbClr val="8A857E"/>
                </a:solidFill>
                <a:latin typeface="Cambria" pitchFamily="34" charset="0"/>
                <a:ea typeface="Cambria" pitchFamily="34" charset="-122"/>
                <a:cs typeface="Cambria" pitchFamily="34" charset="-120"/>
              </a:rPr>
              <a:t>12  ARTISTS</a:t>
            </a:r>
            <a:endParaRPr lang="en-US" sz="1050" dirty="0"/>
          </a:p>
        </p:txBody>
      </p:sp>
      <p:sp>
        <p:nvSpPr>
          <p:cNvPr id="3" name="Text 1"/>
          <p:cNvSpPr/>
          <p:nvPr/>
        </p:nvSpPr>
        <p:spPr>
          <a:xfrm>
            <a:off x="548640" y="694944"/>
            <a:ext cx="10058400" cy="502920"/>
          </a:xfrm>
          <a:prstGeom prst="rect">
            <a:avLst/>
          </a:prstGeom>
          <a:noFill/>
          <a:ln/>
        </p:spPr>
        <p:txBody>
          <a:bodyPr wrap="square" lIns="0" tIns="0" rIns="0" bIns="0" rtlCol="0" anchor="ctr"/>
          <a:lstStyle/>
          <a:p>
            <a:pPr indent="0" marL="0">
              <a:buNone/>
            </a:pPr>
            <a:r>
              <a:rPr lang="en-US" sz="2700" b="1" dirty="0">
                <a:solidFill>
                  <a:srgbClr val="1A1A1A"/>
                </a:solidFill>
                <a:latin typeface="맑은 고딕" pitchFamily="34" charset="0"/>
                <a:ea typeface="맑은 고딕" pitchFamily="34" charset="-122"/>
                <a:cs typeface="맑은 고딕" pitchFamily="34" charset="-120"/>
              </a:rPr>
              <a:t>작가 구성 및 선정 기준</a:t>
            </a:r>
            <a:endParaRPr lang="en-US" sz="2700" dirty="0"/>
          </a:p>
        </p:txBody>
      </p:sp>
      <p:sp>
        <p:nvSpPr>
          <p:cNvPr id="4" name="Text 2"/>
          <p:cNvSpPr/>
          <p:nvPr/>
        </p:nvSpPr>
        <p:spPr>
          <a:xfrm>
            <a:off x="548640" y="1225296"/>
            <a:ext cx="10607040" cy="310896"/>
          </a:xfrm>
          <a:prstGeom prst="rect">
            <a:avLst/>
          </a:prstGeom>
          <a:noFill/>
          <a:ln/>
        </p:spPr>
        <p:txBody>
          <a:bodyPr wrap="square" lIns="0" tIns="0" rIns="0" bIns="0" rtlCol="0" anchor="ctr"/>
          <a:lstStyle/>
          <a:p>
            <a:pPr indent="0" marL="0">
              <a:buNone/>
            </a:pPr>
            <a:r>
              <a:rPr lang="en-US" sz="1200" dirty="0">
                <a:solidFill>
                  <a:srgbClr val="8A857E"/>
                </a:solidFill>
                <a:latin typeface="맑은 고딕" pitchFamily="34" charset="0"/>
                <a:ea typeface="맑은 고딕" pitchFamily="34" charset="-122"/>
                <a:cs typeface="맑은 고딕" pitchFamily="34" charset="-120"/>
              </a:rPr>
              <a:t>아이테르가 보유한 국내 최대급 민간 작가 풀을 '장소 응답성' 기준으로 재선별한다</a:t>
            </a:r>
            <a:endParaRPr lang="en-US" sz="1200" dirty="0"/>
          </a:p>
        </p:txBody>
      </p:sp>
      <p:sp>
        <p:nvSpPr>
          <p:cNvPr id="5" name="Text 3"/>
          <p:cNvSpPr/>
          <p:nvPr/>
        </p:nvSpPr>
        <p:spPr>
          <a:xfrm>
            <a:off x="548640" y="1783080"/>
            <a:ext cx="457200" cy="292608"/>
          </a:xfrm>
          <a:prstGeom prst="rect">
            <a:avLst/>
          </a:prstGeom>
          <a:noFill/>
          <a:ln/>
        </p:spPr>
        <p:txBody>
          <a:bodyPr wrap="square" lIns="0" tIns="0" rIns="0" bIns="0" rtlCol="0" anchor="ctr"/>
          <a:lstStyle/>
          <a:p>
            <a:pPr indent="0" marL="0">
              <a:buNone/>
            </a:pPr>
            <a:r>
              <a:rPr lang="en-US" sz="1500" b="1" dirty="0">
                <a:solidFill>
                  <a:srgbClr val="9C6B3C"/>
                </a:solidFill>
                <a:latin typeface="Cambria" pitchFamily="34" charset="0"/>
                <a:ea typeface="Cambria" pitchFamily="34" charset="-122"/>
                <a:cs typeface="Cambria" pitchFamily="34" charset="-120"/>
              </a:rPr>
              <a:t>01</a:t>
            </a:r>
            <a:endParaRPr lang="en-US" sz="1500" dirty="0"/>
          </a:p>
        </p:txBody>
      </p:sp>
      <p:sp>
        <p:nvSpPr>
          <p:cNvPr id="6" name="Text 4"/>
          <p:cNvSpPr/>
          <p:nvPr/>
        </p:nvSpPr>
        <p:spPr>
          <a:xfrm>
            <a:off x="1024128" y="1783080"/>
            <a:ext cx="1737360" cy="292608"/>
          </a:xfrm>
          <a:prstGeom prst="rect">
            <a:avLst/>
          </a:prstGeom>
          <a:noFill/>
          <a:ln/>
        </p:spPr>
        <p:txBody>
          <a:bodyPr wrap="square" lIns="0" tIns="0" rIns="0" bIns="0" rtlCol="0" anchor="ctr"/>
          <a:lstStyle/>
          <a:p>
            <a:pPr indent="0" marL="0">
              <a:buNone/>
            </a:pPr>
            <a:r>
              <a:rPr lang="en-US" sz="1250" b="1" dirty="0">
                <a:solidFill>
                  <a:srgbClr val="1A1A1A"/>
                </a:solidFill>
                <a:latin typeface="맑은 고딕" pitchFamily="34" charset="0"/>
                <a:ea typeface="맑은 고딕" pitchFamily="34" charset="-122"/>
                <a:cs typeface="맑은 고딕" pitchFamily="34" charset="-120"/>
              </a:rPr>
              <a:t>장소 응답성</a:t>
            </a:r>
            <a:endParaRPr lang="en-US" sz="1250" dirty="0"/>
          </a:p>
        </p:txBody>
      </p:sp>
      <p:sp>
        <p:nvSpPr>
          <p:cNvPr id="7" name="Text 5"/>
          <p:cNvSpPr/>
          <p:nvPr/>
        </p:nvSpPr>
        <p:spPr>
          <a:xfrm>
            <a:off x="2788920" y="1801368"/>
            <a:ext cx="4206240" cy="685800"/>
          </a:xfrm>
          <a:prstGeom prst="rect">
            <a:avLst/>
          </a:prstGeom>
          <a:noFill/>
          <a:ln/>
        </p:spPr>
        <p:txBody>
          <a:bodyPr wrap="square" lIns="0" tIns="0" rIns="0" bIns="0" rtlCol="0" anchor="ctr"/>
          <a:lstStyle/>
          <a:p>
            <a:pPr indent="0" marL="0">
              <a:lnSpc>
                <a:spcPts val="1500"/>
              </a:lnSpc>
              <a:buNone/>
            </a:pPr>
            <a:r>
              <a:rPr lang="en-US" sz="1000" dirty="0">
                <a:solidFill>
                  <a:srgbClr val="4A453F"/>
                </a:solidFill>
                <a:latin typeface="맑은 고딕" pitchFamily="34" charset="0"/>
                <a:ea typeface="맑은 고딕" pitchFamily="34" charset="-122"/>
                <a:cs typeface="맑은 고딕" pitchFamily="34" charset="-120"/>
              </a:rPr>
              <a:t>화이트큐브용 완성작을 옮겨 오는 것이 아니라, 이 집의 조건(습도·목재·창살·소음)에 응답해 신작 또는 개작을 제작할 수 있는가</a:t>
            </a:r>
            <a:endParaRPr lang="en-US" sz="1000" dirty="0"/>
          </a:p>
        </p:txBody>
      </p:sp>
      <p:sp>
        <p:nvSpPr>
          <p:cNvPr id="8" name="Shape 6"/>
          <p:cNvSpPr/>
          <p:nvPr/>
        </p:nvSpPr>
        <p:spPr>
          <a:xfrm>
            <a:off x="548640" y="2587752"/>
            <a:ext cx="6446520" cy="0"/>
          </a:xfrm>
          <a:prstGeom prst="line">
            <a:avLst/>
          </a:prstGeom>
          <a:noFill/>
          <a:ln w="12700">
            <a:solidFill>
              <a:srgbClr val="D8D4CE"/>
            </a:solidFill>
            <a:prstDash val="solid"/>
          </a:ln>
        </p:spPr>
      </p:sp>
      <p:sp>
        <p:nvSpPr>
          <p:cNvPr id="9" name="Text 7"/>
          <p:cNvSpPr/>
          <p:nvPr/>
        </p:nvSpPr>
        <p:spPr>
          <a:xfrm>
            <a:off x="548640" y="2715768"/>
            <a:ext cx="457200" cy="292608"/>
          </a:xfrm>
          <a:prstGeom prst="rect">
            <a:avLst/>
          </a:prstGeom>
          <a:noFill/>
          <a:ln/>
        </p:spPr>
        <p:txBody>
          <a:bodyPr wrap="square" lIns="0" tIns="0" rIns="0" bIns="0" rtlCol="0" anchor="ctr"/>
          <a:lstStyle/>
          <a:p>
            <a:pPr indent="0" marL="0">
              <a:buNone/>
            </a:pPr>
            <a:r>
              <a:rPr lang="en-US" sz="1500" b="1" dirty="0">
                <a:solidFill>
                  <a:srgbClr val="9C6B3C"/>
                </a:solidFill>
                <a:latin typeface="Cambria" pitchFamily="34" charset="0"/>
                <a:ea typeface="Cambria" pitchFamily="34" charset="-122"/>
                <a:cs typeface="Cambria" pitchFamily="34" charset="-120"/>
              </a:rPr>
              <a:t>02</a:t>
            </a:r>
            <a:endParaRPr lang="en-US" sz="1500" dirty="0"/>
          </a:p>
        </p:txBody>
      </p:sp>
      <p:sp>
        <p:nvSpPr>
          <p:cNvPr id="10" name="Text 8"/>
          <p:cNvSpPr/>
          <p:nvPr/>
        </p:nvSpPr>
        <p:spPr>
          <a:xfrm>
            <a:off x="1024128" y="2715768"/>
            <a:ext cx="1737360" cy="292608"/>
          </a:xfrm>
          <a:prstGeom prst="rect">
            <a:avLst/>
          </a:prstGeom>
          <a:noFill/>
          <a:ln/>
        </p:spPr>
        <p:txBody>
          <a:bodyPr wrap="square" lIns="0" tIns="0" rIns="0" bIns="0" rtlCol="0" anchor="ctr"/>
          <a:lstStyle/>
          <a:p>
            <a:pPr indent="0" marL="0">
              <a:buNone/>
            </a:pPr>
            <a:r>
              <a:rPr lang="en-US" sz="1250" b="1" dirty="0">
                <a:solidFill>
                  <a:srgbClr val="1A1A1A"/>
                </a:solidFill>
                <a:latin typeface="맑은 고딕" pitchFamily="34" charset="0"/>
                <a:ea typeface="맑은 고딕" pitchFamily="34" charset="-122"/>
                <a:cs typeface="맑은 고딕" pitchFamily="34" charset="-120"/>
              </a:rPr>
              <a:t>물질성</a:t>
            </a:r>
            <a:endParaRPr lang="en-US" sz="1250" dirty="0"/>
          </a:p>
        </p:txBody>
      </p:sp>
      <p:sp>
        <p:nvSpPr>
          <p:cNvPr id="11" name="Text 9"/>
          <p:cNvSpPr/>
          <p:nvPr/>
        </p:nvSpPr>
        <p:spPr>
          <a:xfrm>
            <a:off x="2788920" y="2734056"/>
            <a:ext cx="4206240" cy="685800"/>
          </a:xfrm>
          <a:prstGeom prst="rect">
            <a:avLst/>
          </a:prstGeom>
          <a:noFill/>
          <a:ln/>
        </p:spPr>
        <p:txBody>
          <a:bodyPr wrap="square" lIns="0" tIns="0" rIns="0" bIns="0" rtlCol="0" anchor="ctr"/>
          <a:lstStyle/>
          <a:p>
            <a:pPr indent="0" marL="0">
              <a:lnSpc>
                <a:spcPts val="1500"/>
              </a:lnSpc>
              <a:buNone/>
            </a:pPr>
            <a:r>
              <a:rPr lang="en-US" sz="1000" dirty="0">
                <a:solidFill>
                  <a:srgbClr val="4A453F"/>
                </a:solidFill>
                <a:latin typeface="맑은 고딕" pitchFamily="34" charset="0"/>
                <a:ea typeface="맑은 고딕" pitchFamily="34" charset="-122"/>
                <a:cs typeface="맑은 고딕" pitchFamily="34" charset="-120"/>
              </a:rPr>
              <a:t>재료가 서사를 대신할 수 있는가 — 원단·물·목재·빛 등 장소의 물질과 직접 협상하는 작업인가</a:t>
            </a:r>
            <a:endParaRPr lang="en-US" sz="1000" dirty="0"/>
          </a:p>
        </p:txBody>
      </p:sp>
      <p:sp>
        <p:nvSpPr>
          <p:cNvPr id="12" name="Shape 10"/>
          <p:cNvSpPr/>
          <p:nvPr/>
        </p:nvSpPr>
        <p:spPr>
          <a:xfrm>
            <a:off x="548640" y="3520440"/>
            <a:ext cx="6446520" cy="0"/>
          </a:xfrm>
          <a:prstGeom prst="line">
            <a:avLst/>
          </a:prstGeom>
          <a:noFill/>
          <a:ln w="12700">
            <a:solidFill>
              <a:srgbClr val="D8D4CE"/>
            </a:solidFill>
            <a:prstDash val="solid"/>
          </a:ln>
        </p:spPr>
      </p:sp>
      <p:sp>
        <p:nvSpPr>
          <p:cNvPr id="13" name="Text 11"/>
          <p:cNvSpPr/>
          <p:nvPr/>
        </p:nvSpPr>
        <p:spPr>
          <a:xfrm>
            <a:off x="548640" y="3648456"/>
            <a:ext cx="457200" cy="292608"/>
          </a:xfrm>
          <a:prstGeom prst="rect">
            <a:avLst/>
          </a:prstGeom>
          <a:noFill/>
          <a:ln/>
        </p:spPr>
        <p:txBody>
          <a:bodyPr wrap="square" lIns="0" tIns="0" rIns="0" bIns="0" rtlCol="0" anchor="ctr"/>
          <a:lstStyle/>
          <a:p>
            <a:pPr indent="0" marL="0">
              <a:buNone/>
            </a:pPr>
            <a:r>
              <a:rPr lang="en-US" sz="1500" b="1" dirty="0">
                <a:solidFill>
                  <a:srgbClr val="9C6B3C"/>
                </a:solidFill>
                <a:latin typeface="Cambria" pitchFamily="34" charset="0"/>
                <a:ea typeface="Cambria" pitchFamily="34" charset="-122"/>
                <a:cs typeface="Cambria" pitchFamily="34" charset="-120"/>
              </a:rPr>
              <a:t>03</a:t>
            </a:r>
            <a:endParaRPr lang="en-US" sz="1500" dirty="0"/>
          </a:p>
        </p:txBody>
      </p:sp>
      <p:sp>
        <p:nvSpPr>
          <p:cNvPr id="14" name="Text 12"/>
          <p:cNvSpPr/>
          <p:nvPr/>
        </p:nvSpPr>
        <p:spPr>
          <a:xfrm>
            <a:off x="1024128" y="3648456"/>
            <a:ext cx="1737360" cy="292608"/>
          </a:xfrm>
          <a:prstGeom prst="rect">
            <a:avLst/>
          </a:prstGeom>
          <a:noFill/>
          <a:ln/>
        </p:spPr>
        <p:txBody>
          <a:bodyPr wrap="square" lIns="0" tIns="0" rIns="0" bIns="0" rtlCol="0" anchor="ctr"/>
          <a:lstStyle/>
          <a:p>
            <a:pPr indent="0" marL="0">
              <a:buNone/>
            </a:pPr>
            <a:r>
              <a:rPr lang="en-US" sz="1250" b="1" dirty="0">
                <a:solidFill>
                  <a:srgbClr val="1A1A1A"/>
                </a:solidFill>
                <a:latin typeface="맑은 고딕" pitchFamily="34" charset="0"/>
                <a:ea typeface="맑은 고딕" pitchFamily="34" charset="-122"/>
                <a:cs typeface="맑은 고딕" pitchFamily="34" charset="-120"/>
              </a:rPr>
              <a:t>지역 관계</a:t>
            </a:r>
            <a:endParaRPr lang="en-US" sz="1250" dirty="0"/>
          </a:p>
        </p:txBody>
      </p:sp>
      <p:sp>
        <p:nvSpPr>
          <p:cNvPr id="15" name="Text 13"/>
          <p:cNvSpPr/>
          <p:nvPr/>
        </p:nvSpPr>
        <p:spPr>
          <a:xfrm>
            <a:off x="2788920" y="3666744"/>
            <a:ext cx="4206240" cy="685800"/>
          </a:xfrm>
          <a:prstGeom prst="rect">
            <a:avLst/>
          </a:prstGeom>
          <a:noFill/>
          <a:ln/>
        </p:spPr>
        <p:txBody>
          <a:bodyPr wrap="square" lIns="0" tIns="0" rIns="0" bIns="0" rtlCol="0" anchor="ctr"/>
          <a:lstStyle/>
          <a:p>
            <a:pPr indent="0" marL="0">
              <a:lnSpc>
                <a:spcPts val="1500"/>
              </a:lnSpc>
              <a:buNone/>
            </a:pPr>
            <a:r>
              <a:rPr lang="en-US" sz="1000" dirty="0">
                <a:solidFill>
                  <a:srgbClr val="4A453F"/>
                </a:solidFill>
                <a:latin typeface="맑은 고딕" pitchFamily="34" charset="0"/>
                <a:ea typeface="맑은 고딕" pitchFamily="34" charset="-122"/>
                <a:cs typeface="맑은 고딕" pitchFamily="34" charset="-120"/>
              </a:rPr>
              <a:t>상인·주민과의 협업 과정을 감수하고 6개월 이상 제작 기간을 함께할 수 있는가</a:t>
            </a:r>
            <a:endParaRPr lang="en-US" sz="1000" dirty="0"/>
          </a:p>
        </p:txBody>
      </p:sp>
      <p:sp>
        <p:nvSpPr>
          <p:cNvPr id="16" name="Shape 14"/>
          <p:cNvSpPr/>
          <p:nvPr/>
        </p:nvSpPr>
        <p:spPr>
          <a:xfrm>
            <a:off x="548640" y="4453128"/>
            <a:ext cx="6446520" cy="0"/>
          </a:xfrm>
          <a:prstGeom prst="line">
            <a:avLst/>
          </a:prstGeom>
          <a:noFill/>
          <a:ln w="12700">
            <a:solidFill>
              <a:srgbClr val="D8D4CE"/>
            </a:solidFill>
            <a:prstDash val="solid"/>
          </a:ln>
        </p:spPr>
      </p:sp>
      <p:sp>
        <p:nvSpPr>
          <p:cNvPr id="17" name="Text 15"/>
          <p:cNvSpPr/>
          <p:nvPr/>
        </p:nvSpPr>
        <p:spPr>
          <a:xfrm>
            <a:off x="548640" y="4581144"/>
            <a:ext cx="457200" cy="292608"/>
          </a:xfrm>
          <a:prstGeom prst="rect">
            <a:avLst/>
          </a:prstGeom>
          <a:noFill/>
          <a:ln/>
        </p:spPr>
        <p:txBody>
          <a:bodyPr wrap="square" lIns="0" tIns="0" rIns="0" bIns="0" rtlCol="0" anchor="ctr"/>
          <a:lstStyle/>
          <a:p>
            <a:pPr indent="0" marL="0">
              <a:buNone/>
            </a:pPr>
            <a:r>
              <a:rPr lang="en-US" sz="1500" b="1" dirty="0">
                <a:solidFill>
                  <a:srgbClr val="9C6B3C"/>
                </a:solidFill>
                <a:latin typeface="Cambria" pitchFamily="34" charset="0"/>
                <a:ea typeface="Cambria" pitchFamily="34" charset="-122"/>
                <a:cs typeface="Cambria" pitchFamily="34" charset="-120"/>
              </a:rPr>
              <a:t>04</a:t>
            </a:r>
            <a:endParaRPr lang="en-US" sz="1500" dirty="0"/>
          </a:p>
        </p:txBody>
      </p:sp>
      <p:sp>
        <p:nvSpPr>
          <p:cNvPr id="18" name="Text 16"/>
          <p:cNvSpPr/>
          <p:nvPr/>
        </p:nvSpPr>
        <p:spPr>
          <a:xfrm>
            <a:off x="1024128" y="4581144"/>
            <a:ext cx="1737360" cy="292608"/>
          </a:xfrm>
          <a:prstGeom prst="rect">
            <a:avLst/>
          </a:prstGeom>
          <a:noFill/>
          <a:ln/>
        </p:spPr>
        <p:txBody>
          <a:bodyPr wrap="square" lIns="0" tIns="0" rIns="0" bIns="0" rtlCol="0" anchor="ctr"/>
          <a:lstStyle/>
          <a:p>
            <a:pPr indent="0" marL="0">
              <a:buNone/>
            </a:pPr>
            <a:r>
              <a:rPr lang="en-US" sz="1250" b="1" dirty="0">
                <a:solidFill>
                  <a:srgbClr val="1A1A1A"/>
                </a:solidFill>
                <a:latin typeface="맑은 고딕" pitchFamily="34" charset="0"/>
                <a:ea typeface="맑은 고딕" pitchFamily="34" charset="-122"/>
                <a:cs typeface="맑은 고딕" pitchFamily="34" charset="-120"/>
              </a:rPr>
              <a:t>공공성·안전</a:t>
            </a:r>
            <a:endParaRPr lang="en-US" sz="1250" dirty="0"/>
          </a:p>
        </p:txBody>
      </p:sp>
      <p:sp>
        <p:nvSpPr>
          <p:cNvPr id="19" name="Text 17"/>
          <p:cNvSpPr/>
          <p:nvPr/>
        </p:nvSpPr>
        <p:spPr>
          <a:xfrm>
            <a:off x="2788920" y="4599432"/>
            <a:ext cx="4206240" cy="685800"/>
          </a:xfrm>
          <a:prstGeom prst="rect">
            <a:avLst/>
          </a:prstGeom>
          <a:noFill/>
          <a:ln/>
        </p:spPr>
        <p:txBody>
          <a:bodyPr wrap="square" lIns="0" tIns="0" rIns="0" bIns="0" rtlCol="0" anchor="ctr"/>
          <a:lstStyle/>
          <a:p>
            <a:pPr indent="0" marL="0">
              <a:lnSpc>
                <a:spcPts val="1500"/>
              </a:lnSpc>
              <a:buNone/>
            </a:pPr>
            <a:r>
              <a:rPr lang="en-US" sz="1000" dirty="0">
                <a:solidFill>
                  <a:srgbClr val="4A453F"/>
                </a:solidFill>
                <a:latin typeface="맑은 고딕" pitchFamily="34" charset="0"/>
                <a:ea typeface="맑은 고딕" pitchFamily="34" charset="-122"/>
                <a:cs typeface="맑은 고딕" pitchFamily="34" charset="-120"/>
              </a:rPr>
              <a:t>노후 목조 가옥의 하중·화기·전기 조건을 충족하며, 관람객 접촉 안전을 확보할 수 있는가</a:t>
            </a:r>
            <a:endParaRPr lang="en-US" sz="1000" dirty="0"/>
          </a:p>
        </p:txBody>
      </p:sp>
      <p:sp>
        <p:nvSpPr>
          <p:cNvPr id="20" name="Shape 18"/>
          <p:cNvSpPr/>
          <p:nvPr/>
        </p:nvSpPr>
        <p:spPr>
          <a:xfrm>
            <a:off x="548640" y="5385816"/>
            <a:ext cx="6446520" cy="0"/>
          </a:xfrm>
          <a:prstGeom prst="line">
            <a:avLst/>
          </a:prstGeom>
          <a:noFill/>
          <a:ln w="12700">
            <a:solidFill>
              <a:srgbClr val="D8D4CE"/>
            </a:solidFill>
            <a:prstDash val="solid"/>
          </a:ln>
        </p:spPr>
      </p:sp>
      <p:sp>
        <p:nvSpPr>
          <p:cNvPr id="21" name="Text 19"/>
          <p:cNvSpPr/>
          <p:nvPr/>
        </p:nvSpPr>
        <p:spPr>
          <a:xfrm>
            <a:off x="548640" y="5504688"/>
            <a:ext cx="6446520" cy="274320"/>
          </a:xfrm>
          <a:prstGeom prst="rect">
            <a:avLst/>
          </a:prstGeom>
          <a:noFill/>
          <a:ln/>
        </p:spPr>
        <p:txBody>
          <a:bodyPr wrap="square" lIns="0" tIns="0" rIns="0" bIns="0" rtlCol="0" anchor="ctr"/>
          <a:lstStyle/>
          <a:p>
            <a:pPr indent="0" marL="0">
              <a:buNone/>
            </a:pPr>
            <a:r>
              <a:rPr lang="en-US" sz="1200" b="1" dirty="0">
                <a:solidFill>
                  <a:srgbClr val="1A1A1A"/>
                </a:solidFill>
                <a:latin typeface="맑은 고딕" pitchFamily="34" charset="0"/>
                <a:ea typeface="맑은 고딕" pitchFamily="34" charset="-122"/>
                <a:cs typeface="맑은 고딕" pitchFamily="34" charset="-120"/>
              </a:rPr>
              <a:t>소싱 경로</a:t>
            </a:r>
            <a:endParaRPr lang="en-US" sz="1200" dirty="0"/>
          </a:p>
        </p:txBody>
      </p:sp>
      <p:sp>
        <p:nvSpPr>
          <p:cNvPr id="22" name="Text 20"/>
          <p:cNvSpPr/>
          <p:nvPr/>
        </p:nvSpPr>
        <p:spPr>
          <a:xfrm>
            <a:off x="548640" y="5797296"/>
            <a:ext cx="6446520" cy="548640"/>
          </a:xfrm>
          <a:prstGeom prst="rect">
            <a:avLst/>
          </a:prstGeom>
          <a:noFill/>
          <a:ln/>
        </p:spPr>
        <p:txBody>
          <a:bodyPr wrap="square" lIns="0" tIns="0" rIns="0" bIns="0" rtlCol="0" anchor="ctr"/>
          <a:lstStyle/>
          <a:p>
            <a:pPr indent="0" marL="0">
              <a:lnSpc>
                <a:spcPts val="1400"/>
              </a:lnSpc>
              <a:buNone/>
            </a:pPr>
            <a:r>
              <a:rPr lang="en-US" sz="950" dirty="0">
                <a:solidFill>
                  <a:srgbClr val="4A453F"/>
                </a:solidFill>
                <a:latin typeface="맑은 고딕" pitchFamily="34" charset="0"/>
                <a:ea typeface="맑은 고딕" pitchFamily="34" charset="-122"/>
                <a:cs typeface="맑은 고딕" pitchFamily="34" charset="-120"/>
              </a:rPr>
              <a:t>① 아이테르 회원 작가 풀 490명(2024–25년 신규 476명) 매체별 1차 선별  →  ② 2025 아이테르 컬렉션 응모 472건 아카이브 재검토  →  ③ 부산 원도심 활동 작가 공개 리서치 및 스튜디오 방문  →  ④ 기획자·비평가·기관 담당자 3인 심의</a:t>
            </a:r>
            <a:endParaRPr lang="en-US" sz="950" dirty="0"/>
          </a:p>
        </p:txBody>
      </p:sp>
      <p:sp>
        <p:nvSpPr>
          <p:cNvPr id="23" name="Shape 21"/>
          <p:cNvSpPr/>
          <p:nvPr/>
        </p:nvSpPr>
        <p:spPr>
          <a:xfrm>
            <a:off x="7406640" y="1783080"/>
            <a:ext cx="4206240" cy="2606040"/>
          </a:xfrm>
          <a:prstGeom prst="rect">
            <a:avLst/>
          </a:prstGeom>
          <a:solidFill>
            <a:srgbClr val="F3F1ED"/>
          </a:solidFill>
          <a:ln/>
        </p:spPr>
      </p:sp>
      <p:sp>
        <p:nvSpPr>
          <p:cNvPr id="24" name="Text 22"/>
          <p:cNvSpPr/>
          <p:nvPr/>
        </p:nvSpPr>
        <p:spPr>
          <a:xfrm>
            <a:off x="7662672" y="1938528"/>
            <a:ext cx="3657600" cy="274320"/>
          </a:xfrm>
          <a:prstGeom prst="rect">
            <a:avLst/>
          </a:prstGeom>
          <a:noFill/>
          <a:ln/>
        </p:spPr>
        <p:txBody>
          <a:bodyPr wrap="square" lIns="0" tIns="0" rIns="0" bIns="0" rtlCol="0" anchor="ctr"/>
          <a:lstStyle/>
          <a:p>
            <a:pPr indent="0" marL="0">
              <a:buNone/>
            </a:pPr>
            <a:r>
              <a:rPr lang="en-US" sz="1200" b="1" dirty="0">
                <a:solidFill>
                  <a:srgbClr val="1A1A1A"/>
                </a:solidFill>
                <a:latin typeface="맑은 고딕" pitchFamily="34" charset="0"/>
                <a:ea typeface="맑은 고딕" pitchFamily="34" charset="-122"/>
                <a:cs typeface="맑은 고딕" pitchFamily="34" charset="-120"/>
              </a:rPr>
              <a:t>구성 (7인·팀)</a:t>
            </a:r>
            <a:endParaRPr lang="en-US" sz="1200" dirty="0"/>
          </a:p>
        </p:txBody>
      </p:sp>
      <p:sp>
        <p:nvSpPr>
          <p:cNvPr id="25" name="Shape 23"/>
          <p:cNvSpPr/>
          <p:nvPr/>
        </p:nvSpPr>
        <p:spPr>
          <a:xfrm>
            <a:off x="7699248" y="2377440"/>
            <a:ext cx="118872" cy="118872"/>
          </a:xfrm>
          <a:prstGeom prst="ellipse">
            <a:avLst/>
          </a:prstGeom>
          <a:solidFill>
            <a:srgbClr val="9C6B3C"/>
          </a:solidFill>
          <a:ln/>
        </p:spPr>
      </p:sp>
      <p:sp>
        <p:nvSpPr>
          <p:cNvPr id="26" name="Text 24"/>
          <p:cNvSpPr/>
          <p:nvPr/>
        </p:nvSpPr>
        <p:spPr>
          <a:xfrm>
            <a:off x="7918704" y="2304288"/>
            <a:ext cx="2377440" cy="274320"/>
          </a:xfrm>
          <a:prstGeom prst="rect">
            <a:avLst/>
          </a:prstGeom>
          <a:noFill/>
          <a:ln/>
        </p:spPr>
        <p:txBody>
          <a:bodyPr wrap="square" lIns="0" tIns="0" rIns="0" bIns="0" rtlCol="0" anchor="ctr"/>
          <a:lstStyle/>
          <a:p>
            <a:pPr indent="0" marL="0">
              <a:buNone/>
            </a:pPr>
            <a:r>
              <a:rPr lang="en-US" sz="1050" dirty="0">
                <a:solidFill>
                  <a:srgbClr val="3E3A35"/>
                </a:solidFill>
                <a:latin typeface="맑은 고딕" pitchFamily="34" charset="0"/>
                <a:ea typeface="맑은 고딕" pitchFamily="34" charset="-122"/>
                <a:cs typeface="맑은 고딕" pitchFamily="34" charset="-120"/>
              </a:rPr>
              <a:t>설치</a:t>
            </a:r>
            <a:endParaRPr lang="en-US" sz="1050" dirty="0"/>
          </a:p>
        </p:txBody>
      </p:sp>
      <p:sp>
        <p:nvSpPr>
          <p:cNvPr id="27" name="Text 25"/>
          <p:cNvSpPr/>
          <p:nvPr/>
        </p:nvSpPr>
        <p:spPr>
          <a:xfrm>
            <a:off x="10332720" y="2304288"/>
            <a:ext cx="1005840" cy="274320"/>
          </a:xfrm>
          <a:prstGeom prst="rect">
            <a:avLst/>
          </a:prstGeom>
          <a:noFill/>
          <a:ln/>
        </p:spPr>
        <p:txBody>
          <a:bodyPr wrap="square" lIns="0" tIns="0" rIns="0" bIns="0" rtlCol="0" anchor="ctr"/>
          <a:lstStyle/>
          <a:p>
            <a:pPr algn="r" indent="0" marL="0">
              <a:buNone/>
            </a:pPr>
            <a:r>
              <a:rPr lang="en-US" sz="1050" b="1" dirty="0">
                <a:solidFill>
                  <a:srgbClr val="1A1A1A"/>
                </a:solidFill>
                <a:latin typeface="맑은 고딕" pitchFamily="34" charset="0"/>
                <a:ea typeface="맑은 고딕" pitchFamily="34" charset="-122"/>
                <a:cs typeface="맑은 고딕" pitchFamily="34" charset="-120"/>
              </a:rPr>
              <a:t>2인</a:t>
            </a:r>
            <a:endParaRPr lang="en-US" sz="1050" dirty="0"/>
          </a:p>
        </p:txBody>
      </p:sp>
      <p:sp>
        <p:nvSpPr>
          <p:cNvPr id="28" name="Shape 26"/>
          <p:cNvSpPr/>
          <p:nvPr/>
        </p:nvSpPr>
        <p:spPr>
          <a:xfrm>
            <a:off x="7699248" y="2706624"/>
            <a:ext cx="118872" cy="118872"/>
          </a:xfrm>
          <a:prstGeom prst="ellipse">
            <a:avLst/>
          </a:prstGeom>
          <a:solidFill>
            <a:srgbClr val="9C6B3C"/>
          </a:solidFill>
          <a:ln/>
        </p:spPr>
      </p:sp>
      <p:sp>
        <p:nvSpPr>
          <p:cNvPr id="29" name="Text 27"/>
          <p:cNvSpPr/>
          <p:nvPr/>
        </p:nvSpPr>
        <p:spPr>
          <a:xfrm>
            <a:off x="7918704" y="2633472"/>
            <a:ext cx="2377440" cy="274320"/>
          </a:xfrm>
          <a:prstGeom prst="rect">
            <a:avLst/>
          </a:prstGeom>
          <a:noFill/>
          <a:ln/>
        </p:spPr>
        <p:txBody>
          <a:bodyPr wrap="square" lIns="0" tIns="0" rIns="0" bIns="0" rtlCol="0" anchor="ctr"/>
          <a:lstStyle/>
          <a:p>
            <a:pPr indent="0" marL="0">
              <a:buNone/>
            </a:pPr>
            <a:r>
              <a:rPr lang="en-US" sz="1050" dirty="0">
                <a:solidFill>
                  <a:srgbClr val="3E3A35"/>
                </a:solidFill>
                <a:latin typeface="맑은 고딕" pitchFamily="34" charset="0"/>
                <a:ea typeface="맑은 고딕" pitchFamily="34" charset="-122"/>
                <a:cs typeface="맑은 고딕" pitchFamily="34" charset="-120"/>
              </a:rPr>
              <a:t>섬유·텍스타일</a:t>
            </a:r>
            <a:endParaRPr lang="en-US" sz="1050" dirty="0"/>
          </a:p>
        </p:txBody>
      </p:sp>
      <p:sp>
        <p:nvSpPr>
          <p:cNvPr id="30" name="Text 28"/>
          <p:cNvSpPr/>
          <p:nvPr/>
        </p:nvSpPr>
        <p:spPr>
          <a:xfrm>
            <a:off x="10332720" y="2633472"/>
            <a:ext cx="1005840" cy="274320"/>
          </a:xfrm>
          <a:prstGeom prst="rect">
            <a:avLst/>
          </a:prstGeom>
          <a:noFill/>
          <a:ln/>
        </p:spPr>
        <p:txBody>
          <a:bodyPr wrap="square" lIns="0" tIns="0" rIns="0" bIns="0" rtlCol="0" anchor="ctr"/>
          <a:lstStyle/>
          <a:p>
            <a:pPr algn="r" indent="0" marL="0">
              <a:buNone/>
            </a:pPr>
            <a:r>
              <a:rPr lang="en-US" sz="1050" b="1" dirty="0">
                <a:solidFill>
                  <a:srgbClr val="1A1A1A"/>
                </a:solidFill>
                <a:latin typeface="맑은 고딕" pitchFamily="34" charset="0"/>
                <a:ea typeface="맑은 고딕" pitchFamily="34" charset="-122"/>
                <a:cs typeface="맑은 고딕" pitchFamily="34" charset="-120"/>
              </a:rPr>
              <a:t>1인</a:t>
            </a:r>
            <a:endParaRPr lang="en-US" sz="1050" dirty="0"/>
          </a:p>
        </p:txBody>
      </p:sp>
      <p:sp>
        <p:nvSpPr>
          <p:cNvPr id="31" name="Shape 29"/>
          <p:cNvSpPr/>
          <p:nvPr/>
        </p:nvSpPr>
        <p:spPr>
          <a:xfrm>
            <a:off x="7699248" y="3035808"/>
            <a:ext cx="118872" cy="118872"/>
          </a:xfrm>
          <a:prstGeom prst="ellipse">
            <a:avLst/>
          </a:prstGeom>
          <a:solidFill>
            <a:srgbClr val="2F4858"/>
          </a:solidFill>
          <a:ln/>
        </p:spPr>
      </p:sp>
      <p:sp>
        <p:nvSpPr>
          <p:cNvPr id="32" name="Text 30"/>
          <p:cNvSpPr/>
          <p:nvPr/>
        </p:nvSpPr>
        <p:spPr>
          <a:xfrm>
            <a:off x="7918704" y="2962656"/>
            <a:ext cx="2377440" cy="274320"/>
          </a:xfrm>
          <a:prstGeom prst="rect">
            <a:avLst/>
          </a:prstGeom>
          <a:noFill/>
          <a:ln/>
        </p:spPr>
        <p:txBody>
          <a:bodyPr wrap="square" lIns="0" tIns="0" rIns="0" bIns="0" rtlCol="0" anchor="ctr"/>
          <a:lstStyle/>
          <a:p>
            <a:pPr indent="0" marL="0">
              <a:buNone/>
            </a:pPr>
            <a:r>
              <a:rPr lang="en-US" sz="1050" dirty="0">
                <a:solidFill>
                  <a:srgbClr val="3E3A35"/>
                </a:solidFill>
                <a:latin typeface="맑은 고딕" pitchFamily="34" charset="0"/>
                <a:ea typeface="맑은 고딕" pitchFamily="34" charset="-122"/>
                <a:cs typeface="맑은 고딕" pitchFamily="34" charset="-120"/>
              </a:rPr>
              <a:t>미디어</a:t>
            </a:r>
            <a:endParaRPr lang="en-US" sz="1050" dirty="0"/>
          </a:p>
        </p:txBody>
      </p:sp>
      <p:sp>
        <p:nvSpPr>
          <p:cNvPr id="33" name="Text 31"/>
          <p:cNvSpPr/>
          <p:nvPr/>
        </p:nvSpPr>
        <p:spPr>
          <a:xfrm>
            <a:off x="10332720" y="2962656"/>
            <a:ext cx="1005840" cy="274320"/>
          </a:xfrm>
          <a:prstGeom prst="rect">
            <a:avLst/>
          </a:prstGeom>
          <a:noFill/>
          <a:ln/>
        </p:spPr>
        <p:txBody>
          <a:bodyPr wrap="square" lIns="0" tIns="0" rIns="0" bIns="0" rtlCol="0" anchor="ctr"/>
          <a:lstStyle/>
          <a:p>
            <a:pPr algn="r" indent="0" marL="0">
              <a:buNone/>
            </a:pPr>
            <a:r>
              <a:rPr lang="en-US" sz="1050" b="1" dirty="0">
                <a:solidFill>
                  <a:srgbClr val="1A1A1A"/>
                </a:solidFill>
                <a:latin typeface="맑은 고딕" pitchFamily="34" charset="0"/>
                <a:ea typeface="맑은 고딕" pitchFamily="34" charset="-122"/>
                <a:cs typeface="맑은 고딕" pitchFamily="34" charset="-120"/>
              </a:rPr>
              <a:t>1인</a:t>
            </a:r>
            <a:endParaRPr lang="en-US" sz="1050" dirty="0"/>
          </a:p>
        </p:txBody>
      </p:sp>
      <p:sp>
        <p:nvSpPr>
          <p:cNvPr id="34" name="Shape 32"/>
          <p:cNvSpPr/>
          <p:nvPr/>
        </p:nvSpPr>
        <p:spPr>
          <a:xfrm>
            <a:off x="7699248" y="3364992"/>
            <a:ext cx="118872" cy="118872"/>
          </a:xfrm>
          <a:prstGeom prst="ellipse">
            <a:avLst/>
          </a:prstGeom>
          <a:solidFill>
            <a:srgbClr val="2F4858"/>
          </a:solidFill>
          <a:ln/>
        </p:spPr>
      </p:sp>
      <p:sp>
        <p:nvSpPr>
          <p:cNvPr id="35" name="Text 33"/>
          <p:cNvSpPr/>
          <p:nvPr/>
        </p:nvSpPr>
        <p:spPr>
          <a:xfrm>
            <a:off x="7918704" y="3291840"/>
            <a:ext cx="2377440" cy="274320"/>
          </a:xfrm>
          <a:prstGeom prst="rect">
            <a:avLst/>
          </a:prstGeom>
          <a:noFill/>
          <a:ln/>
        </p:spPr>
        <p:txBody>
          <a:bodyPr wrap="square" lIns="0" tIns="0" rIns="0" bIns="0" rtlCol="0" anchor="ctr"/>
          <a:lstStyle/>
          <a:p>
            <a:pPr indent="0" marL="0">
              <a:buNone/>
            </a:pPr>
            <a:r>
              <a:rPr lang="en-US" sz="1050" dirty="0">
                <a:solidFill>
                  <a:srgbClr val="3E3A35"/>
                </a:solidFill>
                <a:latin typeface="맑은 고딕" pitchFamily="34" charset="0"/>
                <a:ea typeface="맑은 고딕" pitchFamily="34" charset="-122"/>
                <a:cs typeface="맑은 고딕" pitchFamily="34" charset="-120"/>
              </a:rPr>
              <a:t>사운드</a:t>
            </a:r>
            <a:endParaRPr lang="en-US" sz="1050" dirty="0"/>
          </a:p>
        </p:txBody>
      </p:sp>
      <p:sp>
        <p:nvSpPr>
          <p:cNvPr id="36" name="Text 34"/>
          <p:cNvSpPr/>
          <p:nvPr/>
        </p:nvSpPr>
        <p:spPr>
          <a:xfrm>
            <a:off x="10332720" y="3291840"/>
            <a:ext cx="1005840" cy="274320"/>
          </a:xfrm>
          <a:prstGeom prst="rect">
            <a:avLst/>
          </a:prstGeom>
          <a:noFill/>
          <a:ln/>
        </p:spPr>
        <p:txBody>
          <a:bodyPr wrap="square" lIns="0" tIns="0" rIns="0" bIns="0" rtlCol="0" anchor="ctr"/>
          <a:lstStyle/>
          <a:p>
            <a:pPr algn="r" indent="0" marL="0">
              <a:buNone/>
            </a:pPr>
            <a:r>
              <a:rPr lang="en-US" sz="1050" b="1" dirty="0">
                <a:solidFill>
                  <a:srgbClr val="1A1A1A"/>
                </a:solidFill>
                <a:latin typeface="맑은 고딕" pitchFamily="34" charset="0"/>
                <a:ea typeface="맑은 고딕" pitchFamily="34" charset="-122"/>
                <a:cs typeface="맑은 고딕" pitchFamily="34" charset="-120"/>
              </a:rPr>
              <a:t>1인</a:t>
            </a:r>
            <a:endParaRPr lang="en-US" sz="1050" dirty="0"/>
          </a:p>
        </p:txBody>
      </p:sp>
      <p:sp>
        <p:nvSpPr>
          <p:cNvPr id="37" name="Shape 35"/>
          <p:cNvSpPr/>
          <p:nvPr/>
        </p:nvSpPr>
        <p:spPr>
          <a:xfrm>
            <a:off x="7699248" y="3694176"/>
            <a:ext cx="118872" cy="118872"/>
          </a:xfrm>
          <a:prstGeom prst="ellipse">
            <a:avLst/>
          </a:prstGeom>
          <a:solidFill>
            <a:srgbClr val="4A4A4A"/>
          </a:solidFill>
          <a:ln/>
        </p:spPr>
      </p:sp>
      <p:sp>
        <p:nvSpPr>
          <p:cNvPr id="38" name="Text 36"/>
          <p:cNvSpPr/>
          <p:nvPr/>
        </p:nvSpPr>
        <p:spPr>
          <a:xfrm>
            <a:off x="7918704" y="3621024"/>
            <a:ext cx="2377440" cy="274320"/>
          </a:xfrm>
          <a:prstGeom prst="rect">
            <a:avLst/>
          </a:prstGeom>
          <a:noFill/>
          <a:ln/>
        </p:spPr>
        <p:txBody>
          <a:bodyPr wrap="square" lIns="0" tIns="0" rIns="0" bIns="0" rtlCol="0" anchor="ctr"/>
          <a:lstStyle/>
          <a:p>
            <a:pPr indent="0" marL="0">
              <a:buNone/>
            </a:pPr>
            <a:r>
              <a:rPr lang="en-US" sz="1050" dirty="0">
                <a:solidFill>
                  <a:srgbClr val="3E3A35"/>
                </a:solidFill>
                <a:latin typeface="맑은 고딕" pitchFamily="34" charset="0"/>
                <a:ea typeface="맑은 고딕" pitchFamily="34" charset="-122"/>
                <a:cs typeface="맑은 고딕" pitchFamily="34" charset="-120"/>
              </a:rPr>
              <a:t>사진·아카이브</a:t>
            </a:r>
            <a:endParaRPr lang="en-US" sz="1050" dirty="0"/>
          </a:p>
        </p:txBody>
      </p:sp>
      <p:sp>
        <p:nvSpPr>
          <p:cNvPr id="39" name="Text 37"/>
          <p:cNvSpPr/>
          <p:nvPr/>
        </p:nvSpPr>
        <p:spPr>
          <a:xfrm>
            <a:off x="10332720" y="3621024"/>
            <a:ext cx="1005840" cy="274320"/>
          </a:xfrm>
          <a:prstGeom prst="rect">
            <a:avLst/>
          </a:prstGeom>
          <a:noFill/>
          <a:ln/>
        </p:spPr>
        <p:txBody>
          <a:bodyPr wrap="square" lIns="0" tIns="0" rIns="0" bIns="0" rtlCol="0" anchor="ctr"/>
          <a:lstStyle/>
          <a:p>
            <a:pPr algn="r" indent="0" marL="0">
              <a:buNone/>
            </a:pPr>
            <a:r>
              <a:rPr lang="en-US" sz="1050" b="1" dirty="0">
                <a:solidFill>
                  <a:srgbClr val="1A1A1A"/>
                </a:solidFill>
                <a:latin typeface="맑은 고딕" pitchFamily="34" charset="0"/>
                <a:ea typeface="맑은 고딕" pitchFamily="34" charset="-122"/>
                <a:cs typeface="맑은 고딕" pitchFamily="34" charset="-120"/>
              </a:rPr>
              <a:t>1인</a:t>
            </a:r>
            <a:endParaRPr lang="en-US" sz="1050" dirty="0"/>
          </a:p>
        </p:txBody>
      </p:sp>
      <p:sp>
        <p:nvSpPr>
          <p:cNvPr id="40" name="Shape 38"/>
          <p:cNvSpPr/>
          <p:nvPr/>
        </p:nvSpPr>
        <p:spPr>
          <a:xfrm>
            <a:off x="7699248" y="4023360"/>
            <a:ext cx="118872" cy="118872"/>
          </a:xfrm>
          <a:prstGeom prst="ellipse">
            <a:avLst/>
          </a:prstGeom>
          <a:solidFill>
            <a:srgbClr val="7A4A45"/>
          </a:solidFill>
          <a:ln/>
        </p:spPr>
      </p:sp>
      <p:sp>
        <p:nvSpPr>
          <p:cNvPr id="41" name="Text 39"/>
          <p:cNvSpPr/>
          <p:nvPr/>
        </p:nvSpPr>
        <p:spPr>
          <a:xfrm>
            <a:off x="7918704" y="3950208"/>
            <a:ext cx="2377440" cy="274320"/>
          </a:xfrm>
          <a:prstGeom prst="rect">
            <a:avLst/>
          </a:prstGeom>
          <a:noFill/>
          <a:ln/>
        </p:spPr>
        <p:txBody>
          <a:bodyPr wrap="square" lIns="0" tIns="0" rIns="0" bIns="0" rtlCol="0" anchor="ctr"/>
          <a:lstStyle/>
          <a:p>
            <a:pPr indent="0" marL="0">
              <a:buNone/>
            </a:pPr>
            <a:r>
              <a:rPr lang="en-US" sz="1050" dirty="0">
                <a:solidFill>
                  <a:srgbClr val="3E3A35"/>
                </a:solidFill>
                <a:latin typeface="맑은 고딕" pitchFamily="34" charset="0"/>
                <a:ea typeface="맑은 고딕" pitchFamily="34" charset="-122"/>
                <a:cs typeface="맑은 고딕" pitchFamily="34" charset="-120"/>
              </a:rPr>
              <a:t>회화·참여기반</a:t>
            </a:r>
            <a:endParaRPr lang="en-US" sz="1050" dirty="0"/>
          </a:p>
        </p:txBody>
      </p:sp>
      <p:sp>
        <p:nvSpPr>
          <p:cNvPr id="42" name="Text 40"/>
          <p:cNvSpPr/>
          <p:nvPr/>
        </p:nvSpPr>
        <p:spPr>
          <a:xfrm>
            <a:off x="10332720" y="3950208"/>
            <a:ext cx="1005840" cy="274320"/>
          </a:xfrm>
          <a:prstGeom prst="rect">
            <a:avLst/>
          </a:prstGeom>
          <a:noFill/>
          <a:ln/>
        </p:spPr>
        <p:txBody>
          <a:bodyPr wrap="square" lIns="0" tIns="0" rIns="0" bIns="0" rtlCol="0" anchor="ctr"/>
          <a:lstStyle/>
          <a:p>
            <a:pPr algn="r" indent="0" marL="0">
              <a:buNone/>
            </a:pPr>
            <a:r>
              <a:rPr lang="en-US" sz="1050" b="1" dirty="0">
                <a:solidFill>
                  <a:srgbClr val="1A1A1A"/>
                </a:solidFill>
                <a:latin typeface="맑은 고딕" pitchFamily="34" charset="0"/>
                <a:ea typeface="맑은 고딕" pitchFamily="34" charset="-122"/>
                <a:cs typeface="맑은 고딕" pitchFamily="34" charset="-120"/>
              </a:rPr>
              <a:t>1인</a:t>
            </a:r>
            <a:endParaRPr lang="en-US" sz="1050" dirty="0"/>
          </a:p>
        </p:txBody>
      </p:sp>
      <p:sp>
        <p:nvSpPr>
          <p:cNvPr id="43" name="Text 41"/>
          <p:cNvSpPr/>
          <p:nvPr/>
        </p:nvSpPr>
        <p:spPr>
          <a:xfrm>
            <a:off x="7662672" y="4041648"/>
            <a:ext cx="3703320" cy="274320"/>
          </a:xfrm>
          <a:prstGeom prst="rect">
            <a:avLst/>
          </a:prstGeom>
          <a:noFill/>
          <a:ln/>
        </p:spPr>
        <p:txBody>
          <a:bodyPr wrap="square" lIns="0" tIns="0" rIns="0" bIns="0" rtlCol="0" anchor="ctr"/>
          <a:lstStyle/>
          <a:p>
            <a:pPr indent="0" marL="0">
              <a:buNone/>
            </a:pPr>
            <a:r>
              <a:rPr lang="en-US" sz="900" dirty="0">
                <a:solidFill>
                  <a:srgbClr val="8A857E"/>
                </a:solidFill>
                <a:latin typeface="맑은 고딕" pitchFamily="34" charset="0"/>
                <a:ea typeface="맑은 고딕" pitchFamily="34" charset="-122"/>
                <a:cs typeface="맑은 고딕" pitchFamily="34" charset="-120"/>
              </a:rPr>
              <a:t>신진 4 : 중견 3  ·  부산 연고 작가 5인 이상  ·  여성 작가 3인 이상 권장</a:t>
            </a:r>
            <a:endParaRPr lang="en-US" sz="900" dirty="0"/>
          </a:p>
        </p:txBody>
      </p:sp>
      <p:sp>
        <p:nvSpPr>
          <p:cNvPr id="44" name="Shape 42"/>
          <p:cNvSpPr/>
          <p:nvPr/>
        </p:nvSpPr>
        <p:spPr>
          <a:xfrm>
            <a:off x="7406640" y="4572000"/>
            <a:ext cx="4206240" cy="1554480"/>
          </a:xfrm>
          <a:prstGeom prst="rect">
            <a:avLst/>
          </a:prstGeom>
          <a:solidFill>
            <a:srgbClr val="1A1A1A"/>
          </a:solidFill>
          <a:ln/>
        </p:spPr>
      </p:sp>
      <p:sp>
        <p:nvSpPr>
          <p:cNvPr id="45" name="Text 43"/>
          <p:cNvSpPr/>
          <p:nvPr/>
        </p:nvSpPr>
        <p:spPr>
          <a:xfrm>
            <a:off x="7662672" y="4736592"/>
            <a:ext cx="3657600" cy="256032"/>
          </a:xfrm>
          <a:prstGeom prst="rect">
            <a:avLst/>
          </a:prstGeom>
          <a:noFill/>
          <a:ln/>
        </p:spPr>
        <p:txBody>
          <a:bodyPr wrap="square" lIns="0" tIns="0" rIns="0" bIns="0" rtlCol="0" anchor="ctr"/>
          <a:lstStyle/>
          <a:p>
            <a:pPr indent="0" marL="0">
              <a:buNone/>
            </a:pPr>
            <a:r>
              <a:rPr lang="en-US" sz="1100" b="1" dirty="0">
                <a:solidFill>
                  <a:srgbClr val="FFFFFF"/>
                </a:solidFill>
                <a:latin typeface="맑은 고딕" pitchFamily="34" charset="0"/>
                <a:ea typeface="맑은 고딕" pitchFamily="34" charset="-122"/>
                <a:cs typeface="맑은 고딕" pitchFamily="34" charset="-120"/>
              </a:rPr>
              <a:t>계약 · 처우 원칙</a:t>
            </a:r>
            <a:endParaRPr lang="en-US" sz="1100" dirty="0"/>
          </a:p>
        </p:txBody>
      </p:sp>
      <p:sp>
        <p:nvSpPr>
          <p:cNvPr id="46" name="Text 44"/>
          <p:cNvSpPr/>
          <p:nvPr/>
        </p:nvSpPr>
        <p:spPr>
          <a:xfrm>
            <a:off x="7662672" y="5029200"/>
            <a:ext cx="3657600" cy="960120"/>
          </a:xfrm>
          <a:prstGeom prst="rect">
            <a:avLst/>
          </a:prstGeom>
          <a:noFill/>
          <a:ln/>
        </p:spPr>
        <p:txBody>
          <a:bodyPr wrap="square" lIns="0" tIns="0" rIns="0" bIns="0" rtlCol="0" anchor="ctr"/>
          <a:lstStyle/>
          <a:p>
            <a:pPr indent="0" marL="0">
              <a:lnSpc>
                <a:spcPts val="1500"/>
              </a:lnSpc>
              <a:buNone/>
            </a:pPr>
            <a:r>
              <a:rPr lang="en-US" sz="950" dirty="0">
                <a:solidFill>
                  <a:srgbClr val="CFC8BE"/>
                </a:solidFill>
                <a:latin typeface="맑은 고딕" pitchFamily="34" charset="0"/>
                <a:ea typeface="맑은 고딕" pitchFamily="34" charset="-122"/>
                <a:cs typeface="맑은 고딕" pitchFamily="34" charset="-120"/>
              </a:rPr>
              <a:t>· 문화체육관광부 고시 미술 분야 표준계약서 준수</a:t>
            </a:r>
            <a:endParaRPr lang="en-US" sz="950" dirty="0"/>
          </a:p>
          <a:p>
            <a:pPr indent="0" marL="0">
              <a:lnSpc>
                <a:spcPts val="1500"/>
              </a:lnSpc>
              <a:buNone/>
            </a:pPr>
            <a:r>
              <a:rPr lang="en-US" sz="950" dirty="0">
                <a:solidFill>
                  <a:srgbClr val="CFC8BE"/>
                </a:solidFill>
                <a:latin typeface="맑은 고딕" pitchFamily="34" charset="0"/>
                <a:ea typeface="맑은 고딕" pitchFamily="34" charset="-122"/>
                <a:cs typeface="맑은 고딕" pitchFamily="34" charset="-120"/>
              </a:rPr>
              <a:t>· 작가 사례비와 창작지원금(재료비) 분리 지급</a:t>
            </a:r>
            <a:endParaRPr lang="en-US" sz="950" dirty="0"/>
          </a:p>
          <a:p>
            <a:pPr indent="0" marL="0">
              <a:lnSpc>
                <a:spcPts val="1500"/>
              </a:lnSpc>
              <a:buNone/>
            </a:pPr>
            <a:r>
              <a:rPr lang="en-US" sz="950" dirty="0">
                <a:solidFill>
                  <a:srgbClr val="CFC8BE"/>
                </a:solidFill>
                <a:latin typeface="맑은 고딕" pitchFamily="34" charset="0"/>
                <a:ea typeface="맑은 고딕" pitchFamily="34" charset="-122"/>
                <a:cs typeface="맑은 고딕" pitchFamily="34" charset="-120"/>
              </a:rPr>
              <a:t>· 전시 종료 후 아이테르 전문 비평문 1인 1편 제공</a:t>
            </a:r>
            <a:endParaRPr lang="en-US" sz="950" dirty="0"/>
          </a:p>
          <a:p>
            <a:pPr indent="0" marL="0">
              <a:lnSpc>
                <a:spcPts val="1500"/>
              </a:lnSpc>
              <a:buNone/>
            </a:pPr>
            <a:r>
              <a:rPr lang="en-US" sz="950" dirty="0">
                <a:solidFill>
                  <a:srgbClr val="CFC8BE"/>
                </a:solidFill>
                <a:latin typeface="맑은 고딕" pitchFamily="34" charset="0"/>
                <a:ea typeface="맑은 고딕" pitchFamily="34" charset="-122"/>
                <a:cs typeface="맑은 고딕" pitchFamily="34" charset="-120"/>
              </a:rPr>
              <a:t>· 아이테르 제휴망을 통한 순회·후속 전시 우선 검토</a:t>
            </a:r>
            <a:endParaRPr lang="en-US" sz="950" dirty="0"/>
          </a:p>
        </p:txBody>
      </p:sp>
      <p:sp>
        <p:nvSpPr>
          <p:cNvPr id="47" name="Text 45"/>
          <p:cNvSpPr/>
          <p:nvPr/>
        </p:nvSpPr>
        <p:spPr>
          <a:xfrm>
            <a:off x="548640" y="6419088"/>
            <a:ext cx="7315200" cy="274320"/>
          </a:xfrm>
          <a:prstGeom prst="rect">
            <a:avLst/>
          </a:prstGeom>
          <a:noFill/>
          <a:ln/>
        </p:spPr>
        <p:txBody>
          <a:bodyPr wrap="square" lIns="0" tIns="0" rIns="0" bIns="0" rtlCol="0" anchor="ctr"/>
          <a:lstStyle/>
          <a:p>
            <a:pPr algn="l" indent="0" marL="0">
              <a:buNone/>
            </a:pPr>
            <a:r>
              <a:rPr lang="en-US" sz="800" dirty="0">
                <a:solidFill>
                  <a:srgbClr val="8A857E"/>
                </a:solidFill>
                <a:latin typeface="맑은 고딕" pitchFamily="34" charset="0"/>
                <a:ea typeface="맑은 고딕" pitchFamily="34" charset="-122"/>
                <a:cs typeface="맑은 고딕" pitchFamily="34" charset="-120"/>
              </a:rPr>
              <a:t>아이테르 문화예술기획제안서   ·   덮인 물, 남은 올   ·   기획 추병곤</a:t>
            </a:r>
            <a:endParaRPr lang="en-US" sz="800" dirty="0"/>
          </a:p>
        </p:txBody>
      </p:sp>
      <p:sp>
        <p:nvSpPr>
          <p:cNvPr id="48" name="Text 46"/>
          <p:cNvSpPr/>
          <p:nvPr/>
        </p:nvSpPr>
        <p:spPr>
          <a:xfrm>
            <a:off x="10972800" y="6419088"/>
            <a:ext cx="640080" cy="274320"/>
          </a:xfrm>
          <a:prstGeom prst="rect">
            <a:avLst/>
          </a:prstGeom>
          <a:noFill/>
          <a:ln/>
        </p:spPr>
        <p:txBody>
          <a:bodyPr wrap="square" lIns="0" tIns="0" rIns="0" bIns="0" rtlCol="0" anchor="ctr"/>
          <a:lstStyle/>
          <a:p>
            <a:pPr algn="r" indent="0" marL="0">
              <a:buNone/>
            </a:pPr>
            <a:r>
              <a:rPr lang="en-US" sz="900" dirty="0">
                <a:solidFill>
                  <a:srgbClr val="8A857E"/>
                </a:solidFill>
                <a:latin typeface="Cambria" pitchFamily="34" charset="0"/>
                <a:ea typeface="Cambria" pitchFamily="34" charset="-122"/>
                <a:cs typeface="Cambria"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7315200" cy="237744"/>
          </a:xfrm>
          <a:prstGeom prst="rect">
            <a:avLst/>
          </a:prstGeom>
          <a:noFill/>
          <a:ln/>
        </p:spPr>
        <p:txBody>
          <a:bodyPr wrap="square" lIns="0" tIns="0" rIns="0" bIns="0" rtlCol="0" anchor="ctr"/>
          <a:lstStyle/>
          <a:p>
            <a:pPr indent="0" marL="0">
              <a:buNone/>
            </a:pPr>
            <a:r>
              <a:rPr lang="en-US" sz="1050" spc="250" kern="0" dirty="0">
                <a:solidFill>
                  <a:srgbClr val="8A857E"/>
                </a:solidFill>
                <a:latin typeface="Cambria" pitchFamily="34" charset="0"/>
                <a:ea typeface="Cambria" pitchFamily="34" charset="-122"/>
                <a:cs typeface="Cambria" pitchFamily="34" charset="-120"/>
              </a:rPr>
              <a:t>13  TECHNOLOGY</a:t>
            </a:r>
            <a:endParaRPr lang="en-US" sz="1050" dirty="0"/>
          </a:p>
        </p:txBody>
      </p:sp>
      <p:sp>
        <p:nvSpPr>
          <p:cNvPr id="3" name="Text 1"/>
          <p:cNvSpPr/>
          <p:nvPr/>
        </p:nvSpPr>
        <p:spPr>
          <a:xfrm>
            <a:off x="548640" y="694944"/>
            <a:ext cx="10058400" cy="502920"/>
          </a:xfrm>
          <a:prstGeom prst="rect">
            <a:avLst/>
          </a:prstGeom>
          <a:noFill/>
          <a:ln/>
        </p:spPr>
        <p:txBody>
          <a:bodyPr wrap="square" lIns="0" tIns="0" rIns="0" bIns="0" rtlCol="0" anchor="ctr"/>
          <a:lstStyle/>
          <a:p>
            <a:pPr indent="0" marL="0">
              <a:buNone/>
            </a:pPr>
            <a:r>
              <a:rPr lang="en-US" sz="2700" b="1" dirty="0">
                <a:solidFill>
                  <a:srgbClr val="1A1A1A"/>
                </a:solidFill>
                <a:latin typeface="맑은 고딕" pitchFamily="34" charset="0"/>
                <a:ea typeface="맑은 고딕" pitchFamily="34" charset="-122"/>
                <a:cs typeface="맑은 고딕" pitchFamily="34" charset="-120"/>
              </a:rPr>
              <a:t>미디어·기술 구현 계획</a:t>
            </a:r>
            <a:endParaRPr lang="en-US" sz="2700" dirty="0"/>
          </a:p>
        </p:txBody>
      </p:sp>
      <p:sp>
        <p:nvSpPr>
          <p:cNvPr id="4" name="Text 2"/>
          <p:cNvSpPr/>
          <p:nvPr/>
        </p:nvSpPr>
        <p:spPr>
          <a:xfrm>
            <a:off x="548640" y="1225296"/>
            <a:ext cx="10607040" cy="310896"/>
          </a:xfrm>
          <a:prstGeom prst="rect">
            <a:avLst/>
          </a:prstGeom>
          <a:noFill/>
          <a:ln/>
        </p:spPr>
        <p:txBody>
          <a:bodyPr wrap="square" lIns="0" tIns="0" rIns="0" bIns="0" rtlCol="0" anchor="ctr"/>
          <a:lstStyle/>
          <a:p>
            <a:pPr indent="0" marL="0">
              <a:buNone/>
            </a:pPr>
            <a:r>
              <a:rPr lang="en-US" sz="1200" dirty="0">
                <a:solidFill>
                  <a:srgbClr val="8A857E"/>
                </a:solidFill>
                <a:latin typeface="맑은 고딕" pitchFamily="34" charset="0"/>
                <a:ea typeface="맑은 고딕" pitchFamily="34" charset="-122"/>
                <a:cs typeface="맑은 고딕" pitchFamily="34" charset="-120"/>
              </a:rPr>
              <a:t>아이테르 기술협약 체계를 노후 목조 가옥의 조건에 맞게 축소·정밀화한다</a:t>
            </a:r>
            <a:endParaRPr lang="en-US" sz="1200" dirty="0"/>
          </a:p>
        </p:txBody>
      </p:sp>
      <p:sp>
        <p:nvSpPr>
          <p:cNvPr id="5" name="Shape 3"/>
          <p:cNvSpPr/>
          <p:nvPr/>
        </p:nvSpPr>
        <p:spPr>
          <a:xfrm>
            <a:off x="548640" y="1783080"/>
            <a:ext cx="3493008" cy="475488"/>
          </a:xfrm>
          <a:prstGeom prst="rect">
            <a:avLst/>
          </a:prstGeom>
          <a:solidFill>
            <a:srgbClr val="9C6B3C"/>
          </a:solidFill>
          <a:ln/>
        </p:spPr>
      </p:sp>
      <p:sp>
        <p:nvSpPr>
          <p:cNvPr id="6" name="Text 4"/>
          <p:cNvSpPr/>
          <p:nvPr/>
        </p:nvSpPr>
        <p:spPr>
          <a:xfrm>
            <a:off x="731520" y="1783080"/>
            <a:ext cx="3108960" cy="475488"/>
          </a:xfrm>
          <a:prstGeom prst="rect">
            <a:avLst/>
          </a:prstGeom>
          <a:noFill/>
          <a:ln/>
        </p:spPr>
        <p:txBody>
          <a:bodyPr wrap="square" lIns="0" tIns="0" rIns="0" bIns="0" rtlCol="0" anchor="ctr"/>
          <a:lstStyle/>
          <a:p>
            <a:pPr indent="0" marL="0">
              <a:buNone/>
            </a:pPr>
            <a:r>
              <a:rPr lang="en-US" sz="1200" b="1" dirty="0">
                <a:solidFill>
                  <a:srgbClr val="FFFFFF"/>
                </a:solidFill>
                <a:latin typeface="맑은 고딕" pitchFamily="34" charset="0"/>
                <a:ea typeface="맑은 고딕" pitchFamily="34" charset="-122"/>
                <a:cs typeface="맑은 고딕" pitchFamily="34" charset="-120"/>
              </a:rPr>
              <a:t>⑤실 메인홀</a:t>
            </a:r>
            <a:endParaRPr lang="en-US" sz="1200" dirty="0"/>
          </a:p>
        </p:txBody>
      </p:sp>
      <p:sp>
        <p:nvSpPr>
          <p:cNvPr id="7" name="Text 5"/>
          <p:cNvSpPr/>
          <p:nvPr/>
        </p:nvSpPr>
        <p:spPr>
          <a:xfrm>
            <a:off x="548640" y="2377440"/>
            <a:ext cx="3493008" cy="274320"/>
          </a:xfrm>
          <a:prstGeom prst="rect">
            <a:avLst/>
          </a:prstGeom>
          <a:noFill/>
          <a:ln/>
        </p:spPr>
        <p:txBody>
          <a:bodyPr wrap="square" lIns="0" tIns="0" rIns="0" bIns="0" rtlCol="0" anchor="ctr"/>
          <a:lstStyle/>
          <a:p>
            <a:pPr indent="0" marL="0">
              <a:buNone/>
            </a:pPr>
            <a:r>
              <a:rPr lang="en-US" sz="1050" b="1" dirty="0">
                <a:solidFill>
                  <a:srgbClr val="1A1A1A"/>
                </a:solidFill>
                <a:latin typeface="맑은 고딕" pitchFamily="34" charset="0"/>
                <a:ea typeface="맑은 고딕" pitchFamily="34" charset="-122"/>
                <a:cs typeface="맑은 고딕" pitchFamily="34" charset="-120"/>
              </a:rPr>
              <a:t>3면 + 바닥 프로젝션 · 8채널 사운드</a:t>
            </a:r>
            <a:endParaRPr lang="en-US" sz="1050" dirty="0"/>
          </a:p>
        </p:txBody>
      </p:sp>
      <p:sp>
        <p:nvSpPr>
          <p:cNvPr id="8" name="Text 6"/>
          <p:cNvSpPr/>
          <p:nvPr/>
        </p:nvSpPr>
        <p:spPr>
          <a:xfrm>
            <a:off x="548640" y="2688336"/>
            <a:ext cx="3493008" cy="1051560"/>
          </a:xfrm>
          <a:prstGeom prst="rect">
            <a:avLst/>
          </a:prstGeom>
          <a:noFill/>
          <a:ln/>
        </p:spPr>
        <p:txBody>
          <a:bodyPr wrap="square" lIns="0" tIns="0" rIns="0" bIns="0" rtlCol="0" anchor="t"/>
          <a:lstStyle/>
          <a:p>
            <a:pPr indent="0" marL="0">
              <a:lnSpc>
                <a:spcPts val="1600"/>
              </a:lnSpc>
              <a:buNone/>
            </a:pPr>
            <a:r>
              <a:rPr lang="en-US" sz="1000" dirty="0">
                <a:solidFill>
                  <a:srgbClr val="4A453F"/>
                </a:solidFill>
                <a:latin typeface="맑은 고딕" pitchFamily="34" charset="0"/>
                <a:ea typeface="맑은 고딕" pitchFamily="34" charset="-122"/>
                <a:cs typeface="맑은 고딕" pitchFamily="34" charset="-120"/>
              </a:rPr>
              <a:t>· 중휘도 단초점 프로젝터 4대(3면+바닥)</a:t>
            </a:r>
            <a:endParaRPr lang="en-US" sz="1000" dirty="0"/>
          </a:p>
          <a:p>
            <a:pPr indent="0" marL="0">
              <a:lnSpc>
                <a:spcPts val="1600"/>
              </a:lnSpc>
              <a:buNone/>
            </a:pPr>
            <a:r>
              <a:rPr lang="en-US" sz="1000" dirty="0">
                <a:solidFill>
                  <a:srgbClr val="4A453F"/>
                </a:solidFill>
                <a:latin typeface="맑은 고딕" pitchFamily="34" charset="0"/>
                <a:ea typeface="맑은 고딕" pitchFamily="34" charset="-122"/>
                <a:cs typeface="맑은 고딕" pitchFamily="34" charset="-120"/>
              </a:rPr>
              <a:t>· 단일 서버 기반 통합제어 · 미디어 서버 1식</a:t>
            </a:r>
            <a:endParaRPr lang="en-US" sz="1000" dirty="0"/>
          </a:p>
          <a:p>
            <a:pPr indent="0" marL="0">
              <a:lnSpc>
                <a:spcPts val="1600"/>
              </a:lnSpc>
              <a:buNone/>
            </a:pPr>
            <a:r>
              <a:rPr lang="en-US" sz="1000" dirty="0">
                <a:solidFill>
                  <a:srgbClr val="4A453F"/>
                </a:solidFill>
                <a:latin typeface="맑은 고딕" pitchFamily="34" charset="0"/>
                <a:ea typeface="맑은 고딕" pitchFamily="34" charset="-122"/>
                <a:cs typeface="맑은 고딕" pitchFamily="34" charset="-120"/>
              </a:rPr>
              <a:t>· 콘텐츠 러닝타임 9분 루프 · 자동 스케줄링</a:t>
            </a:r>
            <a:endParaRPr lang="en-US" sz="1000" dirty="0"/>
          </a:p>
          <a:p>
            <a:pPr indent="0" marL="0">
              <a:lnSpc>
                <a:spcPts val="1600"/>
              </a:lnSpc>
              <a:buNone/>
            </a:pPr>
            <a:r>
              <a:rPr lang="en-US" sz="1000" dirty="0">
                <a:solidFill>
                  <a:srgbClr val="4A453F"/>
                </a:solidFill>
                <a:latin typeface="맑은 고딕" pitchFamily="34" charset="0"/>
                <a:ea typeface="맑은 고딕" pitchFamily="34" charset="-122"/>
                <a:cs typeface="맑은 고딕" pitchFamily="34" charset="-120"/>
              </a:rPr>
              <a:t>· 도면·항공사진·상권도 레이어 합성 3D 시뮬레이션 선행</a:t>
            </a:r>
            <a:endParaRPr lang="en-US" sz="1000" dirty="0"/>
          </a:p>
          <a:p>
            <a:pPr indent="0" marL="0">
              <a:lnSpc>
                <a:spcPts val="1600"/>
              </a:lnSpc>
              <a:buNone/>
            </a:pPr>
            <a:r>
              <a:rPr lang="en-US" sz="1000" dirty="0">
                <a:solidFill>
                  <a:srgbClr val="4A453F"/>
                </a:solidFill>
                <a:latin typeface="맑은 고딕" pitchFamily="34" charset="0"/>
                <a:ea typeface="맑은 고딕" pitchFamily="34" charset="-122"/>
                <a:cs typeface="맑은 고딕" pitchFamily="34" charset="-120"/>
              </a:rPr>
              <a:t>· 마루 보호를 위한 무타공 시공 · 바닥 투사면 보양</a:t>
            </a:r>
            <a:endParaRPr lang="en-US" sz="1000" dirty="0"/>
          </a:p>
        </p:txBody>
      </p:sp>
      <p:sp>
        <p:nvSpPr>
          <p:cNvPr id="9" name="Shape 7"/>
          <p:cNvSpPr/>
          <p:nvPr/>
        </p:nvSpPr>
        <p:spPr>
          <a:xfrm>
            <a:off x="4288536" y="1783080"/>
            <a:ext cx="3493008" cy="475488"/>
          </a:xfrm>
          <a:prstGeom prst="rect">
            <a:avLst/>
          </a:prstGeom>
          <a:solidFill>
            <a:srgbClr val="2F4858"/>
          </a:solidFill>
          <a:ln/>
        </p:spPr>
      </p:sp>
      <p:sp>
        <p:nvSpPr>
          <p:cNvPr id="10" name="Text 8"/>
          <p:cNvSpPr/>
          <p:nvPr/>
        </p:nvSpPr>
        <p:spPr>
          <a:xfrm>
            <a:off x="4471416" y="1783080"/>
            <a:ext cx="3108960" cy="475488"/>
          </a:xfrm>
          <a:prstGeom prst="rect">
            <a:avLst/>
          </a:prstGeom>
          <a:noFill/>
          <a:ln/>
        </p:spPr>
        <p:txBody>
          <a:bodyPr wrap="square" lIns="0" tIns="0" rIns="0" bIns="0" rtlCol="0" anchor="ctr"/>
          <a:lstStyle/>
          <a:p>
            <a:pPr indent="0" marL="0">
              <a:buNone/>
            </a:pPr>
            <a:r>
              <a:rPr lang="en-US" sz="1200" b="1" dirty="0">
                <a:solidFill>
                  <a:srgbClr val="FFFFFF"/>
                </a:solidFill>
                <a:latin typeface="맑은 고딕" pitchFamily="34" charset="0"/>
                <a:ea typeface="맑은 고딕" pitchFamily="34" charset="-122"/>
                <a:cs typeface="맑은 고딕" pitchFamily="34" charset="-120"/>
              </a:rPr>
              <a:t>①③실 사운드·영상</a:t>
            </a:r>
            <a:endParaRPr lang="en-US" sz="1200" dirty="0"/>
          </a:p>
        </p:txBody>
      </p:sp>
      <p:sp>
        <p:nvSpPr>
          <p:cNvPr id="11" name="Text 9"/>
          <p:cNvSpPr/>
          <p:nvPr/>
        </p:nvSpPr>
        <p:spPr>
          <a:xfrm>
            <a:off x="4288536" y="2377440"/>
            <a:ext cx="3493008" cy="274320"/>
          </a:xfrm>
          <a:prstGeom prst="rect">
            <a:avLst/>
          </a:prstGeom>
          <a:noFill/>
          <a:ln/>
        </p:spPr>
        <p:txBody>
          <a:bodyPr wrap="square" lIns="0" tIns="0" rIns="0" bIns="0" rtlCol="0" anchor="ctr"/>
          <a:lstStyle/>
          <a:p>
            <a:pPr indent="0" marL="0">
              <a:buNone/>
            </a:pPr>
            <a:r>
              <a:rPr lang="en-US" sz="1050" b="1" dirty="0">
                <a:solidFill>
                  <a:srgbClr val="1A1A1A"/>
                </a:solidFill>
                <a:latin typeface="맑은 고딕" pitchFamily="34" charset="0"/>
                <a:ea typeface="맑은 고딕" pitchFamily="34" charset="-122"/>
                <a:cs typeface="맑은 고딕" pitchFamily="34" charset="-120"/>
              </a:rPr>
              <a:t>저휘도 · 저열 · 무음 구동</a:t>
            </a:r>
            <a:endParaRPr lang="en-US" sz="1050" dirty="0"/>
          </a:p>
        </p:txBody>
      </p:sp>
      <p:sp>
        <p:nvSpPr>
          <p:cNvPr id="12" name="Text 10"/>
          <p:cNvSpPr/>
          <p:nvPr/>
        </p:nvSpPr>
        <p:spPr>
          <a:xfrm>
            <a:off x="4288536" y="2688336"/>
            <a:ext cx="3493008" cy="1051560"/>
          </a:xfrm>
          <a:prstGeom prst="rect">
            <a:avLst/>
          </a:prstGeom>
          <a:noFill/>
          <a:ln/>
        </p:spPr>
        <p:txBody>
          <a:bodyPr wrap="square" lIns="0" tIns="0" rIns="0" bIns="0" rtlCol="0" anchor="t"/>
          <a:lstStyle/>
          <a:p>
            <a:pPr indent="0" marL="0">
              <a:lnSpc>
                <a:spcPts val="1600"/>
              </a:lnSpc>
              <a:buNone/>
            </a:pPr>
            <a:r>
              <a:rPr lang="en-US" sz="1000" dirty="0">
                <a:solidFill>
                  <a:srgbClr val="4A453F"/>
                </a:solidFill>
                <a:latin typeface="맑은 고딕" pitchFamily="34" charset="0"/>
                <a:ea typeface="맑은 고딕" pitchFamily="34" charset="-122"/>
                <a:cs typeface="맑은 고딕" pitchFamily="34" charset="-120"/>
              </a:rPr>
              <a:t>· 하이드로폰 현장 수음 → 8채널 공간 배치</a:t>
            </a:r>
            <a:endParaRPr lang="en-US" sz="1000" dirty="0"/>
          </a:p>
          <a:p>
            <a:pPr indent="0" marL="0">
              <a:lnSpc>
                <a:spcPts val="1600"/>
              </a:lnSpc>
              <a:buNone/>
            </a:pPr>
            <a:r>
              <a:rPr lang="en-US" sz="1000" dirty="0">
                <a:solidFill>
                  <a:srgbClr val="4A453F"/>
                </a:solidFill>
                <a:latin typeface="맑은 고딕" pitchFamily="34" charset="0"/>
                <a:ea typeface="맑은 고딕" pitchFamily="34" charset="-122"/>
                <a:cs typeface="맑은 고딕" pitchFamily="34" charset="-120"/>
              </a:rPr>
              <a:t>· 욕조 수면 투사용 초단초점 1대(방수 트레이)</a:t>
            </a:r>
            <a:endParaRPr lang="en-US" sz="1000" dirty="0"/>
          </a:p>
          <a:p>
            <a:pPr indent="0" marL="0">
              <a:lnSpc>
                <a:spcPts val="1600"/>
              </a:lnSpc>
              <a:buNone/>
            </a:pPr>
            <a:r>
              <a:rPr lang="en-US" sz="1000" dirty="0">
                <a:solidFill>
                  <a:srgbClr val="4A453F"/>
                </a:solidFill>
                <a:latin typeface="맑은 고딕" pitchFamily="34" charset="0"/>
                <a:ea typeface="맑은 고딕" pitchFamily="34" charset="-122"/>
                <a:cs typeface="맑은 고딕" pitchFamily="34" charset="-120"/>
              </a:rPr>
              <a:t>· 야간 볼륨 자동 감쇄(주거 인접 대응)</a:t>
            </a:r>
            <a:endParaRPr lang="en-US" sz="1000" dirty="0"/>
          </a:p>
          <a:p>
            <a:pPr indent="0" marL="0">
              <a:lnSpc>
                <a:spcPts val="1600"/>
              </a:lnSpc>
              <a:buNone/>
            </a:pPr>
            <a:r>
              <a:rPr lang="en-US" sz="1000" dirty="0">
                <a:solidFill>
                  <a:srgbClr val="4A453F"/>
                </a:solidFill>
                <a:latin typeface="맑은 고딕" pitchFamily="34" charset="0"/>
                <a:ea typeface="맑은 고딕" pitchFamily="34" charset="-122"/>
                <a:cs typeface="맑은 고딕" pitchFamily="34" charset="-120"/>
              </a:rPr>
              <a:t>· 방별 음향 간섭 차단(흡음 커튼·지향성 스피커)</a:t>
            </a:r>
            <a:endParaRPr lang="en-US" sz="1000" dirty="0"/>
          </a:p>
          <a:p>
            <a:pPr indent="0" marL="0">
              <a:lnSpc>
                <a:spcPts val="1600"/>
              </a:lnSpc>
              <a:buNone/>
            </a:pPr>
            <a:r>
              <a:rPr lang="en-US" sz="1000" dirty="0">
                <a:solidFill>
                  <a:srgbClr val="4A453F"/>
                </a:solidFill>
                <a:latin typeface="맑은 고딕" pitchFamily="34" charset="0"/>
                <a:ea typeface="맑은 고딕" pitchFamily="34" charset="-122"/>
                <a:cs typeface="맑은 고딕" pitchFamily="34" charset="-120"/>
              </a:rPr>
              <a:t>· 무선 동기화로 노출 배선 최소화</a:t>
            </a:r>
            <a:endParaRPr lang="en-US" sz="1000" dirty="0"/>
          </a:p>
        </p:txBody>
      </p:sp>
      <p:sp>
        <p:nvSpPr>
          <p:cNvPr id="13" name="Shape 11"/>
          <p:cNvSpPr/>
          <p:nvPr/>
        </p:nvSpPr>
        <p:spPr>
          <a:xfrm>
            <a:off x="8028432" y="1783080"/>
            <a:ext cx="3493008" cy="475488"/>
          </a:xfrm>
          <a:prstGeom prst="rect">
            <a:avLst/>
          </a:prstGeom>
          <a:solidFill>
            <a:srgbClr val="4A4A4A"/>
          </a:solidFill>
          <a:ln/>
        </p:spPr>
      </p:sp>
      <p:sp>
        <p:nvSpPr>
          <p:cNvPr id="14" name="Text 12"/>
          <p:cNvSpPr/>
          <p:nvPr/>
        </p:nvSpPr>
        <p:spPr>
          <a:xfrm>
            <a:off x="8211312" y="1783080"/>
            <a:ext cx="3108960" cy="475488"/>
          </a:xfrm>
          <a:prstGeom prst="rect">
            <a:avLst/>
          </a:prstGeom>
          <a:noFill/>
          <a:ln/>
        </p:spPr>
        <p:txBody>
          <a:bodyPr wrap="square" lIns="0" tIns="0" rIns="0" bIns="0" rtlCol="0" anchor="ctr"/>
          <a:lstStyle/>
          <a:p>
            <a:pPr indent="0" marL="0">
              <a:buNone/>
            </a:pPr>
            <a:r>
              <a:rPr lang="en-US" sz="1200" b="1" dirty="0">
                <a:solidFill>
                  <a:srgbClr val="FFFFFF"/>
                </a:solidFill>
                <a:latin typeface="맑은 고딕" pitchFamily="34" charset="0"/>
                <a:ea typeface="맑은 고딕" pitchFamily="34" charset="-122"/>
                <a:cs typeface="맑은 고딕" pitchFamily="34" charset="-120"/>
              </a:rPr>
              <a:t>협약 기술사 활용</a:t>
            </a:r>
            <a:endParaRPr lang="en-US" sz="1200" dirty="0"/>
          </a:p>
        </p:txBody>
      </p:sp>
      <p:sp>
        <p:nvSpPr>
          <p:cNvPr id="15" name="Text 13"/>
          <p:cNvSpPr/>
          <p:nvPr/>
        </p:nvSpPr>
        <p:spPr>
          <a:xfrm>
            <a:off x="8028432" y="2377440"/>
            <a:ext cx="3493008" cy="274320"/>
          </a:xfrm>
          <a:prstGeom prst="rect">
            <a:avLst/>
          </a:prstGeom>
          <a:noFill/>
          <a:ln/>
        </p:spPr>
        <p:txBody>
          <a:bodyPr wrap="square" lIns="0" tIns="0" rIns="0" bIns="0" rtlCol="0" anchor="ctr"/>
          <a:lstStyle/>
          <a:p>
            <a:pPr indent="0" marL="0">
              <a:buNone/>
            </a:pPr>
            <a:r>
              <a:rPr lang="en-US" sz="1050" b="1" dirty="0">
                <a:solidFill>
                  <a:srgbClr val="1A1A1A"/>
                </a:solidFill>
                <a:latin typeface="맑은 고딕" pitchFamily="34" charset="0"/>
                <a:ea typeface="맑은 고딕" pitchFamily="34" charset="-122"/>
                <a:cs typeface="맑은 고딕" pitchFamily="34" charset="-120"/>
              </a:rPr>
              <a:t>설계–시뮬레이션–설치–유지보수 일원화</a:t>
            </a:r>
            <a:endParaRPr lang="en-US" sz="1050" dirty="0"/>
          </a:p>
        </p:txBody>
      </p:sp>
      <p:sp>
        <p:nvSpPr>
          <p:cNvPr id="16" name="Text 14"/>
          <p:cNvSpPr/>
          <p:nvPr/>
        </p:nvSpPr>
        <p:spPr>
          <a:xfrm>
            <a:off x="8028432" y="2688336"/>
            <a:ext cx="3493008" cy="1051560"/>
          </a:xfrm>
          <a:prstGeom prst="rect">
            <a:avLst/>
          </a:prstGeom>
          <a:noFill/>
          <a:ln/>
        </p:spPr>
        <p:txBody>
          <a:bodyPr wrap="square" lIns="0" tIns="0" rIns="0" bIns="0" rtlCol="0" anchor="t"/>
          <a:lstStyle/>
          <a:p>
            <a:pPr indent="0" marL="0">
              <a:lnSpc>
                <a:spcPts val="1600"/>
              </a:lnSpc>
              <a:buNone/>
            </a:pPr>
            <a:r>
              <a:rPr lang="en-US" sz="1000" dirty="0">
                <a:solidFill>
                  <a:srgbClr val="4A453F"/>
                </a:solidFill>
                <a:latin typeface="맑은 고딕" pitchFamily="34" charset="0"/>
                <a:ea typeface="맑은 고딕" pitchFamily="34" charset="-122"/>
                <a:cs typeface="맑은 고딕" pitchFamily="34" charset="-120"/>
              </a:rPr>
              <a:t>· 210플레이트: 미디어파사드 원스톱 시공</a:t>
            </a:r>
            <a:endParaRPr lang="en-US" sz="1000" dirty="0"/>
          </a:p>
          <a:p>
            <a:pPr indent="0" marL="0">
              <a:lnSpc>
                <a:spcPts val="1600"/>
              </a:lnSpc>
              <a:buNone/>
            </a:pPr>
            <a:r>
              <a:rPr lang="en-US" sz="1000" dirty="0">
                <a:solidFill>
                  <a:srgbClr val="4A453F"/>
                </a:solidFill>
                <a:latin typeface="맑은 고딕" pitchFamily="34" charset="0"/>
                <a:ea typeface="맑은 고딕" pitchFamily="34" charset="-122"/>
                <a:cs typeface="맑은 고딕" pitchFamily="34" charset="-120"/>
              </a:rPr>
              <a:t>· 블루스테이션: 단일 서버 최대 64대 제어, CMS·DMX</a:t>
            </a:r>
            <a:endParaRPr lang="en-US" sz="1000" dirty="0"/>
          </a:p>
          <a:p>
            <a:pPr indent="0" marL="0">
              <a:lnSpc>
                <a:spcPts val="1600"/>
              </a:lnSpc>
              <a:buNone/>
            </a:pPr>
            <a:r>
              <a:rPr lang="en-US" sz="1000" dirty="0">
                <a:solidFill>
                  <a:srgbClr val="4A453F"/>
                </a:solidFill>
                <a:latin typeface="맑은 고딕" pitchFamily="34" charset="0"/>
                <a:ea typeface="맑은 고딕" pitchFamily="34" charset="-122"/>
                <a:cs typeface="맑은 고딕" pitchFamily="34" charset="-120"/>
              </a:rPr>
              <a:t>· ETC OnlyView: 대형 연출용 라이선스(확장 시)</a:t>
            </a:r>
            <a:endParaRPr lang="en-US" sz="1000" dirty="0"/>
          </a:p>
          <a:p>
            <a:pPr indent="0" marL="0">
              <a:lnSpc>
                <a:spcPts val="1600"/>
              </a:lnSpc>
              <a:buNone/>
            </a:pPr>
            <a:r>
              <a:rPr lang="en-US" sz="1000" dirty="0">
                <a:solidFill>
                  <a:srgbClr val="4A453F"/>
                </a:solidFill>
                <a:latin typeface="맑은 고딕" pitchFamily="34" charset="0"/>
                <a:ea typeface="맑은 고딕" pitchFamily="34" charset="-122"/>
                <a:cs typeface="맑은 고딕" pitchFamily="34" charset="-120"/>
              </a:rPr>
              <a:t>· 설계–시공–운영 단일 계약으로 하자 책임 일원화</a:t>
            </a:r>
            <a:endParaRPr lang="en-US" sz="1000" dirty="0"/>
          </a:p>
          <a:p>
            <a:pPr indent="0" marL="0">
              <a:lnSpc>
                <a:spcPts val="1600"/>
              </a:lnSpc>
              <a:buNone/>
            </a:pPr>
            <a:r>
              <a:rPr lang="en-US" sz="1000" dirty="0">
                <a:solidFill>
                  <a:srgbClr val="4A453F"/>
                </a:solidFill>
                <a:latin typeface="맑은 고딕" pitchFamily="34" charset="0"/>
                <a:ea typeface="맑은 고딕" pitchFamily="34" charset="-122"/>
                <a:cs typeface="맑은 고딕" pitchFamily="34" charset="-120"/>
              </a:rPr>
              <a:t>· 순회 확장 시 동일 콘텐츠 재사용(추가 제작비 절감)</a:t>
            </a:r>
            <a:endParaRPr lang="en-US" sz="1000" dirty="0"/>
          </a:p>
        </p:txBody>
      </p:sp>
      <p:sp>
        <p:nvSpPr>
          <p:cNvPr id="17" name="Shape 15"/>
          <p:cNvSpPr/>
          <p:nvPr/>
        </p:nvSpPr>
        <p:spPr>
          <a:xfrm>
            <a:off x="548640" y="3913632"/>
            <a:ext cx="7059168" cy="2212848"/>
          </a:xfrm>
          <a:prstGeom prst="rect">
            <a:avLst/>
          </a:prstGeom>
          <a:solidFill>
            <a:srgbClr val="F3F1ED"/>
          </a:solidFill>
          <a:ln/>
        </p:spPr>
      </p:sp>
      <p:sp>
        <p:nvSpPr>
          <p:cNvPr id="18" name="Text 16"/>
          <p:cNvSpPr/>
          <p:nvPr/>
        </p:nvSpPr>
        <p:spPr>
          <a:xfrm>
            <a:off x="822960" y="4096512"/>
            <a:ext cx="6492240" cy="274320"/>
          </a:xfrm>
          <a:prstGeom prst="rect">
            <a:avLst/>
          </a:prstGeom>
          <a:noFill/>
          <a:ln/>
        </p:spPr>
        <p:txBody>
          <a:bodyPr wrap="square" lIns="0" tIns="0" rIns="0" bIns="0" rtlCol="0" anchor="ctr"/>
          <a:lstStyle/>
          <a:p>
            <a:pPr indent="0" marL="0">
              <a:buNone/>
            </a:pPr>
            <a:r>
              <a:rPr lang="en-US" sz="1200" b="1" dirty="0">
                <a:solidFill>
                  <a:srgbClr val="1A1A1A"/>
                </a:solidFill>
                <a:latin typeface="맑은 고딕" pitchFamily="34" charset="0"/>
                <a:ea typeface="맑은 고딕" pitchFamily="34" charset="-122"/>
                <a:cs typeface="맑은 고딕" pitchFamily="34" charset="-120"/>
              </a:rPr>
              <a:t>노후 가옥 대응 — 기술 사양을 키우지 않고, 조건에 맞춘다</a:t>
            </a:r>
            <a:endParaRPr lang="en-US" sz="1200" dirty="0"/>
          </a:p>
        </p:txBody>
      </p:sp>
      <p:sp>
        <p:nvSpPr>
          <p:cNvPr id="19" name="Text 17"/>
          <p:cNvSpPr/>
          <p:nvPr/>
        </p:nvSpPr>
        <p:spPr>
          <a:xfrm>
            <a:off x="822960" y="4462272"/>
            <a:ext cx="548640" cy="256032"/>
          </a:xfrm>
          <a:prstGeom prst="rect">
            <a:avLst/>
          </a:prstGeom>
          <a:noFill/>
          <a:ln/>
        </p:spPr>
        <p:txBody>
          <a:bodyPr wrap="square" lIns="0" tIns="0" rIns="0" bIns="0" rtlCol="0" anchor="ctr"/>
          <a:lstStyle/>
          <a:p>
            <a:pPr indent="0" marL="0">
              <a:buNone/>
            </a:pPr>
            <a:r>
              <a:rPr lang="en-US" sz="1000" b="1" dirty="0">
                <a:solidFill>
                  <a:srgbClr val="2F4858"/>
                </a:solidFill>
                <a:latin typeface="맑은 고딕" pitchFamily="34" charset="0"/>
                <a:ea typeface="맑은 고딕" pitchFamily="34" charset="-122"/>
                <a:cs typeface="맑은 고딕" pitchFamily="34" charset="-120"/>
              </a:rPr>
              <a:t>전기</a:t>
            </a:r>
            <a:endParaRPr lang="en-US" sz="1000" dirty="0"/>
          </a:p>
        </p:txBody>
      </p:sp>
      <p:sp>
        <p:nvSpPr>
          <p:cNvPr id="20" name="Text 18"/>
          <p:cNvSpPr/>
          <p:nvPr/>
        </p:nvSpPr>
        <p:spPr>
          <a:xfrm>
            <a:off x="1371600" y="4462272"/>
            <a:ext cx="2651760" cy="502920"/>
          </a:xfrm>
          <a:prstGeom prst="rect">
            <a:avLst/>
          </a:prstGeom>
          <a:noFill/>
          <a:ln/>
        </p:spPr>
        <p:txBody>
          <a:bodyPr wrap="square" lIns="0" tIns="0" rIns="0" bIns="0" rtlCol="0" anchor="ctr"/>
          <a:lstStyle/>
          <a:p>
            <a:pPr indent="0" marL="0">
              <a:lnSpc>
                <a:spcPts val="1300"/>
              </a:lnSpc>
              <a:buNone/>
            </a:pPr>
            <a:r>
              <a:rPr lang="en-US" sz="900" dirty="0">
                <a:solidFill>
                  <a:srgbClr val="4A453F"/>
                </a:solidFill>
                <a:latin typeface="맑은 고딕" pitchFamily="34" charset="0"/>
                <a:ea typeface="맑은 고딕" pitchFamily="34" charset="-122"/>
                <a:cs typeface="맑은 고딕" pitchFamily="34" charset="-120"/>
              </a:rPr>
              <a:t>설치 2개월 전 용량 계측 → 임시 증설 및 전용 분전반 분리, 회로별 누전차단기</a:t>
            </a:r>
            <a:endParaRPr lang="en-US" sz="900" dirty="0"/>
          </a:p>
        </p:txBody>
      </p:sp>
      <p:sp>
        <p:nvSpPr>
          <p:cNvPr id="21" name="Text 19"/>
          <p:cNvSpPr/>
          <p:nvPr/>
        </p:nvSpPr>
        <p:spPr>
          <a:xfrm>
            <a:off x="4343400" y="4462272"/>
            <a:ext cx="548640" cy="256032"/>
          </a:xfrm>
          <a:prstGeom prst="rect">
            <a:avLst/>
          </a:prstGeom>
          <a:noFill/>
          <a:ln/>
        </p:spPr>
        <p:txBody>
          <a:bodyPr wrap="square" lIns="0" tIns="0" rIns="0" bIns="0" rtlCol="0" anchor="ctr"/>
          <a:lstStyle/>
          <a:p>
            <a:pPr indent="0" marL="0">
              <a:buNone/>
            </a:pPr>
            <a:r>
              <a:rPr lang="en-US" sz="1000" b="1" dirty="0">
                <a:solidFill>
                  <a:srgbClr val="2F4858"/>
                </a:solidFill>
                <a:latin typeface="맑은 고딕" pitchFamily="34" charset="0"/>
                <a:ea typeface="맑은 고딕" pitchFamily="34" charset="-122"/>
                <a:cs typeface="맑은 고딕" pitchFamily="34" charset="-120"/>
              </a:rPr>
              <a:t>하중</a:t>
            </a:r>
            <a:endParaRPr lang="en-US" sz="1000" dirty="0"/>
          </a:p>
        </p:txBody>
      </p:sp>
      <p:sp>
        <p:nvSpPr>
          <p:cNvPr id="22" name="Text 20"/>
          <p:cNvSpPr/>
          <p:nvPr/>
        </p:nvSpPr>
        <p:spPr>
          <a:xfrm>
            <a:off x="4892040" y="4462272"/>
            <a:ext cx="2651760" cy="502920"/>
          </a:xfrm>
          <a:prstGeom prst="rect">
            <a:avLst/>
          </a:prstGeom>
          <a:noFill/>
          <a:ln/>
        </p:spPr>
        <p:txBody>
          <a:bodyPr wrap="square" lIns="0" tIns="0" rIns="0" bIns="0" rtlCol="0" anchor="ctr"/>
          <a:lstStyle/>
          <a:p>
            <a:pPr indent="0" marL="0">
              <a:lnSpc>
                <a:spcPts val="1300"/>
              </a:lnSpc>
              <a:buNone/>
            </a:pPr>
            <a:r>
              <a:rPr lang="en-US" sz="900" dirty="0">
                <a:solidFill>
                  <a:srgbClr val="4A453F"/>
                </a:solidFill>
                <a:latin typeface="맑은 고딕" pitchFamily="34" charset="0"/>
                <a:ea typeface="맑은 고딕" pitchFamily="34" charset="-122"/>
                <a:cs typeface="맑은 고딕" pitchFamily="34" charset="-120"/>
              </a:rPr>
              <a:t>장비 바닥 거치 원칙(천장 행잉 금지), 하중 집중 구간 분산 받침, 구조 안전 확인서 확보</a:t>
            </a:r>
            <a:endParaRPr lang="en-US" sz="900" dirty="0"/>
          </a:p>
        </p:txBody>
      </p:sp>
      <p:sp>
        <p:nvSpPr>
          <p:cNvPr id="23" name="Text 21"/>
          <p:cNvSpPr/>
          <p:nvPr/>
        </p:nvSpPr>
        <p:spPr>
          <a:xfrm>
            <a:off x="822960" y="5010912"/>
            <a:ext cx="548640" cy="256032"/>
          </a:xfrm>
          <a:prstGeom prst="rect">
            <a:avLst/>
          </a:prstGeom>
          <a:noFill/>
          <a:ln/>
        </p:spPr>
        <p:txBody>
          <a:bodyPr wrap="square" lIns="0" tIns="0" rIns="0" bIns="0" rtlCol="0" anchor="ctr"/>
          <a:lstStyle/>
          <a:p>
            <a:pPr indent="0" marL="0">
              <a:buNone/>
            </a:pPr>
            <a:r>
              <a:rPr lang="en-US" sz="1000" b="1" dirty="0">
                <a:solidFill>
                  <a:srgbClr val="2F4858"/>
                </a:solidFill>
                <a:latin typeface="맑은 고딕" pitchFamily="34" charset="0"/>
                <a:ea typeface="맑은 고딕" pitchFamily="34" charset="-122"/>
                <a:cs typeface="맑은 고딕" pitchFamily="34" charset="-120"/>
              </a:rPr>
              <a:t>열·화재</a:t>
            </a:r>
            <a:endParaRPr lang="en-US" sz="1000" dirty="0"/>
          </a:p>
        </p:txBody>
      </p:sp>
      <p:sp>
        <p:nvSpPr>
          <p:cNvPr id="24" name="Text 22"/>
          <p:cNvSpPr/>
          <p:nvPr/>
        </p:nvSpPr>
        <p:spPr>
          <a:xfrm>
            <a:off x="1371600" y="5010912"/>
            <a:ext cx="2651760" cy="502920"/>
          </a:xfrm>
          <a:prstGeom prst="rect">
            <a:avLst/>
          </a:prstGeom>
          <a:noFill/>
          <a:ln/>
        </p:spPr>
        <p:txBody>
          <a:bodyPr wrap="square" lIns="0" tIns="0" rIns="0" bIns="0" rtlCol="0" anchor="ctr"/>
          <a:lstStyle/>
          <a:p>
            <a:pPr indent="0" marL="0">
              <a:lnSpc>
                <a:spcPts val="1300"/>
              </a:lnSpc>
              <a:buNone/>
            </a:pPr>
            <a:r>
              <a:rPr lang="en-US" sz="900" dirty="0">
                <a:solidFill>
                  <a:srgbClr val="4A453F"/>
                </a:solidFill>
                <a:latin typeface="맑은 고딕" pitchFamily="34" charset="0"/>
                <a:ea typeface="맑은 고딕" pitchFamily="34" charset="-122"/>
                <a:cs typeface="맑은 고딕" pitchFamily="34" charset="-120"/>
              </a:rPr>
              <a:t>저열 장비 우선, 목재 마감부 60cm 이격, 감지기·소화기 증설, 일일 점검 체크리스트</a:t>
            </a:r>
            <a:endParaRPr lang="en-US" sz="900" dirty="0"/>
          </a:p>
        </p:txBody>
      </p:sp>
      <p:sp>
        <p:nvSpPr>
          <p:cNvPr id="25" name="Text 23"/>
          <p:cNvSpPr/>
          <p:nvPr/>
        </p:nvSpPr>
        <p:spPr>
          <a:xfrm>
            <a:off x="4343400" y="5010912"/>
            <a:ext cx="548640" cy="256032"/>
          </a:xfrm>
          <a:prstGeom prst="rect">
            <a:avLst/>
          </a:prstGeom>
          <a:noFill/>
          <a:ln/>
        </p:spPr>
        <p:txBody>
          <a:bodyPr wrap="square" lIns="0" tIns="0" rIns="0" bIns="0" rtlCol="0" anchor="ctr"/>
          <a:lstStyle/>
          <a:p>
            <a:pPr indent="0" marL="0">
              <a:buNone/>
            </a:pPr>
            <a:r>
              <a:rPr lang="en-US" sz="1000" b="1" dirty="0">
                <a:solidFill>
                  <a:srgbClr val="2F4858"/>
                </a:solidFill>
                <a:latin typeface="맑은 고딕" pitchFamily="34" charset="0"/>
                <a:ea typeface="맑은 고딕" pitchFamily="34" charset="-122"/>
                <a:cs typeface="맑은 고딕" pitchFamily="34" charset="-120"/>
              </a:rPr>
              <a:t>습도</a:t>
            </a:r>
            <a:endParaRPr lang="en-US" sz="1000" dirty="0"/>
          </a:p>
        </p:txBody>
      </p:sp>
      <p:sp>
        <p:nvSpPr>
          <p:cNvPr id="26" name="Text 24"/>
          <p:cNvSpPr/>
          <p:nvPr/>
        </p:nvSpPr>
        <p:spPr>
          <a:xfrm>
            <a:off x="4892040" y="5010912"/>
            <a:ext cx="2651760" cy="502920"/>
          </a:xfrm>
          <a:prstGeom prst="rect">
            <a:avLst/>
          </a:prstGeom>
          <a:noFill/>
          <a:ln/>
        </p:spPr>
        <p:txBody>
          <a:bodyPr wrap="square" lIns="0" tIns="0" rIns="0" bIns="0" rtlCol="0" anchor="ctr"/>
          <a:lstStyle/>
          <a:p>
            <a:pPr indent="0" marL="0">
              <a:lnSpc>
                <a:spcPts val="1300"/>
              </a:lnSpc>
              <a:buNone/>
            </a:pPr>
            <a:r>
              <a:rPr lang="en-US" sz="900" dirty="0">
                <a:solidFill>
                  <a:srgbClr val="4A453F"/>
                </a:solidFill>
                <a:latin typeface="맑은 고딕" pitchFamily="34" charset="0"/>
                <a:ea typeface="맑은 고딕" pitchFamily="34" charset="-122"/>
                <a:cs typeface="맑은 고딕" pitchFamily="34" charset="-120"/>
              </a:rPr>
              <a:t>8실 온습도 로거 상시 계측, 제습기 2대, 주 1회 작품 상태조사서 작성</a:t>
            </a:r>
            <a:endParaRPr lang="en-US" sz="900" dirty="0"/>
          </a:p>
        </p:txBody>
      </p:sp>
      <p:sp>
        <p:nvSpPr>
          <p:cNvPr id="27" name="Text 25"/>
          <p:cNvSpPr/>
          <p:nvPr/>
        </p:nvSpPr>
        <p:spPr>
          <a:xfrm>
            <a:off x="822960" y="5559552"/>
            <a:ext cx="548640" cy="256032"/>
          </a:xfrm>
          <a:prstGeom prst="rect">
            <a:avLst/>
          </a:prstGeom>
          <a:noFill/>
          <a:ln/>
        </p:spPr>
        <p:txBody>
          <a:bodyPr wrap="square" lIns="0" tIns="0" rIns="0" bIns="0" rtlCol="0" anchor="ctr"/>
          <a:lstStyle/>
          <a:p>
            <a:pPr indent="0" marL="0">
              <a:buNone/>
            </a:pPr>
            <a:r>
              <a:rPr lang="en-US" sz="1000" b="1" dirty="0">
                <a:solidFill>
                  <a:srgbClr val="2F4858"/>
                </a:solidFill>
                <a:latin typeface="맑은 고딕" pitchFamily="34" charset="0"/>
                <a:ea typeface="맑은 고딕" pitchFamily="34" charset="-122"/>
                <a:cs typeface="맑은 고딕" pitchFamily="34" charset="-120"/>
              </a:rPr>
              <a:t>배선</a:t>
            </a:r>
            <a:endParaRPr lang="en-US" sz="1000" dirty="0"/>
          </a:p>
        </p:txBody>
      </p:sp>
      <p:sp>
        <p:nvSpPr>
          <p:cNvPr id="28" name="Text 26"/>
          <p:cNvSpPr/>
          <p:nvPr/>
        </p:nvSpPr>
        <p:spPr>
          <a:xfrm>
            <a:off x="1371600" y="5559552"/>
            <a:ext cx="2651760" cy="502920"/>
          </a:xfrm>
          <a:prstGeom prst="rect">
            <a:avLst/>
          </a:prstGeom>
          <a:noFill/>
          <a:ln/>
        </p:spPr>
        <p:txBody>
          <a:bodyPr wrap="square" lIns="0" tIns="0" rIns="0" bIns="0" rtlCol="0" anchor="ctr"/>
          <a:lstStyle/>
          <a:p>
            <a:pPr indent="0" marL="0">
              <a:lnSpc>
                <a:spcPts val="1300"/>
              </a:lnSpc>
              <a:buNone/>
            </a:pPr>
            <a:r>
              <a:rPr lang="en-US" sz="900" dirty="0">
                <a:solidFill>
                  <a:srgbClr val="4A453F"/>
                </a:solidFill>
                <a:latin typeface="맑은 고딕" pitchFamily="34" charset="0"/>
                <a:ea typeface="맑은 고딕" pitchFamily="34" charset="-122"/>
                <a:cs typeface="맑은 고딕" pitchFamily="34" charset="-120"/>
              </a:rPr>
              <a:t>몰딩·양생 후 노출 최소화, 관람 동선 횡단 구간 무선화 또는 바닥 매트 처리</a:t>
            </a:r>
            <a:endParaRPr lang="en-US" sz="900" dirty="0"/>
          </a:p>
        </p:txBody>
      </p:sp>
      <p:sp>
        <p:nvSpPr>
          <p:cNvPr id="29" name="Text 27"/>
          <p:cNvSpPr/>
          <p:nvPr/>
        </p:nvSpPr>
        <p:spPr>
          <a:xfrm>
            <a:off x="4343400" y="5559552"/>
            <a:ext cx="548640" cy="256032"/>
          </a:xfrm>
          <a:prstGeom prst="rect">
            <a:avLst/>
          </a:prstGeom>
          <a:noFill/>
          <a:ln/>
        </p:spPr>
        <p:txBody>
          <a:bodyPr wrap="square" lIns="0" tIns="0" rIns="0" bIns="0" rtlCol="0" anchor="ctr"/>
          <a:lstStyle/>
          <a:p>
            <a:pPr indent="0" marL="0">
              <a:buNone/>
            </a:pPr>
            <a:r>
              <a:rPr lang="en-US" sz="1000" b="1" dirty="0">
                <a:solidFill>
                  <a:srgbClr val="2F4858"/>
                </a:solidFill>
                <a:latin typeface="맑은 고딕" pitchFamily="34" charset="0"/>
                <a:ea typeface="맑은 고딕" pitchFamily="34" charset="-122"/>
                <a:cs typeface="맑은 고딕" pitchFamily="34" charset="-120"/>
              </a:rPr>
              <a:t>예비</a:t>
            </a:r>
            <a:endParaRPr lang="en-US" sz="1000" dirty="0"/>
          </a:p>
        </p:txBody>
      </p:sp>
      <p:sp>
        <p:nvSpPr>
          <p:cNvPr id="30" name="Text 28"/>
          <p:cNvSpPr/>
          <p:nvPr/>
        </p:nvSpPr>
        <p:spPr>
          <a:xfrm>
            <a:off x="4892040" y="5559552"/>
            <a:ext cx="2651760" cy="502920"/>
          </a:xfrm>
          <a:prstGeom prst="rect">
            <a:avLst/>
          </a:prstGeom>
          <a:noFill/>
          <a:ln/>
        </p:spPr>
        <p:txBody>
          <a:bodyPr wrap="square" lIns="0" tIns="0" rIns="0" bIns="0" rtlCol="0" anchor="ctr"/>
          <a:lstStyle/>
          <a:p>
            <a:pPr indent="0" marL="0">
              <a:lnSpc>
                <a:spcPts val="1300"/>
              </a:lnSpc>
              <a:buNone/>
            </a:pPr>
            <a:r>
              <a:rPr lang="en-US" sz="900" dirty="0">
                <a:solidFill>
                  <a:srgbClr val="4A453F"/>
                </a:solidFill>
                <a:latin typeface="맑은 고딕" pitchFamily="34" charset="0"/>
                <a:ea typeface="맑은 고딕" pitchFamily="34" charset="-122"/>
                <a:cs typeface="맑은 고딕" pitchFamily="34" charset="-120"/>
              </a:rPr>
              <a:t>예비 프로젝터 1대·UPS 1식 상비, 장애 시 대체 상영 시나리오 사전 승인</a:t>
            </a:r>
            <a:endParaRPr lang="en-US" sz="900" dirty="0"/>
          </a:p>
        </p:txBody>
      </p:sp>
      <p:pic>
        <p:nvPicPr>
          <p:cNvPr id="31" name="Image 0" descr="/home/claude/aither/img/A22_0.jpeg">    </p:cNvPr>
          <p:cNvPicPr>
            <a:picLocks noChangeAspect="1"/>
          </p:cNvPicPr>
          <p:nvPr/>
        </p:nvPicPr>
        <p:blipFill>
          <a:blip r:embed="rId1"/>
          <a:srcRect l="0" r="0" t="0" b="0"/>
          <a:stretch/>
        </p:blipFill>
        <p:spPr>
          <a:xfrm>
            <a:off x="7863840" y="3913632"/>
            <a:ext cx="3749040" cy="1993392"/>
          </a:xfrm>
          <a:prstGeom prst="rect">
            <a:avLst/>
          </a:prstGeom>
        </p:spPr>
      </p:pic>
      <p:sp>
        <p:nvSpPr>
          <p:cNvPr id="32" name="Text 29"/>
          <p:cNvSpPr/>
          <p:nvPr/>
        </p:nvSpPr>
        <p:spPr>
          <a:xfrm>
            <a:off x="7863840" y="5952744"/>
            <a:ext cx="3749040" cy="219456"/>
          </a:xfrm>
          <a:prstGeom prst="rect">
            <a:avLst/>
          </a:prstGeom>
          <a:noFill/>
          <a:ln/>
        </p:spPr>
        <p:txBody>
          <a:bodyPr wrap="square" lIns="0" tIns="0" rIns="0" bIns="0" rtlCol="0" anchor="ctr"/>
          <a:lstStyle/>
          <a:p>
            <a:pPr indent="0" marL="0">
              <a:buNone/>
            </a:pPr>
            <a:r>
              <a:rPr lang="en-US" sz="850" dirty="0">
                <a:solidFill>
                  <a:srgbClr val="8A857E"/>
                </a:solidFill>
                <a:latin typeface="맑은 고딕" pitchFamily="34" charset="0"/>
                <a:ea typeface="맑은 고딕" pitchFamily="34" charset="-122"/>
                <a:cs typeface="맑은 고딕" pitchFamily="34" charset="-120"/>
              </a:rPr>
              <a:t>아이테르 미디어 전시 연출 사례 (아이테르 제공)</a:t>
            </a:r>
            <a:endParaRPr lang="en-US" sz="850" dirty="0"/>
          </a:p>
        </p:txBody>
      </p:sp>
      <p:sp>
        <p:nvSpPr>
          <p:cNvPr id="33" name="Text 30"/>
          <p:cNvSpPr/>
          <p:nvPr/>
        </p:nvSpPr>
        <p:spPr>
          <a:xfrm>
            <a:off x="548640" y="6419088"/>
            <a:ext cx="7315200" cy="274320"/>
          </a:xfrm>
          <a:prstGeom prst="rect">
            <a:avLst/>
          </a:prstGeom>
          <a:noFill/>
          <a:ln/>
        </p:spPr>
        <p:txBody>
          <a:bodyPr wrap="square" lIns="0" tIns="0" rIns="0" bIns="0" rtlCol="0" anchor="ctr"/>
          <a:lstStyle/>
          <a:p>
            <a:pPr algn="l" indent="0" marL="0">
              <a:buNone/>
            </a:pPr>
            <a:r>
              <a:rPr lang="en-US" sz="800" dirty="0">
                <a:solidFill>
                  <a:srgbClr val="8A857E"/>
                </a:solidFill>
                <a:latin typeface="맑은 고딕" pitchFamily="34" charset="0"/>
                <a:ea typeface="맑은 고딕" pitchFamily="34" charset="-122"/>
                <a:cs typeface="맑은 고딕" pitchFamily="34" charset="-120"/>
              </a:rPr>
              <a:t>아이테르 문화예술기획제안서   ·   덮인 물, 남은 올   ·   기획 추병곤</a:t>
            </a:r>
            <a:endParaRPr lang="en-US" sz="800" dirty="0"/>
          </a:p>
        </p:txBody>
      </p:sp>
      <p:sp>
        <p:nvSpPr>
          <p:cNvPr id="34" name="Text 31"/>
          <p:cNvSpPr/>
          <p:nvPr/>
        </p:nvSpPr>
        <p:spPr>
          <a:xfrm>
            <a:off x="10972800" y="6419088"/>
            <a:ext cx="640080" cy="274320"/>
          </a:xfrm>
          <a:prstGeom prst="rect">
            <a:avLst/>
          </a:prstGeom>
          <a:noFill/>
          <a:ln/>
        </p:spPr>
        <p:txBody>
          <a:bodyPr wrap="square" lIns="0" tIns="0" rIns="0" bIns="0" rtlCol="0" anchor="ctr"/>
          <a:lstStyle/>
          <a:p>
            <a:pPr algn="r" indent="0" marL="0">
              <a:buNone/>
            </a:pPr>
            <a:r>
              <a:rPr lang="en-US" sz="900" dirty="0">
                <a:solidFill>
                  <a:srgbClr val="8A857E"/>
                </a:solidFill>
                <a:latin typeface="Cambria" pitchFamily="34" charset="0"/>
                <a:ea typeface="Cambria" pitchFamily="34" charset="-122"/>
                <a:cs typeface="Cambria"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A1A1A"/>
        </a:solidFill>
      </p:bgPr>
    </p:bg>
    <p:spTree>
      <p:nvGrpSpPr>
        <p:cNvPr id="1" name=""/>
        <p:cNvGrpSpPr/>
        <p:nvPr/>
      </p:nvGrpSpPr>
      <p:grpSpPr>
        <a:xfrm>
          <a:off x="0" y="0"/>
          <a:ext cx="0" cy="0"/>
          <a:chOff x="0" y="0"/>
          <a:chExt cx="0" cy="0"/>
        </a:xfrm>
      </p:grpSpPr>
      <p:sp>
        <p:nvSpPr>
          <p:cNvPr id="2" name="Text 0"/>
          <p:cNvSpPr/>
          <p:nvPr/>
        </p:nvSpPr>
        <p:spPr>
          <a:xfrm>
            <a:off x="822960" y="2148840"/>
            <a:ext cx="1828800" cy="822960"/>
          </a:xfrm>
          <a:prstGeom prst="rect">
            <a:avLst/>
          </a:prstGeom>
          <a:noFill/>
          <a:ln/>
        </p:spPr>
        <p:txBody>
          <a:bodyPr wrap="square" lIns="0" tIns="0" rIns="0" bIns="0" rtlCol="0" anchor="ctr"/>
          <a:lstStyle/>
          <a:p>
            <a:pPr indent="0" marL="0">
              <a:buNone/>
            </a:pPr>
            <a:r>
              <a:rPr lang="en-US" sz="4600" dirty="0">
                <a:solidFill>
                  <a:srgbClr val="4A4640"/>
                </a:solidFill>
                <a:latin typeface="Cambria" pitchFamily="34" charset="0"/>
                <a:ea typeface="Cambria" pitchFamily="34" charset="-122"/>
                <a:cs typeface="Cambria" pitchFamily="34" charset="-120"/>
              </a:rPr>
              <a:t>Ⅳ</a:t>
            </a:r>
            <a:endParaRPr lang="en-US" sz="4600" dirty="0"/>
          </a:p>
        </p:txBody>
      </p:sp>
      <p:sp>
        <p:nvSpPr>
          <p:cNvPr id="3" name="Text 1"/>
          <p:cNvSpPr/>
          <p:nvPr/>
        </p:nvSpPr>
        <p:spPr>
          <a:xfrm>
            <a:off x="822960" y="2926080"/>
            <a:ext cx="8229600" cy="822960"/>
          </a:xfrm>
          <a:prstGeom prst="rect">
            <a:avLst/>
          </a:prstGeom>
          <a:noFill/>
          <a:ln/>
        </p:spPr>
        <p:txBody>
          <a:bodyPr wrap="square" lIns="0" tIns="0" rIns="0" bIns="0" rtlCol="0" anchor="ctr"/>
          <a:lstStyle/>
          <a:p>
            <a:pPr indent="0" marL="0">
              <a:buNone/>
            </a:pPr>
            <a:r>
              <a:rPr lang="en-US" sz="4000" b="1" dirty="0">
                <a:solidFill>
                  <a:srgbClr val="FFFFFF"/>
                </a:solidFill>
                <a:latin typeface="바탕" pitchFamily="34" charset="0"/>
                <a:ea typeface="바탕" pitchFamily="34" charset="-122"/>
                <a:cs typeface="바탕" pitchFamily="34" charset="-120"/>
              </a:rPr>
              <a:t>운영</a:t>
            </a:r>
            <a:endParaRPr lang="en-US" sz="4000" dirty="0"/>
          </a:p>
        </p:txBody>
      </p:sp>
      <p:sp>
        <p:nvSpPr>
          <p:cNvPr id="4" name="Text 2"/>
          <p:cNvSpPr/>
          <p:nvPr/>
        </p:nvSpPr>
        <p:spPr>
          <a:xfrm>
            <a:off x="868680" y="3794760"/>
            <a:ext cx="9601200" cy="365760"/>
          </a:xfrm>
          <a:prstGeom prst="rect">
            <a:avLst/>
          </a:prstGeom>
          <a:noFill/>
          <a:ln/>
        </p:spPr>
        <p:txBody>
          <a:bodyPr wrap="square" lIns="0" tIns="0" rIns="0" bIns="0" rtlCol="0" anchor="ctr"/>
          <a:lstStyle/>
          <a:p>
            <a:pPr indent="0" marL="0">
              <a:buNone/>
            </a:pPr>
            <a:r>
              <a:rPr lang="en-US" sz="1350" dirty="0">
                <a:solidFill>
                  <a:srgbClr val="A9A29A"/>
                </a:solidFill>
                <a:latin typeface="맑은 고딕" pitchFamily="34" charset="0"/>
                <a:ea typeface="맑은 고딕" pitchFamily="34" charset="-122"/>
                <a:cs typeface="맑은 고딕" pitchFamily="34" charset="-120"/>
              </a:rPr>
              <a:t>프로그램 · 홍보 · 프로세스 · 일정 · 재원 · 예산</a:t>
            </a:r>
            <a:endParaRPr lang="en-US" sz="1350" dirty="0"/>
          </a:p>
        </p:txBody>
      </p:sp>
      <p:pic>
        <p:nvPicPr>
          <p:cNvPr id="5" name="Image 0" descr="/home/claude/aither/img/A12_2.jpeg">    </p:cNvPr>
          <p:cNvPicPr>
            <a:picLocks noChangeAspect="1"/>
          </p:cNvPicPr>
          <p:nvPr/>
        </p:nvPicPr>
        <p:blipFill>
          <a:blip r:embed="rId1"/>
          <a:srcRect l="0" r="0" t="0" b="0"/>
          <a:stretch/>
        </p:blipFill>
        <p:spPr>
          <a:xfrm>
            <a:off x="6949440" y="0"/>
            <a:ext cx="5212080" cy="6858000"/>
          </a:xfrm>
          <a:prstGeom prst="rect">
            <a:avLst/>
          </a:prstGeom>
        </p:spPr>
      </p:pic>
      <p:sp>
        <p:nvSpPr>
          <p:cNvPr id="6" name="Text 3"/>
          <p:cNvSpPr/>
          <p:nvPr/>
        </p:nvSpPr>
        <p:spPr>
          <a:xfrm>
            <a:off x="868680" y="5989320"/>
            <a:ext cx="5486400" cy="256032"/>
          </a:xfrm>
          <a:prstGeom prst="rect">
            <a:avLst/>
          </a:prstGeom>
          <a:noFill/>
          <a:ln/>
        </p:spPr>
        <p:txBody>
          <a:bodyPr wrap="square" lIns="0" tIns="0" rIns="0" bIns="0" rtlCol="0" anchor="ctr"/>
          <a:lstStyle/>
          <a:p>
            <a:pPr indent="0" marL="0">
              <a:buNone/>
            </a:pPr>
            <a:r>
              <a:rPr lang="en-US" sz="850" dirty="0">
                <a:solidFill>
                  <a:srgbClr val="6E6A65"/>
                </a:solidFill>
                <a:latin typeface="맑은 고딕" pitchFamily="34" charset="0"/>
                <a:ea typeface="맑은 고딕" pitchFamily="34" charset="-122"/>
                <a:cs typeface="맑은 고딕" pitchFamily="34" charset="-120"/>
              </a:rPr>
              <a:t>사진 · 범일가옥에서 열린 작가와의 만남  ·  아이테르 제공</a:t>
            </a:r>
            <a:endParaRPr lang="en-US" sz="850" dirty="0"/>
          </a:p>
        </p:txBody>
      </p:sp>
      <p:sp>
        <p:nvSpPr>
          <p:cNvPr id="7" name="Shape 4"/>
          <p:cNvSpPr/>
          <p:nvPr/>
        </p:nvSpPr>
        <p:spPr>
          <a:xfrm>
            <a:off x="868680" y="4389120"/>
            <a:ext cx="749808" cy="749808"/>
          </a:xfrm>
          <a:prstGeom prst="ellipse">
            <a:avLst/>
          </a:prstGeom>
          <a:solidFill>
            <a:srgbClr val="2F4858"/>
          </a:solidFill>
          <a:ln/>
        </p:spPr>
      </p:sp>
      <p:sp>
        <p:nvSpPr>
          <p:cNvPr id="8" name="Text 5"/>
          <p:cNvSpPr/>
          <p:nvPr/>
        </p:nvSpPr>
        <p:spPr>
          <a:xfrm>
            <a:off x="868680" y="4389120"/>
            <a:ext cx="749808" cy="74980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P</a:t>
            </a:r>
            <a:endParaRPr lang="en-US" sz="2000" dirty="0"/>
          </a:p>
        </p:txBody>
      </p:sp>
      <p:sp>
        <p:nvSpPr>
          <p:cNvPr id="9" name="Shape 6"/>
          <p:cNvSpPr/>
          <p:nvPr/>
        </p:nvSpPr>
        <p:spPr>
          <a:xfrm>
            <a:off x="1764792" y="4389120"/>
            <a:ext cx="749808" cy="749808"/>
          </a:xfrm>
          <a:prstGeom prst="ellipse">
            <a:avLst/>
          </a:prstGeom>
          <a:solidFill>
            <a:srgbClr val="9C6B3C"/>
          </a:solidFill>
          <a:ln/>
        </p:spPr>
      </p:sp>
      <p:sp>
        <p:nvSpPr>
          <p:cNvPr id="10" name="Text 7"/>
          <p:cNvSpPr/>
          <p:nvPr/>
        </p:nvSpPr>
        <p:spPr>
          <a:xfrm>
            <a:off x="1764792" y="4389120"/>
            <a:ext cx="749808" cy="74980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A</a:t>
            </a:r>
            <a:endParaRPr lang="en-US" sz="2000" dirty="0"/>
          </a:p>
        </p:txBody>
      </p:sp>
      <p:sp>
        <p:nvSpPr>
          <p:cNvPr id="11" name="Shape 8"/>
          <p:cNvSpPr/>
          <p:nvPr/>
        </p:nvSpPr>
        <p:spPr>
          <a:xfrm>
            <a:off x="2660904" y="4389120"/>
            <a:ext cx="749808" cy="749808"/>
          </a:xfrm>
          <a:prstGeom prst="ellipse">
            <a:avLst/>
          </a:prstGeom>
          <a:solidFill>
            <a:srgbClr val="7A4A45"/>
          </a:solidFill>
          <a:ln/>
        </p:spPr>
      </p:sp>
      <p:sp>
        <p:nvSpPr>
          <p:cNvPr id="12" name="Text 9"/>
          <p:cNvSpPr/>
          <p:nvPr/>
        </p:nvSpPr>
        <p:spPr>
          <a:xfrm>
            <a:off x="2660904" y="4389120"/>
            <a:ext cx="749808" cy="74980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P</a:t>
            </a:r>
            <a:endParaRPr lang="en-US" sz="2000" dirty="0"/>
          </a:p>
        </p:txBody>
      </p:sp>
      <p:sp>
        <p:nvSpPr>
          <p:cNvPr id="13" name="Text 10"/>
          <p:cNvSpPr/>
          <p:nvPr/>
        </p:nvSpPr>
        <p:spPr>
          <a:xfrm>
            <a:off x="868680" y="5257800"/>
            <a:ext cx="3657600" cy="274320"/>
          </a:xfrm>
          <a:prstGeom prst="rect">
            <a:avLst/>
          </a:prstGeom>
          <a:noFill/>
          <a:ln/>
        </p:spPr>
        <p:txBody>
          <a:bodyPr wrap="square" lIns="0" tIns="0" rIns="0" bIns="0" rtlCol="0" anchor="ctr"/>
          <a:lstStyle/>
          <a:p>
            <a:pPr indent="0" marL="0">
              <a:buNone/>
            </a:pPr>
            <a:r>
              <a:rPr lang="en-US" sz="950" i="1" dirty="0">
                <a:solidFill>
                  <a:srgbClr val="8D8A84"/>
                </a:solidFill>
                <a:latin typeface="Cambria" pitchFamily="34" charset="0"/>
                <a:ea typeface="Cambria" pitchFamily="34" charset="-122"/>
                <a:cs typeface="Cambria" pitchFamily="34" charset="-120"/>
              </a:rPr>
              <a:t>Planning · Art criticism · Promotion</a:t>
            </a:r>
            <a:endParaRPr lang="en-US" sz="950" dirty="0"/>
          </a:p>
        </p:txBody>
      </p:sp>
      <p:sp>
        <p:nvSpPr>
          <p:cNvPr id="14" name="Text 11"/>
          <p:cNvSpPr/>
          <p:nvPr/>
        </p:nvSpPr>
        <p:spPr>
          <a:xfrm>
            <a:off x="548640" y="6419088"/>
            <a:ext cx="7315200" cy="274320"/>
          </a:xfrm>
          <a:prstGeom prst="rect">
            <a:avLst/>
          </a:prstGeom>
          <a:noFill/>
          <a:ln/>
        </p:spPr>
        <p:txBody>
          <a:bodyPr wrap="square" lIns="0" tIns="0" rIns="0" bIns="0" rtlCol="0" anchor="ctr"/>
          <a:lstStyle/>
          <a:p>
            <a:pPr algn="l" indent="0" marL="0">
              <a:buNone/>
            </a:pPr>
            <a:r>
              <a:rPr lang="en-US" sz="800" dirty="0">
                <a:solidFill>
                  <a:srgbClr val="6E6A65"/>
                </a:solidFill>
                <a:latin typeface="맑은 고딕" pitchFamily="34" charset="0"/>
                <a:ea typeface="맑은 고딕" pitchFamily="34" charset="-122"/>
                <a:cs typeface="맑은 고딕" pitchFamily="34" charset="-120"/>
              </a:rPr>
              <a:t>아이테르 문화예술기획제안서   ·   덮인 물, 남은 올   ·   기획 추병곤</a:t>
            </a:r>
            <a:endParaRPr lang="en-US" sz="800" dirty="0"/>
          </a:p>
        </p:txBody>
      </p:sp>
      <p:sp>
        <p:nvSpPr>
          <p:cNvPr id="15" name="Text 12"/>
          <p:cNvSpPr/>
          <p:nvPr/>
        </p:nvSpPr>
        <p:spPr>
          <a:xfrm>
            <a:off x="10972800" y="6419088"/>
            <a:ext cx="640080" cy="274320"/>
          </a:xfrm>
          <a:prstGeom prst="rect">
            <a:avLst/>
          </a:prstGeom>
          <a:noFill/>
          <a:ln/>
        </p:spPr>
        <p:txBody>
          <a:bodyPr wrap="square" lIns="0" tIns="0" rIns="0" bIns="0" rtlCol="0" anchor="ctr"/>
          <a:lstStyle/>
          <a:p>
            <a:pPr algn="r" indent="0" marL="0">
              <a:buNone/>
            </a:pPr>
            <a:r>
              <a:rPr lang="en-US" sz="900" dirty="0">
                <a:solidFill>
                  <a:srgbClr val="6E6A65"/>
                </a:solidFill>
                <a:latin typeface="Cambria" pitchFamily="34" charset="0"/>
                <a:ea typeface="Cambria" pitchFamily="34" charset="-122"/>
                <a:cs typeface="Cambria"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7315200" cy="237744"/>
          </a:xfrm>
          <a:prstGeom prst="rect">
            <a:avLst/>
          </a:prstGeom>
          <a:noFill/>
          <a:ln/>
        </p:spPr>
        <p:txBody>
          <a:bodyPr wrap="square" lIns="0" tIns="0" rIns="0" bIns="0" rtlCol="0" anchor="ctr"/>
          <a:lstStyle/>
          <a:p>
            <a:pPr indent="0" marL="0">
              <a:buNone/>
            </a:pPr>
            <a:r>
              <a:rPr lang="en-US" sz="1050" spc="250" kern="0" dirty="0">
                <a:solidFill>
                  <a:srgbClr val="8A857E"/>
                </a:solidFill>
                <a:latin typeface="Cambria" pitchFamily="34" charset="0"/>
                <a:ea typeface="Cambria" pitchFamily="34" charset="-122"/>
                <a:cs typeface="Cambria" pitchFamily="34" charset="-120"/>
              </a:rPr>
              <a:t>14  PROGRAM</a:t>
            </a:r>
            <a:endParaRPr lang="en-US" sz="1050" dirty="0"/>
          </a:p>
        </p:txBody>
      </p:sp>
      <p:sp>
        <p:nvSpPr>
          <p:cNvPr id="3" name="Text 1"/>
          <p:cNvSpPr/>
          <p:nvPr/>
        </p:nvSpPr>
        <p:spPr>
          <a:xfrm>
            <a:off x="548640" y="694944"/>
            <a:ext cx="10058400" cy="502920"/>
          </a:xfrm>
          <a:prstGeom prst="rect">
            <a:avLst/>
          </a:prstGeom>
          <a:noFill/>
          <a:ln/>
        </p:spPr>
        <p:txBody>
          <a:bodyPr wrap="square" lIns="0" tIns="0" rIns="0" bIns="0" rtlCol="0" anchor="ctr"/>
          <a:lstStyle/>
          <a:p>
            <a:pPr indent="0" marL="0">
              <a:buNone/>
            </a:pPr>
            <a:r>
              <a:rPr lang="en-US" sz="2700" b="1" dirty="0">
                <a:solidFill>
                  <a:srgbClr val="1A1A1A"/>
                </a:solidFill>
                <a:latin typeface="맑은 고딕" pitchFamily="34" charset="0"/>
                <a:ea typeface="맑은 고딕" pitchFamily="34" charset="-122"/>
                <a:cs typeface="맑은 고딕" pitchFamily="34" charset="-120"/>
              </a:rPr>
              <a:t>지역연계 프로그램 7종 · 27회</a:t>
            </a:r>
            <a:endParaRPr lang="en-US" sz="2700" dirty="0"/>
          </a:p>
        </p:txBody>
      </p:sp>
      <p:sp>
        <p:nvSpPr>
          <p:cNvPr id="4" name="Text 2"/>
          <p:cNvSpPr/>
          <p:nvPr/>
        </p:nvSpPr>
        <p:spPr>
          <a:xfrm>
            <a:off x="548640" y="1225296"/>
            <a:ext cx="10607040" cy="310896"/>
          </a:xfrm>
          <a:prstGeom prst="rect">
            <a:avLst/>
          </a:prstGeom>
          <a:noFill/>
          <a:ln/>
        </p:spPr>
        <p:txBody>
          <a:bodyPr wrap="square" lIns="0" tIns="0" rIns="0" bIns="0" rtlCol="0" anchor="ctr"/>
          <a:lstStyle/>
          <a:p>
            <a:pPr indent="0" marL="0">
              <a:buNone/>
            </a:pPr>
            <a:r>
              <a:rPr lang="en-US" sz="1200" dirty="0">
                <a:solidFill>
                  <a:srgbClr val="8A857E"/>
                </a:solidFill>
                <a:latin typeface="맑은 고딕" pitchFamily="34" charset="0"/>
                <a:ea typeface="맑은 고딕" pitchFamily="34" charset="-122"/>
                <a:cs typeface="맑은 고딕" pitchFamily="34" charset="-120"/>
              </a:rPr>
              <a:t>전시가 동네에 남기는 것 — 주민·상인·학생·기업 임직원이 각각 다른 문으로 들어온다</a:t>
            </a:r>
            <a:endParaRPr lang="en-US" sz="1200" dirty="0"/>
          </a:p>
        </p:txBody>
      </p:sp>
      <p:sp>
        <p:nvSpPr>
          <p:cNvPr id="5" name="Shape 3"/>
          <p:cNvSpPr/>
          <p:nvPr/>
        </p:nvSpPr>
        <p:spPr>
          <a:xfrm>
            <a:off x="548640" y="1783080"/>
            <a:ext cx="2615184" cy="2011680"/>
          </a:xfrm>
          <a:prstGeom prst="rect">
            <a:avLst/>
          </a:prstGeom>
          <a:solidFill>
            <a:srgbClr val="FFFFFF"/>
          </a:solidFill>
          <a:ln w="9525">
            <a:solidFill>
              <a:srgbClr val="D8D4CE"/>
            </a:solidFill>
            <a:prstDash val="solid"/>
          </a:ln>
        </p:spPr>
      </p:sp>
      <p:sp>
        <p:nvSpPr>
          <p:cNvPr id="6" name="Text 4"/>
          <p:cNvSpPr/>
          <p:nvPr/>
        </p:nvSpPr>
        <p:spPr>
          <a:xfrm>
            <a:off x="749808" y="1947672"/>
            <a:ext cx="548640" cy="274320"/>
          </a:xfrm>
          <a:prstGeom prst="rect">
            <a:avLst/>
          </a:prstGeom>
          <a:noFill/>
          <a:ln/>
        </p:spPr>
        <p:txBody>
          <a:bodyPr wrap="square" lIns="0" tIns="0" rIns="0" bIns="0" rtlCol="0" anchor="ctr"/>
          <a:lstStyle/>
          <a:p>
            <a:pPr indent="0" marL="0">
              <a:buNone/>
            </a:pPr>
            <a:r>
              <a:rPr lang="en-US" sz="1300" b="1" dirty="0">
                <a:solidFill>
                  <a:srgbClr val="9C6B3C"/>
                </a:solidFill>
                <a:latin typeface="Cambria" pitchFamily="34" charset="0"/>
                <a:ea typeface="Cambria" pitchFamily="34" charset="-122"/>
                <a:cs typeface="Cambria" pitchFamily="34" charset="-120"/>
              </a:rPr>
              <a:t>01</a:t>
            </a:r>
            <a:endParaRPr lang="en-US" sz="1300" dirty="0"/>
          </a:p>
        </p:txBody>
      </p:sp>
      <p:sp>
        <p:nvSpPr>
          <p:cNvPr id="7" name="Text 5"/>
          <p:cNvSpPr/>
          <p:nvPr/>
        </p:nvSpPr>
        <p:spPr>
          <a:xfrm>
            <a:off x="749808" y="2258568"/>
            <a:ext cx="2240280" cy="502920"/>
          </a:xfrm>
          <a:prstGeom prst="rect">
            <a:avLst/>
          </a:prstGeom>
          <a:noFill/>
          <a:ln/>
        </p:spPr>
        <p:txBody>
          <a:bodyPr wrap="square" lIns="0" tIns="0" rIns="0" bIns="0" rtlCol="0" anchor="ctr"/>
          <a:lstStyle/>
          <a:p>
            <a:pPr indent="0" marL="0">
              <a:lnSpc>
                <a:spcPts val="1600"/>
              </a:lnSpc>
              <a:buNone/>
            </a:pPr>
            <a:r>
              <a:rPr lang="en-US" sz="1200" b="1" dirty="0">
                <a:solidFill>
                  <a:srgbClr val="1A1A1A"/>
                </a:solidFill>
                <a:latin typeface="맑은 고딕" pitchFamily="34" charset="0"/>
                <a:ea typeface="맑은 고딕" pitchFamily="34" charset="-122"/>
                <a:cs typeface="맑은 고딕" pitchFamily="34" charset="-120"/>
              </a:rPr>
              <a:t>원단학교</a:t>
            </a:r>
            <a:endParaRPr lang="en-US" sz="1200" dirty="0"/>
          </a:p>
        </p:txBody>
      </p:sp>
      <p:sp>
        <p:nvSpPr>
          <p:cNvPr id="8" name="Text 6"/>
          <p:cNvSpPr/>
          <p:nvPr/>
        </p:nvSpPr>
        <p:spPr>
          <a:xfrm>
            <a:off x="749808" y="2788920"/>
            <a:ext cx="2240280" cy="237744"/>
          </a:xfrm>
          <a:prstGeom prst="rect">
            <a:avLst/>
          </a:prstGeom>
          <a:noFill/>
          <a:ln/>
        </p:spPr>
        <p:txBody>
          <a:bodyPr wrap="square" lIns="0" tIns="0" rIns="0" bIns="0" rtlCol="0" anchor="ctr"/>
          <a:lstStyle/>
          <a:p>
            <a:pPr indent="0" marL="0">
              <a:buNone/>
            </a:pPr>
            <a:r>
              <a:rPr lang="en-US" sz="950" dirty="0">
                <a:solidFill>
                  <a:srgbClr val="9C6B3C"/>
                </a:solidFill>
                <a:latin typeface="맑은 고딕" pitchFamily="34" charset="0"/>
                <a:ea typeface="맑은 고딕" pitchFamily="34" charset="-122"/>
                <a:cs typeface="맑은 고딕" pitchFamily="34" charset="-120"/>
              </a:rPr>
              <a:t>4회 · 회당 15인</a:t>
            </a:r>
            <a:endParaRPr lang="en-US" sz="950" dirty="0"/>
          </a:p>
        </p:txBody>
      </p:sp>
      <p:sp>
        <p:nvSpPr>
          <p:cNvPr id="9" name="Text 7"/>
          <p:cNvSpPr/>
          <p:nvPr/>
        </p:nvSpPr>
        <p:spPr>
          <a:xfrm>
            <a:off x="749808" y="3044952"/>
            <a:ext cx="2240280" cy="658368"/>
          </a:xfrm>
          <a:prstGeom prst="rect">
            <a:avLst/>
          </a:prstGeom>
          <a:noFill/>
          <a:ln/>
        </p:spPr>
        <p:txBody>
          <a:bodyPr wrap="square" lIns="0" tIns="0" rIns="0" bIns="0" rtlCol="0" anchor="t"/>
          <a:lstStyle/>
          <a:p>
            <a:pPr indent="0" marL="0">
              <a:lnSpc>
                <a:spcPts val="1400"/>
              </a:lnSpc>
              <a:buNone/>
            </a:pPr>
            <a:r>
              <a:rPr lang="en-US" sz="950" dirty="0">
                <a:solidFill>
                  <a:srgbClr val="4A453F"/>
                </a:solidFill>
                <a:latin typeface="맑은 고딕" pitchFamily="34" charset="0"/>
                <a:ea typeface="맑은 고딕" pitchFamily="34" charset="-122"/>
                <a:cs typeface="맑은 고딕" pitchFamily="34" charset="-120"/>
              </a:rPr>
              <a:t>진시장 상인과 작가가 함께 자투리 원단을 고르고 짜는 워크숍. ④실 작품이 여기서 자란다.</a:t>
            </a:r>
            <a:endParaRPr lang="en-US" sz="950" dirty="0"/>
          </a:p>
        </p:txBody>
      </p:sp>
      <p:sp>
        <p:nvSpPr>
          <p:cNvPr id="10" name="Shape 8"/>
          <p:cNvSpPr/>
          <p:nvPr/>
        </p:nvSpPr>
        <p:spPr>
          <a:xfrm>
            <a:off x="3374136" y="1783080"/>
            <a:ext cx="2615184" cy="2011680"/>
          </a:xfrm>
          <a:prstGeom prst="rect">
            <a:avLst/>
          </a:prstGeom>
          <a:solidFill>
            <a:srgbClr val="FFFFFF"/>
          </a:solidFill>
          <a:ln w="9525">
            <a:solidFill>
              <a:srgbClr val="D8D4CE"/>
            </a:solidFill>
            <a:prstDash val="solid"/>
          </a:ln>
        </p:spPr>
      </p:sp>
      <p:sp>
        <p:nvSpPr>
          <p:cNvPr id="11" name="Text 9"/>
          <p:cNvSpPr/>
          <p:nvPr/>
        </p:nvSpPr>
        <p:spPr>
          <a:xfrm>
            <a:off x="3575304" y="1947672"/>
            <a:ext cx="548640" cy="274320"/>
          </a:xfrm>
          <a:prstGeom prst="rect">
            <a:avLst/>
          </a:prstGeom>
          <a:noFill/>
          <a:ln/>
        </p:spPr>
        <p:txBody>
          <a:bodyPr wrap="square" lIns="0" tIns="0" rIns="0" bIns="0" rtlCol="0" anchor="ctr"/>
          <a:lstStyle/>
          <a:p>
            <a:pPr indent="0" marL="0">
              <a:buNone/>
            </a:pPr>
            <a:r>
              <a:rPr lang="en-US" sz="1300" b="1" dirty="0">
                <a:solidFill>
                  <a:srgbClr val="2F4858"/>
                </a:solidFill>
                <a:latin typeface="Cambria" pitchFamily="34" charset="0"/>
                <a:ea typeface="Cambria" pitchFamily="34" charset="-122"/>
                <a:cs typeface="Cambria" pitchFamily="34" charset="-120"/>
              </a:rPr>
              <a:t>02</a:t>
            </a:r>
            <a:endParaRPr lang="en-US" sz="1300" dirty="0"/>
          </a:p>
        </p:txBody>
      </p:sp>
      <p:sp>
        <p:nvSpPr>
          <p:cNvPr id="12" name="Text 10"/>
          <p:cNvSpPr/>
          <p:nvPr/>
        </p:nvSpPr>
        <p:spPr>
          <a:xfrm>
            <a:off x="3575304" y="2258568"/>
            <a:ext cx="2240280" cy="502920"/>
          </a:xfrm>
          <a:prstGeom prst="rect">
            <a:avLst/>
          </a:prstGeom>
          <a:noFill/>
          <a:ln/>
        </p:spPr>
        <p:txBody>
          <a:bodyPr wrap="square" lIns="0" tIns="0" rIns="0" bIns="0" rtlCol="0" anchor="ctr"/>
          <a:lstStyle/>
          <a:p>
            <a:pPr indent="0" marL="0">
              <a:lnSpc>
                <a:spcPts val="1600"/>
              </a:lnSpc>
              <a:buNone/>
            </a:pPr>
            <a:r>
              <a:rPr lang="en-US" sz="1200" b="1" dirty="0">
                <a:solidFill>
                  <a:srgbClr val="1A1A1A"/>
                </a:solidFill>
                <a:latin typeface="맑은 고딕" pitchFamily="34" charset="0"/>
                <a:ea typeface="맑은 고딕" pitchFamily="34" charset="-122"/>
                <a:cs typeface="맑은 고딕" pitchFamily="34" charset="-120"/>
              </a:rPr>
              <a:t>범내 산책</a:t>
            </a:r>
            <a:endParaRPr lang="en-US" sz="1200" dirty="0"/>
          </a:p>
        </p:txBody>
      </p:sp>
      <p:sp>
        <p:nvSpPr>
          <p:cNvPr id="13" name="Text 11"/>
          <p:cNvSpPr/>
          <p:nvPr/>
        </p:nvSpPr>
        <p:spPr>
          <a:xfrm>
            <a:off x="3575304" y="2788920"/>
            <a:ext cx="2240280" cy="237744"/>
          </a:xfrm>
          <a:prstGeom prst="rect">
            <a:avLst/>
          </a:prstGeom>
          <a:noFill/>
          <a:ln/>
        </p:spPr>
        <p:txBody>
          <a:bodyPr wrap="square" lIns="0" tIns="0" rIns="0" bIns="0" rtlCol="0" anchor="ctr"/>
          <a:lstStyle/>
          <a:p>
            <a:pPr indent="0" marL="0">
              <a:buNone/>
            </a:pPr>
            <a:r>
              <a:rPr lang="en-US" sz="950" dirty="0">
                <a:solidFill>
                  <a:srgbClr val="2F4858"/>
                </a:solidFill>
                <a:latin typeface="맑은 고딕" pitchFamily="34" charset="0"/>
                <a:ea typeface="맑은 고딕" pitchFamily="34" charset="-122"/>
                <a:cs typeface="맑은 고딕" pitchFamily="34" charset="-120"/>
              </a:rPr>
              <a:t>8회 · 회당 20인</a:t>
            </a:r>
            <a:endParaRPr lang="en-US" sz="950" dirty="0"/>
          </a:p>
        </p:txBody>
      </p:sp>
      <p:sp>
        <p:nvSpPr>
          <p:cNvPr id="14" name="Text 12"/>
          <p:cNvSpPr/>
          <p:nvPr/>
        </p:nvSpPr>
        <p:spPr>
          <a:xfrm>
            <a:off x="3575304" y="3044952"/>
            <a:ext cx="2240280" cy="658368"/>
          </a:xfrm>
          <a:prstGeom prst="rect">
            <a:avLst/>
          </a:prstGeom>
          <a:noFill/>
          <a:ln/>
        </p:spPr>
        <p:txBody>
          <a:bodyPr wrap="square" lIns="0" tIns="0" rIns="0" bIns="0" rtlCol="0" anchor="t"/>
          <a:lstStyle/>
          <a:p>
            <a:pPr indent="0" marL="0">
              <a:lnSpc>
                <a:spcPts val="1400"/>
              </a:lnSpc>
              <a:buNone/>
            </a:pPr>
            <a:r>
              <a:rPr lang="en-US" sz="950" dirty="0">
                <a:solidFill>
                  <a:srgbClr val="4A453F"/>
                </a:solidFill>
                <a:latin typeface="맑은 고딕" pitchFamily="34" charset="0"/>
                <a:ea typeface="맑은 고딕" pitchFamily="34" charset="-122"/>
                <a:cs typeface="맑은 고딕" pitchFamily="34" charset="-120"/>
              </a:rPr>
              <a:t>범일가옥 → 진시장 → 조방 터 → 복개 구간 → 자성대를 잇는 90분 도슨트 워킹투어. 기획자 직접 진행.</a:t>
            </a:r>
            <a:endParaRPr lang="en-US" sz="950" dirty="0"/>
          </a:p>
        </p:txBody>
      </p:sp>
      <p:sp>
        <p:nvSpPr>
          <p:cNvPr id="15" name="Shape 13"/>
          <p:cNvSpPr/>
          <p:nvPr/>
        </p:nvSpPr>
        <p:spPr>
          <a:xfrm>
            <a:off x="6199632" y="1783080"/>
            <a:ext cx="2615184" cy="2011680"/>
          </a:xfrm>
          <a:prstGeom prst="rect">
            <a:avLst/>
          </a:prstGeom>
          <a:solidFill>
            <a:srgbClr val="FFFFFF"/>
          </a:solidFill>
          <a:ln w="9525">
            <a:solidFill>
              <a:srgbClr val="D8D4CE"/>
            </a:solidFill>
            <a:prstDash val="solid"/>
          </a:ln>
        </p:spPr>
      </p:sp>
      <p:sp>
        <p:nvSpPr>
          <p:cNvPr id="16" name="Text 14"/>
          <p:cNvSpPr/>
          <p:nvPr/>
        </p:nvSpPr>
        <p:spPr>
          <a:xfrm>
            <a:off x="6400800" y="1947672"/>
            <a:ext cx="548640" cy="274320"/>
          </a:xfrm>
          <a:prstGeom prst="rect">
            <a:avLst/>
          </a:prstGeom>
          <a:noFill/>
          <a:ln/>
        </p:spPr>
        <p:txBody>
          <a:bodyPr wrap="square" lIns="0" tIns="0" rIns="0" bIns="0" rtlCol="0" anchor="ctr"/>
          <a:lstStyle/>
          <a:p>
            <a:pPr indent="0" marL="0">
              <a:buNone/>
            </a:pPr>
            <a:r>
              <a:rPr lang="en-US" sz="1300" b="1" dirty="0">
                <a:solidFill>
                  <a:srgbClr val="7A4A45"/>
                </a:solidFill>
                <a:latin typeface="Cambria" pitchFamily="34" charset="0"/>
                <a:ea typeface="Cambria" pitchFamily="34" charset="-122"/>
                <a:cs typeface="Cambria" pitchFamily="34" charset="-120"/>
              </a:rPr>
              <a:t>03</a:t>
            </a:r>
            <a:endParaRPr lang="en-US" sz="1300" dirty="0"/>
          </a:p>
        </p:txBody>
      </p:sp>
      <p:sp>
        <p:nvSpPr>
          <p:cNvPr id="17" name="Text 15"/>
          <p:cNvSpPr/>
          <p:nvPr/>
        </p:nvSpPr>
        <p:spPr>
          <a:xfrm>
            <a:off x="6400800" y="2258568"/>
            <a:ext cx="2240280" cy="502920"/>
          </a:xfrm>
          <a:prstGeom prst="rect">
            <a:avLst/>
          </a:prstGeom>
          <a:noFill/>
          <a:ln/>
        </p:spPr>
        <p:txBody>
          <a:bodyPr wrap="square" lIns="0" tIns="0" rIns="0" bIns="0" rtlCol="0" anchor="ctr"/>
          <a:lstStyle/>
          <a:p>
            <a:pPr indent="0" marL="0">
              <a:lnSpc>
                <a:spcPts val="1600"/>
              </a:lnSpc>
              <a:buNone/>
            </a:pPr>
            <a:r>
              <a:rPr lang="en-US" sz="1200" b="1" dirty="0">
                <a:solidFill>
                  <a:srgbClr val="1A1A1A"/>
                </a:solidFill>
                <a:latin typeface="맑은 고딕" pitchFamily="34" charset="0"/>
                <a:ea typeface="맑은 고딕" pitchFamily="34" charset="-122"/>
                <a:cs typeface="맑은 고딕" pitchFamily="34" charset="-120"/>
              </a:rPr>
              <a:t>여덟 개의 방, 여덟 목소리</a:t>
            </a:r>
            <a:endParaRPr lang="en-US" sz="1200" dirty="0"/>
          </a:p>
        </p:txBody>
      </p:sp>
      <p:sp>
        <p:nvSpPr>
          <p:cNvPr id="18" name="Text 16"/>
          <p:cNvSpPr/>
          <p:nvPr/>
        </p:nvSpPr>
        <p:spPr>
          <a:xfrm>
            <a:off x="6400800" y="2788920"/>
            <a:ext cx="2240280" cy="237744"/>
          </a:xfrm>
          <a:prstGeom prst="rect">
            <a:avLst/>
          </a:prstGeom>
          <a:noFill/>
          <a:ln/>
        </p:spPr>
        <p:txBody>
          <a:bodyPr wrap="square" lIns="0" tIns="0" rIns="0" bIns="0" rtlCol="0" anchor="ctr"/>
          <a:lstStyle/>
          <a:p>
            <a:pPr indent="0" marL="0">
              <a:buNone/>
            </a:pPr>
            <a:r>
              <a:rPr lang="en-US" sz="950" dirty="0">
                <a:solidFill>
                  <a:srgbClr val="7A4A45"/>
                </a:solidFill>
                <a:latin typeface="맑은 고딕" pitchFamily="34" charset="0"/>
                <a:ea typeface="맑은 고딕" pitchFamily="34" charset="-122"/>
                <a:cs typeface="맑은 고딕" pitchFamily="34" charset="-120"/>
              </a:rPr>
              <a:t>30인 채록</a:t>
            </a:r>
            <a:endParaRPr lang="en-US" sz="950" dirty="0"/>
          </a:p>
        </p:txBody>
      </p:sp>
      <p:sp>
        <p:nvSpPr>
          <p:cNvPr id="19" name="Text 17"/>
          <p:cNvSpPr/>
          <p:nvPr/>
        </p:nvSpPr>
        <p:spPr>
          <a:xfrm>
            <a:off x="6400800" y="3044952"/>
            <a:ext cx="2240280" cy="658368"/>
          </a:xfrm>
          <a:prstGeom prst="rect">
            <a:avLst/>
          </a:prstGeom>
          <a:noFill/>
          <a:ln/>
        </p:spPr>
        <p:txBody>
          <a:bodyPr wrap="square" lIns="0" tIns="0" rIns="0" bIns="0" rtlCol="0" anchor="t"/>
          <a:lstStyle/>
          <a:p>
            <a:pPr indent="0" marL="0">
              <a:lnSpc>
                <a:spcPts val="1400"/>
              </a:lnSpc>
              <a:buNone/>
            </a:pPr>
            <a:r>
              <a:rPr lang="en-US" sz="950" dirty="0">
                <a:solidFill>
                  <a:srgbClr val="4A453F"/>
                </a:solidFill>
                <a:latin typeface="맑은 고딕" pitchFamily="34" charset="0"/>
                <a:ea typeface="맑은 고딕" pitchFamily="34" charset="-122"/>
                <a:cs typeface="맑은 고딕" pitchFamily="34" charset="-120"/>
              </a:rPr>
              <a:t>주민·상인·전직 방직 노동자 구술 채록. ⑧실 상영 및 기록관 이관.</a:t>
            </a:r>
            <a:endParaRPr lang="en-US" sz="950" dirty="0"/>
          </a:p>
        </p:txBody>
      </p:sp>
      <p:sp>
        <p:nvSpPr>
          <p:cNvPr id="20" name="Shape 18"/>
          <p:cNvSpPr/>
          <p:nvPr/>
        </p:nvSpPr>
        <p:spPr>
          <a:xfrm>
            <a:off x="9025128" y="1783080"/>
            <a:ext cx="2615184" cy="2011680"/>
          </a:xfrm>
          <a:prstGeom prst="rect">
            <a:avLst/>
          </a:prstGeom>
          <a:solidFill>
            <a:srgbClr val="FFFFFF"/>
          </a:solidFill>
          <a:ln w="9525">
            <a:solidFill>
              <a:srgbClr val="D8D4CE"/>
            </a:solidFill>
            <a:prstDash val="solid"/>
          </a:ln>
        </p:spPr>
      </p:sp>
      <p:sp>
        <p:nvSpPr>
          <p:cNvPr id="21" name="Text 19"/>
          <p:cNvSpPr/>
          <p:nvPr/>
        </p:nvSpPr>
        <p:spPr>
          <a:xfrm>
            <a:off x="9226296" y="1947672"/>
            <a:ext cx="548640" cy="274320"/>
          </a:xfrm>
          <a:prstGeom prst="rect">
            <a:avLst/>
          </a:prstGeom>
          <a:noFill/>
          <a:ln/>
        </p:spPr>
        <p:txBody>
          <a:bodyPr wrap="square" lIns="0" tIns="0" rIns="0" bIns="0" rtlCol="0" anchor="ctr"/>
          <a:lstStyle/>
          <a:p>
            <a:pPr indent="0" marL="0">
              <a:buNone/>
            </a:pPr>
            <a:r>
              <a:rPr lang="en-US" sz="1300" b="1" dirty="0">
                <a:solidFill>
                  <a:srgbClr val="7A4A45"/>
                </a:solidFill>
                <a:latin typeface="Cambria" pitchFamily="34" charset="0"/>
                <a:ea typeface="Cambria" pitchFamily="34" charset="-122"/>
                <a:cs typeface="Cambria" pitchFamily="34" charset="-120"/>
              </a:rPr>
              <a:t>04</a:t>
            </a:r>
            <a:endParaRPr lang="en-US" sz="1300" dirty="0"/>
          </a:p>
        </p:txBody>
      </p:sp>
      <p:sp>
        <p:nvSpPr>
          <p:cNvPr id="22" name="Text 20"/>
          <p:cNvSpPr/>
          <p:nvPr/>
        </p:nvSpPr>
        <p:spPr>
          <a:xfrm>
            <a:off x="9226296" y="2258568"/>
            <a:ext cx="2240280" cy="502920"/>
          </a:xfrm>
          <a:prstGeom prst="rect">
            <a:avLst/>
          </a:prstGeom>
          <a:noFill/>
          <a:ln/>
        </p:spPr>
        <p:txBody>
          <a:bodyPr wrap="square" lIns="0" tIns="0" rIns="0" bIns="0" rtlCol="0" anchor="ctr"/>
          <a:lstStyle/>
          <a:p>
            <a:pPr indent="0" marL="0">
              <a:lnSpc>
                <a:spcPts val="1600"/>
              </a:lnSpc>
              <a:buNone/>
            </a:pPr>
            <a:r>
              <a:rPr lang="en-US" sz="1200" b="1" dirty="0">
                <a:solidFill>
                  <a:srgbClr val="1A1A1A"/>
                </a:solidFill>
                <a:latin typeface="맑은 고딕" pitchFamily="34" charset="0"/>
                <a:ea typeface="맑은 고딕" pitchFamily="34" charset="-122"/>
                <a:cs typeface="맑은 고딕" pitchFamily="34" charset="-120"/>
              </a:rPr>
              <a:t>덧대는 드로잉</a:t>
            </a:r>
            <a:endParaRPr lang="en-US" sz="1200" dirty="0"/>
          </a:p>
        </p:txBody>
      </p:sp>
      <p:sp>
        <p:nvSpPr>
          <p:cNvPr id="23" name="Text 21"/>
          <p:cNvSpPr/>
          <p:nvPr/>
        </p:nvSpPr>
        <p:spPr>
          <a:xfrm>
            <a:off x="9226296" y="2788920"/>
            <a:ext cx="2240280" cy="237744"/>
          </a:xfrm>
          <a:prstGeom prst="rect">
            <a:avLst/>
          </a:prstGeom>
          <a:noFill/>
          <a:ln/>
        </p:spPr>
        <p:txBody>
          <a:bodyPr wrap="square" lIns="0" tIns="0" rIns="0" bIns="0" rtlCol="0" anchor="ctr"/>
          <a:lstStyle/>
          <a:p>
            <a:pPr indent="0" marL="0">
              <a:buNone/>
            </a:pPr>
            <a:r>
              <a:rPr lang="en-US" sz="950" dirty="0">
                <a:solidFill>
                  <a:srgbClr val="7A4A45"/>
                </a:solidFill>
                <a:latin typeface="맑은 고딕" pitchFamily="34" charset="0"/>
                <a:ea typeface="맑은 고딕" pitchFamily="34" charset="-122"/>
                <a:cs typeface="맑은 고딕" pitchFamily="34" charset="-120"/>
              </a:rPr>
              <a:t>상시 · 누적 500점</a:t>
            </a:r>
            <a:endParaRPr lang="en-US" sz="950" dirty="0"/>
          </a:p>
        </p:txBody>
      </p:sp>
      <p:sp>
        <p:nvSpPr>
          <p:cNvPr id="24" name="Text 22"/>
          <p:cNvSpPr/>
          <p:nvPr/>
        </p:nvSpPr>
        <p:spPr>
          <a:xfrm>
            <a:off x="9226296" y="3044952"/>
            <a:ext cx="2240280" cy="658368"/>
          </a:xfrm>
          <a:prstGeom prst="rect">
            <a:avLst/>
          </a:prstGeom>
          <a:noFill/>
          <a:ln/>
        </p:spPr>
        <p:txBody>
          <a:bodyPr wrap="square" lIns="0" tIns="0" rIns="0" bIns="0" rtlCol="0" anchor="t"/>
          <a:lstStyle/>
          <a:p>
            <a:pPr indent="0" marL="0">
              <a:lnSpc>
                <a:spcPts val="1400"/>
              </a:lnSpc>
              <a:buNone/>
            </a:pPr>
            <a:r>
              <a:rPr lang="en-US" sz="950" dirty="0">
                <a:solidFill>
                  <a:srgbClr val="4A453F"/>
                </a:solidFill>
                <a:latin typeface="맑은 고딕" pitchFamily="34" charset="0"/>
                <a:ea typeface="맑은 고딕" pitchFamily="34" charset="-122"/>
                <a:cs typeface="맑은 고딕" pitchFamily="34" charset="-120"/>
              </a:rPr>
              <a:t>⑦실 참여형 드로잉맵. 자기가 살던 방의 평면을 그려 벽에 덧붙인다.</a:t>
            </a:r>
            <a:endParaRPr lang="en-US" sz="950" dirty="0"/>
          </a:p>
        </p:txBody>
      </p:sp>
      <p:sp>
        <p:nvSpPr>
          <p:cNvPr id="25" name="Shape 23"/>
          <p:cNvSpPr/>
          <p:nvPr/>
        </p:nvSpPr>
        <p:spPr>
          <a:xfrm>
            <a:off x="548640" y="3977640"/>
            <a:ext cx="2615184" cy="2011680"/>
          </a:xfrm>
          <a:prstGeom prst="rect">
            <a:avLst/>
          </a:prstGeom>
          <a:solidFill>
            <a:srgbClr val="FFFFFF"/>
          </a:solidFill>
          <a:ln w="9525">
            <a:solidFill>
              <a:srgbClr val="D8D4CE"/>
            </a:solidFill>
            <a:prstDash val="solid"/>
          </a:ln>
        </p:spPr>
      </p:sp>
      <p:sp>
        <p:nvSpPr>
          <p:cNvPr id="26" name="Text 24"/>
          <p:cNvSpPr/>
          <p:nvPr/>
        </p:nvSpPr>
        <p:spPr>
          <a:xfrm>
            <a:off x="749808" y="4142232"/>
            <a:ext cx="548640" cy="274320"/>
          </a:xfrm>
          <a:prstGeom prst="rect">
            <a:avLst/>
          </a:prstGeom>
          <a:noFill/>
          <a:ln/>
        </p:spPr>
        <p:txBody>
          <a:bodyPr wrap="square" lIns="0" tIns="0" rIns="0" bIns="0" rtlCol="0" anchor="ctr"/>
          <a:lstStyle/>
          <a:p>
            <a:pPr indent="0" marL="0">
              <a:buNone/>
            </a:pPr>
            <a:r>
              <a:rPr lang="en-US" sz="1300" b="1" dirty="0">
                <a:solidFill>
                  <a:srgbClr val="4A4A4A"/>
                </a:solidFill>
                <a:latin typeface="Cambria" pitchFamily="34" charset="0"/>
                <a:ea typeface="Cambria" pitchFamily="34" charset="-122"/>
                <a:cs typeface="Cambria" pitchFamily="34" charset="-120"/>
              </a:rPr>
              <a:t>05</a:t>
            </a:r>
            <a:endParaRPr lang="en-US" sz="1300" dirty="0"/>
          </a:p>
        </p:txBody>
      </p:sp>
      <p:sp>
        <p:nvSpPr>
          <p:cNvPr id="27" name="Text 25"/>
          <p:cNvSpPr/>
          <p:nvPr/>
        </p:nvSpPr>
        <p:spPr>
          <a:xfrm>
            <a:off x="749808" y="4453128"/>
            <a:ext cx="2240280" cy="502920"/>
          </a:xfrm>
          <a:prstGeom prst="rect">
            <a:avLst/>
          </a:prstGeom>
          <a:noFill/>
          <a:ln/>
        </p:spPr>
        <p:txBody>
          <a:bodyPr wrap="square" lIns="0" tIns="0" rIns="0" bIns="0" rtlCol="0" anchor="ctr"/>
          <a:lstStyle/>
          <a:p>
            <a:pPr indent="0" marL="0">
              <a:lnSpc>
                <a:spcPts val="1600"/>
              </a:lnSpc>
              <a:buNone/>
            </a:pPr>
            <a:r>
              <a:rPr lang="en-US" sz="1200" b="1" dirty="0">
                <a:solidFill>
                  <a:srgbClr val="1A1A1A"/>
                </a:solidFill>
                <a:latin typeface="맑은 고딕" pitchFamily="34" charset="0"/>
                <a:ea typeface="맑은 고딕" pitchFamily="34" charset="-122"/>
                <a:cs typeface="맑은 고딕" pitchFamily="34" charset="-120"/>
              </a:rPr>
              <a:t>비평 토크쇼</a:t>
            </a:r>
            <a:endParaRPr lang="en-US" sz="1200" dirty="0"/>
          </a:p>
        </p:txBody>
      </p:sp>
      <p:sp>
        <p:nvSpPr>
          <p:cNvPr id="28" name="Text 26"/>
          <p:cNvSpPr/>
          <p:nvPr/>
        </p:nvSpPr>
        <p:spPr>
          <a:xfrm>
            <a:off x="749808" y="4983480"/>
            <a:ext cx="2240280" cy="237744"/>
          </a:xfrm>
          <a:prstGeom prst="rect">
            <a:avLst/>
          </a:prstGeom>
          <a:noFill/>
          <a:ln/>
        </p:spPr>
        <p:txBody>
          <a:bodyPr wrap="square" lIns="0" tIns="0" rIns="0" bIns="0" rtlCol="0" anchor="ctr"/>
          <a:lstStyle/>
          <a:p>
            <a:pPr indent="0" marL="0">
              <a:buNone/>
            </a:pPr>
            <a:r>
              <a:rPr lang="en-US" sz="950" dirty="0">
                <a:solidFill>
                  <a:srgbClr val="4A4A4A"/>
                </a:solidFill>
                <a:latin typeface="맑은 고딕" pitchFamily="34" charset="0"/>
                <a:ea typeface="맑은 고딕" pitchFamily="34" charset="-122"/>
                <a:cs typeface="맑은 고딕" pitchFamily="34" charset="-120"/>
              </a:rPr>
              <a:t>3회</a:t>
            </a:r>
            <a:endParaRPr lang="en-US" sz="950" dirty="0"/>
          </a:p>
        </p:txBody>
      </p:sp>
      <p:sp>
        <p:nvSpPr>
          <p:cNvPr id="29" name="Text 27"/>
          <p:cNvSpPr/>
          <p:nvPr/>
        </p:nvSpPr>
        <p:spPr>
          <a:xfrm>
            <a:off x="749808" y="5239512"/>
            <a:ext cx="2240280" cy="658368"/>
          </a:xfrm>
          <a:prstGeom prst="rect">
            <a:avLst/>
          </a:prstGeom>
          <a:noFill/>
          <a:ln/>
        </p:spPr>
        <p:txBody>
          <a:bodyPr wrap="square" lIns="0" tIns="0" rIns="0" bIns="0" rtlCol="0" anchor="t"/>
          <a:lstStyle/>
          <a:p>
            <a:pPr indent="0" marL="0">
              <a:lnSpc>
                <a:spcPts val="1400"/>
              </a:lnSpc>
              <a:buNone/>
            </a:pPr>
            <a:r>
              <a:rPr lang="en-US" sz="950" dirty="0">
                <a:solidFill>
                  <a:srgbClr val="4A453F"/>
                </a:solidFill>
                <a:latin typeface="맑은 고딕" pitchFamily="34" charset="0"/>
                <a:ea typeface="맑은 고딕" pitchFamily="34" charset="-122"/>
                <a:cs typeface="맑은 고딕" pitchFamily="34" charset="-120"/>
              </a:rPr>
              <a:t>아이테르 전문 비평 서비스 연계. 작가·비평가·주민이 같은 상에 앉는다.</a:t>
            </a:r>
            <a:endParaRPr lang="en-US" sz="950" dirty="0"/>
          </a:p>
        </p:txBody>
      </p:sp>
      <p:sp>
        <p:nvSpPr>
          <p:cNvPr id="30" name="Shape 28"/>
          <p:cNvSpPr/>
          <p:nvPr/>
        </p:nvSpPr>
        <p:spPr>
          <a:xfrm>
            <a:off x="3374136" y="3977640"/>
            <a:ext cx="2615184" cy="2011680"/>
          </a:xfrm>
          <a:prstGeom prst="rect">
            <a:avLst/>
          </a:prstGeom>
          <a:solidFill>
            <a:srgbClr val="FFFFFF"/>
          </a:solidFill>
          <a:ln w="9525">
            <a:solidFill>
              <a:srgbClr val="D8D4CE"/>
            </a:solidFill>
            <a:prstDash val="solid"/>
          </a:ln>
        </p:spPr>
      </p:sp>
      <p:sp>
        <p:nvSpPr>
          <p:cNvPr id="31" name="Text 29"/>
          <p:cNvSpPr/>
          <p:nvPr/>
        </p:nvSpPr>
        <p:spPr>
          <a:xfrm>
            <a:off x="3575304" y="4142232"/>
            <a:ext cx="548640" cy="274320"/>
          </a:xfrm>
          <a:prstGeom prst="rect">
            <a:avLst/>
          </a:prstGeom>
          <a:noFill/>
          <a:ln/>
        </p:spPr>
        <p:txBody>
          <a:bodyPr wrap="square" lIns="0" tIns="0" rIns="0" bIns="0" rtlCol="0" anchor="ctr"/>
          <a:lstStyle/>
          <a:p>
            <a:pPr indent="0" marL="0">
              <a:buNone/>
            </a:pPr>
            <a:r>
              <a:rPr lang="en-US" sz="1300" b="1" dirty="0">
                <a:solidFill>
                  <a:srgbClr val="9C6B3C"/>
                </a:solidFill>
                <a:latin typeface="Cambria" pitchFamily="34" charset="0"/>
                <a:ea typeface="Cambria" pitchFamily="34" charset="-122"/>
                <a:cs typeface="Cambria" pitchFamily="34" charset="-120"/>
              </a:rPr>
              <a:t>06</a:t>
            </a:r>
            <a:endParaRPr lang="en-US" sz="1300" dirty="0"/>
          </a:p>
        </p:txBody>
      </p:sp>
      <p:sp>
        <p:nvSpPr>
          <p:cNvPr id="32" name="Text 30"/>
          <p:cNvSpPr/>
          <p:nvPr/>
        </p:nvSpPr>
        <p:spPr>
          <a:xfrm>
            <a:off x="3575304" y="4453128"/>
            <a:ext cx="2240280" cy="502920"/>
          </a:xfrm>
          <a:prstGeom prst="rect">
            <a:avLst/>
          </a:prstGeom>
          <a:noFill/>
          <a:ln/>
        </p:spPr>
        <p:txBody>
          <a:bodyPr wrap="square" lIns="0" tIns="0" rIns="0" bIns="0" rtlCol="0" anchor="ctr"/>
          <a:lstStyle/>
          <a:p>
            <a:pPr indent="0" marL="0">
              <a:lnSpc>
                <a:spcPts val="1600"/>
              </a:lnSpc>
              <a:buNone/>
            </a:pPr>
            <a:r>
              <a:rPr lang="en-US" sz="1200" b="1" dirty="0">
                <a:solidFill>
                  <a:srgbClr val="1A1A1A"/>
                </a:solidFill>
                <a:latin typeface="맑은 고딕" pitchFamily="34" charset="0"/>
                <a:ea typeface="맑은 고딕" pitchFamily="34" charset="-122"/>
                <a:cs typeface="맑은 고딕" pitchFamily="34" charset="-120"/>
              </a:rPr>
              <a:t>학교 연계 교육</a:t>
            </a:r>
            <a:endParaRPr lang="en-US" sz="1200" dirty="0"/>
          </a:p>
        </p:txBody>
      </p:sp>
      <p:sp>
        <p:nvSpPr>
          <p:cNvPr id="33" name="Text 31"/>
          <p:cNvSpPr/>
          <p:nvPr/>
        </p:nvSpPr>
        <p:spPr>
          <a:xfrm>
            <a:off x="3575304" y="4983480"/>
            <a:ext cx="2240280" cy="237744"/>
          </a:xfrm>
          <a:prstGeom prst="rect">
            <a:avLst/>
          </a:prstGeom>
          <a:noFill/>
          <a:ln/>
        </p:spPr>
        <p:txBody>
          <a:bodyPr wrap="square" lIns="0" tIns="0" rIns="0" bIns="0" rtlCol="0" anchor="ctr"/>
          <a:lstStyle/>
          <a:p>
            <a:pPr indent="0" marL="0">
              <a:buNone/>
            </a:pPr>
            <a:r>
              <a:rPr lang="en-US" sz="950" dirty="0">
                <a:solidFill>
                  <a:srgbClr val="9C6B3C"/>
                </a:solidFill>
                <a:latin typeface="맑은 고딕" pitchFamily="34" charset="0"/>
                <a:ea typeface="맑은 고딕" pitchFamily="34" charset="-122"/>
                <a:cs typeface="맑은 고딕" pitchFamily="34" charset="-120"/>
              </a:rPr>
              <a:t>8회 · 4개교</a:t>
            </a:r>
            <a:endParaRPr lang="en-US" sz="950" dirty="0"/>
          </a:p>
        </p:txBody>
      </p:sp>
      <p:sp>
        <p:nvSpPr>
          <p:cNvPr id="34" name="Text 32"/>
          <p:cNvSpPr/>
          <p:nvPr/>
        </p:nvSpPr>
        <p:spPr>
          <a:xfrm>
            <a:off x="3575304" y="5239512"/>
            <a:ext cx="2240280" cy="658368"/>
          </a:xfrm>
          <a:prstGeom prst="rect">
            <a:avLst/>
          </a:prstGeom>
          <a:noFill/>
          <a:ln/>
        </p:spPr>
        <p:txBody>
          <a:bodyPr wrap="square" lIns="0" tIns="0" rIns="0" bIns="0" rtlCol="0" anchor="t"/>
          <a:lstStyle/>
          <a:p>
            <a:pPr indent="0" marL="0">
              <a:lnSpc>
                <a:spcPts val="1400"/>
              </a:lnSpc>
              <a:buNone/>
            </a:pPr>
            <a:r>
              <a:rPr lang="en-US" sz="950" dirty="0">
                <a:solidFill>
                  <a:srgbClr val="4A453F"/>
                </a:solidFill>
                <a:latin typeface="맑은 고딕" pitchFamily="34" charset="0"/>
                <a:ea typeface="맑은 고딕" pitchFamily="34" charset="-122"/>
                <a:cs typeface="맑은 고딕" pitchFamily="34" charset="-120"/>
              </a:rPr>
              <a:t>동구 관내 초·중 대상. 문화예술교육사 자격 보유 기획자가 직접 설계·운영.</a:t>
            </a:r>
            <a:endParaRPr lang="en-US" sz="950" dirty="0"/>
          </a:p>
        </p:txBody>
      </p:sp>
      <p:sp>
        <p:nvSpPr>
          <p:cNvPr id="35" name="Shape 33"/>
          <p:cNvSpPr/>
          <p:nvPr/>
        </p:nvSpPr>
        <p:spPr>
          <a:xfrm>
            <a:off x="6199632" y="3977640"/>
            <a:ext cx="2615184" cy="2011680"/>
          </a:xfrm>
          <a:prstGeom prst="rect">
            <a:avLst/>
          </a:prstGeom>
          <a:solidFill>
            <a:srgbClr val="FFFFFF"/>
          </a:solidFill>
          <a:ln w="9525">
            <a:solidFill>
              <a:srgbClr val="D8D4CE"/>
            </a:solidFill>
            <a:prstDash val="solid"/>
          </a:ln>
        </p:spPr>
      </p:sp>
      <p:sp>
        <p:nvSpPr>
          <p:cNvPr id="36" name="Text 34"/>
          <p:cNvSpPr/>
          <p:nvPr/>
        </p:nvSpPr>
        <p:spPr>
          <a:xfrm>
            <a:off x="6400800" y="4142232"/>
            <a:ext cx="548640" cy="274320"/>
          </a:xfrm>
          <a:prstGeom prst="rect">
            <a:avLst/>
          </a:prstGeom>
          <a:noFill/>
          <a:ln/>
        </p:spPr>
        <p:txBody>
          <a:bodyPr wrap="square" lIns="0" tIns="0" rIns="0" bIns="0" rtlCol="0" anchor="ctr"/>
          <a:lstStyle/>
          <a:p>
            <a:pPr indent="0" marL="0">
              <a:buNone/>
            </a:pPr>
            <a:r>
              <a:rPr lang="en-US" sz="1300" b="1" dirty="0">
                <a:solidFill>
                  <a:srgbClr val="2F4858"/>
                </a:solidFill>
                <a:latin typeface="Cambria" pitchFamily="34" charset="0"/>
                <a:ea typeface="Cambria" pitchFamily="34" charset="-122"/>
                <a:cs typeface="Cambria" pitchFamily="34" charset="-120"/>
              </a:rPr>
              <a:t>07</a:t>
            </a:r>
            <a:endParaRPr lang="en-US" sz="1300" dirty="0"/>
          </a:p>
        </p:txBody>
      </p:sp>
      <p:sp>
        <p:nvSpPr>
          <p:cNvPr id="37" name="Text 35"/>
          <p:cNvSpPr/>
          <p:nvPr/>
        </p:nvSpPr>
        <p:spPr>
          <a:xfrm>
            <a:off x="6400800" y="4453128"/>
            <a:ext cx="2240280" cy="502920"/>
          </a:xfrm>
          <a:prstGeom prst="rect">
            <a:avLst/>
          </a:prstGeom>
          <a:noFill/>
          <a:ln/>
        </p:spPr>
        <p:txBody>
          <a:bodyPr wrap="square" lIns="0" tIns="0" rIns="0" bIns="0" rtlCol="0" anchor="ctr"/>
          <a:lstStyle/>
          <a:p>
            <a:pPr indent="0" marL="0">
              <a:lnSpc>
                <a:spcPts val="1600"/>
              </a:lnSpc>
              <a:buNone/>
            </a:pPr>
            <a:r>
              <a:rPr lang="en-US" sz="1200" b="1" dirty="0">
                <a:solidFill>
                  <a:srgbClr val="1A1A1A"/>
                </a:solidFill>
                <a:latin typeface="맑은 고딕" pitchFamily="34" charset="0"/>
                <a:ea typeface="맑은 고딕" pitchFamily="34" charset="-122"/>
                <a:cs typeface="맑은 고딕" pitchFamily="34" charset="-120"/>
              </a:rPr>
              <a:t>기업 임직원 ESG 워크숍</a:t>
            </a:r>
            <a:endParaRPr lang="en-US" sz="1200" dirty="0"/>
          </a:p>
        </p:txBody>
      </p:sp>
      <p:sp>
        <p:nvSpPr>
          <p:cNvPr id="38" name="Text 36"/>
          <p:cNvSpPr/>
          <p:nvPr/>
        </p:nvSpPr>
        <p:spPr>
          <a:xfrm>
            <a:off x="6400800" y="4983480"/>
            <a:ext cx="2240280" cy="237744"/>
          </a:xfrm>
          <a:prstGeom prst="rect">
            <a:avLst/>
          </a:prstGeom>
          <a:noFill/>
          <a:ln/>
        </p:spPr>
        <p:txBody>
          <a:bodyPr wrap="square" lIns="0" tIns="0" rIns="0" bIns="0" rtlCol="0" anchor="ctr"/>
          <a:lstStyle/>
          <a:p>
            <a:pPr indent="0" marL="0">
              <a:buNone/>
            </a:pPr>
            <a:r>
              <a:rPr lang="en-US" sz="950" dirty="0">
                <a:solidFill>
                  <a:srgbClr val="2F4858"/>
                </a:solidFill>
                <a:latin typeface="맑은 고딕" pitchFamily="34" charset="0"/>
                <a:ea typeface="맑은 고딕" pitchFamily="34" charset="-122"/>
                <a:cs typeface="맑은 고딕" pitchFamily="34" charset="-120"/>
              </a:rPr>
              <a:t>4회 (후원사 맞춤)</a:t>
            </a:r>
            <a:endParaRPr lang="en-US" sz="950" dirty="0"/>
          </a:p>
        </p:txBody>
      </p:sp>
      <p:sp>
        <p:nvSpPr>
          <p:cNvPr id="39" name="Text 37"/>
          <p:cNvSpPr/>
          <p:nvPr/>
        </p:nvSpPr>
        <p:spPr>
          <a:xfrm>
            <a:off x="6400800" y="5239512"/>
            <a:ext cx="2240280" cy="658368"/>
          </a:xfrm>
          <a:prstGeom prst="rect">
            <a:avLst/>
          </a:prstGeom>
          <a:noFill/>
          <a:ln/>
        </p:spPr>
        <p:txBody>
          <a:bodyPr wrap="square" lIns="0" tIns="0" rIns="0" bIns="0" rtlCol="0" anchor="t"/>
          <a:lstStyle/>
          <a:p>
            <a:pPr indent="0" marL="0">
              <a:lnSpc>
                <a:spcPts val="1400"/>
              </a:lnSpc>
              <a:buNone/>
            </a:pPr>
            <a:r>
              <a:rPr lang="en-US" sz="950" dirty="0">
                <a:solidFill>
                  <a:srgbClr val="4A453F"/>
                </a:solidFill>
                <a:latin typeface="맑은 고딕" pitchFamily="34" charset="0"/>
                <a:ea typeface="맑은 고딕" pitchFamily="34" charset="-122"/>
                <a:cs typeface="맑은 고딕" pitchFamily="34" charset="-120"/>
              </a:rPr>
              <a:t>후원 기업 임직원이 원단 회수·직조·전시 서포터로 참여하는 지역환원 프로그램.</a:t>
            </a:r>
            <a:endParaRPr lang="en-US" sz="950" dirty="0"/>
          </a:p>
        </p:txBody>
      </p:sp>
      <p:pic>
        <p:nvPicPr>
          <p:cNvPr id="40" name="Image 0" descr="/home/claude/aither/img/A27_2.jpeg">    </p:cNvPr>
          <p:cNvPicPr>
            <a:picLocks noChangeAspect="1"/>
          </p:cNvPicPr>
          <p:nvPr/>
        </p:nvPicPr>
        <p:blipFill>
          <a:blip r:embed="rId1"/>
          <a:srcRect l="0" r="0" t="0" b="0"/>
          <a:stretch/>
        </p:blipFill>
        <p:spPr>
          <a:xfrm>
            <a:off x="9025128" y="3977640"/>
            <a:ext cx="2615184" cy="950976"/>
          </a:xfrm>
          <a:prstGeom prst="rect">
            <a:avLst/>
          </a:prstGeom>
        </p:spPr>
      </p:pic>
      <p:pic>
        <p:nvPicPr>
          <p:cNvPr id="41" name="Image 1" descr="/home/claude/aither/img/A39_0.jpeg">    </p:cNvPr>
          <p:cNvPicPr>
            <a:picLocks noChangeAspect="1"/>
          </p:cNvPicPr>
          <p:nvPr/>
        </p:nvPicPr>
        <p:blipFill>
          <a:blip r:embed="rId2"/>
          <a:srcRect l="0" r="0" t="0" b="0"/>
          <a:stretch/>
        </p:blipFill>
        <p:spPr>
          <a:xfrm>
            <a:off x="9025128" y="5001768"/>
            <a:ext cx="2615184" cy="987552"/>
          </a:xfrm>
          <a:prstGeom prst="rect">
            <a:avLst/>
          </a:prstGeom>
        </p:spPr>
      </p:pic>
      <p:sp>
        <p:nvSpPr>
          <p:cNvPr id="42" name="Text 38"/>
          <p:cNvSpPr/>
          <p:nvPr/>
        </p:nvSpPr>
        <p:spPr>
          <a:xfrm>
            <a:off x="9025128" y="6035040"/>
            <a:ext cx="2615184" cy="219456"/>
          </a:xfrm>
          <a:prstGeom prst="rect">
            <a:avLst/>
          </a:prstGeom>
          <a:noFill/>
          <a:ln/>
        </p:spPr>
        <p:txBody>
          <a:bodyPr wrap="square" lIns="0" tIns="0" rIns="0" bIns="0" rtlCol="0" anchor="ctr"/>
          <a:lstStyle/>
          <a:p>
            <a:pPr indent="0" marL="0">
              <a:buNone/>
            </a:pPr>
            <a:r>
              <a:rPr lang="en-US" sz="850" dirty="0">
                <a:solidFill>
                  <a:srgbClr val="8A857E"/>
                </a:solidFill>
                <a:latin typeface="맑은 고딕" pitchFamily="34" charset="0"/>
                <a:ea typeface="맑은 고딕" pitchFamily="34" charset="-122"/>
                <a:cs typeface="맑은 고딕" pitchFamily="34" charset="-120"/>
              </a:rPr>
              <a:t>주민·참여자 워크숍 현장 (아이테르 제공)</a:t>
            </a:r>
            <a:endParaRPr lang="en-US" sz="850" dirty="0"/>
          </a:p>
        </p:txBody>
      </p:sp>
      <p:sp>
        <p:nvSpPr>
          <p:cNvPr id="43" name="Text 39"/>
          <p:cNvSpPr/>
          <p:nvPr/>
        </p:nvSpPr>
        <p:spPr>
          <a:xfrm>
            <a:off x="548640" y="6108192"/>
            <a:ext cx="11064240" cy="274320"/>
          </a:xfrm>
          <a:prstGeom prst="rect">
            <a:avLst/>
          </a:prstGeom>
          <a:noFill/>
          <a:ln/>
        </p:spPr>
        <p:txBody>
          <a:bodyPr wrap="square" lIns="0" tIns="0" rIns="0" bIns="0" rtlCol="0" anchor="ctr"/>
          <a:lstStyle/>
          <a:p>
            <a:pPr indent="0" marL="0">
              <a:buNone/>
            </a:pPr>
            <a:r>
              <a:rPr lang="en-US" sz="950" dirty="0">
                <a:solidFill>
                  <a:srgbClr val="8A857E"/>
                </a:solidFill>
                <a:latin typeface="맑은 고딕" pitchFamily="34" charset="0"/>
                <a:ea typeface="맑은 고딕" pitchFamily="34" charset="-122"/>
                <a:cs typeface="맑은 고딕" pitchFamily="34" charset="-120"/>
              </a:rPr>
              <a:t>총 27회 · 목표 참여 800명  |  전 프로그램 사전예약제, 취약계층·다문화 가정 우선 배정 20%</a:t>
            </a:r>
            <a:endParaRPr lang="en-US" sz="950" dirty="0"/>
          </a:p>
        </p:txBody>
      </p:sp>
      <p:sp>
        <p:nvSpPr>
          <p:cNvPr id="44" name="Text 40"/>
          <p:cNvSpPr/>
          <p:nvPr/>
        </p:nvSpPr>
        <p:spPr>
          <a:xfrm>
            <a:off x="548640" y="6419088"/>
            <a:ext cx="7315200" cy="274320"/>
          </a:xfrm>
          <a:prstGeom prst="rect">
            <a:avLst/>
          </a:prstGeom>
          <a:noFill/>
          <a:ln/>
        </p:spPr>
        <p:txBody>
          <a:bodyPr wrap="square" lIns="0" tIns="0" rIns="0" bIns="0" rtlCol="0" anchor="ctr"/>
          <a:lstStyle/>
          <a:p>
            <a:pPr algn="l" indent="0" marL="0">
              <a:buNone/>
            </a:pPr>
            <a:r>
              <a:rPr lang="en-US" sz="800" dirty="0">
                <a:solidFill>
                  <a:srgbClr val="8A857E"/>
                </a:solidFill>
                <a:latin typeface="맑은 고딕" pitchFamily="34" charset="0"/>
                <a:ea typeface="맑은 고딕" pitchFamily="34" charset="-122"/>
                <a:cs typeface="맑은 고딕" pitchFamily="34" charset="-120"/>
              </a:rPr>
              <a:t>아이테르 문화예술기획제안서   ·   덮인 물, 남은 올   ·   기획 추병곤</a:t>
            </a:r>
            <a:endParaRPr lang="en-US" sz="800" dirty="0"/>
          </a:p>
        </p:txBody>
      </p:sp>
      <p:sp>
        <p:nvSpPr>
          <p:cNvPr id="45" name="Text 41"/>
          <p:cNvSpPr/>
          <p:nvPr/>
        </p:nvSpPr>
        <p:spPr>
          <a:xfrm>
            <a:off x="10972800" y="6419088"/>
            <a:ext cx="640080" cy="274320"/>
          </a:xfrm>
          <a:prstGeom prst="rect">
            <a:avLst/>
          </a:prstGeom>
          <a:noFill/>
          <a:ln/>
        </p:spPr>
        <p:txBody>
          <a:bodyPr wrap="square" lIns="0" tIns="0" rIns="0" bIns="0" rtlCol="0" anchor="ctr"/>
          <a:lstStyle/>
          <a:p>
            <a:pPr algn="r" indent="0" marL="0">
              <a:buNone/>
            </a:pPr>
            <a:r>
              <a:rPr lang="en-US" sz="900" dirty="0">
                <a:solidFill>
                  <a:srgbClr val="8A857E"/>
                </a:solidFill>
                <a:latin typeface="Cambria" pitchFamily="34" charset="0"/>
                <a:ea typeface="Cambria" pitchFamily="34" charset="-122"/>
                <a:cs typeface="Cambria"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7315200" cy="237744"/>
          </a:xfrm>
          <a:prstGeom prst="rect">
            <a:avLst/>
          </a:prstGeom>
          <a:noFill/>
          <a:ln/>
        </p:spPr>
        <p:txBody>
          <a:bodyPr wrap="square" lIns="0" tIns="0" rIns="0" bIns="0" rtlCol="0" anchor="ctr"/>
          <a:lstStyle/>
          <a:p>
            <a:pPr indent="0" marL="0">
              <a:buNone/>
            </a:pPr>
            <a:r>
              <a:rPr lang="en-US" sz="1050" spc="250" kern="0" dirty="0">
                <a:solidFill>
                  <a:srgbClr val="8A857E"/>
                </a:solidFill>
                <a:latin typeface="Cambria" pitchFamily="34" charset="0"/>
                <a:ea typeface="Cambria" pitchFamily="34" charset="-122"/>
                <a:cs typeface="Cambria" pitchFamily="34" charset="-120"/>
              </a:rPr>
              <a:t>15  PROMOTION</a:t>
            </a:r>
            <a:endParaRPr lang="en-US" sz="1050" dirty="0"/>
          </a:p>
        </p:txBody>
      </p:sp>
      <p:sp>
        <p:nvSpPr>
          <p:cNvPr id="3" name="Text 1"/>
          <p:cNvSpPr/>
          <p:nvPr/>
        </p:nvSpPr>
        <p:spPr>
          <a:xfrm>
            <a:off x="548640" y="694944"/>
            <a:ext cx="10058400" cy="502920"/>
          </a:xfrm>
          <a:prstGeom prst="rect">
            <a:avLst/>
          </a:prstGeom>
          <a:noFill/>
          <a:ln/>
        </p:spPr>
        <p:txBody>
          <a:bodyPr wrap="square" lIns="0" tIns="0" rIns="0" bIns="0" rtlCol="0" anchor="ctr"/>
          <a:lstStyle/>
          <a:p>
            <a:pPr indent="0" marL="0">
              <a:buNone/>
            </a:pPr>
            <a:r>
              <a:rPr lang="en-US" sz="2700" b="1" dirty="0">
                <a:solidFill>
                  <a:srgbClr val="1A1A1A"/>
                </a:solidFill>
                <a:latin typeface="맑은 고딕" pitchFamily="34" charset="0"/>
                <a:ea typeface="맑은 고딕" pitchFamily="34" charset="-122"/>
                <a:cs typeface="맑은 고딕" pitchFamily="34" charset="-120"/>
              </a:rPr>
              <a:t>홍보·마케팅 계획</a:t>
            </a:r>
            <a:endParaRPr lang="en-US" sz="2700" dirty="0"/>
          </a:p>
        </p:txBody>
      </p:sp>
      <p:sp>
        <p:nvSpPr>
          <p:cNvPr id="4" name="Text 2"/>
          <p:cNvSpPr/>
          <p:nvPr/>
        </p:nvSpPr>
        <p:spPr>
          <a:xfrm>
            <a:off x="548640" y="1225296"/>
            <a:ext cx="10607040" cy="310896"/>
          </a:xfrm>
          <a:prstGeom prst="rect">
            <a:avLst/>
          </a:prstGeom>
          <a:noFill/>
          <a:ln/>
        </p:spPr>
        <p:txBody>
          <a:bodyPr wrap="square" lIns="0" tIns="0" rIns="0" bIns="0" rtlCol="0" anchor="ctr"/>
          <a:lstStyle/>
          <a:p>
            <a:pPr indent="0" marL="0">
              <a:buNone/>
            </a:pPr>
            <a:r>
              <a:rPr lang="en-US" sz="1200" dirty="0">
                <a:solidFill>
                  <a:srgbClr val="8A857E"/>
                </a:solidFill>
                <a:latin typeface="맑은 고딕" pitchFamily="34" charset="0"/>
                <a:ea typeface="맑은 고딕" pitchFamily="34" charset="-122"/>
                <a:cs typeface="맑은 고딕" pitchFamily="34" charset="-120"/>
              </a:rPr>
              <a:t>장소가 곧 콘텐츠다 — '가 볼 수 없던 집이 열린다'는 한 문장으로 밀고 간다</a:t>
            </a:r>
            <a:endParaRPr lang="en-US" sz="1200" dirty="0"/>
          </a:p>
        </p:txBody>
      </p:sp>
      <p:sp>
        <p:nvSpPr>
          <p:cNvPr id="5" name="Shape 3"/>
          <p:cNvSpPr/>
          <p:nvPr/>
        </p:nvSpPr>
        <p:spPr>
          <a:xfrm>
            <a:off x="548640" y="1783080"/>
            <a:ext cx="3493008" cy="457200"/>
          </a:xfrm>
          <a:prstGeom prst="rect">
            <a:avLst/>
          </a:prstGeom>
          <a:solidFill>
            <a:srgbClr val="2F4858"/>
          </a:solidFill>
          <a:ln/>
        </p:spPr>
      </p:sp>
      <p:sp>
        <p:nvSpPr>
          <p:cNvPr id="6" name="Text 4"/>
          <p:cNvSpPr/>
          <p:nvPr/>
        </p:nvSpPr>
        <p:spPr>
          <a:xfrm>
            <a:off x="731520" y="1783080"/>
            <a:ext cx="3108960" cy="457200"/>
          </a:xfrm>
          <a:prstGeom prst="rect">
            <a:avLst/>
          </a:prstGeom>
          <a:noFill/>
          <a:ln/>
        </p:spPr>
        <p:txBody>
          <a:bodyPr wrap="square" lIns="0" tIns="0" rIns="0" bIns="0" rtlCol="0" anchor="ctr"/>
          <a:lstStyle/>
          <a:p>
            <a:pPr indent="0" marL="0">
              <a:buNone/>
            </a:pPr>
            <a:r>
              <a:rPr lang="en-US" sz="1150" b="1" dirty="0">
                <a:solidFill>
                  <a:srgbClr val="FFFFFF"/>
                </a:solidFill>
                <a:latin typeface="맑은 고딕" pitchFamily="34" charset="0"/>
                <a:ea typeface="맑은 고딕" pitchFamily="34" charset="-122"/>
                <a:cs typeface="맑은 고딕" pitchFamily="34" charset="-120"/>
              </a:rPr>
              <a:t>D-60  티저</a:t>
            </a:r>
            <a:endParaRPr lang="en-US" sz="1150" dirty="0"/>
          </a:p>
        </p:txBody>
      </p:sp>
      <p:sp>
        <p:nvSpPr>
          <p:cNvPr id="7" name="Text 5"/>
          <p:cNvSpPr/>
          <p:nvPr/>
        </p:nvSpPr>
        <p:spPr>
          <a:xfrm>
            <a:off x="548640" y="2359152"/>
            <a:ext cx="3493008" cy="274320"/>
          </a:xfrm>
          <a:prstGeom prst="rect">
            <a:avLst/>
          </a:prstGeom>
          <a:noFill/>
          <a:ln/>
        </p:spPr>
        <p:txBody>
          <a:bodyPr wrap="square" lIns="0" tIns="0" rIns="0" bIns="0" rtlCol="0" anchor="ctr"/>
          <a:lstStyle/>
          <a:p>
            <a:pPr indent="0" marL="0">
              <a:buNone/>
            </a:pPr>
            <a:r>
              <a:rPr lang="en-US" sz="1100" b="1" dirty="0">
                <a:solidFill>
                  <a:srgbClr val="1A1A1A"/>
                </a:solidFill>
                <a:latin typeface="맑은 고딕" pitchFamily="34" charset="0"/>
                <a:ea typeface="맑은 고딕" pitchFamily="34" charset="-122"/>
                <a:cs typeface="맑은 고딕" pitchFamily="34" charset="-120"/>
              </a:rPr>
              <a:t>‘여덟 개의 방’ 티저</a:t>
            </a:r>
            <a:endParaRPr lang="en-US" sz="1100" dirty="0"/>
          </a:p>
        </p:txBody>
      </p:sp>
      <p:sp>
        <p:nvSpPr>
          <p:cNvPr id="8" name="Text 6"/>
          <p:cNvSpPr/>
          <p:nvPr/>
        </p:nvSpPr>
        <p:spPr>
          <a:xfrm>
            <a:off x="594360" y="2670048"/>
            <a:ext cx="3383280" cy="1005840"/>
          </a:xfrm>
          <a:prstGeom prst="rect">
            <a:avLst/>
          </a:prstGeom>
          <a:noFill/>
          <a:ln/>
        </p:spPr>
        <p:txBody>
          <a:bodyPr wrap="square" lIns="0" tIns="0" rIns="0" bIns="0" rtlCol="0" anchor="t"/>
          <a:lstStyle/>
          <a:p>
            <a:pPr marL="342900" indent="-342900">
              <a:lnSpc>
                <a:spcPts val="1400"/>
              </a:lnSpc>
              <a:spcAft>
                <a:spcPts val="600"/>
              </a:spcAft>
              <a:buSzPct val="100000"/>
              <a:buChar char="•"/>
            </a:pPr>
            <a:r>
              <a:rPr lang="en-US" sz="950" dirty="0">
                <a:solidFill>
                  <a:srgbClr val="4A453F"/>
                </a:solidFill>
                <a:latin typeface="맑은 고딕" pitchFamily="34" charset="0"/>
                <a:ea typeface="맑은 고딕" pitchFamily="34" charset="-122"/>
                <a:cs typeface="맑은 고딕" pitchFamily="34" charset="-120"/>
              </a:rPr>
              <a:t>8실 실내 컷 순차 공개(주 1실)</a:t>
            </a:r>
            <a:endParaRPr lang="en-US" sz="950" dirty="0"/>
          </a:p>
          <a:p>
            <a:pPr marL="342900" indent="-342900">
              <a:lnSpc>
                <a:spcPts val="1400"/>
              </a:lnSpc>
              <a:spcAft>
                <a:spcPts val="600"/>
              </a:spcAft>
              <a:buSzPct val="100000"/>
              <a:buChar char="•"/>
            </a:pPr>
            <a:r>
              <a:rPr lang="en-US" sz="950" dirty="0">
                <a:solidFill>
                  <a:srgbClr val="4A453F"/>
                </a:solidFill>
                <a:latin typeface="맑은 고딕" pitchFamily="34" charset="0"/>
                <a:ea typeface="맑은 고딕" pitchFamily="34" charset="-122"/>
                <a:cs typeface="맑은 고딕" pitchFamily="34" charset="-120"/>
              </a:rPr>
              <a:t>보도자료 1차 · 지역 매체 사전 인터뷰</a:t>
            </a:r>
            <a:endParaRPr lang="en-US" sz="950" dirty="0"/>
          </a:p>
          <a:p>
            <a:pPr marL="342900" indent="-342900">
              <a:lnSpc>
                <a:spcPts val="1400"/>
              </a:lnSpc>
              <a:spcAft>
                <a:spcPts val="600"/>
              </a:spcAft>
              <a:buSzPct val="100000"/>
              <a:buChar char="•"/>
            </a:pPr>
            <a:r>
              <a:rPr lang="en-US" sz="950" dirty="0">
                <a:solidFill>
                  <a:srgbClr val="4A453F"/>
                </a:solidFill>
                <a:latin typeface="맑은 고딕" pitchFamily="34" charset="0"/>
                <a:ea typeface="맑은 고딕" pitchFamily="34" charset="-122"/>
                <a:cs typeface="맑은 고딕" pitchFamily="34" charset="-120"/>
              </a:rPr>
              <a:t>워킹투어·워크숍 사전예약 오픈</a:t>
            </a:r>
            <a:endParaRPr lang="en-US" sz="950" dirty="0"/>
          </a:p>
        </p:txBody>
      </p:sp>
      <p:sp>
        <p:nvSpPr>
          <p:cNvPr id="9" name="Shape 7"/>
          <p:cNvSpPr/>
          <p:nvPr/>
        </p:nvSpPr>
        <p:spPr>
          <a:xfrm>
            <a:off x="4288536" y="1783080"/>
            <a:ext cx="3493008" cy="457200"/>
          </a:xfrm>
          <a:prstGeom prst="rect">
            <a:avLst/>
          </a:prstGeom>
          <a:solidFill>
            <a:srgbClr val="9C6B3C"/>
          </a:solidFill>
          <a:ln/>
        </p:spPr>
      </p:sp>
      <p:sp>
        <p:nvSpPr>
          <p:cNvPr id="10" name="Text 8"/>
          <p:cNvSpPr/>
          <p:nvPr/>
        </p:nvSpPr>
        <p:spPr>
          <a:xfrm>
            <a:off x="4471416" y="1783080"/>
            <a:ext cx="3108960" cy="457200"/>
          </a:xfrm>
          <a:prstGeom prst="rect">
            <a:avLst/>
          </a:prstGeom>
          <a:noFill/>
          <a:ln/>
        </p:spPr>
        <p:txBody>
          <a:bodyPr wrap="square" lIns="0" tIns="0" rIns="0" bIns="0" rtlCol="0" anchor="ctr"/>
          <a:lstStyle/>
          <a:p>
            <a:pPr indent="0" marL="0">
              <a:buNone/>
            </a:pPr>
            <a:r>
              <a:rPr lang="en-US" sz="1150" b="1" dirty="0">
                <a:solidFill>
                  <a:srgbClr val="FFFFFF"/>
                </a:solidFill>
                <a:latin typeface="맑은 고딕" pitchFamily="34" charset="0"/>
                <a:ea typeface="맑은 고딕" pitchFamily="34" charset="-122"/>
                <a:cs typeface="맑은 고딕" pitchFamily="34" charset="-120"/>
              </a:rPr>
              <a:t>D-DAY  개막</a:t>
            </a:r>
            <a:endParaRPr lang="en-US" sz="1150" dirty="0"/>
          </a:p>
        </p:txBody>
      </p:sp>
      <p:sp>
        <p:nvSpPr>
          <p:cNvPr id="11" name="Text 9"/>
          <p:cNvSpPr/>
          <p:nvPr/>
        </p:nvSpPr>
        <p:spPr>
          <a:xfrm>
            <a:off x="4288536" y="2359152"/>
            <a:ext cx="3493008" cy="274320"/>
          </a:xfrm>
          <a:prstGeom prst="rect">
            <a:avLst/>
          </a:prstGeom>
          <a:noFill/>
          <a:ln/>
        </p:spPr>
        <p:txBody>
          <a:bodyPr wrap="square" lIns="0" tIns="0" rIns="0" bIns="0" rtlCol="0" anchor="ctr"/>
          <a:lstStyle/>
          <a:p>
            <a:pPr indent="0" marL="0">
              <a:buNone/>
            </a:pPr>
            <a:r>
              <a:rPr lang="en-US" sz="1100" b="1" dirty="0">
                <a:solidFill>
                  <a:srgbClr val="1A1A1A"/>
                </a:solidFill>
                <a:latin typeface="맑은 고딕" pitchFamily="34" charset="0"/>
                <a:ea typeface="맑은 고딕" pitchFamily="34" charset="-122"/>
                <a:cs typeface="맑은 고딕" pitchFamily="34" charset="-120"/>
              </a:rPr>
              <a:t>전야 개막 + 상인회 초청</a:t>
            </a:r>
            <a:endParaRPr lang="en-US" sz="1100" dirty="0"/>
          </a:p>
        </p:txBody>
      </p:sp>
      <p:sp>
        <p:nvSpPr>
          <p:cNvPr id="12" name="Text 10"/>
          <p:cNvSpPr/>
          <p:nvPr/>
        </p:nvSpPr>
        <p:spPr>
          <a:xfrm>
            <a:off x="4334256" y="2670048"/>
            <a:ext cx="3383280" cy="1005840"/>
          </a:xfrm>
          <a:prstGeom prst="rect">
            <a:avLst/>
          </a:prstGeom>
          <a:noFill/>
          <a:ln/>
        </p:spPr>
        <p:txBody>
          <a:bodyPr wrap="square" lIns="0" tIns="0" rIns="0" bIns="0" rtlCol="0" anchor="t"/>
          <a:lstStyle/>
          <a:p>
            <a:pPr marL="342900" indent="-342900">
              <a:lnSpc>
                <a:spcPts val="1400"/>
              </a:lnSpc>
              <a:spcAft>
                <a:spcPts val="600"/>
              </a:spcAft>
              <a:buSzPct val="100000"/>
              <a:buChar char="•"/>
            </a:pPr>
            <a:r>
              <a:rPr lang="en-US" sz="950" dirty="0">
                <a:solidFill>
                  <a:srgbClr val="4A453F"/>
                </a:solidFill>
                <a:latin typeface="맑은 고딕" pitchFamily="34" charset="0"/>
                <a:ea typeface="맑은 고딕" pitchFamily="34" charset="-122"/>
                <a:cs typeface="맑은 고딕" pitchFamily="34" charset="-120"/>
              </a:rPr>
              <a:t>보도자료 2차 · 프레스 프리뷰</a:t>
            </a:r>
            <a:endParaRPr lang="en-US" sz="950" dirty="0"/>
          </a:p>
          <a:p>
            <a:pPr marL="342900" indent="-342900">
              <a:lnSpc>
                <a:spcPts val="1400"/>
              </a:lnSpc>
              <a:spcAft>
                <a:spcPts val="600"/>
              </a:spcAft>
              <a:buSzPct val="100000"/>
              <a:buChar char="•"/>
            </a:pPr>
            <a:r>
              <a:rPr lang="en-US" sz="950" dirty="0">
                <a:solidFill>
                  <a:srgbClr val="4A453F"/>
                </a:solidFill>
                <a:latin typeface="맑은 고딕" pitchFamily="34" charset="0"/>
                <a:ea typeface="맑은 고딕" pitchFamily="34" charset="-122"/>
                <a:cs typeface="맑은 고딕" pitchFamily="34" charset="-120"/>
              </a:rPr>
              <a:t>개막 라이브 · 작가 인사</a:t>
            </a:r>
            <a:endParaRPr lang="en-US" sz="950" dirty="0"/>
          </a:p>
          <a:p>
            <a:pPr marL="342900" indent="-342900">
              <a:lnSpc>
                <a:spcPts val="1400"/>
              </a:lnSpc>
              <a:spcAft>
                <a:spcPts val="600"/>
              </a:spcAft>
              <a:buSzPct val="100000"/>
              <a:buChar char="•"/>
            </a:pPr>
            <a:r>
              <a:rPr lang="en-US" sz="950" dirty="0">
                <a:solidFill>
                  <a:srgbClr val="4A453F"/>
                </a:solidFill>
                <a:latin typeface="맑은 고딕" pitchFamily="34" charset="0"/>
                <a:ea typeface="맑은 고딕" pitchFamily="34" charset="-122"/>
                <a:cs typeface="맑은 고딕" pitchFamily="34" charset="-120"/>
              </a:rPr>
              <a:t>상인 초청의 밤(진시장 상점 12곳 협업)</a:t>
            </a:r>
            <a:endParaRPr lang="en-US" sz="950" dirty="0"/>
          </a:p>
        </p:txBody>
      </p:sp>
      <p:sp>
        <p:nvSpPr>
          <p:cNvPr id="13" name="Shape 11"/>
          <p:cNvSpPr/>
          <p:nvPr/>
        </p:nvSpPr>
        <p:spPr>
          <a:xfrm>
            <a:off x="8028432" y="1783080"/>
            <a:ext cx="3493008" cy="457200"/>
          </a:xfrm>
          <a:prstGeom prst="rect">
            <a:avLst/>
          </a:prstGeom>
          <a:solidFill>
            <a:srgbClr val="7A4A45"/>
          </a:solidFill>
          <a:ln/>
        </p:spPr>
      </p:sp>
      <p:sp>
        <p:nvSpPr>
          <p:cNvPr id="14" name="Text 12"/>
          <p:cNvSpPr/>
          <p:nvPr/>
        </p:nvSpPr>
        <p:spPr>
          <a:xfrm>
            <a:off x="8211312" y="1783080"/>
            <a:ext cx="3108960" cy="457200"/>
          </a:xfrm>
          <a:prstGeom prst="rect">
            <a:avLst/>
          </a:prstGeom>
          <a:noFill/>
          <a:ln/>
        </p:spPr>
        <p:txBody>
          <a:bodyPr wrap="square" lIns="0" tIns="0" rIns="0" bIns="0" rtlCol="0" anchor="ctr"/>
          <a:lstStyle/>
          <a:p>
            <a:pPr indent="0" marL="0">
              <a:buNone/>
            </a:pPr>
            <a:r>
              <a:rPr lang="en-US" sz="1150" b="1" dirty="0">
                <a:solidFill>
                  <a:srgbClr val="FFFFFF"/>
                </a:solidFill>
                <a:latin typeface="맑은 고딕" pitchFamily="34" charset="0"/>
                <a:ea typeface="맑은 고딕" pitchFamily="34" charset="-122"/>
                <a:cs typeface="맑은 고딕" pitchFamily="34" charset="-120"/>
              </a:rPr>
              <a:t>D+  운영</a:t>
            </a:r>
            <a:endParaRPr lang="en-US" sz="1150" dirty="0"/>
          </a:p>
        </p:txBody>
      </p:sp>
      <p:sp>
        <p:nvSpPr>
          <p:cNvPr id="15" name="Text 13"/>
          <p:cNvSpPr/>
          <p:nvPr/>
        </p:nvSpPr>
        <p:spPr>
          <a:xfrm>
            <a:off x="8028432" y="2359152"/>
            <a:ext cx="3493008" cy="274320"/>
          </a:xfrm>
          <a:prstGeom prst="rect">
            <a:avLst/>
          </a:prstGeom>
          <a:noFill/>
          <a:ln/>
        </p:spPr>
        <p:txBody>
          <a:bodyPr wrap="square" lIns="0" tIns="0" rIns="0" bIns="0" rtlCol="0" anchor="ctr"/>
          <a:lstStyle/>
          <a:p>
            <a:pPr indent="0" marL="0">
              <a:buNone/>
            </a:pPr>
            <a:r>
              <a:rPr lang="en-US" sz="1100" b="1" dirty="0">
                <a:solidFill>
                  <a:srgbClr val="1A1A1A"/>
                </a:solidFill>
                <a:latin typeface="맑은 고딕" pitchFamily="34" charset="0"/>
                <a:ea typeface="맑은 고딕" pitchFamily="34" charset="-122"/>
                <a:cs typeface="맑은 고딕" pitchFamily="34" charset="-120"/>
              </a:rPr>
              <a:t>참여가 콘텐츠가 되는 구간</a:t>
            </a:r>
            <a:endParaRPr lang="en-US" sz="1100" dirty="0"/>
          </a:p>
        </p:txBody>
      </p:sp>
      <p:sp>
        <p:nvSpPr>
          <p:cNvPr id="16" name="Text 14"/>
          <p:cNvSpPr/>
          <p:nvPr/>
        </p:nvSpPr>
        <p:spPr>
          <a:xfrm>
            <a:off x="8074152" y="2670048"/>
            <a:ext cx="3383280" cy="1005840"/>
          </a:xfrm>
          <a:prstGeom prst="rect">
            <a:avLst/>
          </a:prstGeom>
          <a:noFill/>
          <a:ln/>
        </p:spPr>
        <p:txBody>
          <a:bodyPr wrap="square" lIns="0" tIns="0" rIns="0" bIns="0" rtlCol="0" anchor="t"/>
          <a:lstStyle/>
          <a:p>
            <a:pPr marL="342900" indent="-342900">
              <a:lnSpc>
                <a:spcPts val="1400"/>
              </a:lnSpc>
              <a:spcAft>
                <a:spcPts val="600"/>
              </a:spcAft>
              <a:buSzPct val="100000"/>
              <a:buChar char="•"/>
            </a:pPr>
            <a:r>
              <a:rPr lang="en-US" sz="950" dirty="0">
                <a:solidFill>
                  <a:srgbClr val="4A453F"/>
                </a:solidFill>
                <a:latin typeface="맑은 고딕" pitchFamily="34" charset="0"/>
                <a:ea typeface="맑은 고딕" pitchFamily="34" charset="-122"/>
                <a:cs typeface="맑은 고딕" pitchFamily="34" charset="-120"/>
              </a:rPr>
              <a:t>숏폼 8편(방마다 1편) 주 2회 업로드</a:t>
            </a:r>
            <a:endParaRPr lang="en-US" sz="950" dirty="0"/>
          </a:p>
          <a:p>
            <a:pPr marL="342900" indent="-342900">
              <a:lnSpc>
                <a:spcPts val="1400"/>
              </a:lnSpc>
              <a:spcAft>
                <a:spcPts val="600"/>
              </a:spcAft>
              <a:buSzPct val="100000"/>
              <a:buChar char="•"/>
            </a:pPr>
            <a:r>
              <a:rPr lang="en-US" sz="950" dirty="0">
                <a:solidFill>
                  <a:srgbClr val="4A453F"/>
                </a:solidFill>
                <a:latin typeface="맑은 고딕" pitchFamily="34" charset="0"/>
                <a:ea typeface="맑은 고딕" pitchFamily="34" charset="-122"/>
                <a:cs typeface="맑은 고딕" pitchFamily="34" charset="-120"/>
              </a:rPr>
              <a:t>구술·드로잉 누적 현황 주간 공개</a:t>
            </a:r>
            <a:endParaRPr lang="en-US" sz="950" dirty="0"/>
          </a:p>
          <a:p>
            <a:pPr marL="342900" indent="-342900">
              <a:lnSpc>
                <a:spcPts val="1400"/>
              </a:lnSpc>
              <a:spcAft>
                <a:spcPts val="600"/>
              </a:spcAft>
              <a:buSzPct val="100000"/>
              <a:buChar char="•"/>
            </a:pPr>
            <a:r>
              <a:rPr lang="en-US" sz="950" dirty="0">
                <a:solidFill>
                  <a:srgbClr val="4A453F"/>
                </a:solidFill>
                <a:latin typeface="맑은 고딕" pitchFamily="34" charset="0"/>
                <a:ea typeface="맑은 고딕" pitchFamily="34" charset="-122"/>
                <a:cs typeface="맑은 고딕" pitchFamily="34" charset="-120"/>
              </a:rPr>
              <a:t>보도자료 3–4차 · 폐막 결산 콘텐츠</a:t>
            </a:r>
            <a:endParaRPr lang="en-US" sz="950" dirty="0"/>
          </a:p>
        </p:txBody>
      </p:sp>
      <p:sp>
        <p:nvSpPr>
          <p:cNvPr id="17" name="Shape 15"/>
          <p:cNvSpPr/>
          <p:nvPr/>
        </p:nvSpPr>
        <p:spPr>
          <a:xfrm>
            <a:off x="548640" y="3913632"/>
            <a:ext cx="5440680" cy="2212848"/>
          </a:xfrm>
          <a:prstGeom prst="rect">
            <a:avLst/>
          </a:prstGeom>
          <a:solidFill>
            <a:srgbClr val="F3F1ED"/>
          </a:solidFill>
          <a:ln/>
        </p:spPr>
      </p:sp>
      <p:sp>
        <p:nvSpPr>
          <p:cNvPr id="18" name="Text 16"/>
          <p:cNvSpPr/>
          <p:nvPr/>
        </p:nvSpPr>
        <p:spPr>
          <a:xfrm>
            <a:off x="822960" y="4078224"/>
            <a:ext cx="4937760" cy="274320"/>
          </a:xfrm>
          <a:prstGeom prst="rect">
            <a:avLst/>
          </a:prstGeom>
          <a:noFill/>
          <a:ln/>
        </p:spPr>
        <p:txBody>
          <a:bodyPr wrap="square" lIns="0" tIns="0" rIns="0" bIns="0" rtlCol="0" anchor="ctr"/>
          <a:lstStyle/>
          <a:p>
            <a:pPr indent="0" marL="0">
              <a:buNone/>
            </a:pPr>
            <a:r>
              <a:rPr lang="en-US" sz="1200" b="1" dirty="0">
                <a:solidFill>
                  <a:srgbClr val="1A1A1A"/>
                </a:solidFill>
                <a:latin typeface="맑은 고딕" pitchFamily="34" charset="0"/>
                <a:ea typeface="맑은 고딕" pitchFamily="34" charset="-122"/>
                <a:cs typeface="맑은 고딕" pitchFamily="34" charset="-120"/>
              </a:rPr>
              <a:t>채널</a:t>
            </a:r>
            <a:endParaRPr lang="en-US" sz="1200" dirty="0"/>
          </a:p>
        </p:txBody>
      </p:sp>
      <p:sp>
        <p:nvSpPr>
          <p:cNvPr id="19" name="Text 17"/>
          <p:cNvSpPr/>
          <p:nvPr/>
        </p:nvSpPr>
        <p:spPr>
          <a:xfrm>
            <a:off x="822960" y="4407408"/>
            <a:ext cx="685800" cy="256032"/>
          </a:xfrm>
          <a:prstGeom prst="rect">
            <a:avLst/>
          </a:prstGeom>
          <a:noFill/>
          <a:ln/>
        </p:spPr>
        <p:txBody>
          <a:bodyPr wrap="square" lIns="0" tIns="0" rIns="0" bIns="0" rtlCol="0" anchor="ctr"/>
          <a:lstStyle/>
          <a:p>
            <a:pPr indent="0" marL="0">
              <a:buNone/>
            </a:pPr>
            <a:r>
              <a:rPr lang="en-US" sz="950" b="1" dirty="0">
                <a:solidFill>
                  <a:srgbClr val="2F4858"/>
                </a:solidFill>
                <a:latin typeface="맑은 고딕" pitchFamily="34" charset="0"/>
                <a:ea typeface="맑은 고딕" pitchFamily="34" charset="-122"/>
                <a:cs typeface="맑은 고딕" pitchFamily="34" charset="-120"/>
              </a:rPr>
              <a:t>자체</a:t>
            </a:r>
            <a:endParaRPr lang="en-US" sz="950" dirty="0"/>
          </a:p>
        </p:txBody>
      </p:sp>
      <p:sp>
        <p:nvSpPr>
          <p:cNvPr id="20" name="Text 18"/>
          <p:cNvSpPr/>
          <p:nvPr/>
        </p:nvSpPr>
        <p:spPr>
          <a:xfrm>
            <a:off x="1536192" y="4407408"/>
            <a:ext cx="4224528" cy="274320"/>
          </a:xfrm>
          <a:prstGeom prst="rect">
            <a:avLst/>
          </a:prstGeom>
          <a:noFill/>
          <a:ln/>
        </p:spPr>
        <p:txBody>
          <a:bodyPr wrap="square" lIns="0" tIns="0" rIns="0" bIns="0" rtlCol="0" anchor="ctr"/>
          <a:lstStyle/>
          <a:p>
            <a:pPr indent="0" marL="0">
              <a:buNone/>
            </a:pPr>
            <a:r>
              <a:rPr lang="en-US" sz="950" dirty="0">
                <a:solidFill>
                  <a:srgbClr val="4A453F"/>
                </a:solidFill>
                <a:latin typeface="맑은 고딕" pitchFamily="34" charset="0"/>
                <a:ea typeface="맑은 고딕" pitchFamily="34" charset="-122"/>
                <a:cs typeface="맑은 고딕" pitchFamily="34" charset="-120"/>
              </a:rPr>
              <a:t>아이테르 인스타그램·유튜브, 회원 490명 대상 뉴스레터·DM</a:t>
            </a:r>
            <a:endParaRPr lang="en-US" sz="950" dirty="0"/>
          </a:p>
        </p:txBody>
      </p:sp>
      <p:sp>
        <p:nvSpPr>
          <p:cNvPr id="21" name="Text 19"/>
          <p:cNvSpPr/>
          <p:nvPr/>
        </p:nvSpPr>
        <p:spPr>
          <a:xfrm>
            <a:off x="822960" y="4736592"/>
            <a:ext cx="685800" cy="256032"/>
          </a:xfrm>
          <a:prstGeom prst="rect">
            <a:avLst/>
          </a:prstGeom>
          <a:noFill/>
          <a:ln/>
        </p:spPr>
        <p:txBody>
          <a:bodyPr wrap="square" lIns="0" tIns="0" rIns="0" bIns="0" rtlCol="0" anchor="ctr"/>
          <a:lstStyle/>
          <a:p>
            <a:pPr indent="0" marL="0">
              <a:buNone/>
            </a:pPr>
            <a:r>
              <a:rPr lang="en-US" sz="950" b="1" dirty="0">
                <a:solidFill>
                  <a:srgbClr val="2F4858"/>
                </a:solidFill>
                <a:latin typeface="맑은 고딕" pitchFamily="34" charset="0"/>
                <a:ea typeface="맑은 고딕" pitchFamily="34" charset="-122"/>
                <a:cs typeface="맑은 고딕" pitchFamily="34" charset="-120"/>
              </a:rPr>
              <a:t>기관</a:t>
            </a:r>
            <a:endParaRPr lang="en-US" sz="950" dirty="0"/>
          </a:p>
        </p:txBody>
      </p:sp>
      <p:sp>
        <p:nvSpPr>
          <p:cNvPr id="22" name="Text 20"/>
          <p:cNvSpPr/>
          <p:nvPr/>
        </p:nvSpPr>
        <p:spPr>
          <a:xfrm>
            <a:off x="1536192" y="4736592"/>
            <a:ext cx="4224528" cy="274320"/>
          </a:xfrm>
          <a:prstGeom prst="rect">
            <a:avLst/>
          </a:prstGeom>
          <a:noFill/>
          <a:ln/>
        </p:spPr>
        <p:txBody>
          <a:bodyPr wrap="square" lIns="0" tIns="0" rIns="0" bIns="0" rtlCol="0" anchor="ctr"/>
          <a:lstStyle/>
          <a:p>
            <a:pPr indent="0" marL="0">
              <a:buNone/>
            </a:pPr>
            <a:r>
              <a:rPr lang="en-US" sz="950" dirty="0">
                <a:solidFill>
                  <a:srgbClr val="4A453F"/>
                </a:solidFill>
                <a:latin typeface="맑은 고딕" pitchFamily="34" charset="0"/>
                <a:ea typeface="맑은 고딕" pitchFamily="34" charset="-122"/>
                <a:cs typeface="맑은 고딕" pitchFamily="34" charset="-120"/>
              </a:rPr>
              <a:t>주최 기관 및 부산문화재단·동구 공식 채널, 문화포털 등재</a:t>
            </a:r>
            <a:endParaRPr lang="en-US" sz="950" dirty="0"/>
          </a:p>
        </p:txBody>
      </p:sp>
      <p:sp>
        <p:nvSpPr>
          <p:cNvPr id="23" name="Text 21"/>
          <p:cNvSpPr/>
          <p:nvPr/>
        </p:nvSpPr>
        <p:spPr>
          <a:xfrm>
            <a:off x="822960" y="5065776"/>
            <a:ext cx="685800" cy="256032"/>
          </a:xfrm>
          <a:prstGeom prst="rect">
            <a:avLst/>
          </a:prstGeom>
          <a:noFill/>
          <a:ln/>
        </p:spPr>
        <p:txBody>
          <a:bodyPr wrap="square" lIns="0" tIns="0" rIns="0" bIns="0" rtlCol="0" anchor="ctr"/>
          <a:lstStyle/>
          <a:p>
            <a:pPr indent="0" marL="0">
              <a:buNone/>
            </a:pPr>
            <a:r>
              <a:rPr lang="en-US" sz="950" b="1" dirty="0">
                <a:solidFill>
                  <a:srgbClr val="2F4858"/>
                </a:solidFill>
                <a:latin typeface="맑은 고딕" pitchFamily="34" charset="0"/>
                <a:ea typeface="맑은 고딕" pitchFamily="34" charset="-122"/>
                <a:cs typeface="맑은 고딕" pitchFamily="34" charset="-120"/>
              </a:rPr>
              <a:t>언론</a:t>
            </a:r>
            <a:endParaRPr lang="en-US" sz="950" dirty="0"/>
          </a:p>
        </p:txBody>
      </p:sp>
      <p:sp>
        <p:nvSpPr>
          <p:cNvPr id="24" name="Text 22"/>
          <p:cNvSpPr/>
          <p:nvPr/>
        </p:nvSpPr>
        <p:spPr>
          <a:xfrm>
            <a:off x="1536192" y="5065776"/>
            <a:ext cx="4224528" cy="274320"/>
          </a:xfrm>
          <a:prstGeom prst="rect">
            <a:avLst/>
          </a:prstGeom>
          <a:noFill/>
          <a:ln/>
        </p:spPr>
        <p:txBody>
          <a:bodyPr wrap="square" lIns="0" tIns="0" rIns="0" bIns="0" rtlCol="0" anchor="ctr"/>
          <a:lstStyle/>
          <a:p>
            <a:pPr indent="0" marL="0">
              <a:buNone/>
            </a:pPr>
            <a:r>
              <a:rPr lang="en-US" sz="950" dirty="0">
                <a:solidFill>
                  <a:srgbClr val="4A453F"/>
                </a:solidFill>
                <a:latin typeface="맑은 고딕" pitchFamily="34" charset="0"/>
                <a:ea typeface="맑은 고딕" pitchFamily="34" charset="-122"/>
                <a:cs typeface="맑은 고딕" pitchFamily="34" charset="-120"/>
              </a:rPr>
              <a:t>부산일보·국제신문·KNN·부산MBC 등 보도자료 4차, 기획기사 2건 목표</a:t>
            </a:r>
            <a:endParaRPr lang="en-US" sz="950" dirty="0"/>
          </a:p>
        </p:txBody>
      </p:sp>
      <p:sp>
        <p:nvSpPr>
          <p:cNvPr id="25" name="Text 23"/>
          <p:cNvSpPr/>
          <p:nvPr/>
        </p:nvSpPr>
        <p:spPr>
          <a:xfrm>
            <a:off x="822960" y="5394960"/>
            <a:ext cx="685800" cy="256032"/>
          </a:xfrm>
          <a:prstGeom prst="rect">
            <a:avLst/>
          </a:prstGeom>
          <a:noFill/>
          <a:ln/>
        </p:spPr>
        <p:txBody>
          <a:bodyPr wrap="square" lIns="0" tIns="0" rIns="0" bIns="0" rtlCol="0" anchor="ctr"/>
          <a:lstStyle/>
          <a:p>
            <a:pPr indent="0" marL="0">
              <a:buNone/>
            </a:pPr>
            <a:r>
              <a:rPr lang="en-US" sz="950" b="1" dirty="0">
                <a:solidFill>
                  <a:srgbClr val="2F4858"/>
                </a:solidFill>
                <a:latin typeface="맑은 고딕" pitchFamily="34" charset="0"/>
                <a:ea typeface="맑은 고딕" pitchFamily="34" charset="-122"/>
                <a:cs typeface="맑은 고딕" pitchFamily="34" charset="-120"/>
              </a:rPr>
              <a:t>오프라인</a:t>
            </a:r>
            <a:endParaRPr lang="en-US" sz="950" dirty="0"/>
          </a:p>
        </p:txBody>
      </p:sp>
      <p:sp>
        <p:nvSpPr>
          <p:cNvPr id="26" name="Text 24"/>
          <p:cNvSpPr/>
          <p:nvPr/>
        </p:nvSpPr>
        <p:spPr>
          <a:xfrm>
            <a:off x="1536192" y="5394960"/>
            <a:ext cx="4224528" cy="274320"/>
          </a:xfrm>
          <a:prstGeom prst="rect">
            <a:avLst/>
          </a:prstGeom>
          <a:noFill/>
          <a:ln/>
        </p:spPr>
        <p:txBody>
          <a:bodyPr wrap="square" lIns="0" tIns="0" rIns="0" bIns="0" rtlCol="0" anchor="ctr"/>
          <a:lstStyle/>
          <a:p>
            <a:pPr indent="0" marL="0">
              <a:buNone/>
            </a:pPr>
            <a:r>
              <a:rPr lang="en-US" sz="950" dirty="0">
                <a:solidFill>
                  <a:srgbClr val="4A453F"/>
                </a:solidFill>
                <a:latin typeface="맑은 고딕" pitchFamily="34" charset="0"/>
                <a:ea typeface="맑은 고딕" pitchFamily="34" charset="-122"/>
                <a:cs typeface="맑은 고딕" pitchFamily="34" charset="-120"/>
              </a:rPr>
              <a:t>진시장 상인회 게시·현수막, 조방로 상권 포스터 60매, 부산역 배포</a:t>
            </a:r>
            <a:endParaRPr lang="en-US" sz="950" dirty="0"/>
          </a:p>
        </p:txBody>
      </p:sp>
      <p:sp>
        <p:nvSpPr>
          <p:cNvPr id="27" name="Text 25"/>
          <p:cNvSpPr/>
          <p:nvPr/>
        </p:nvSpPr>
        <p:spPr>
          <a:xfrm>
            <a:off x="822960" y="5724144"/>
            <a:ext cx="685800" cy="256032"/>
          </a:xfrm>
          <a:prstGeom prst="rect">
            <a:avLst/>
          </a:prstGeom>
          <a:noFill/>
          <a:ln/>
        </p:spPr>
        <p:txBody>
          <a:bodyPr wrap="square" lIns="0" tIns="0" rIns="0" bIns="0" rtlCol="0" anchor="ctr"/>
          <a:lstStyle/>
          <a:p>
            <a:pPr indent="0" marL="0">
              <a:buNone/>
            </a:pPr>
            <a:r>
              <a:rPr lang="en-US" sz="950" b="1" dirty="0">
                <a:solidFill>
                  <a:srgbClr val="2F4858"/>
                </a:solidFill>
                <a:latin typeface="맑은 고딕" pitchFamily="34" charset="0"/>
                <a:ea typeface="맑은 고딕" pitchFamily="34" charset="-122"/>
                <a:cs typeface="맑은 고딕" pitchFamily="34" charset="-120"/>
              </a:rPr>
              <a:t>기업</a:t>
            </a:r>
            <a:endParaRPr lang="en-US" sz="950" dirty="0"/>
          </a:p>
        </p:txBody>
      </p:sp>
      <p:sp>
        <p:nvSpPr>
          <p:cNvPr id="28" name="Text 26"/>
          <p:cNvSpPr/>
          <p:nvPr/>
        </p:nvSpPr>
        <p:spPr>
          <a:xfrm>
            <a:off x="1536192" y="5724144"/>
            <a:ext cx="4224528" cy="274320"/>
          </a:xfrm>
          <a:prstGeom prst="rect">
            <a:avLst/>
          </a:prstGeom>
          <a:noFill/>
          <a:ln/>
        </p:spPr>
        <p:txBody>
          <a:bodyPr wrap="square" lIns="0" tIns="0" rIns="0" bIns="0" rtlCol="0" anchor="ctr"/>
          <a:lstStyle/>
          <a:p>
            <a:pPr indent="0" marL="0">
              <a:buNone/>
            </a:pPr>
            <a:r>
              <a:rPr lang="en-US" sz="950" dirty="0">
                <a:solidFill>
                  <a:srgbClr val="4A453F"/>
                </a:solidFill>
                <a:latin typeface="맑은 고딕" pitchFamily="34" charset="0"/>
                <a:ea typeface="맑은 고딕" pitchFamily="34" charset="-122"/>
                <a:cs typeface="맑은 고딕" pitchFamily="34" charset="-120"/>
              </a:rPr>
              <a:t>후원사 사내 채널·ESG 리포트 수록, 임직원 초청 관람일 운영</a:t>
            </a:r>
            <a:endParaRPr lang="en-US" sz="950" dirty="0"/>
          </a:p>
        </p:txBody>
      </p:sp>
      <p:sp>
        <p:nvSpPr>
          <p:cNvPr id="29" name="Shape 27"/>
          <p:cNvSpPr/>
          <p:nvPr/>
        </p:nvSpPr>
        <p:spPr>
          <a:xfrm>
            <a:off x="6172200" y="3913632"/>
            <a:ext cx="5440680" cy="2212848"/>
          </a:xfrm>
          <a:prstGeom prst="rect">
            <a:avLst/>
          </a:prstGeom>
          <a:solidFill>
            <a:srgbClr val="1A1A1A"/>
          </a:solidFill>
          <a:ln/>
        </p:spPr>
      </p:sp>
      <p:sp>
        <p:nvSpPr>
          <p:cNvPr id="30" name="Text 28"/>
          <p:cNvSpPr/>
          <p:nvPr/>
        </p:nvSpPr>
        <p:spPr>
          <a:xfrm>
            <a:off x="6446520" y="4078224"/>
            <a:ext cx="4937760" cy="274320"/>
          </a:xfrm>
          <a:prstGeom prst="rect">
            <a:avLst/>
          </a:prstGeom>
          <a:noFill/>
          <a:ln/>
        </p:spPr>
        <p:txBody>
          <a:bodyPr wrap="square" lIns="0" tIns="0" rIns="0" bIns="0" rtlCol="0" anchor="ctr"/>
          <a:lstStyle/>
          <a:p>
            <a:pPr indent="0" marL="0">
              <a:buNone/>
            </a:pPr>
            <a:r>
              <a:rPr lang="en-US" sz="1200" b="1" dirty="0">
                <a:solidFill>
                  <a:srgbClr val="FFFFFF"/>
                </a:solidFill>
                <a:latin typeface="맑은 고딕" pitchFamily="34" charset="0"/>
                <a:ea typeface="맑은 고딕" pitchFamily="34" charset="-122"/>
                <a:cs typeface="맑은 고딕" pitchFamily="34" charset="-120"/>
              </a:rPr>
              <a:t>핵심 메시지와 굿즈</a:t>
            </a:r>
            <a:endParaRPr lang="en-US" sz="1200" dirty="0"/>
          </a:p>
        </p:txBody>
      </p:sp>
      <p:sp>
        <p:nvSpPr>
          <p:cNvPr id="31" name="Text 29"/>
          <p:cNvSpPr/>
          <p:nvPr/>
        </p:nvSpPr>
        <p:spPr>
          <a:xfrm>
            <a:off x="6446520" y="4443984"/>
            <a:ext cx="4937760" cy="365760"/>
          </a:xfrm>
          <a:prstGeom prst="rect">
            <a:avLst/>
          </a:prstGeom>
          <a:noFill/>
          <a:ln/>
        </p:spPr>
        <p:txBody>
          <a:bodyPr wrap="square" lIns="0" tIns="0" rIns="0" bIns="0" rtlCol="0" anchor="ctr"/>
          <a:lstStyle/>
          <a:p>
            <a:pPr indent="0" marL="0">
              <a:buNone/>
            </a:pPr>
            <a:r>
              <a:rPr lang="en-US" sz="1700" b="1" dirty="0">
                <a:solidFill>
                  <a:srgbClr val="E4DFD6"/>
                </a:solidFill>
                <a:latin typeface="바탕" pitchFamily="34" charset="0"/>
                <a:ea typeface="바탕" pitchFamily="34" charset="-122"/>
                <a:cs typeface="바탕" pitchFamily="34" charset="-120"/>
              </a:rPr>
              <a:t>“ 범일동 아래로는 아직 물이 흐른다 ”</a:t>
            </a:r>
            <a:endParaRPr lang="en-US" sz="1700" dirty="0"/>
          </a:p>
        </p:txBody>
      </p:sp>
      <p:sp>
        <p:nvSpPr>
          <p:cNvPr id="32" name="Text 30"/>
          <p:cNvSpPr/>
          <p:nvPr/>
        </p:nvSpPr>
        <p:spPr>
          <a:xfrm>
            <a:off x="6446520" y="4901184"/>
            <a:ext cx="4937760" cy="1097280"/>
          </a:xfrm>
          <a:prstGeom prst="rect">
            <a:avLst/>
          </a:prstGeom>
          <a:noFill/>
          <a:ln/>
        </p:spPr>
        <p:txBody>
          <a:bodyPr wrap="square" lIns="0" tIns="0" rIns="0" bIns="0" rtlCol="0" anchor="ctr"/>
          <a:lstStyle/>
          <a:p>
            <a:pPr indent="0" marL="0">
              <a:lnSpc>
                <a:spcPts val="1500"/>
              </a:lnSpc>
              <a:buNone/>
            </a:pPr>
            <a:r>
              <a:rPr lang="en-US" sz="950" dirty="0">
                <a:solidFill>
                  <a:srgbClr val="CFC8BE"/>
                </a:solidFill>
                <a:latin typeface="맑은 고딕" pitchFamily="34" charset="0"/>
                <a:ea typeface="맑은 고딕" pitchFamily="34" charset="-122"/>
                <a:cs typeface="맑은 고딕" pitchFamily="34" charset="-120"/>
              </a:rPr>
              <a:t>· 메인 카피 3종 / 방별 서브 카피 8종 운용</a:t>
            </a:r>
            <a:endParaRPr lang="en-US" sz="950" dirty="0"/>
          </a:p>
          <a:p>
            <a:pPr indent="0" marL="0">
              <a:lnSpc>
                <a:spcPts val="1500"/>
              </a:lnSpc>
              <a:buNone/>
            </a:pPr>
            <a:r>
              <a:rPr lang="en-US" sz="950" dirty="0">
                <a:solidFill>
                  <a:srgbClr val="CFC8BE"/>
                </a:solidFill>
                <a:latin typeface="맑은 고딕" pitchFamily="34" charset="0"/>
                <a:ea typeface="맑은 고딕" pitchFamily="34" charset="-122"/>
                <a:cs typeface="맑은 고딕" pitchFamily="34" charset="-120"/>
              </a:rPr>
              <a:t>· 굿즈: 진시장 자투리 원단으로 만든 리미티드 파우치·북커버(수익 일부 상인회 환원)</a:t>
            </a:r>
            <a:endParaRPr lang="en-US" sz="950" dirty="0"/>
          </a:p>
          <a:p>
            <a:pPr indent="0" marL="0">
              <a:lnSpc>
                <a:spcPts val="1500"/>
              </a:lnSpc>
              <a:buNone/>
            </a:pPr>
            <a:r>
              <a:rPr lang="en-US" sz="950" dirty="0">
                <a:solidFill>
                  <a:srgbClr val="CFC8BE"/>
                </a:solidFill>
                <a:latin typeface="맑은 고딕" pitchFamily="34" charset="0"/>
                <a:ea typeface="맑은 고딕" pitchFamily="34" charset="-122"/>
                <a:cs typeface="맑은 고딕" pitchFamily="34" charset="-120"/>
              </a:rPr>
              <a:t>· 스탬프 투어: 연계 상점 12곳 순회 시 굿즈 교환 — 관람객을 상권으로 흘려보낸다</a:t>
            </a:r>
            <a:endParaRPr lang="en-US" sz="950" dirty="0"/>
          </a:p>
          <a:p>
            <a:pPr indent="0" marL="0">
              <a:lnSpc>
                <a:spcPts val="1500"/>
              </a:lnSpc>
              <a:buNone/>
            </a:pPr>
            <a:r>
              <a:rPr lang="en-US" sz="950" dirty="0">
                <a:solidFill>
                  <a:srgbClr val="CFC8BE"/>
                </a:solidFill>
                <a:latin typeface="맑은 고딕" pitchFamily="34" charset="0"/>
                <a:ea typeface="맑은 고딕" pitchFamily="34" charset="-122"/>
                <a:cs typeface="맑은 고딕" pitchFamily="34" charset="-120"/>
              </a:rPr>
              <a:t>· 도록은 폐막 후 발간, 사전 예약 판매로 제작비 일부 회수</a:t>
            </a:r>
            <a:endParaRPr lang="en-US" sz="950" dirty="0"/>
          </a:p>
        </p:txBody>
      </p:sp>
      <p:sp>
        <p:nvSpPr>
          <p:cNvPr id="33" name="Text 31"/>
          <p:cNvSpPr/>
          <p:nvPr/>
        </p:nvSpPr>
        <p:spPr>
          <a:xfrm>
            <a:off x="548640" y="6419088"/>
            <a:ext cx="7315200" cy="274320"/>
          </a:xfrm>
          <a:prstGeom prst="rect">
            <a:avLst/>
          </a:prstGeom>
          <a:noFill/>
          <a:ln/>
        </p:spPr>
        <p:txBody>
          <a:bodyPr wrap="square" lIns="0" tIns="0" rIns="0" bIns="0" rtlCol="0" anchor="ctr"/>
          <a:lstStyle/>
          <a:p>
            <a:pPr algn="l" indent="0" marL="0">
              <a:buNone/>
            </a:pPr>
            <a:r>
              <a:rPr lang="en-US" sz="800" dirty="0">
                <a:solidFill>
                  <a:srgbClr val="8A857E"/>
                </a:solidFill>
                <a:latin typeface="맑은 고딕" pitchFamily="34" charset="0"/>
                <a:ea typeface="맑은 고딕" pitchFamily="34" charset="-122"/>
                <a:cs typeface="맑은 고딕" pitchFamily="34" charset="-120"/>
              </a:rPr>
              <a:t>아이테르 문화예술기획제안서   ·   덮인 물, 남은 올   ·   기획 추병곤</a:t>
            </a:r>
            <a:endParaRPr lang="en-US" sz="800" dirty="0"/>
          </a:p>
        </p:txBody>
      </p:sp>
      <p:sp>
        <p:nvSpPr>
          <p:cNvPr id="34" name="Text 32"/>
          <p:cNvSpPr/>
          <p:nvPr/>
        </p:nvSpPr>
        <p:spPr>
          <a:xfrm>
            <a:off x="10972800" y="6419088"/>
            <a:ext cx="640080" cy="274320"/>
          </a:xfrm>
          <a:prstGeom prst="rect">
            <a:avLst/>
          </a:prstGeom>
          <a:noFill/>
          <a:ln/>
        </p:spPr>
        <p:txBody>
          <a:bodyPr wrap="square" lIns="0" tIns="0" rIns="0" bIns="0" rtlCol="0" anchor="ctr"/>
          <a:lstStyle/>
          <a:p>
            <a:pPr algn="r" indent="0" marL="0">
              <a:buNone/>
            </a:pPr>
            <a:r>
              <a:rPr lang="en-US" sz="900" dirty="0">
                <a:solidFill>
                  <a:srgbClr val="8A857E"/>
                </a:solidFill>
                <a:latin typeface="Cambria" pitchFamily="34" charset="0"/>
                <a:ea typeface="Cambria" pitchFamily="34" charset="-122"/>
                <a:cs typeface="Cambria"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7315200" cy="237744"/>
          </a:xfrm>
          <a:prstGeom prst="rect">
            <a:avLst/>
          </a:prstGeom>
          <a:noFill/>
          <a:ln/>
        </p:spPr>
        <p:txBody>
          <a:bodyPr wrap="square" lIns="0" tIns="0" rIns="0" bIns="0" rtlCol="0" anchor="ctr"/>
          <a:lstStyle/>
          <a:p>
            <a:pPr indent="0" marL="0">
              <a:buNone/>
            </a:pPr>
            <a:r>
              <a:rPr lang="en-US" sz="1050" spc="250" kern="0" dirty="0">
                <a:solidFill>
                  <a:srgbClr val="8A857E"/>
                </a:solidFill>
                <a:latin typeface="Cambria" pitchFamily="34" charset="0"/>
                <a:ea typeface="Cambria" pitchFamily="34" charset="-122"/>
                <a:cs typeface="Cambria" pitchFamily="34" charset="-120"/>
              </a:rPr>
              <a:t>16  DIAGRAM 5</a:t>
            </a:r>
            <a:endParaRPr lang="en-US" sz="1050" dirty="0"/>
          </a:p>
        </p:txBody>
      </p:sp>
      <p:sp>
        <p:nvSpPr>
          <p:cNvPr id="3" name="Text 1"/>
          <p:cNvSpPr/>
          <p:nvPr/>
        </p:nvSpPr>
        <p:spPr>
          <a:xfrm>
            <a:off x="548640" y="694944"/>
            <a:ext cx="10058400" cy="502920"/>
          </a:xfrm>
          <a:prstGeom prst="rect">
            <a:avLst/>
          </a:prstGeom>
          <a:noFill/>
          <a:ln/>
        </p:spPr>
        <p:txBody>
          <a:bodyPr wrap="square" lIns="0" tIns="0" rIns="0" bIns="0" rtlCol="0" anchor="ctr"/>
          <a:lstStyle/>
          <a:p>
            <a:pPr indent="0" marL="0">
              <a:buNone/>
            </a:pPr>
            <a:r>
              <a:rPr lang="en-US" sz="2700" b="1" dirty="0">
                <a:solidFill>
                  <a:srgbClr val="1A1A1A"/>
                </a:solidFill>
                <a:latin typeface="맑은 고딕" pitchFamily="34" charset="0"/>
                <a:ea typeface="맑은 고딕" pitchFamily="34" charset="-122"/>
                <a:cs typeface="맑은 고딕" pitchFamily="34" charset="-120"/>
              </a:rPr>
              <a:t>[도식 5] 실행 프로세스 — 4단계 × APP 3축</a:t>
            </a:r>
            <a:endParaRPr lang="en-US" sz="2700" dirty="0"/>
          </a:p>
        </p:txBody>
      </p:sp>
      <p:sp>
        <p:nvSpPr>
          <p:cNvPr id="4" name="Text 2"/>
          <p:cNvSpPr/>
          <p:nvPr/>
        </p:nvSpPr>
        <p:spPr>
          <a:xfrm>
            <a:off x="548640" y="1225296"/>
            <a:ext cx="10607040" cy="310896"/>
          </a:xfrm>
          <a:prstGeom prst="rect">
            <a:avLst/>
          </a:prstGeom>
          <a:noFill/>
          <a:ln/>
        </p:spPr>
        <p:txBody>
          <a:bodyPr wrap="square" lIns="0" tIns="0" rIns="0" bIns="0" rtlCol="0" anchor="ctr"/>
          <a:lstStyle/>
          <a:p>
            <a:pPr indent="0" marL="0">
              <a:buNone/>
            </a:pPr>
            <a:r>
              <a:rPr lang="en-US" sz="1200" dirty="0">
                <a:solidFill>
                  <a:srgbClr val="8A857E"/>
                </a:solidFill>
                <a:latin typeface="맑은 고딕" pitchFamily="34" charset="0"/>
                <a:ea typeface="맑은 고딕" pitchFamily="34" charset="-122"/>
                <a:cs typeface="맑은 고딕" pitchFamily="34" charset="-120"/>
              </a:rPr>
              <a:t>아이테르의 'APP 전시기획 서비스'(Planning·Art criticism·Promotion)를 이 기획의 4단계에 대응시킨 실행 매트릭스</a:t>
            </a:r>
            <a:endParaRPr lang="en-US" sz="1200" dirty="0"/>
          </a:p>
        </p:txBody>
      </p:sp>
      <p:sp>
        <p:nvSpPr>
          <p:cNvPr id="5" name="Shape 3"/>
          <p:cNvSpPr/>
          <p:nvPr/>
        </p:nvSpPr>
        <p:spPr>
          <a:xfrm>
            <a:off x="2286000" y="1810512"/>
            <a:ext cx="2258568" cy="658368"/>
          </a:xfrm>
          <a:prstGeom prst="rect">
            <a:avLst/>
          </a:prstGeom>
          <a:solidFill>
            <a:srgbClr val="1A1A1A"/>
          </a:solidFill>
          <a:ln/>
        </p:spPr>
      </p:sp>
      <p:sp>
        <p:nvSpPr>
          <p:cNvPr id="6" name="Text 4"/>
          <p:cNvSpPr/>
          <p:nvPr/>
        </p:nvSpPr>
        <p:spPr>
          <a:xfrm>
            <a:off x="2395728" y="1810512"/>
            <a:ext cx="2039112" cy="658368"/>
          </a:xfrm>
          <a:prstGeom prst="rect">
            <a:avLst/>
          </a:prstGeom>
          <a:noFill/>
          <a:ln/>
        </p:spPr>
        <p:txBody>
          <a:bodyPr wrap="square" lIns="0" tIns="0" rIns="0" bIns="0" rtlCol="0" anchor="ctr"/>
          <a:lstStyle/>
          <a:p>
            <a:pPr indent="0" marL="0">
              <a:lnSpc>
                <a:spcPts val="1400"/>
              </a:lnSpc>
              <a:buNone/>
            </a:pPr>
            <a:r>
              <a:rPr lang="en-US" sz="1000" b="1" dirty="0">
                <a:solidFill>
                  <a:srgbClr val="FFFFFF"/>
                </a:solidFill>
                <a:latin typeface="맑은 고딕" pitchFamily="34" charset="0"/>
                <a:ea typeface="맑은 고딕" pitchFamily="34" charset="-122"/>
                <a:cs typeface="맑은 고딕" pitchFamily="34" charset="-120"/>
              </a:rPr>
              <a:t>① 조사 RESEARCH</a:t>
            </a:r>
            <a:endParaRPr lang="en-US" sz="1000" dirty="0"/>
          </a:p>
          <a:p>
            <a:pPr indent="0" marL="0">
              <a:lnSpc>
                <a:spcPts val="1400"/>
              </a:lnSpc>
              <a:buNone/>
            </a:pPr>
            <a:r>
              <a:rPr lang="en-US" sz="1000" b="1" dirty="0">
                <a:solidFill>
                  <a:srgbClr val="FFFFFF"/>
                </a:solidFill>
                <a:latin typeface="맑은 고딕" pitchFamily="34" charset="0"/>
                <a:ea typeface="맑은 고딕" pitchFamily="34" charset="-122"/>
                <a:cs typeface="맑은 고딕" pitchFamily="34" charset="-120"/>
              </a:rPr>
              <a:t>2026.09–2026.12</a:t>
            </a:r>
            <a:endParaRPr lang="en-US" sz="1000" dirty="0"/>
          </a:p>
        </p:txBody>
      </p:sp>
      <p:sp>
        <p:nvSpPr>
          <p:cNvPr id="7" name="Shape 5"/>
          <p:cNvSpPr/>
          <p:nvPr/>
        </p:nvSpPr>
        <p:spPr>
          <a:xfrm>
            <a:off x="4617720" y="1810512"/>
            <a:ext cx="2258568" cy="658368"/>
          </a:xfrm>
          <a:prstGeom prst="rect">
            <a:avLst/>
          </a:prstGeom>
          <a:solidFill>
            <a:srgbClr val="1A1A1A"/>
          </a:solidFill>
          <a:ln/>
        </p:spPr>
      </p:sp>
      <p:sp>
        <p:nvSpPr>
          <p:cNvPr id="8" name="Text 6"/>
          <p:cNvSpPr/>
          <p:nvPr/>
        </p:nvSpPr>
        <p:spPr>
          <a:xfrm>
            <a:off x="4727448" y="1810512"/>
            <a:ext cx="2039112" cy="658368"/>
          </a:xfrm>
          <a:prstGeom prst="rect">
            <a:avLst/>
          </a:prstGeom>
          <a:noFill/>
          <a:ln/>
        </p:spPr>
        <p:txBody>
          <a:bodyPr wrap="square" lIns="0" tIns="0" rIns="0" bIns="0" rtlCol="0" anchor="ctr"/>
          <a:lstStyle/>
          <a:p>
            <a:pPr indent="0" marL="0">
              <a:lnSpc>
                <a:spcPts val="1400"/>
              </a:lnSpc>
              <a:buNone/>
            </a:pPr>
            <a:r>
              <a:rPr lang="en-US" sz="1000" b="1" dirty="0">
                <a:solidFill>
                  <a:srgbClr val="FFFFFF"/>
                </a:solidFill>
                <a:latin typeface="맑은 고딕" pitchFamily="34" charset="0"/>
                <a:ea typeface="맑은 고딕" pitchFamily="34" charset="-122"/>
                <a:cs typeface="맑은 고딕" pitchFamily="34" charset="-120"/>
              </a:rPr>
              <a:t>② 직조 WEAVING</a:t>
            </a:r>
            <a:endParaRPr lang="en-US" sz="1000" dirty="0"/>
          </a:p>
          <a:p>
            <a:pPr indent="0" marL="0">
              <a:lnSpc>
                <a:spcPts val="1400"/>
              </a:lnSpc>
              <a:buNone/>
            </a:pPr>
            <a:r>
              <a:rPr lang="en-US" sz="1000" b="1" dirty="0">
                <a:solidFill>
                  <a:srgbClr val="FFFFFF"/>
                </a:solidFill>
                <a:latin typeface="맑은 고딕" pitchFamily="34" charset="0"/>
                <a:ea typeface="맑은 고딕" pitchFamily="34" charset="-122"/>
                <a:cs typeface="맑은 고딕" pitchFamily="34" charset="-120"/>
              </a:rPr>
              <a:t>2027.01–2027.07</a:t>
            </a:r>
            <a:endParaRPr lang="en-US" sz="1000" dirty="0"/>
          </a:p>
        </p:txBody>
      </p:sp>
      <p:sp>
        <p:nvSpPr>
          <p:cNvPr id="9" name="Shape 7"/>
          <p:cNvSpPr/>
          <p:nvPr/>
        </p:nvSpPr>
        <p:spPr>
          <a:xfrm>
            <a:off x="6949440" y="1810512"/>
            <a:ext cx="2258568" cy="658368"/>
          </a:xfrm>
          <a:prstGeom prst="rect">
            <a:avLst/>
          </a:prstGeom>
          <a:solidFill>
            <a:srgbClr val="1A1A1A"/>
          </a:solidFill>
          <a:ln/>
        </p:spPr>
      </p:sp>
      <p:sp>
        <p:nvSpPr>
          <p:cNvPr id="10" name="Text 8"/>
          <p:cNvSpPr/>
          <p:nvPr/>
        </p:nvSpPr>
        <p:spPr>
          <a:xfrm>
            <a:off x="7059168" y="1810512"/>
            <a:ext cx="2039112" cy="658368"/>
          </a:xfrm>
          <a:prstGeom prst="rect">
            <a:avLst/>
          </a:prstGeom>
          <a:noFill/>
          <a:ln/>
        </p:spPr>
        <p:txBody>
          <a:bodyPr wrap="square" lIns="0" tIns="0" rIns="0" bIns="0" rtlCol="0" anchor="ctr"/>
          <a:lstStyle/>
          <a:p>
            <a:pPr indent="0" marL="0">
              <a:lnSpc>
                <a:spcPts val="1400"/>
              </a:lnSpc>
              <a:buNone/>
            </a:pPr>
            <a:r>
              <a:rPr lang="en-US" sz="1000" b="1" dirty="0">
                <a:solidFill>
                  <a:srgbClr val="FFFFFF"/>
                </a:solidFill>
                <a:latin typeface="맑은 고딕" pitchFamily="34" charset="0"/>
                <a:ea typeface="맑은 고딕" pitchFamily="34" charset="-122"/>
                <a:cs typeface="맑은 고딕" pitchFamily="34" charset="-120"/>
              </a:rPr>
              <a:t>③ 개시 OPENING</a:t>
            </a:r>
            <a:endParaRPr lang="en-US" sz="1000" dirty="0"/>
          </a:p>
          <a:p>
            <a:pPr indent="0" marL="0">
              <a:lnSpc>
                <a:spcPts val="1400"/>
              </a:lnSpc>
              <a:buNone/>
            </a:pPr>
            <a:r>
              <a:rPr lang="en-US" sz="1000" b="1" dirty="0">
                <a:solidFill>
                  <a:srgbClr val="FFFFFF"/>
                </a:solidFill>
                <a:latin typeface="맑은 고딕" pitchFamily="34" charset="0"/>
                <a:ea typeface="맑은 고딕" pitchFamily="34" charset="-122"/>
                <a:cs typeface="맑은 고딕" pitchFamily="34" charset="-120"/>
              </a:rPr>
              <a:t>2027.08–2027.11</a:t>
            </a:r>
            <a:endParaRPr lang="en-US" sz="1000" dirty="0"/>
          </a:p>
        </p:txBody>
      </p:sp>
      <p:sp>
        <p:nvSpPr>
          <p:cNvPr id="11" name="Shape 9"/>
          <p:cNvSpPr/>
          <p:nvPr/>
        </p:nvSpPr>
        <p:spPr>
          <a:xfrm>
            <a:off x="9281160" y="1810512"/>
            <a:ext cx="2258568" cy="658368"/>
          </a:xfrm>
          <a:prstGeom prst="rect">
            <a:avLst/>
          </a:prstGeom>
          <a:solidFill>
            <a:srgbClr val="1A1A1A"/>
          </a:solidFill>
          <a:ln/>
        </p:spPr>
      </p:sp>
      <p:sp>
        <p:nvSpPr>
          <p:cNvPr id="12" name="Text 10"/>
          <p:cNvSpPr/>
          <p:nvPr/>
        </p:nvSpPr>
        <p:spPr>
          <a:xfrm>
            <a:off x="9390888" y="1810512"/>
            <a:ext cx="2039112" cy="658368"/>
          </a:xfrm>
          <a:prstGeom prst="rect">
            <a:avLst/>
          </a:prstGeom>
          <a:noFill/>
          <a:ln/>
        </p:spPr>
        <p:txBody>
          <a:bodyPr wrap="square" lIns="0" tIns="0" rIns="0" bIns="0" rtlCol="0" anchor="ctr"/>
          <a:lstStyle/>
          <a:p>
            <a:pPr indent="0" marL="0">
              <a:lnSpc>
                <a:spcPts val="1400"/>
              </a:lnSpc>
              <a:buNone/>
            </a:pPr>
            <a:r>
              <a:rPr lang="en-US" sz="1000" b="1" dirty="0">
                <a:solidFill>
                  <a:srgbClr val="FFFFFF"/>
                </a:solidFill>
                <a:latin typeface="맑은 고딕" pitchFamily="34" charset="0"/>
                <a:ea typeface="맑은 고딕" pitchFamily="34" charset="-122"/>
                <a:cs typeface="맑은 고딕" pitchFamily="34" charset="-120"/>
              </a:rPr>
              <a:t>④ 아카이브 ARCHIVE</a:t>
            </a:r>
            <a:endParaRPr lang="en-US" sz="1000" dirty="0"/>
          </a:p>
          <a:p>
            <a:pPr indent="0" marL="0">
              <a:lnSpc>
                <a:spcPts val="1400"/>
              </a:lnSpc>
              <a:buNone/>
            </a:pPr>
            <a:r>
              <a:rPr lang="en-US" sz="1000" b="1" dirty="0">
                <a:solidFill>
                  <a:srgbClr val="FFFFFF"/>
                </a:solidFill>
                <a:latin typeface="맑은 고딕" pitchFamily="34" charset="0"/>
                <a:ea typeface="맑은 고딕" pitchFamily="34" charset="-122"/>
                <a:cs typeface="맑은 고딕" pitchFamily="34" charset="-120"/>
              </a:rPr>
              <a:t>2027.11–2027.12</a:t>
            </a:r>
            <a:endParaRPr lang="en-US" sz="1000" dirty="0"/>
          </a:p>
        </p:txBody>
      </p:sp>
      <p:sp>
        <p:nvSpPr>
          <p:cNvPr id="13" name="Shape 11"/>
          <p:cNvSpPr/>
          <p:nvPr/>
        </p:nvSpPr>
        <p:spPr>
          <a:xfrm>
            <a:off x="548640" y="2560320"/>
            <a:ext cx="1645920" cy="1060704"/>
          </a:xfrm>
          <a:prstGeom prst="rect">
            <a:avLst/>
          </a:prstGeom>
          <a:solidFill>
            <a:srgbClr val="2F4858"/>
          </a:solidFill>
          <a:ln/>
        </p:spPr>
      </p:sp>
      <p:sp>
        <p:nvSpPr>
          <p:cNvPr id="14" name="Text 12"/>
          <p:cNvSpPr/>
          <p:nvPr/>
        </p:nvSpPr>
        <p:spPr>
          <a:xfrm>
            <a:off x="685800" y="2633472"/>
            <a:ext cx="457200" cy="329184"/>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P</a:t>
            </a:r>
            <a:endParaRPr lang="en-US" sz="1800" dirty="0"/>
          </a:p>
        </p:txBody>
      </p:sp>
      <p:sp>
        <p:nvSpPr>
          <p:cNvPr id="15" name="Text 13"/>
          <p:cNvSpPr/>
          <p:nvPr/>
        </p:nvSpPr>
        <p:spPr>
          <a:xfrm>
            <a:off x="685800" y="2980944"/>
            <a:ext cx="1371600" cy="530352"/>
          </a:xfrm>
          <a:prstGeom prst="rect">
            <a:avLst/>
          </a:prstGeom>
          <a:noFill/>
          <a:ln/>
        </p:spPr>
        <p:txBody>
          <a:bodyPr wrap="square" lIns="0" tIns="0" rIns="0" bIns="0" rtlCol="0" anchor="ctr"/>
          <a:lstStyle/>
          <a:p>
            <a:pPr indent="0" marL="0">
              <a:lnSpc>
                <a:spcPts val="1400"/>
              </a:lnSpc>
              <a:buNone/>
            </a:pPr>
            <a:r>
              <a:rPr lang="en-US" sz="1000" b="1" dirty="0">
                <a:solidFill>
                  <a:srgbClr val="F0EBE2"/>
                </a:solidFill>
                <a:latin typeface="맑은 고딕" pitchFamily="34" charset="0"/>
                <a:ea typeface="맑은 고딕" pitchFamily="34" charset="-122"/>
                <a:cs typeface="맑은 고딕" pitchFamily="34" charset="-120"/>
              </a:rPr>
              <a:t>Planning</a:t>
            </a:r>
            <a:endParaRPr lang="en-US" sz="1000" dirty="0"/>
          </a:p>
          <a:p>
            <a:pPr indent="0" marL="0">
              <a:lnSpc>
                <a:spcPts val="1400"/>
              </a:lnSpc>
              <a:buNone/>
            </a:pPr>
            <a:r>
              <a:rPr lang="en-US" sz="1000" b="1" dirty="0">
                <a:solidFill>
                  <a:srgbClr val="F0EBE2"/>
                </a:solidFill>
                <a:latin typeface="맑은 고딕" pitchFamily="34" charset="0"/>
                <a:ea typeface="맑은 고딕" pitchFamily="34" charset="-122"/>
                <a:cs typeface="맑은 고딕" pitchFamily="34" charset="-120"/>
              </a:rPr>
              <a:t>공간·기획</a:t>
            </a:r>
            <a:endParaRPr lang="en-US" sz="1000" dirty="0"/>
          </a:p>
        </p:txBody>
      </p:sp>
      <p:sp>
        <p:nvSpPr>
          <p:cNvPr id="16" name="Shape 14"/>
          <p:cNvSpPr/>
          <p:nvPr/>
        </p:nvSpPr>
        <p:spPr>
          <a:xfrm>
            <a:off x="2286000" y="2560320"/>
            <a:ext cx="2258568" cy="1060704"/>
          </a:xfrm>
          <a:prstGeom prst="rect">
            <a:avLst/>
          </a:prstGeom>
          <a:solidFill>
            <a:srgbClr val="FFFFFF"/>
          </a:solidFill>
          <a:ln w="9525">
            <a:solidFill>
              <a:srgbClr val="D8D4CE"/>
            </a:solidFill>
            <a:prstDash val="solid"/>
          </a:ln>
        </p:spPr>
      </p:sp>
      <p:sp>
        <p:nvSpPr>
          <p:cNvPr id="17" name="Text 15"/>
          <p:cNvSpPr/>
          <p:nvPr/>
        </p:nvSpPr>
        <p:spPr>
          <a:xfrm>
            <a:off x="2414016" y="2642616"/>
            <a:ext cx="2002536" cy="896112"/>
          </a:xfrm>
          <a:prstGeom prst="rect">
            <a:avLst/>
          </a:prstGeom>
          <a:noFill/>
          <a:ln/>
        </p:spPr>
        <p:txBody>
          <a:bodyPr wrap="square" lIns="0" tIns="0" rIns="0" bIns="0" rtlCol="0" anchor="t"/>
          <a:lstStyle/>
          <a:p>
            <a:pPr indent="0" marL="0">
              <a:lnSpc>
                <a:spcPts val="1350"/>
              </a:lnSpc>
              <a:buNone/>
            </a:pPr>
            <a:r>
              <a:rPr lang="en-US" sz="950" dirty="0">
                <a:solidFill>
                  <a:srgbClr val="3E3A35"/>
                </a:solidFill>
                <a:latin typeface="맑은 고딕" pitchFamily="34" charset="0"/>
                <a:ea typeface="맑은 고딕" pitchFamily="34" charset="-122"/>
                <a:cs typeface="맑은 고딕" pitchFamily="34" charset="-120"/>
              </a:rPr>
              <a:t>현장 실측·문헌 조사</a:t>
            </a:r>
            <a:endParaRPr lang="en-US" sz="950" dirty="0"/>
          </a:p>
          <a:p>
            <a:pPr indent="0" marL="0">
              <a:lnSpc>
                <a:spcPts val="1350"/>
              </a:lnSpc>
              <a:buNone/>
            </a:pPr>
            <a:r>
              <a:rPr lang="en-US" sz="950" dirty="0">
                <a:solidFill>
                  <a:srgbClr val="3E3A35"/>
                </a:solidFill>
                <a:latin typeface="맑은 고딕" pitchFamily="34" charset="0"/>
                <a:ea typeface="맑은 고딕" pitchFamily="34" charset="-122"/>
                <a:cs typeface="맑은 고딕" pitchFamily="34" charset="-120"/>
              </a:rPr>
              <a:t>주민·상인 라포 형성</a:t>
            </a:r>
            <a:endParaRPr lang="en-US" sz="950" dirty="0"/>
          </a:p>
          <a:p>
            <a:pPr indent="0" marL="0">
              <a:lnSpc>
                <a:spcPts val="1350"/>
              </a:lnSpc>
              <a:buNone/>
            </a:pPr>
            <a:r>
              <a:rPr lang="en-US" sz="950" dirty="0">
                <a:solidFill>
                  <a:srgbClr val="3E3A35"/>
                </a:solidFill>
                <a:latin typeface="맑은 고딕" pitchFamily="34" charset="0"/>
                <a:ea typeface="맑은 고딕" pitchFamily="34" charset="-122"/>
                <a:cs typeface="맑은 고딕" pitchFamily="34" charset="-120"/>
              </a:rPr>
              <a:t>8실 조건 진단</a:t>
            </a:r>
            <a:endParaRPr lang="en-US" sz="950" dirty="0"/>
          </a:p>
        </p:txBody>
      </p:sp>
      <p:sp>
        <p:nvSpPr>
          <p:cNvPr id="18" name="Shape 16"/>
          <p:cNvSpPr/>
          <p:nvPr/>
        </p:nvSpPr>
        <p:spPr>
          <a:xfrm>
            <a:off x="4617720" y="2560320"/>
            <a:ext cx="2258568" cy="1060704"/>
          </a:xfrm>
          <a:prstGeom prst="rect">
            <a:avLst/>
          </a:prstGeom>
          <a:solidFill>
            <a:srgbClr val="FFFFFF"/>
          </a:solidFill>
          <a:ln w="9525">
            <a:solidFill>
              <a:srgbClr val="D8D4CE"/>
            </a:solidFill>
            <a:prstDash val="solid"/>
          </a:ln>
        </p:spPr>
      </p:sp>
      <p:sp>
        <p:nvSpPr>
          <p:cNvPr id="19" name="Text 17"/>
          <p:cNvSpPr/>
          <p:nvPr/>
        </p:nvSpPr>
        <p:spPr>
          <a:xfrm>
            <a:off x="4745736" y="2642616"/>
            <a:ext cx="2002536" cy="896112"/>
          </a:xfrm>
          <a:prstGeom prst="rect">
            <a:avLst/>
          </a:prstGeom>
          <a:noFill/>
          <a:ln/>
        </p:spPr>
        <p:txBody>
          <a:bodyPr wrap="square" lIns="0" tIns="0" rIns="0" bIns="0" rtlCol="0" anchor="t"/>
          <a:lstStyle/>
          <a:p>
            <a:pPr indent="0" marL="0">
              <a:lnSpc>
                <a:spcPts val="1350"/>
              </a:lnSpc>
              <a:buNone/>
            </a:pPr>
            <a:r>
              <a:rPr lang="en-US" sz="950" dirty="0">
                <a:solidFill>
                  <a:srgbClr val="3E3A35"/>
                </a:solidFill>
                <a:latin typeface="맑은 고딕" pitchFamily="34" charset="0"/>
                <a:ea typeface="맑은 고딕" pitchFamily="34" charset="-122"/>
                <a:cs typeface="맑은 고딕" pitchFamily="34" charset="-120"/>
              </a:rPr>
              <a:t>작가 선정·제작 관리</a:t>
            </a:r>
            <a:endParaRPr lang="en-US" sz="950" dirty="0"/>
          </a:p>
          <a:p>
            <a:pPr indent="0" marL="0">
              <a:lnSpc>
                <a:spcPts val="1350"/>
              </a:lnSpc>
              <a:buNone/>
            </a:pPr>
            <a:r>
              <a:rPr lang="en-US" sz="950" dirty="0">
                <a:solidFill>
                  <a:srgbClr val="3E3A35"/>
                </a:solidFill>
                <a:latin typeface="맑은 고딕" pitchFamily="34" charset="0"/>
                <a:ea typeface="맑은 고딕" pitchFamily="34" charset="-122"/>
                <a:cs typeface="맑은 고딕" pitchFamily="34" charset="-120"/>
              </a:rPr>
              <a:t>가벽·기술 설계 확정</a:t>
            </a:r>
            <a:endParaRPr lang="en-US" sz="950" dirty="0"/>
          </a:p>
          <a:p>
            <a:pPr indent="0" marL="0">
              <a:lnSpc>
                <a:spcPts val="1350"/>
              </a:lnSpc>
              <a:buNone/>
            </a:pPr>
            <a:r>
              <a:rPr lang="en-US" sz="950" dirty="0">
                <a:solidFill>
                  <a:srgbClr val="3E3A35"/>
                </a:solidFill>
                <a:latin typeface="맑은 고딕" pitchFamily="34" charset="0"/>
                <a:ea typeface="맑은 고딕" pitchFamily="34" charset="-122"/>
                <a:cs typeface="맑은 고딕" pitchFamily="34" charset="-120"/>
              </a:rPr>
              <a:t>안전 확인서 취득</a:t>
            </a:r>
            <a:endParaRPr lang="en-US" sz="950" dirty="0"/>
          </a:p>
        </p:txBody>
      </p:sp>
      <p:sp>
        <p:nvSpPr>
          <p:cNvPr id="20" name="Shape 18"/>
          <p:cNvSpPr/>
          <p:nvPr/>
        </p:nvSpPr>
        <p:spPr>
          <a:xfrm>
            <a:off x="6949440" y="2560320"/>
            <a:ext cx="2258568" cy="1060704"/>
          </a:xfrm>
          <a:prstGeom prst="rect">
            <a:avLst/>
          </a:prstGeom>
          <a:solidFill>
            <a:srgbClr val="FFFFFF"/>
          </a:solidFill>
          <a:ln w="9525">
            <a:solidFill>
              <a:srgbClr val="D8D4CE"/>
            </a:solidFill>
            <a:prstDash val="solid"/>
          </a:ln>
        </p:spPr>
      </p:sp>
      <p:sp>
        <p:nvSpPr>
          <p:cNvPr id="21" name="Text 19"/>
          <p:cNvSpPr/>
          <p:nvPr/>
        </p:nvSpPr>
        <p:spPr>
          <a:xfrm>
            <a:off x="7077456" y="2642616"/>
            <a:ext cx="2002536" cy="896112"/>
          </a:xfrm>
          <a:prstGeom prst="rect">
            <a:avLst/>
          </a:prstGeom>
          <a:noFill/>
          <a:ln/>
        </p:spPr>
        <p:txBody>
          <a:bodyPr wrap="square" lIns="0" tIns="0" rIns="0" bIns="0" rtlCol="0" anchor="t"/>
          <a:lstStyle/>
          <a:p>
            <a:pPr indent="0" marL="0">
              <a:lnSpc>
                <a:spcPts val="1350"/>
              </a:lnSpc>
              <a:buNone/>
            </a:pPr>
            <a:r>
              <a:rPr lang="en-US" sz="950" dirty="0">
                <a:solidFill>
                  <a:srgbClr val="3E3A35"/>
                </a:solidFill>
                <a:latin typeface="맑은 고딕" pitchFamily="34" charset="0"/>
                <a:ea typeface="맑은 고딕" pitchFamily="34" charset="-122"/>
                <a:cs typeface="맑은 고딕" pitchFamily="34" charset="-120"/>
              </a:rPr>
              <a:t>설치·시운전</a:t>
            </a:r>
            <a:endParaRPr lang="en-US" sz="950" dirty="0"/>
          </a:p>
          <a:p>
            <a:pPr indent="0" marL="0">
              <a:lnSpc>
                <a:spcPts val="1350"/>
              </a:lnSpc>
              <a:buNone/>
            </a:pPr>
            <a:r>
              <a:rPr lang="en-US" sz="950" dirty="0">
                <a:solidFill>
                  <a:srgbClr val="3E3A35"/>
                </a:solidFill>
                <a:latin typeface="맑은 고딕" pitchFamily="34" charset="0"/>
                <a:ea typeface="맑은 고딕" pitchFamily="34" charset="-122"/>
                <a:cs typeface="맑은 고딕" pitchFamily="34" charset="-120"/>
              </a:rPr>
              <a:t>회차 운영·도슨트</a:t>
            </a:r>
            <a:endParaRPr lang="en-US" sz="950" dirty="0"/>
          </a:p>
          <a:p>
            <a:pPr indent="0" marL="0">
              <a:lnSpc>
                <a:spcPts val="1350"/>
              </a:lnSpc>
              <a:buNone/>
            </a:pPr>
            <a:r>
              <a:rPr lang="en-US" sz="950" dirty="0">
                <a:solidFill>
                  <a:srgbClr val="3E3A35"/>
                </a:solidFill>
                <a:latin typeface="맑은 고딕" pitchFamily="34" charset="0"/>
                <a:ea typeface="맑은 고딕" pitchFamily="34" charset="-122"/>
                <a:cs typeface="맑은 고딕" pitchFamily="34" charset="-120"/>
              </a:rPr>
              <a:t>일일 안전 점검</a:t>
            </a:r>
            <a:endParaRPr lang="en-US" sz="950" dirty="0"/>
          </a:p>
        </p:txBody>
      </p:sp>
      <p:sp>
        <p:nvSpPr>
          <p:cNvPr id="22" name="Shape 20"/>
          <p:cNvSpPr/>
          <p:nvPr/>
        </p:nvSpPr>
        <p:spPr>
          <a:xfrm>
            <a:off x="9281160" y="2560320"/>
            <a:ext cx="2258568" cy="1060704"/>
          </a:xfrm>
          <a:prstGeom prst="rect">
            <a:avLst/>
          </a:prstGeom>
          <a:solidFill>
            <a:srgbClr val="FFFFFF"/>
          </a:solidFill>
          <a:ln w="9525">
            <a:solidFill>
              <a:srgbClr val="D8D4CE"/>
            </a:solidFill>
            <a:prstDash val="solid"/>
          </a:ln>
        </p:spPr>
      </p:sp>
      <p:sp>
        <p:nvSpPr>
          <p:cNvPr id="23" name="Text 21"/>
          <p:cNvSpPr/>
          <p:nvPr/>
        </p:nvSpPr>
        <p:spPr>
          <a:xfrm>
            <a:off x="9409176" y="2642616"/>
            <a:ext cx="2002536" cy="896112"/>
          </a:xfrm>
          <a:prstGeom prst="rect">
            <a:avLst/>
          </a:prstGeom>
          <a:noFill/>
          <a:ln/>
        </p:spPr>
        <p:txBody>
          <a:bodyPr wrap="square" lIns="0" tIns="0" rIns="0" bIns="0" rtlCol="0" anchor="t"/>
          <a:lstStyle/>
          <a:p>
            <a:pPr indent="0" marL="0">
              <a:lnSpc>
                <a:spcPts val="1350"/>
              </a:lnSpc>
              <a:buNone/>
            </a:pPr>
            <a:r>
              <a:rPr lang="en-US" sz="950" dirty="0">
                <a:solidFill>
                  <a:srgbClr val="3E3A35"/>
                </a:solidFill>
                <a:latin typeface="맑은 고딕" pitchFamily="34" charset="0"/>
                <a:ea typeface="맑은 고딕" pitchFamily="34" charset="-122"/>
                <a:cs typeface="맑은 고딕" pitchFamily="34" charset="-120"/>
              </a:rPr>
              <a:t>작품 철수·원상 복구</a:t>
            </a:r>
            <a:endParaRPr lang="en-US" sz="950" dirty="0"/>
          </a:p>
          <a:p>
            <a:pPr indent="0" marL="0">
              <a:lnSpc>
                <a:spcPts val="1350"/>
              </a:lnSpc>
              <a:buNone/>
            </a:pPr>
            <a:r>
              <a:rPr lang="en-US" sz="950" dirty="0">
                <a:solidFill>
                  <a:srgbClr val="3E3A35"/>
                </a:solidFill>
                <a:latin typeface="맑은 고딕" pitchFamily="34" charset="0"/>
                <a:ea typeface="맑은 고딕" pitchFamily="34" charset="-122"/>
                <a:cs typeface="맑은 고딕" pitchFamily="34" charset="-120"/>
              </a:rPr>
              <a:t>공간 조건 리포트</a:t>
            </a:r>
            <a:endParaRPr lang="en-US" sz="950" dirty="0"/>
          </a:p>
          <a:p>
            <a:pPr indent="0" marL="0">
              <a:lnSpc>
                <a:spcPts val="1350"/>
              </a:lnSpc>
              <a:buNone/>
            </a:pPr>
            <a:r>
              <a:rPr lang="en-US" sz="950" dirty="0">
                <a:solidFill>
                  <a:srgbClr val="3E3A35"/>
                </a:solidFill>
                <a:latin typeface="맑은 고딕" pitchFamily="34" charset="0"/>
                <a:ea typeface="맑은 고딕" pitchFamily="34" charset="-122"/>
                <a:cs typeface="맑은 고딕" pitchFamily="34" charset="-120"/>
              </a:rPr>
              <a:t>차기 활용 제안</a:t>
            </a:r>
            <a:endParaRPr lang="en-US" sz="950" dirty="0"/>
          </a:p>
        </p:txBody>
      </p:sp>
      <p:sp>
        <p:nvSpPr>
          <p:cNvPr id="24" name="Shape 22"/>
          <p:cNvSpPr/>
          <p:nvPr/>
        </p:nvSpPr>
        <p:spPr>
          <a:xfrm>
            <a:off x="548640" y="3712464"/>
            <a:ext cx="1645920" cy="1060704"/>
          </a:xfrm>
          <a:prstGeom prst="rect">
            <a:avLst/>
          </a:prstGeom>
          <a:solidFill>
            <a:srgbClr val="9C6B3C"/>
          </a:solidFill>
          <a:ln/>
        </p:spPr>
      </p:sp>
      <p:sp>
        <p:nvSpPr>
          <p:cNvPr id="25" name="Text 23"/>
          <p:cNvSpPr/>
          <p:nvPr/>
        </p:nvSpPr>
        <p:spPr>
          <a:xfrm>
            <a:off x="685800" y="3785616"/>
            <a:ext cx="457200" cy="329184"/>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A</a:t>
            </a:r>
            <a:endParaRPr lang="en-US" sz="1800" dirty="0"/>
          </a:p>
        </p:txBody>
      </p:sp>
      <p:sp>
        <p:nvSpPr>
          <p:cNvPr id="26" name="Text 24"/>
          <p:cNvSpPr/>
          <p:nvPr/>
        </p:nvSpPr>
        <p:spPr>
          <a:xfrm>
            <a:off x="685800" y="4133088"/>
            <a:ext cx="1371600" cy="530352"/>
          </a:xfrm>
          <a:prstGeom prst="rect">
            <a:avLst/>
          </a:prstGeom>
          <a:noFill/>
          <a:ln/>
        </p:spPr>
        <p:txBody>
          <a:bodyPr wrap="square" lIns="0" tIns="0" rIns="0" bIns="0" rtlCol="0" anchor="ctr"/>
          <a:lstStyle/>
          <a:p>
            <a:pPr indent="0" marL="0">
              <a:lnSpc>
                <a:spcPts val="1400"/>
              </a:lnSpc>
              <a:buNone/>
            </a:pPr>
            <a:r>
              <a:rPr lang="en-US" sz="1000" b="1" dirty="0">
                <a:solidFill>
                  <a:srgbClr val="F0EBE2"/>
                </a:solidFill>
                <a:latin typeface="맑은 고딕" pitchFamily="34" charset="0"/>
                <a:ea typeface="맑은 고딕" pitchFamily="34" charset="-122"/>
                <a:cs typeface="맑은 고딕" pitchFamily="34" charset="-120"/>
              </a:rPr>
              <a:t>Art criticism</a:t>
            </a:r>
            <a:endParaRPr lang="en-US" sz="1000" dirty="0"/>
          </a:p>
          <a:p>
            <a:pPr indent="0" marL="0">
              <a:lnSpc>
                <a:spcPts val="1400"/>
              </a:lnSpc>
              <a:buNone/>
            </a:pPr>
            <a:r>
              <a:rPr lang="en-US" sz="1000" b="1" dirty="0">
                <a:solidFill>
                  <a:srgbClr val="F0EBE2"/>
                </a:solidFill>
                <a:latin typeface="맑은 고딕" pitchFamily="34" charset="0"/>
                <a:ea typeface="맑은 고딕" pitchFamily="34" charset="-122"/>
                <a:cs typeface="맑은 고딕" pitchFamily="34" charset="-120"/>
              </a:rPr>
              <a:t>비평·연구</a:t>
            </a:r>
            <a:endParaRPr lang="en-US" sz="1000" dirty="0"/>
          </a:p>
        </p:txBody>
      </p:sp>
      <p:sp>
        <p:nvSpPr>
          <p:cNvPr id="27" name="Shape 25"/>
          <p:cNvSpPr/>
          <p:nvPr/>
        </p:nvSpPr>
        <p:spPr>
          <a:xfrm>
            <a:off x="2286000" y="3712464"/>
            <a:ext cx="2258568" cy="1060704"/>
          </a:xfrm>
          <a:prstGeom prst="rect">
            <a:avLst/>
          </a:prstGeom>
          <a:solidFill>
            <a:srgbClr val="FAF9F7"/>
          </a:solidFill>
          <a:ln w="9525">
            <a:solidFill>
              <a:srgbClr val="D8D4CE"/>
            </a:solidFill>
            <a:prstDash val="solid"/>
          </a:ln>
        </p:spPr>
      </p:sp>
      <p:sp>
        <p:nvSpPr>
          <p:cNvPr id="28" name="Text 26"/>
          <p:cNvSpPr/>
          <p:nvPr/>
        </p:nvSpPr>
        <p:spPr>
          <a:xfrm>
            <a:off x="2414016" y="3794760"/>
            <a:ext cx="2002536" cy="896112"/>
          </a:xfrm>
          <a:prstGeom prst="rect">
            <a:avLst/>
          </a:prstGeom>
          <a:noFill/>
          <a:ln/>
        </p:spPr>
        <p:txBody>
          <a:bodyPr wrap="square" lIns="0" tIns="0" rIns="0" bIns="0" rtlCol="0" anchor="t"/>
          <a:lstStyle/>
          <a:p>
            <a:pPr indent="0" marL="0">
              <a:lnSpc>
                <a:spcPts val="1350"/>
              </a:lnSpc>
              <a:buNone/>
            </a:pPr>
            <a:r>
              <a:rPr lang="en-US" sz="950" dirty="0">
                <a:solidFill>
                  <a:srgbClr val="3E3A35"/>
                </a:solidFill>
                <a:latin typeface="맑은 고딕" pitchFamily="34" charset="0"/>
                <a:ea typeface="맑은 고딕" pitchFamily="34" charset="-122"/>
                <a:cs typeface="맑은 고딕" pitchFamily="34" charset="-120"/>
              </a:rPr>
              <a:t>층위 리서치 노트</a:t>
            </a:r>
            <a:endParaRPr lang="en-US" sz="950" dirty="0"/>
          </a:p>
          <a:p>
            <a:pPr indent="0" marL="0">
              <a:lnSpc>
                <a:spcPts val="1350"/>
              </a:lnSpc>
              <a:buNone/>
            </a:pPr>
            <a:r>
              <a:rPr lang="en-US" sz="950" dirty="0">
                <a:solidFill>
                  <a:srgbClr val="3E3A35"/>
                </a:solidFill>
                <a:latin typeface="맑은 고딕" pitchFamily="34" charset="0"/>
                <a:ea typeface="맑은 고딕" pitchFamily="34" charset="-122"/>
                <a:cs typeface="맑은 고딕" pitchFamily="34" charset="-120"/>
              </a:rPr>
              <a:t>선행 연구·아카이브 수집</a:t>
            </a:r>
            <a:endParaRPr lang="en-US" sz="950" dirty="0"/>
          </a:p>
          <a:p>
            <a:pPr indent="0" marL="0">
              <a:lnSpc>
                <a:spcPts val="1350"/>
              </a:lnSpc>
              <a:buNone/>
            </a:pPr>
            <a:r>
              <a:rPr lang="en-US" sz="950" dirty="0">
                <a:solidFill>
                  <a:srgbClr val="3E3A35"/>
                </a:solidFill>
                <a:latin typeface="맑은 고딕" pitchFamily="34" charset="0"/>
                <a:ea typeface="맑은 고딕" pitchFamily="34" charset="-122"/>
                <a:cs typeface="맑은 고딕" pitchFamily="34" charset="-120"/>
              </a:rPr>
              <a:t>기획 논고 초고</a:t>
            </a:r>
            <a:endParaRPr lang="en-US" sz="950" dirty="0"/>
          </a:p>
        </p:txBody>
      </p:sp>
      <p:sp>
        <p:nvSpPr>
          <p:cNvPr id="29" name="Shape 27"/>
          <p:cNvSpPr/>
          <p:nvPr/>
        </p:nvSpPr>
        <p:spPr>
          <a:xfrm>
            <a:off x="4617720" y="3712464"/>
            <a:ext cx="2258568" cy="1060704"/>
          </a:xfrm>
          <a:prstGeom prst="rect">
            <a:avLst/>
          </a:prstGeom>
          <a:solidFill>
            <a:srgbClr val="FAF9F7"/>
          </a:solidFill>
          <a:ln w="9525">
            <a:solidFill>
              <a:srgbClr val="D8D4CE"/>
            </a:solidFill>
            <a:prstDash val="solid"/>
          </a:ln>
        </p:spPr>
      </p:sp>
      <p:sp>
        <p:nvSpPr>
          <p:cNvPr id="30" name="Text 28"/>
          <p:cNvSpPr/>
          <p:nvPr/>
        </p:nvSpPr>
        <p:spPr>
          <a:xfrm>
            <a:off x="4745736" y="3794760"/>
            <a:ext cx="2002536" cy="896112"/>
          </a:xfrm>
          <a:prstGeom prst="rect">
            <a:avLst/>
          </a:prstGeom>
          <a:noFill/>
          <a:ln/>
        </p:spPr>
        <p:txBody>
          <a:bodyPr wrap="square" lIns="0" tIns="0" rIns="0" bIns="0" rtlCol="0" anchor="t"/>
          <a:lstStyle/>
          <a:p>
            <a:pPr indent="0" marL="0">
              <a:lnSpc>
                <a:spcPts val="1350"/>
              </a:lnSpc>
              <a:buNone/>
            </a:pPr>
            <a:r>
              <a:rPr lang="en-US" sz="950" dirty="0">
                <a:solidFill>
                  <a:srgbClr val="3E3A35"/>
                </a:solidFill>
                <a:latin typeface="맑은 고딕" pitchFamily="34" charset="0"/>
                <a:ea typeface="맑은 고딕" pitchFamily="34" charset="-122"/>
                <a:cs typeface="맑은 고딕" pitchFamily="34" charset="-120"/>
              </a:rPr>
              <a:t>작가별 비평문 집필</a:t>
            </a:r>
            <a:endParaRPr lang="en-US" sz="950" dirty="0"/>
          </a:p>
          <a:p>
            <a:pPr indent="0" marL="0">
              <a:lnSpc>
                <a:spcPts val="1350"/>
              </a:lnSpc>
              <a:buNone/>
            </a:pPr>
            <a:r>
              <a:rPr lang="en-US" sz="950" dirty="0">
                <a:solidFill>
                  <a:srgbClr val="3E3A35"/>
                </a:solidFill>
                <a:latin typeface="맑은 고딕" pitchFamily="34" charset="0"/>
                <a:ea typeface="맑은 고딕" pitchFamily="34" charset="-122"/>
                <a:cs typeface="맑은 고딕" pitchFamily="34" charset="-120"/>
              </a:rPr>
              <a:t>도록 원고·번역</a:t>
            </a:r>
            <a:endParaRPr lang="en-US" sz="950" dirty="0"/>
          </a:p>
          <a:p>
            <a:pPr indent="0" marL="0">
              <a:lnSpc>
                <a:spcPts val="1350"/>
              </a:lnSpc>
              <a:buNone/>
            </a:pPr>
            <a:r>
              <a:rPr lang="en-US" sz="950" dirty="0">
                <a:solidFill>
                  <a:srgbClr val="3E3A35"/>
                </a:solidFill>
                <a:latin typeface="맑은 고딕" pitchFamily="34" charset="0"/>
                <a:ea typeface="맑은 고딕" pitchFamily="34" charset="-122"/>
                <a:cs typeface="맑은 고딕" pitchFamily="34" charset="-120"/>
              </a:rPr>
              <a:t>콜로키움 1회</a:t>
            </a:r>
            <a:endParaRPr lang="en-US" sz="950" dirty="0"/>
          </a:p>
        </p:txBody>
      </p:sp>
      <p:sp>
        <p:nvSpPr>
          <p:cNvPr id="31" name="Shape 29"/>
          <p:cNvSpPr/>
          <p:nvPr/>
        </p:nvSpPr>
        <p:spPr>
          <a:xfrm>
            <a:off x="6949440" y="3712464"/>
            <a:ext cx="2258568" cy="1060704"/>
          </a:xfrm>
          <a:prstGeom prst="rect">
            <a:avLst/>
          </a:prstGeom>
          <a:solidFill>
            <a:srgbClr val="FAF9F7"/>
          </a:solidFill>
          <a:ln w="9525">
            <a:solidFill>
              <a:srgbClr val="D8D4CE"/>
            </a:solidFill>
            <a:prstDash val="solid"/>
          </a:ln>
        </p:spPr>
      </p:sp>
      <p:sp>
        <p:nvSpPr>
          <p:cNvPr id="32" name="Text 30"/>
          <p:cNvSpPr/>
          <p:nvPr/>
        </p:nvSpPr>
        <p:spPr>
          <a:xfrm>
            <a:off x="7077456" y="3794760"/>
            <a:ext cx="2002536" cy="896112"/>
          </a:xfrm>
          <a:prstGeom prst="rect">
            <a:avLst/>
          </a:prstGeom>
          <a:noFill/>
          <a:ln/>
        </p:spPr>
        <p:txBody>
          <a:bodyPr wrap="square" lIns="0" tIns="0" rIns="0" bIns="0" rtlCol="0" anchor="t"/>
          <a:lstStyle/>
          <a:p>
            <a:pPr indent="0" marL="0">
              <a:lnSpc>
                <a:spcPts val="1350"/>
              </a:lnSpc>
              <a:buNone/>
            </a:pPr>
            <a:r>
              <a:rPr lang="en-US" sz="950" dirty="0">
                <a:solidFill>
                  <a:srgbClr val="3E3A35"/>
                </a:solidFill>
                <a:latin typeface="맑은 고딕" pitchFamily="34" charset="0"/>
                <a:ea typeface="맑은 고딕" pitchFamily="34" charset="-122"/>
                <a:cs typeface="맑은 고딕" pitchFamily="34" charset="-120"/>
              </a:rPr>
              <a:t>전시 비평 토크 3회</a:t>
            </a:r>
            <a:endParaRPr lang="en-US" sz="950" dirty="0"/>
          </a:p>
          <a:p>
            <a:pPr indent="0" marL="0">
              <a:lnSpc>
                <a:spcPts val="1350"/>
              </a:lnSpc>
              <a:buNone/>
            </a:pPr>
            <a:r>
              <a:rPr lang="en-US" sz="950" dirty="0">
                <a:solidFill>
                  <a:srgbClr val="3E3A35"/>
                </a:solidFill>
                <a:latin typeface="맑은 고딕" pitchFamily="34" charset="0"/>
                <a:ea typeface="맑은 고딕" pitchFamily="34" charset="-122"/>
                <a:cs typeface="맑은 고딕" pitchFamily="34" charset="-120"/>
              </a:rPr>
              <a:t>현장 비평 리뷰 발행</a:t>
            </a:r>
            <a:endParaRPr lang="en-US" sz="950" dirty="0"/>
          </a:p>
          <a:p>
            <a:pPr indent="0" marL="0">
              <a:lnSpc>
                <a:spcPts val="1350"/>
              </a:lnSpc>
              <a:buNone/>
            </a:pPr>
            <a:r>
              <a:rPr lang="en-US" sz="950" dirty="0">
                <a:solidFill>
                  <a:srgbClr val="3E3A35"/>
                </a:solidFill>
                <a:latin typeface="맑은 고딕" pitchFamily="34" charset="0"/>
                <a:ea typeface="맑은 고딕" pitchFamily="34" charset="-122"/>
                <a:cs typeface="맑은 고딕" pitchFamily="34" charset="-120"/>
              </a:rPr>
              <a:t>외부 필자 리뷰 유치</a:t>
            </a:r>
            <a:endParaRPr lang="en-US" sz="950" dirty="0"/>
          </a:p>
        </p:txBody>
      </p:sp>
      <p:sp>
        <p:nvSpPr>
          <p:cNvPr id="33" name="Shape 31"/>
          <p:cNvSpPr/>
          <p:nvPr/>
        </p:nvSpPr>
        <p:spPr>
          <a:xfrm>
            <a:off x="9281160" y="3712464"/>
            <a:ext cx="2258568" cy="1060704"/>
          </a:xfrm>
          <a:prstGeom prst="rect">
            <a:avLst/>
          </a:prstGeom>
          <a:solidFill>
            <a:srgbClr val="FAF9F7"/>
          </a:solidFill>
          <a:ln w="9525">
            <a:solidFill>
              <a:srgbClr val="D8D4CE"/>
            </a:solidFill>
            <a:prstDash val="solid"/>
          </a:ln>
        </p:spPr>
      </p:sp>
      <p:sp>
        <p:nvSpPr>
          <p:cNvPr id="34" name="Text 32"/>
          <p:cNvSpPr/>
          <p:nvPr/>
        </p:nvSpPr>
        <p:spPr>
          <a:xfrm>
            <a:off x="9409176" y="3794760"/>
            <a:ext cx="2002536" cy="896112"/>
          </a:xfrm>
          <a:prstGeom prst="rect">
            <a:avLst/>
          </a:prstGeom>
          <a:noFill/>
          <a:ln/>
        </p:spPr>
        <p:txBody>
          <a:bodyPr wrap="square" lIns="0" tIns="0" rIns="0" bIns="0" rtlCol="0" anchor="t"/>
          <a:lstStyle/>
          <a:p>
            <a:pPr indent="0" marL="0">
              <a:lnSpc>
                <a:spcPts val="1350"/>
              </a:lnSpc>
              <a:buNone/>
            </a:pPr>
            <a:r>
              <a:rPr lang="en-US" sz="950" dirty="0">
                <a:solidFill>
                  <a:srgbClr val="3E3A35"/>
                </a:solidFill>
                <a:latin typeface="맑은 고딕" pitchFamily="34" charset="0"/>
                <a:ea typeface="맑은 고딕" pitchFamily="34" charset="-122"/>
                <a:cs typeface="맑은 고딕" pitchFamily="34" charset="-120"/>
              </a:rPr>
              <a:t>도록 1권 발간</a:t>
            </a:r>
            <a:endParaRPr lang="en-US" sz="950" dirty="0"/>
          </a:p>
          <a:p>
            <a:pPr indent="0" marL="0">
              <a:lnSpc>
                <a:spcPts val="1350"/>
              </a:lnSpc>
              <a:buNone/>
            </a:pPr>
            <a:r>
              <a:rPr lang="en-US" sz="950" dirty="0">
                <a:solidFill>
                  <a:srgbClr val="3E3A35"/>
                </a:solidFill>
                <a:latin typeface="맑은 고딕" pitchFamily="34" charset="0"/>
                <a:ea typeface="맑은 고딕" pitchFamily="34" charset="-122"/>
                <a:cs typeface="맑은 고딕" pitchFamily="34" charset="-120"/>
              </a:rPr>
              <a:t>비평문 3편 공개</a:t>
            </a:r>
            <a:endParaRPr lang="en-US" sz="950" dirty="0"/>
          </a:p>
          <a:p>
            <a:pPr indent="0" marL="0">
              <a:lnSpc>
                <a:spcPts val="1350"/>
              </a:lnSpc>
              <a:buNone/>
            </a:pPr>
            <a:r>
              <a:rPr lang="en-US" sz="950" dirty="0">
                <a:solidFill>
                  <a:srgbClr val="3E3A35"/>
                </a:solidFill>
                <a:latin typeface="맑은 고딕" pitchFamily="34" charset="0"/>
                <a:ea typeface="맑은 고딕" pitchFamily="34" charset="-122"/>
                <a:cs typeface="맑은 고딕" pitchFamily="34" charset="-120"/>
              </a:rPr>
              <a:t>연구 자료 이관</a:t>
            </a:r>
            <a:endParaRPr lang="en-US" sz="950" dirty="0"/>
          </a:p>
        </p:txBody>
      </p:sp>
      <p:sp>
        <p:nvSpPr>
          <p:cNvPr id="35" name="Shape 33"/>
          <p:cNvSpPr/>
          <p:nvPr/>
        </p:nvSpPr>
        <p:spPr>
          <a:xfrm>
            <a:off x="548640" y="4864608"/>
            <a:ext cx="1645920" cy="1060704"/>
          </a:xfrm>
          <a:prstGeom prst="rect">
            <a:avLst/>
          </a:prstGeom>
          <a:solidFill>
            <a:srgbClr val="7A4A45"/>
          </a:solidFill>
          <a:ln/>
        </p:spPr>
      </p:sp>
      <p:sp>
        <p:nvSpPr>
          <p:cNvPr id="36" name="Text 34"/>
          <p:cNvSpPr/>
          <p:nvPr/>
        </p:nvSpPr>
        <p:spPr>
          <a:xfrm>
            <a:off x="685800" y="4937760"/>
            <a:ext cx="457200" cy="329184"/>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P</a:t>
            </a:r>
            <a:endParaRPr lang="en-US" sz="1800" dirty="0"/>
          </a:p>
        </p:txBody>
      </p:sp>
      <p:sp>
        <p:nvSpPr>
          <p:cNvPr id="37" name="Text 35"/>
          <p:cNvSpPr/>
          <p:nvPr/>
        </p:nvSpPr>
        <p:spPr>
          <a:xfrm>
            <a:off x="685800" y="5285232"/>
            <a:ext cx="1371600" cy="530352"/>
          </a:xfrm>
          <a:prstGeom prst="rect">
            <a:avLst/>
          </a:prstGeom>
          <a:noFill/>
          <a:ln/>
        </p:spPr>
        <p:txBody>
          <a:bodyPr wrap="square" lIns="0" tIns="0" rIns="0" bIns="0" rtlCol="0" anchor="ctr"/>
          <a:lstStyle/>
          <a:p>
            <a:pPr indent="0" marL="0">
              <a:lnSpc>
                <a:spcPts val="1400"/>
              </a:lnSpc>
              <a:buNone/>
            </a:pPr>
            <a:r>
              <a:rPr lang="en-US" sz="1000" b="1" dirty="0">
                <a:solidFill>
                  <a:srgbClr val="F0EBE2"/>
                </a:solidFill>
                <a:latin typeface="맑은 고딕" pitchFamily="34" charset="0"/>
                <a:ea typeface="맑은 고딕" pitchFamily="34" charset="-122"/>
                <a:cs typeface="맑은 고딕" pitchFamily="34" charset="-120"/>
              </a:rPr>
              <a:t>Promotion</a:t>
            </a:r>
            <a:endParaRPr lang="en-US" sz="1000" dirty="0"/>
          </a:p>
          <a:p>
            <a:pPr indent="0" marL="0">
              <a:lnSpc>
                <a:spcPts val="1400"/>
              </a:lnSpc>
              <a:buNone/>
            </a:pPr>
            <a:r>
              <a:rPr lang="en-US" sz="1000" b="1" dirty="0">
                <a:solidFill>
                  <a:srgbClr val="F0EBE2"/>
                </a:solidFill>
                <a:latin typeface="맑은 고딕" pitchFamily="34" charset="0"/>
                <a:ea typeface="맑은 고딕" pitchFamily="34" charset="-122"/>
                <a:cs typeface="맑은 고딕" pitchFamily="34" charset="-120"/>
              </a:rPr>
              <a:t>홍보·프로그램</a:t>
            </a:r>
            <a:endParaRPr lang="en-US" sz="1000" dirty="0"/>
          </a:p>
        </p:txBody>
      </p:sp>
      <p:sp>
        <p:nvSpPr>
          <p:cNvPr id="38" name="Shape 36"/>
          <p:cNvSpPr/>
          <p:nvPr/>
        </p:nvSpPr>
        <p:spPr>
          <a:xfrm>
            <a:off x="2286000" y="4864608"/>
            <a:ext cx="2258568" cy="1060704"/>
          </a:xfrm>
          <a:prstGeom prst="rect">
            <a:avLst/>
          </a:prstGeom>
          <a:solidFill>
            <a:srgbClr val="FFFFFF"/>
          </a:solidFill>
          <a:ln w="9525">
            <a:solidFill>
              <a:srgbClr val="D8D4CE"/>
            </a:solidFill>
            <a:prstDash val="solid"/>
          </a:ln>
        </p:spPr>
      </p:sp>
      <p:sp>
        <p:nvSpPr>
          <p:cNvPr id="39" name="Text 37"/>
          <p:cNvSpPr/>
          <p:nvPr/>
        </p:nvSpPr>
        <p:spPr>
          <a:xfrm>
            <a:off x="2414016" y="4946904"/>
            <a:ext cx="2002536" cy="896112"/>
          </a:xfrm>
          <a:prstGeom prst="rect">
            <a:avLst/>
          </a:prstGeom>
          <a:noFill/>
          <a:ln/>
        </p:spPr>
        <p:txBody>
          <a:bodyPr wrap="square" lIns="0" tIns="0" rIns="0" bIns="0" rtlCol="0" anchor="t"/>
          <a:lstStyle/>
          <a:p>
            <a:pPr indent="0" marL="0">
              <a:lnSpc>
                <a:spcPts val="1350"/>
              </a:lnSpc>
              <a:buNone/>
            </a:pPr>
            <a:r>
              <a:rPr lang="en-US" sz="950" dirty="0">
                <a:solidFill>
                  <a:srgbClr val="3E3A35"/>
                </a:solidFill>
                <a:latin typeface="맑은 고딕" pitchFamily="34" charset="0"/>
                <a:ea typeface="맑은 고딕" pitchFamily="34" charset="-122"/>
                <a:cs typeface="맑은 고딕" pitchFamily="34" charset="-120"/>
              </a:rPr>
              <a:t>협력기관·상인회 협의</a:t>
            </a:r>
            <a:endParaRPr lang="en-US" sz="950" dirty="0"/>
          </a:p>
          <a:p>
            <a:pPr indent="0" marL="0">
              <a:lnSpc>
                <a:spcPts val="1350"/>
              </a:lnSpc>
              <a:buNone/>
            </a:pPr>
            <a:r>
              <a:rPr lang="en-US" sz="950" dirty="0">
                <a:solidFill>
                  <a:srgbClr val="3E3A35"/>
                </a:solidFill>
                <a:latin typeface="맑은 고딕" pitchFamily="34" charset="0"/>
                <a:ea typeface="맑은 고딕" pitchFamily="34" charset="-122"/>
                <a:cs typeface="맑은 고딕" pitchFamily="34" charset="-120"/>
              </a:rPr>
              <a:t>후원 제안·계약</a:t>
            </a:r>
            <a:endParaRPr lang="en-US" sz="950" dirty="0"/>
          </a:p>
          <a:p>
            <a:pPr indent="0" marL="0">
              <a:lnSpc>
                <a:spcPts val="1350"/>
              </a:lnSpc>
              <a:buNone/>
            </a:pPr>
            <a:r>
              <a:rPr lang="en-US" sz="950" dirty="0">
                <a:solidFill>
                  <a:srgbClr val="3E3A35"/>
                </a:solidFill>
                <a:latin typeface="맑은 고딕" pitchFamily="34" charset="0"/>
                <a:ea typeface="맑은 고딕" pitchFamily="34" charset="-122"/>
                <a:cs typeface="맑은 고딕" pitchFamily="34" charset="-120"/>
              </a:rPr>
              <a:t>프로그램 수요조사</a:t>
            </a:r>
            <a:endParaRPr lang="en-US" sz="950" dirty="0"/>
          </a:p>
        </p:txBody>
      </p:sp>
      <p:sp>
        <p:nvSpPr>
          <p:cNvPr id="40" name="Shape 38"/>
          <p:cNvSpPr/>
          <p:nvPr/>
        </p:nvSpPr>
        <p:spPr>
          <a:xfrm>
            <a:off x="4617720" y="4864608"/>
            <a:ext cx="2258568" cy="1060704"/>
          </a:xfrm>
          <a:prstGeom prst="rect">
            <a:avLst/>
          </a:prstGeom>
          <a:solidFill>
            <a:srgbClr val="FFFFFF"/>
          </a:solidFill>
          <a:ln w="9525">
            <a:solidFill>
              <a:srgbClr val="D8D4CE"/>
            </a:solidFill>
            <a:prstDash val="solid"/>
          </a:ln>
        </p:spPr>
      </p:sp>
      <p:sp>
        <p:nvSpPr>
          <p:cNvPr id="41" name="Text 39"/>
          <p:cNvSpPr/>
          <p:nvPr/>
        </p:nvSpPr>
        <p:spPr>
          <a:xfrm>
            <a:off x="4745736" y="4946904"/>
            <a:ext cx="2002536" cy="896112"/>
          </a:xfrm>
          <a:prstGeom prst="rect">
            <a:avLst/>
          </a:prstGeom>
          <a:noFill/>
          <a:ln/>
        </p:spPr>
        <p:txBody>
          <a:bodyPr wrap="square" lIns="0" tIns="0" rIns="0" bIns="0" rtlCol="0" anchor="t"/>
          <a:lstStyle/>
          <a:p>
            <a:pPr indent="0" marL="0">
              <a:lnSpc>
                <a:spcPts val="1350"/>
              </a:lnSpc>
              <a:buNone/>
            </a:pPr>
            <a:r>
              <a:rPr lang="en-US" sz="950" dirty="0">
                <a:solidFill>
                  <a:srgbClr val="3E3A35"/>
                </a:solidFill>
                <a:latin typeface="맑은 고딕" pitchFamily="34" charset="0"/>
                <a:ea typeface="맑은 고딕" pitchFamily="34" charset="-122"/>
                <a:cs typeface="맑은 고딕" pitchFamily="34" charset="-120"/>
              </a:rPr>
              <a:t>티저 콘텐츠 제작</a:t>
            </a:r>
            <a:endParaRPr lang="en-US" sz="950" dirty="0"/>
          </a:p>
          <a:p>
            <a:pPr indent="0" marL="0">
              <a:lnSpc>
                <a:spcPts val="1350"/>
              </a:lnSpc>
              <a:buNone/>
            </a:pPr>
            <a:r>
              <a:rPr lang="en-US" sz="950" dirty="0">
                <a:solidFill>
                  <a:srgbClr val="3E3A35"/>
                </a:solidFill>
                <a:latin typeface="맑은 고딕" pitchFamily="34" charset="0"/>
                <a:ea typeface="맑은 고딕" pitchFamily="34" charset="-122"/>
                <a:cs typeface="맑은 고딕" pitchFamily="34" charset="-120"/>
              </a:rPr>
              <a:t>예약 시스템 오픈</a:t>
            </a:r>
            <a:endParaRPr lang="en-US" sz="950" dirty="0"/>
          </a:p>
          <a:p>
            <a:pPr indent="0" marL="0">
              <a:lnSpc>
                <a:spcPts val="1350"/>
              </a:lnSpc>
              <a:buNone/>
            </a:pPr>
            <a:r>
              <a:rPr lang="en-US" sz="950" dirty="0">
                <a:solidFill>
                  <a:srgbClr val="3E3A35"/>
                </a:solidFill>
                <a:latin typeface="맑은 고딕" pitchFamily="34" charset="0"/>
                <a:ea typeface="맑은 고딕" pitchFamily="34" charset="-122"/>
                <a:cs typeface="맑은 고딕" pitchFamily="34" charset="-120"/>
              </a:rPr>
              <a:t>보도자료 1차</a:t>
            </a:r>
            <a:endParaRPr lang="en-US" sz="950" dirty="0"/>
          </a:p>
        </p:txBody>
      </p:sp>
      <p:sp>
        <p:nvSpPr>
          <p:cNvPr id="42" name="Shape 40"/>
          <p:cNvSpPr/>
          <p:nvPr/>
        </p:nvSpPr>
        <p:spPr>
          <a:xfrm>
            <a:off x="6949440" y="4864608"/>
            <a:ext cx="2258568" cy="1060704"/>
          </a:xfrm>
          <a:prstGeom prst="rect">
            <a:avLst/>
          </a:prstGeom>
          <a:solidFill>
            <a:srgbClr val="FFFFFF"/>
          </a:solidFill>
          <a:ln w="9525">
            <a:solidFill>
              <a:srgbClr val="D8D4CE"/>
            </a:solidFill>
            <a:prstDash val="solid"/>
          </a:ln>
        </p:spPr>
      </p:sp>
      <p:sp>
        <p:nvSpPr>
          <p:cNvPr id="43" name="Text 41"/>
          <p:cNvSpPr/>
          <p:nvPr/>
        </p:nvSpPr>
        <p:spPr>
          <a:xfrm>
            <a:off x="7077456" y="4946904"/>
            <a:ext cx="2002536" cy="896112"/>
          </a:xfrm>
          <a:prstGeom prst="rect">
            <a:avLst/>
          </a:prstGeom>
          <a:noFill/>
          <a:ln/>
        </p:spPr>
        <p:txBody>
          <a:bodyPr wrap="square" lIns="0" tIns="0" rIns="0" bIns="0" rtlCol="0" anchor="t"/>
          <a:lstStyle/>
          <a:p>
            <a:pPr indent="0" marL="0">
              <a:lnSpc>
                <a:spcPts val="1350"/>
              </a:lnSpc>
              <a:buNone/>
            </a:pPr>
            <a:r>
              <a:rPr lang="en-US" sz="950" dirty="0">
                <a:solidFill>
                  <a:srgbClr val="3E3A35"/>
                </a:solidFill>
                <a:latin typeface="맑은 고딕" pitchFamily="34" charset="0"/>
                <a:ea typeface="맑은 고딕" pitchFamily="34" charset="-122"/>
                <a:cs typeface="맑은 고딕" pitchFamily="34" charset="-120"/>
              </a:rPr>
              <a:t>개막·프레스</a:t>
            </a:r>
            <a:endParaRPr lang="en-US" sz="950" dirty="0"/>
          </a:p>
          <a:p>
            <a:pPr indent="0" marL="0">
              <a:lnSpc>
                <a:spcPts val="1350"/>
              </a:lnSpc>
              <a:buNone/>
            </a:pPr>
            <a:r>
              <a:rPr lang="en-US" sz="950" dirty="0">
                <a:solidFill>
                  <a:srgbClr val="3E3A35"/>
                </a:solidFill>
                <a:latin typeface="맑은 고딕" pitchFamily="34" charset="0"/>
                <a:ea typeface="맑은 고딕" pitchFamily="34" charset="-122"/>
                <a:cs typeface="맑은 고딕" pitchFamily="34" charset="-120"/>
              </a:rPr>
              <a:t>숏폼 8편·주간 리포트</a:t>
            </a:r>
            <a:endParaRPr lang="en-US" sz="950" dirty="0"/>
          </a:p>
          <a:p>
            <a:pPr indent="0" marL="0">
              <a:lnSpc>
                <a:spcPts val="1350"/>
              </a:lnSpc>
              <a:buNone/>
            </a:pPr>
            <a:r>
              <a:rPr lang="en-US" sz="950" dirty="0">
                <a:solidFill>
                  <a:srgbClr val="3E3A35"/>
                </a:solidFill>
                <a:latin typeface="맑은 고딕" pitchFamily="34" charset="0"/>
                <a:ea typeface="맑은 고딕" pitchFamily="34" charset="-122"/>
                <a:cs typeface="맑은 고딕" pitchFamily="34" charset="-120"/>
              </a:rPr>
              <a:t>스탬프 투어 운영</a:t>
            </a:r>
            <a:endParaRPr lang="en-US" sz="950" dirty="0"/>
          </a:p>
        </p:txBody>
      </p:sp>
      <p:sp>
        <p:nvSpPr>
          <p:cNvPr id="44" name="Shape 42"/>
          <p:cNvSpPr/>
          <p:nvPr/>
        </p:nvSpPr>
        <p:spPr>
          <a:xfrm>
            <a:off x="9281160" y="4864608"/>
            <a:ext cx="2258568" cy="1060704"/>
          </a:xfrm>
          <a:prstGeom prst="rect">
            <a:avLst/>
          </a:prstGeom>
          <a:solidFill>
            <a:srgbClr val="FFFFFF"/>
          </a:solidFill>
          <a:ln w="9525">
            <a:solidFill>
              <a:srgbClr val="D8D4CE"/>
            </a:solidFill>
            <a:prstDash val="solid"/>
          </a:ln>
        </p:spPr>
      </p:sp>
      <p:sp>
        <p:nvSpPr>
          <p:cNvPr id="45" name="Text 43"/>
          <p:cNvSpPr/>
          <p:nvPr/>
        </p:nvSpPr>
        <p:spPr>
          <a:xfrm>
            <a:off x="9409176" y="4946904"/>
            <a:ext cx="2002536" cy="896112"/>
          </a:xfrm>
          <a:prstGeom prst="rect">
            <a:avLst/>
          </a:prstGeom>
          <a:noFill/>
          <a:ln/>
        </p:spPr>
        <p:txBody>
          <a:bodyPr wrap="square" lIns="0" tIns="0" rIns="0" bIns="0" rtlCol="0" anchor="t"/>
          <a:lstStyle/>
          <a:p>
            <a:pPr indent="0" marL="0">
              <a:lnSpc>
                <a:spcPts val="1350"/>
              </a:lnSpc>
              <a:buNone/>
            </a:pPr>
            <a:r>
              <a:rPr lang="en-US" sz="950" dirty="0">
                <a:solidFill>
                  <a:srgbClr val="3E3A35"/>
                </a:solidFill>
                <a:latin typeface="맑은 고딕" pitchFamily="34" charset="0"/>
                <a:ea typeface="맑은 고딕" pitchFamily="34" charset="-122"/>
                <a:cs typeface="맑은 고딕" pitchFamily="34" charset="-120"/>
              </a:rPr>
              <a:t>결산 콘텐츠·성과보고</a:t>
            </a:r>
            <a:endParaRPr lang="en-US" sz="950" dirty="0"/>
          </a:p>
          <a:p>
            <a:pPr indent="0" marL="0">
              <a:lnSpc>
                <a:spcPts val="1350"/>
              </a:lnSpc>
              <a:buNone/>
            </a:pPr>
            <a:r>
              <a:rPr lang="en-US" sz="950" dirty="0">
                <a:solidFill>
                  <a:srgbClr val="3E3A35"/>
                </a:solidFill>
                <a:latin typeface="맑은 고딕" pitchFamily="34" charset="0"/>
                <a:ea typeface="맑은 고딕" pitchFamily="34" charset="-122"/>
                <a:cs typeface="맑은 고딕" pitchFamily="34" charset="-120"/>
              </a:rPr>
              <a:t>후원사 리포트 제출</a:t>
            </a:r>
            <a:endParaRPr lang="en-US" sz="950" dirty="0"/>
          </a:p>
          <a:p>
            <a:pPr indent="0" marL="0">
              <a:lnSpc>
                <a:spcPts val="1350"/>
              </a:lnSpc>
              <a:buNone/>
            </a:pPr>
            <a:r>
              <a:rPr lang="en-US" sz="950" dirty="0">
                <a:solidFill>
                  <a:srgbClr val="3E3A35"/>
                </a:solidFill>
                <a:latin typeface="맑은 고딕" pitchFamily="34" charset="0"/>
                <a:ea typeface="맑은 고딕" pitchFamily="34" charset="-122"/>
                <a:cs typeface="맑은 고딕" pitchFamily="34" charset="-120"/>
              </a:rPr>
              <a:t>순회 협의 개시</a:t>
            </a:r>
            <a:endParaRPr lang="en-US" sz="950" dirty="0"/>
          </a:p>
        </p:txBody>
      </p:sp>
      <p:sp>
        <p:nvSpPr>
          <p:cNvPr id="46" name="Text 44"/>
          <p:cNvSpPr/>
          <p:nvPr/>
        </p:nvSpPr>
        <p:spPr>
          <a:xfrm>
            <a:off x="548640" y="6016752"/>
            <a:ext cx="11064240" cy="274320"/>
          </a:xfrm>
          <a:prstGeom prst="rect">
            <a:avLst/>
          </a:prstGeom>
          <a:noFill/>
          <a:ln/>
        </p:spPr>
        <p:txBody>
          <a:bodyPr wrap="square" lIns="0" tIns="0" rIns="0" bIns="0" rtlCol="0" anchor="ctr"/>
          <a:lstStyle/>
          <a:p>
            <a:pPr indent="0" marL="0">
              <a:buNone/>
            </a:pPr>
            <a:r>
              <a:rPr lang="en-US" sz="900" dirty="0">
                <a:solidFill>
                  <a:srgbClr val="8A857E"/>
                </a:solidFill>
                <a:latin typeface="맑은 고딕" pitchFamily="34" charset="0"/>
                <a:ea typeface="맑은 고딕" pitchFamily="34" charset="-122"/>
                <a:cs typeface="맑은 고딕" pitchFamily="34" charset="-120"/>
              </a:rPr>
              <a:t>※ 계약서는 문화체육관광부 고시 미술 분야 표준계약서를 준수하며, 각 단계 종료 시 기관·후원사에 진행 보고서를 제출합니다.</a:t>
            </a:r>
            <a:endParaRPr lang="en-US" sz="900" dirty="0"/>
          </a:p>
        </p:txBody>
      </p:sp>
      <p:sp>
        <p:nvSpPr>
          <p:cNvPr id="47" name="Text 45"/>
          <p:cNvSpPr/>
          <p:nvPr/>
        </p:nvSpPr>
        <p:spPr>
          <a:xfrm>
            <a:off x="548640" y="6419088"/>
            <a:ext cx="7315200" cy="274320"/>
          </a:xfrm>
          <a:prstGeom prst="rect">
            <a:avLst/>
          </a:prstGeom>
          <a:noFill/>
          <a:ln/>
        </p:spPr>
        <p:txBody>
          <a:bodyPr wrap="square" lIns="0" tIns="0" rIns="0" bIns="0" rtlCol="0" anchor="ctr"/>
          <a:lstStyle/>
          <a:p>
            <a:pPr algn="l" indent="0" marL="0">
              <a:buNone/>
            </a:pPr>
            <a:r>
              <a:rPr lang="en-US" sz="800" dirty="0">
                <a:solidFill>
                  <a:srgbClr val="8A857E"/>
                </a:solidFill>
                <a:latin typeface="맑은 고딕" pitchFamily="34" charset="0"/>
                <a:ea typeface="맑은 고딕" pitchFamily="34" charset="-122"/>
                <a:cs typeface="맑은 고딕" pitchFamily="34" charset="-120"/>
              </a:rPr>
              <a:t>아이테르 문화예술기획제안서   ·   덮인 물, 남은 올   ·   기획 추병곤</a:t>
            </a:r>
            <a:endParaRPr lang="en-US" sz="800" dirty="0"/>
          </a:p>
        </p:txBody>
      </p:sp>
      <p:sp>
        <p:nvSpPr>
          <p:cNvPr id="48" name="Text 46"/>
          <p:cNvSpPr/>
          <p:nvPr/>
        </p:nvSpPr>
        <p:spPr>
          <a:xfrm>
            <a:off x="10972800" y="6419088"/>
            <a:ext cx="640080" cy="274320"/>
          </a:xfrm>
          <a:prstGeom prst="rect">
            <a:avLst/>
          </a:prstGeom>
          <a:noFill/>
          <a:ln/>
        </p:spPr>
        <p:txBody>
          <a:bodyPr wrap="square" lIns="0" tIns="0" rIns="0" bIns="0" rtlCol="0" anchor="ctr"/>
          <a:lstStyle/>
          <a:p>
            <a:pPr algn="r" indent="0" marL="0">
              <a:buNone/>
            </a:pPr>
            <a:r>
              <a:rPr lang="en-US" sz="900" dirty="0">
                <a:solidFill>
                  <a:srgbClr val="8A857E"/>
                </a:solidFill>
                <a:latin typeface="Cambria" pitchFamily="34" charset="0"/>
                <a:ea typeface="Cambria" pitchFamily="34" charset="-122"/>
                <a:cs typeface="Cambria"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7315200" cy="237744"/>
          </a:xfrm>
          <a:prstGeom prst="rect">
            <a:avLst/>
          </a:prstGeom>
          <a:noFill/>
          <a:ln/>
        </p:spPr>
        <p:txBody>
          <a:bodyPr wrap="square" lIns="0" tIns="0" rIns="0" bIns="0" rtlCol="0" anchor="ctr"/>
          <a:lstStyle/>
          <a:p>
            <a:pPr indent="0" marL="0">
              <a:buNone/>
            </a:pPr>
            <a:r>
              <a:rPr lang="en-US" sz="1050" spc="250" kern="0" dirty="0">
                <a:solidFill>
                  <a:srgbClr val="8A857E"/>
                </a:solidFill>
                <a:latin typeface="Cambria" pitchFamily="34" charset="0"/>
                <a:ea typeface="Cambria" pitchFamily="34" charset="-122"/>
                <a:cs typeface="Cambria" pitchFamily="34" charset="-120"/>
              </a:rPr>
              <a:t>17  DIAGRAM 6</a:t>
            </a:r>
            <a:endParaRPr lang="en-US" sz="1050" dirty="0"/>
          </a:p>
        </p:txBody>
      </p:sp>
      <p:sp>
        <p:nvSpPr>
          <p:cNvPr id="3" name="Text 1"/>
          <p:cNvSpPr/>
          <p:nvPr/>
        </p:nvSpPr>
        <p:spPr>
          <a:xfrm>
            <a:off x="548640" y="694944"/>
            <a:ext cx="10058400" cy="502920"/>
          </a:xfrm>
          <a:prstGeom prst="rect">
            <a:avLst/>
          </a:prstGeom>
          <a:noFill/>
          <a:ln/>
        </p:spPr>
        <p:txBody>
          <a:bodyPr wrap="square" lIns="0" tIns="0" rIns="0" bIns="0" rtlCol="0" anchor="ctr"/>
          <a:lstStyle/>
          <a:p>
            <a:pPr indent="0" marL="0">
              <a:buNone/>
            </a:pPr>
            <a:r>
              <a:rPr lang="en-US" sz="2700" b="1" dirty="0">
                <a:solidFill>
                  <a:srgbClr val="1A1A1A"/>
                </a:solidFill>
                <a:latin typeface="맑은 고딕" pitchFamily="34" charset="0"/>
                <a:ea typeface="맑은 고딕" pitchFamily="34" charset="-122"/>
                <a:cs typeface="맑은 고딕" pitchFamily="34" charset="-120"/>
              </a:rPr>
              <a:t>[도식 6] 추진 일정 — 16개월 로드맵</a:t>
            </a:r>
            <a:endParaRPr lang="en-US" sz="2700" dirty="0"/>
          </a:p>
        </p:txBody>
      </p:sp>
      <p:sp>
        <p:nvSpPr>
          <p:cNvPr id="4" name="Text 2"/>
          <p:cNvSpPr/>
          <p:nvPr/>
        </p:nvSpPr>
        <p:spPr>
          <a:xfrm>
            <a:off x="548640" y="1225296"/>
            <a:ext cx="10607040" cy="310896"/>
          </a:xfrm>
          <a:prstGeom prst="rect">
            <a:avLst/>
          </a:prstGeom>
          <a:noFill/>
          <a:ln/>
        </p:spPr>
        <p:txBody>
          <a:bodyPr wrap="square" lIns="0" tIns="0" rIns="0" bIns="0" rtlCol="0" anchor="ctr"/>
          <a:lstStyle/>
          <a:p>
            <a:pPr indent="0" marL="0">
              <a:buNone/>
            </a:pPr>
            <a:r>
              <a:rPr lang="en-US" sz="1200" dirty="0">
                <a:solidFill>
                  <a:srgbClr val="8A857E"/>
                </a:solidFill>
                <a:latin typeface="맑은 고딕" pitchFamily="34" charset="0"/>
                <a:ea typeface="맑은 고딕" pitchFamily="34" charset="-122"/>
                <a:cs typeface="맑은 고딕" pitchFamily="34" charset="-120"/>
              </a:rPr>
              <a:t>2026. 09 킥오프 → 2027. 09. 03 개막 → 2027. 12 결과 보고</a:t>
            </a:r>
            <a:endParaRPr lang="en-US" sz="1200" dirty="0"/>
          </a:p>
        </p:txBody>
      </p:sp>
      <p:sp>
        <p:nvSpPr>
          <p:cNvPr id="5" name="Text 3"/>
          <p:cNvSpPr/>
          <p:nvPr/>
        </p:nvSpPr>
        <p:spPr>
          <a:xfrm>
            <a:off x="3063240" y="1783080"/>
            <a:ext cx="1463040" cy="237744"/>
          </a:xfrm>
          <a:prstGeom prst="rect">
            <a:avLst/>
          </a:prstGeom>
          <a:noFill/>
          <a:ln/>
        </p:spPr>
        <p:txBody>
          <a:bodyPr wrap="square" lIns="0" tIns="0" rIns="0" bIns="0" rtlCol="0" anchor="ctr"/>
          <a:lstStyle/>
          <a:p>
            <a:pPr indent="0" marL="0">
              <a:buNone/>
            </a:pPr>
            <a:r>
              <a:rPr lang="en-US" sz="1000" b="1" dirty="0">
                <a:solidFill>
                  <a:srgbClr val="8A857E"/>
                </a:solidFill>
                <a:latin typeface="Cambria" pitchFamily="34" charset="0"/>
                <a:ea typeface="Cambria" pitchFamily="34" charset="-122"/>
                <a:cs typeface="Cambria" pitchFamily="34" charset="-120"/>
              </a:rPr>
              <a:t>2026</a:t>
            </a:r>
            <a:endParaRPr lang="en-US" sz="1000" dirty="0"/>
          </a:p>
        </p:txBody>
      </p:sp>
      <p:sp>
        <p:nvSpPr>
          <p:cNvPr id="6" name="Text 4"/>
          <p:cNvSpPr/>
          <p:nvPr/>
        </p:nvSpPr>
        <p:spPr>
          <a:xfrm>
            <a:off x="5200650" y="1783080"/>
            <a:ext cx="1463040" cy="237744"/>
          </a:xfrm>
          <a:prstGeom prst="rect">
            <a:avLst/>
          </a:prstGeom>
          <a:noFill/>
          <a:ln/>
        </p:spPr>
        <p:txBody>
          <a:bodyPr wrap="square" lIns="0" tIns="0" rIns="0" bIns="0" rtlCol="0" anchor="ctr"/>
          <a:lstStyle/>
          <a:p>
            <a:pPr indent="0" marL="0">
              <a:buNone/>
            </a:pPr>
            <a:r>
              <a:rPr lang="en-US" sz="1000" b="1" dirty="0">
                <a:solidFill>
                  <a:srgbClr val="8A857E"/>
                </a:solidFill>
                <a:latin typeface="Cambria" pitchFamily="34" charset="0"/>
                <a:ea typeface="Cambria" pitchFamily="34" charset="-122"/>
                <a:cs typeface="Cambria" pitchFamily="34" charset="-120"/>
              </a:rPr>
              <a:t>2027</a:t>
            </a:r>
            <a:endParaRPr lang="en-US" sz="1000" dirty="0"/>
          </a:p>
        </p:txBody>
      </p:sp>
      <p:sp>
        <p:nvSpPr>
          <p:cNvPr id="7" name="Text 5"/>
          <p:cNvSpPr/>
          <p:nvPr/>
        </p:nvSpPr>
        <p:spPr>
          <a:xfrm>
            <a:off x="3063240" y="2011680"/>
            <a:ext cx="534353" cy="219456"/>
          </a:xfrm>
          <a:prstGeom prst="rect">
            <a:avLst/>
          </a:prstGeom>
          <a:noFill/>
          <a:ln/>
        </p:spPr>
        <p:txBody>
          <a:bodyPr wrap="square" lIns="0" tIns="0" rIns="0" bIns="0" rtlCol="0" anchor="ctr"/>
          <a:lstStyle/>
          <a:p>
            <a:pPr algn="ctr" indent="0" marL="0">
              <a:buNone/>
            </a:pPr>
            <a:r>
              <a:rPr lang="en-US" sz="900" dirty="0">
                <a:solidFill>
                  <a:srgbClr val="6E6A65"/>
                </a:solidFill>
                <a:latin typeface="Cambria" pitchFamily="34" charset="0"/>
                <a:ea typeface="Cambria" pitchFamily="34" charset="-122"/>
                <a:cs typeface="Cambria" pitchFamily="34" charset="-120"/>
              </a:rPr>
              <a:t>9</a:t>
            </a:r>
            <a:endParaRPr lang="en-US" sz="900" dirty="0"/>
          </a:p>
        </p:txBody>
      </p:sp>
      <p:sp>
        <p:nvSpPr>
          <p:cNvPr id="8" name="Shape 6"/>
          <p:cNvSpPr/>
          <p:nvPr/>
        </p:nvSpPr>
        <p:spPr>
          <a:xfrm>
            <a:off x="3063240" y="2148840"/>
            <a:ext cx="0" cy="3337560"/>
          </a:xfrm>
          <a:prstGeom prst="line">
            <a:avLst/>
          </a:prstGeom>
          <a:noFill/>
          <a:ln w="9525">
            <a:solidFill>
              <a:srgbClr val="ECE9E4"/>
            </a:solidFill>
            <a:prstDash val="solid"/>
          </a:ln>
        </p:spPr>
      </p:sp>
      <p:sp>
        <p:nvSpPr>
          <p:cNvPr id="9" name="Text 7"/>
          <p:cNvSpPr/>
          <p:nvPr/>
        </p:nvSpPr>
        <p:spPr>
          <a:xfrm>
            <a:off x="3597593" y="2011680"/>
            <a:ext cx="534353" cy="219456"/>
          </a:xfrm>
          <a:prstGeom prst="rect">
            <a:avLst/>
          </a:prstGeom>
          <a:noFill/>
          <a:ln/>
        </p:spPr>
        <p:txBody>
          <a:bodyPr wrap="square" lIns="0" tIns="0" rIns="0" bIns="0" rtlCol="0" anchor="ctr"/>
          <a:lstStyle/>
          <a:p>
            <a:pPr algn="ctr" indent="0" marL="0">
              <a:buNone/>
            </a:pPr>
            <a:r>
              <a:rPr lang="en-US" sz="900" dirty="0">
                <a:solidFill>
                  <a:srgbClr val="6E6A65"/>
                </a:solidFill>
                <a:latin typeface="Cambria" pitchFamily="34" charset="0"/>
                <a:ea typeface="Cambria" pitchFamily="34" charset="-122"/>
                <a:cs typeface="Cambria" pitchFamily="34" charset="-120"/>
              </a:rPr>
              <a:t>10</a:t>
            </a:r>
            <a:endParaRPr lang="en-US" sz="900" dirty="0"/>
          </a:p>
        </p:txBody>
      </p:sp>
      <p:sp>
        <p:nvSpPr>
          <p:cNvPr id="10" name="Shape 8"/>
          <p:cNvSpPr/>
          <p:nvPr/>
        </p:nvSpPr>
        <p:spPr>
          <a:xfrm>
            <a:off x="3597593" y="2148840"/>
            <a:ext cx="0" cy="3337560"/>
          </a:xfrm>
          <a:prstGeom prst="line">
            <a:avLst/>
          </a:prstGeom>
          <a:noFill/>
          <a:ln w="9525">
            <a:solidFill>
              <a:srgbClr val="ECE9E4"/>
            </a:solidFill>
            <a:prstDash val="solid"/>
          </a:ln>
        </p:spPr>
      </p:sp>
      <p:sp>
        <p:nvSpPr>
          <p:cNvPr id="11" name="Text 9"/>
          <p:cNvSpPr/>
          <p:nvPr/>
        </p:nvSpPr>
        <p:spPr>
          <a:xfrm>
            <a:off x="4131945" y="2011680"/>
            <a:ext cx="534353" cy="219456"/>
          </a:xfrm>
          <a:prstGeom prst="rect">
            <a:avLst/>
          </a:prstGeom>
          <a:noFill/>
          <a:ln/>
        </p:spPr>
        <p:txBody>
          <a:bodyPr wrap="square" lIns="0" tIns="0" rIns="0" bIns="0" rtlCol="0" anchor="ctr"/>
          <a:lstStyle/>
          <a:p>
            <a:pPr algn="ctr" indent="0" marL="0">
              <a:buNone/>
            </a:pPr>
            <a:r>
              <a:rPr lang="en-US" sz="900" dirty="0">
                <a:solidFill>
                  <a:srgbClr val="6E6A65"/>
                </a:solidFill>
                <a:latin typeface="Cambria" pitchFamily="34" charset="0"/>
                <a:ea typeface="Cambria" pitchFamily="34" charset="-122"/>
                <a:cs typeface="Cambria" pitchFamily="34" charset="-120"/>
              </a:rPr>
              <a:t>11</a:t>
            </a:r>
            <a:endParaRPr lang="en-US" sz="900" dirty="0"/>
          </a:p>
        </p:txBody>
      </p:sp>
      <p:sp>
        <p:nvSpPr>
          <p:cNvPr id="12" name="Shape 10"/>
          <p:cNvSpPr/>
          <p:nvPr/>
        </p:nvSpPr>
        <p:spPr>
          <a:xfrm>
            <a:off x="4131945" y="2148840"/>
            <a:ext cx="0" cy="3337560"/>
          </a:xfrm>
          <a:prstGeom prst="line">
            <a:avLst/>
          </a:prstGeom>
          <a:noFill/>
          <a:ln w="9525">
            <a:solidFill>
              <a:srgbClr val="ECE9E4"/>
            </a:solidFill>
            <a:prstDash val="solid"/>
          </a:ln>
        </p:spPr>
      </p:sp>
      <p:sp>
        <p:nvSpPr>
          <p:cNvPr id="13" name="Text 11"/>
          <p:cNvSpPr/>
          <p:nvPr/>
        </p:nvSpPr>
        <p:spPr>
          <a:xfrm>
            <a:off x="4666298" y="2011680"/>
            <a:ext cx="534353" cy="219456"/>
          </a:xfrm>
          <a:prstGeom prst="rect">
            <a:avLst/>
          </a:prstGeom>
          <a:noFill/>
          <a:ln/>
        </p:spPr>
        <p:txBody>
          <a:bodyPr wrap="square" lIns="0" tIns="0" rIns="0" bIns="0" rtlCol="0" anchor="ctr"/>
          <a:lstStyle/>
          <a:p>
            <a:pPr algn="ctr" indent="0" marL="0">
              <a:buNone/>
            </a:pPr>
            <a:r>
              <a:rPr lang="en-US" sz="900" dirty="0">
                <a:solidFill>
                  <a:srgbClr val="6E6A65"/>
                </a:solidFill>
                <a:latin typeface="Cambria" pitchFamily="34" charset="0"/>
                <a:ea typeface="Cambria" pitchFamily="34" charset="-122"/>
                <a:cs typeface="Cambria" pitchFamily="34" charset="-120"/>
              </a:rPr>
              <a:t>12</a:t>
            </a:r>
            <a:endParaRPr lang="en-US" sz="900" dirty="0"/>
          </a:p>
        </p:txBody>
      </p:sp>
      <p:sp>
        <p:nvSpPr>
          <p:cNvPr id="14" name="Shape 12"/>
          <p:cNvSpPr/>
          <p:nvPr/>
        </p:nvSpPr>
        <p:spPr>
          <a:xfrm>
            <a:off x="4666298" y="2148840"/>
            <a:ext cx="0" cy="3337560"/>
          </a:xfrm>
          <a:prstGeom prst="line">
            <a:avLst/>
          </a:prstGeom>
          <a:noFill/>
          <a:ln w="9525">
            <a:solidFill>
              <a:srgbClr val="ECE9E4"/>
            </a:solidFill>
            <a:prstDash val="solid"/>
          </a:ln>
        </p:spPr>
      </p:sp>
      <p:sp>
        <p:nvSpPr>
          <p:cNvPr id="15" name="Text 13"/>
          <p:cNvSpPr/>
          <p:nvPr/>
        </p:nvSpPr>
        <p:spPr>
          <a:xfrm>
            <a:off x="5200650" y="2011680"/>
            <a:ext cx="534353" cy="219456"/>
          </a:xfrm>
          <a:prstGeom prst="rect">
            <a:avLst/>
          </a:prstGeom>
          <a:noFill/>
          <a:ln/>
        </p:spPr>
        <p:txBody>
          <a:bodyPr wrap="square" lIns="0" tIns="0" rIns="0" bIns="0" rtlCol="0" anchor="ctr"/>
          <a:lstStyle/>
          <a:p>
            <a:pPr algn="ctr" indent="0" marL="0">
              <a:buNone/>
            </a:pPr>
            <a:r>
              <a:rPr lang="en-US" sz="900" dirty="0">
                <a:solidFill>
                  <a:srgbClr val="6E6A65"/>
                </a:solidFill>
                <a:latin typeface="Cambria" pitchFamily="34" charset="0"/>
                <a:ea typeface="Cambria" pitchFamily="34" charset="-122"/>
                <a:cs typeface="Cambria" pitchFamily="34" charset="-120"/>
              </a:rPr>
              <a:t>1</a:t>
            </a:r>
            <a:endParaRPr lang="en-US" sz="900" dirty="0"/>
          </a:p>
        </p:txBody>
      </p:sp>
      <p:sp>
        <p:nvSpPr>
          <p:cNvPr id="16" name="Shape 14"/>
          <p:cNvSpPr/>
          <p:nvPr/>
        </p:nvSpPr>
        <p:spPr>
          <a:xfrm>
            <a:off x="5200650" y="2148840"/>
            <a:ext cx="0" cy="3337560"/>
          </a:xfrm>
          <a:prstGeom prst="line">
            <a:avLst/>
          </a:prstGeom>
          <a:noFill/>
          <a:ln w="9525">
            <a:solidFill>
              <a:srgbClr val="ECE9E4"/>
            </a:solidFill>
            <a:prstDash val="solid"/>
          </a:ln>
        </p:spPr>
      </p:sp>
      <p:sp>
        <p:nvSpPr>
          <p:cNvPr id="17" name="Text 15"/>
          <p:cNvSpPr/>
          <p:nvPr/>
        </p:nvSpPr>
        <p:spPr>
          <a:xfrm>
            <a:off x="5735003" y="2011680"/>
            <a:ext cx="534353" cy="219456"/>
          </a:xfrm>
          <a:prstGeom prst="rect">
            <a:avLst/>
          </a:prstGeom>
          <a:noFill/>
          <a:ln/>
        </p:spPr>
        <p:txBody>
          <a:bodyPr wrap="square" lIns="0" tIns="0" rIns="0" bIns="0" rtlCol="0" anchor="ctr"/>
          <a:lstStyle/>
          <a:p>
            <a:pPr algn="ctr" indent="0" marL="0">
              <a:buNone/>
            </a:pPr>
            <a:r>
              <a:rPr lang="en-US" sz="900" dirty="0">
                <a:solidFill>
                  <a:srgbClr val="6E6A65"/>
                </a:solidFill>
                <a:latin typeface="Cambria" pitchFamily="34" charset="0"/>
                <a:ea typeface="Cambria" pitchFamily="34" charset="-122"/>
                <a:cs typeface="Cambria" pitchFamily="34" charset="-120"/>
              </a:rPr>
              <a:t>2</a:t>
            </a:r>
            <a:endParaRPr lang="en-US" sz="900" dirty="0"/>
          </a:p>
        </p:txBody>
      </p:sp>
      <p:sp>
        <p:nvSpPr>
          <p:cNvPr id="18" name="Shape 16"/>
          <p:cNvSpPr/>
          <p:nvPr/>
        </p:nvSpPr>
        <p:spPr>
          <a:xfrm>
            <a:off x="5735003" y="2148840"/>
            <a:ext cx="0" cy="3337560"/>
          </a:xfrm>
          <a:prstGeom prst="line">
            <a:avLst/>
          </a:prstGeom>
          <a:noFill/>
          <a:ln w="9525">
            <a:solidFill>
              <a:srgbClr val="ECE9E4"/>
            </a:solidFill>
            <a:prstDash val="solid"/>
          </a:ln>
        </p:spPr>
      </p:sp>
      <p:sp>
        <p:nvSpPr>
          <p:cNvPr id="19" name="Text 17"/>
          <p:cNvSpPr/>
          <p:nvPr/>
        </p:nvSpPr>
        <p:spPr>
          <a:xfrm>
            <a:off x="6269355" y="2011680"/>
            <a:ext cx="534353" cy="219456"/>
          </a:xfrm>
          <a:prstGeom prst="rect">
            <a:avLst/>
          </a:prstGeom>
          <a:noFill/>
          <a:ln/>
        </p:spPr>
        <p:txBody>
          <a:bodyPr wrap="square" lIns="0" tIns="0" rIns="0" bIns="0" rtlCol="0" anchor="ctr"/>
          <a:lstStyle/>
          <a:p>
            <a:pPr algn="ctr" indent="0" marL="0">
              <a:buNone/>
            </a:pPr>
            <a:r>
              <a:rPr lang="en-US" sz="900" dirty="0">
                <a:solidFill>
                  <a:srgbClr val="6E6A65"/>
                </a:solidFill>
                <a:latin typeface="Cambria" pitchFamily="34" charset="0"/>
                <a:ea typeface="Cambria" pitchFamily="34" charset="-122"/>
                <a:cs typeface="Cambria" pitchFamily="34" charset="-120"/>
              </a:rPr>
              <a:t>3</a:t>
            </a:r>
            <a:endParaRPr lang="en-US" sz="900" dirty="0"/>
          </a:p>
        </p:txBody>
      </p:sp>
      <p:sp>
        <p:nvSpPr>
          <p:cNvPr id="20" name="Shape 18"/>
          <p:cNvSpPr/>
          <p:nvPr/>
        </p:nvSpPr>
        <p:spPr>
          <a:xfrm>
            <a:off x="6269355" y="2148840"/>
            <a:ext cx="0" cy="3337560"/>
          </a:xfrm>
          <a:prstGeom prst="line">
            <a:avLst/>
          </a:prstGeom>
          <a:noFill/>
          <a:ln w="9525">
            <a:solidFill>
              <a:srgbClr val="ECE9E4"/>
            </a:solidFill>
            <a:prstDash val="solid"/>
          </a:ln>
        </p:spPr>
      </p:sp>
      <p:sp>
        <p:nvSpPr>
          <p:cNvPr id="21" name="Text 19"/>
          <p:cNvSpPr/>
          <p:nvPr/>
        </p:nvSpPr>
        <p:spPr>
          <a:xfrm>
            <a:off x="6803708" y="2011680"/>
            <a:ext cx="534353" cy="219456"/>
          </a:xfrm>
          <a:prstGeom prst="rect">
            <a:avLst/>
          </a:prstGeom>
          <a:noFill/>
          <a:ln/>
        </p:spPr>
        <p:txBody>
          <a:bodyPr wrap="square" lIns="0" tIns="0" rIns="0" bIns="0" rtlCol="0" anchor="ctr"/>
          <a:lstStyle/>
          <a:p>
            <a:pPr algn="ctr" indent="0" marL="0">
              <a:buNone/>
            </a:pPr>
            <a:r>
              <a:rPr lang="en-US" sz="900" dirty="0">
                <a:solidFill>
                  <a:srgbClr val="6E6A65"/>
                </a:solidFill>
                <a:latin typeface="Cambria" pitchFamily="34" charset="0"/>
                <a:ea typeface="Cambria" pitchFamily="34" charset="-122"/>
                <a:cs typeface="Cambria" pitchFamily="34" charset="-120"/>
              </a:rPr>
              <a:t>4</a:t>
            </a:r>
            <a:endParaRPr lang="en-US" sz="900" dirty="0"/>
          </a:p>
        </p:txBody>
      </p:sp>
      <p:sp>
        <p:nvSpPr>
          <p:cNvPr id="22" name="Shape 20"/>
          <p:cNvSpPr/>
          <p:nvPr/>
        </p:nvSpPr>
        <p:spPr>
          <a:xfrm>
            <a:off x="6803708" y="2148840"/>
            <a:ext cx="0" cy="3337560"/>
          </a:xfrm>
          <a:prstGeom prst="line">
            <a:avLst/>
          </a:prstGeom>
          <a:noFill/>
          <a:ln w="9525">
            <a:solidFill>
              <a:srgbClr val="ECE9E4"/>
            </a:solidFill>
            <a:prstDash val="solid"/>
          </a:ln>
        </p:spPr>
      </p:sp>
      <p:sp>
        <p:nvSpPr>
          <p:cNvPr id="23" name="Text 21"/>
          <p:cNvSpPr/>
          <p:nvPr/>
        </p:nvSpPr>
        <p:spPr>
          <a:xfrm>
            <a:off x="7338060" y="2011680"/>
            <a:ext cx="534353" cy="219456"/>
          </a:xfrm>
          <a:prstGeom prst="rect">
            <a:avLst/>
          </a:prstGeom>
          <a:noFill/>
          <a:ln/>
        </p:spPr>
        <p:txBody>
          <a:bodyPr wrap="square" lIns="0" tIns="0" rIns="0" bIns="0" rtlCol="0" anchor="ctr"/>
          <a:lstStyle/>
          <a:p>
            <a:pPr algn="ctr" indent="0" marL="0">
              <a:buNone/>
            </a:pPr>
            <a:r>
              <a:rPr lang="en-US" sz="900" dirty="0">
                <a:solidFill>
                  <a:srgbClr val="6E6A65"/>
                </a:solidFill>
                <a:latin typeface="Cambria" pitchFamily="34" charset="0"/>
                <a:ea typeface="Cambria" pitchFamily="34" charset="-122"/>
                <a:cs typeface="Cambria" pitchFamily="34" charset="-120"/>
              </a:rPr>
              <a:t>5</a:t>
            </a:r>
            <a:endParaRPr lang="en-US" sz="900" dirty="0"/>
          </a:p>
        </p:txBody>
      </p:sp>
      <p:sp>
        <p:nvSpPr>
          <p:cNvPr id="24" name="Shape 22"/>
          <p:cNvSpPr/>
          <p:nvPr/>
        </p:nvSpPr>
        <p:spPr>
          <a:xfrm>
            <a:off x="7338060" y="2148840"/>
            <a:ext cx="0" cy="3337560"/>
          </a:xfrm>
          <a:prstGeom prst="line">
            <a:avLst/>
          </a:prstGeom>
          <a:noFill/>
          <a:ln w="9525">
            <a:solidFill>
              <a:srgbClr val="ECE9E4"/>
            </a:solidFill>
            <a:prstDash val="solid"/>
          </a:ln>
        </p:spPr>
      </p:sp>
      <p:sp>
        <p:nvSpPr>
          <p:cNvPr id="25" name="Text 23"/>
          <p:cNvSpPr/>
          <p:nvPr/>
        </p:nvSpPr>
        <p:spPr>
          <a:xfrm>
            <a:off x="7872413" y="2011680"/>
            <a:ext cx="534353" cy="219456"/>
          </a:xfrm>
          <a:prstGeom prst="rect">
            <a:avLst/>
          </a:prstGeom>
          <a:noFill/>
          <a:ln/>
        </p:spPr>
        <p:txBody>
          <a:bodyPr wrap="square" lIns="0" tIns="0" rIns="0" bIns="0" rtlCol="0" anchor="ctr"/>
          <a:lstStyle/>
          <a:p>
            <a:pPr algn="ctr" indent="0" marL="0">
              <a:buNone/>
            </a:pPr>
            <a:r>
              <a:rPr lang="en-US" sz="900" dirty="0">
                <a:solidFill>
                  <a:srgbClr val="6E6A65"/>
                </a:solidFill>
                <a:latin typeface="Cambria" pitchFamily="34" charset="0"/>
                <a:ea typeface="Cambria" pitchFamily="34" charset="-122"/>
                <a:cs typeface="Cambria" pitchFamily="34" charset="-120"/>
              </a:rPr>
              <a:t>6</a:t>
            </a:r>
            <a:endParaRPr lang="en-US" sz="900" dirty="0"/>
          </a:p>
        </p:txBody>
      </p:sp>
      <p:sp>
        <p:nvSpPr>
          <p:cNvPr id="26" name="Shape 24"/>
          <p:cNvSpPr/>
          <p:nvPr/>
        </p:nvSpPr>
        <p:spPr>
          <a:xfrm>
            <a:off x="7872413" y="2148840"/>
            <a:ext cx="0" cy="3337560"/>
          </a:xfrm>
          <a:prstGeom prst="line">
            <a:avLst/>
          </a:prstGeom>
          <a:noFill/>
          <a:ln w="9525">
            <a:solidFill>
              <a:srgbClr val="ECE9E4"/>
            </a:solidFill>
            <a:prstDash val="solid"/>
          </a:ln>
        </p:spPr>
      </p:sp>
      <p:sp>
        <p:nvSpPr>
          <p:cNvPr id="27" name="Text 25"/>
          <p:cNvSpPr/>
          <p:nvPr/>
        </p:nvSpPr>
        <p:spPr>
          <a:xfrm>
            <a:off x="8406765" y="2011680"/>
            <a:ext cx="534353" cy="219456"/>
          </a:xfrm>
          <a:prstGeom prst="rect">
            <a:avLst/>
          </a:prstGeom>
          <a:noFill/>
          <a:ln/>
        </p:spPr>
        <p:txBody>
          <a:bodyPr wrap="square" lIns="0" tIns="0" rIns="0" bIns="0" rtlCol="0" anchor="ctr"/>
          <a:lstStyle/>
          <a:p>
            <a:pPr algn="ctr" indent="0" marL="0">
              <a:buNone/>
            </a:pPr>
            <a:r>
              <a:rPr lang="en-US" sz="900" dirty="0">
                <a:solidFill>
                  <a:srgbClr val="6E6A65"/>
                </a:solidFill>
                <a:latin typeface="Cambria" pitchFamily="34" charset="0"/>
                <a:ea typeface="Cambria" pitchFamily="34" charset="-122"/>
                <a:cs typeface="Cambria" pitchFamily="34" charset="-120"/>
              </a:rPr>
              <a:t>7</a:t>
            </a:r>
            <a:endParaRPr lang="en-US" sz="900" dirty="0"/>
          </a:p>
        </p:txBody>
      </p:sp>
      <p:sp>
        <p:nvSpPr>
          <p:cNvPr id="28" name="Shape 26"/>
          <p:cNvSpPr/>
          <p:nvPr/>
        </p:nvSpPr>
        <p:spPr>
          <a:xfrm>
            <a:off x="8406765" y="2148840"/>
            <a:ext cx="0" cy="3337560"/>
          </a:xfrm>
          <a:prstGeom prst="line">
            <a:avLst/>
          </a:prstGeom>
          <a:noFill/>
          <a:ln w="9525">
            <a:solidFill>
              <a:srgbClr val="ECE9E4"/>
            </a:solidFill>
            <a:prstDash val="solid"/>
          </a:ln>
        </p:spPr>
      </p:sp>
      <p:sp>
        <p:nvSpPr>
          <p:cNvPr id="29" name="Text 27"/>
          <p:cNvSpPr/>
          <p:nvPr/>
        </p:nvSpPr>
        <p:spPr>
          <a:xfrm>
            <a:off x="8941118" y="2011680"/>
            <a:ext cx="534353" cy="219456"/>
          </a:xfrm>
          <a:prstGeom prst="rect">
            <a:avLst/>
          </a:prstGeom>
          <a:noFill/>
          <a:ln/>
        </p:spPr>
        <p:txBody>
          <a:bodyPr wrap="square" lIns="0" tIns="0" rIns="0" bIns="0" rtlCol="0" anchor="ctr"/>
          <a:lstStyle/>
          <a:p>
            <a:pPr algn="ctr" indent="0" marL="0">
              <a:buNone/>
            </a:pPr>
            <a:r>
              <a:rPr lang="en-US" sz="900" dirty="0">
                <a:solidFill>
                  <a:srgbClr val="6E6A65"/>
                </a:solidFill>
                <a:latin typeface="Cambria" pitchFamily="34" charset="0"/>
                <a:ea typeface="Cambria" pitchFamily="34" charset="-122"/>
                <a:cs typeface="Cambria" pitchFamily="34" charset="-120"/>
              </a:rPr>
              <a:t>8</a:t>
            </a:r>
            <a:endParaRPr lang="en-US" sz="900" dirty="0"/>
          </a:p>
        </p:txBody>
      </p:sp>
      <p:sp>
        <p:nvSpPr>
          <p:cNvPr id="30" name="Shape 28"/>
          <p:cNvSpPr/>
          <p:nvPr/>
        </p:nvSpPr>
        <p:spPr>
          <a:xfrm>
            <a:off x="8941118" y="2148840"/>
            <a:ext cx="0" cy="3337560"/>
          </a:xfrm>
          <a:prstGeom prst="line">
            <a:avLst/>
          </a:prstGeom>
          <a:noFill/>
          <a:ln w="9525">
            <a:solidFill>
              <a:srgbClr val="ECE9E4"/>
            </a:solidFill>
            <a:prstDash val="solid"/>
          </a:ln>
        </p:spPr>
      </p:sp>
      <p:sp>
        <p:nvSpPr>
          <p:cNvPr id="31" name="Text 29"/>
          <p:cNvSpPr/>
          <p:nvPr/>
        </p:nvSpPr>
        <p:spPr>
          <a:xfrm>
            <a:off x="9475470" y="2011680"/>
            <a:ext cx="534353" cy="219456"/>
          </a:xfrm>
          <a:prstGeom prst="rect">
            <a:avLst/>
          </a:prstGeom>
          <a:noFill/>
          <a:ln/>
        </p:spPr>
        <p:txBody>
          <a:bodyPr wrap="square" lIns="0" tIns="0" rIns="0" bIns="0" rtlCol="0" anchor="ctr"/>
          <a:lstStyle/>
          <a:p>
            <a:pPr algn="ctr" indent="0" marL="0">
              <a:buNone/>
            </a:pPr>
            <a:r>
              <a:rPr lang="en-US" sz="900" dirty="0">
                <a:solidFill>
                  <a:srgbClr val="6E6A65"/>
                </a:solidFill>
                <a:latin typeface="Cambria" pitchFamily="34" charset="0"/>
                <a:ea typeface="Cambria" pitchFamily="34" charset="-122"/>
                <a:cs typeface="Cambria" pitchFamily="34" charset="-120"/>
              </a:rPr>
              <a:t>9</a:t>
            </a:r>
            <a:endParaRPr lang="en-US" sz="900" dirty="0"/>
          </a:p>
        </p:txBody>
      </p:sp>
      <p:sp>
        <p:nvSpPr>
          <p:cNvPr id="32" name="Shape 30"/>
          <p:cNvSpPr/>
          <p:nvPr/>
        </p:nvSpPr>
        <p:spPr>
          <a:xfrm>
            <a:off x="9475470" y="2148840"/>
            <a:ext cx="0" cy="3337560"/>
          </a:xfrm>
          <a:prstGeom prst="line">
            <a:avLst/>
          </a:prstGeom>
          <a:noFill/>
          <a:ln w="9525">
            <a:solidFill>
              <a:srgbClr val="ECE9E4"/>
            </a:solidFill>
            <a:prstDash val="solid"/>
          </a:ln>
        </p:spPr>
      </p:sp>
      <p:sp>
        <p:nvSpPr>
          <p:cNvPr id="33" name="Text 31"/>
          <p:cNvSpPr/>
          <p:nvPr/>
        </p:nvSpPr>
        <p:spPr>
          <a:xfrm>
            <a:off x="10009823" y="2011680"/>
            <a:ext cx="534353" cy="219456"/>
          </a:xfrm>
          <a:prstGeom prst="rect">
            <a:avLst/>
          </a:prstGeom>
          <a:noFill/>
          <a:ln/>
        </p:spPr>
        <p:txBody>
          <a:bodyPr wrap="square" lIns="0" tIns="0" rIns="0" bIns="0" rtlCol="0" anchor="ctr"/>
          <a:lstStyle/>
          <a:p>
            <a:pPr algn="ctr" indent="0" marL="0">
              <a:buNone/>
            </a:pPr>
            <a:r>
              <a:rPr lang="en-US" sz="900" dirty="0">
                <a:solidFill>
                  <a:srgbClr val="6E6A65"/>
                </a:solidFill>
                <a:latin typeface="Cambria" pitchFamily="34" charset="0"/>
                <a:ea typeface="Cambria" pitchFamily="34" charset="-122"/>
                <a:cs typeface="Cambria" pitchFamily="34" charset="-120"/>
              </a:rPr>
              <a:t>10</a:t>
            </a:r>
            <a:endParaRPr lang="en-US" sz="900" dirty="0"/>
          </a:p>
        </p:txBody>
      </p:sp>
      <p:sp>
        <p:nvSpPr>
          <p:cNvPr id="34" name="Shape 32"/>
          <p:cNvSpPr/>
          <p:nvPr/>
        </p:nvSpPr>
        <p:spPr>
          <a:xfrm>
            <a:off x="10009823" y="2148840"/>
            <a:ext cx="0" cy="3337560"/>
          </a:xfrm>
          <a:prstGeom prst="line">
            <a:avLst/>
          </a:prstGeom>
          <a:noFill/>
          <a:ln w="9525">
            <a:solidFill>
              <a:srgbClr val="ECE9E4"/>
            </a:solidFill>
            <a:prstDash val="solid"/>
          </a:ln>
        </p:spPr>
      </p:sp>
      <p:sp>
        <p:nvSpPr>
          <p:cNvPr id="35" name="Text 33"/>
          <p:cNvSpPr/>
          <p:nvPr/>
        </p:nvSpPr>
        <p:spPr>
          <a:xfrm>
            <a:off x="10544175" y="2011680"/>
            <a:ext cx="534353" cy="219456"/>
          </a:xfrm>
          <a:prstGeom prst="rect">
            <a:avLst/>
          </a:prstGeom>
          <a:noFill/>
          <a:ln/>
        </p:spPr>
        <p:txBody>
          <a:bodyPr wrap="square" lIns="0" tIns="0" rIns="0" bIns="0" rtlCol="0" anchor="ctr"/>
          <a:lstStyle/>
          <a:p>
            <a:pPr algn="ctr" indent="0" marL="0">
              <a:buNone/>
            </a:pPr>
            <a:r>
              <a:rPr lang="en-US" sz="900" dirty="0">
                <a:solidFill>
                  <a:srgbClr val="6E6A65"/>
                </a:solidFill>
                <a:latin typeface="Cambria" pitchFamily="34" charset="0"/>
                <a:ea typeface="Cambria" pitchFamily="34" charset="-122"/>
                <a:cs typeface="Cambria" pitchFamily="34" charset="-120"/>
              </a:rPr>
              <a:t>11</a:t>
            </a:r>
            <a:endParaRPr lang="en-US" sz="900" dirty="0"/>
          </a:p>
        </p:txBody>
      </p:sp>
      <p:sp>
        <p:nvSpPr>
          <p:cNvPr id="36" name="Shape 34"/>
          <p:cNvSpPr/>
          <p:nvPr/>
        </p:nvSpPr>
        <p:spPr>
          <a:xfrm>
            <a:off x="10544175" y="2148840"/>
            <a:ext cx="0" cy="3337560"/>
          </a:xfrm>
          <a:prstGeom prst="line">
            <a:avLst/>
          </a:prstGeom>
          <a:noFill/>
          <a:ln w="9525">
            <a:solidFill>
              <a:srgbClr val="ECE9E4"/>
            </a:solidFill>
            <a:prstDash val="solid"/>
          </a:ln>
        </p:spPr>
      </p:sp>
      <p:sp>
        <p:nvSpPr>
          <p:cNvPr id="37" name="Text 35"/>
          <p:cNvSpPr/>
          <p:nvPr/>
        </p:nvSpPr>
        <p:spPr>
          <a:xfrm>
            <a:off x="11078528" y="2011680"/>
            <a:ext cx="534353" cy="219456"/>
          </a:xfrm>
          <a:prstGeom prst="rect">
            <a:avLst/>
          </a:prstGeom>
          <a:noFill/>
          <a:ln/>
        </p:spPr>
        <p:txBody>
          <a:bodyPr wrap="square" lIns="0" tIns="0" rIns="0" bIns="0" rtlCol="0" anchor="ctr"/>
          <a:lstStyle/>
          <a:p>
            <a:pPr algn="ctr" indent="0" marL="0">
              <a:buNone/>
            </a:pPr>
            <a:r>
              <a:rPr lang="en-US" sz="900" dirty="0">
                <a:solidFill>
                  <a:srgbClr val="6E6A65"/>
                </a:solidFill>
                <a:latin typeface="Cambria" pitchFamily="34" charset="0"/>
                <a:ea typeface="Cambria" pitchFamily="34" charset="-122"/>
                <a:cs typeface="Cambria" pitchFamily="34" charset="-120"/>
              </a:rPr>
              <a:t>12</a:t>
            </a:r>
            <a:endParaRPr lang="en-US" sz="900" dirty="0"/>
          </a:p>
        </p:txBody>
      </p:sp>
      <p:sp>
        <p:nvSpPr>
          <p:cNvPr id="38" name="Shape 36"/>
          <p:cNvSpPr/>
          <p:nvPr/>
        </p:nvSpPr>
        <p:spPr>
          <a:xfrm>
            <a:off x="11078528" y="2148840"/>
            <a:ext cx="0" cy="3337560"/>
          </a:xfrm>
          <a:prstGeom prst="line">
            <a:avLst/>
          </a:prstGeom>
          <a:noFill/>
          <a:ln w="9525">
            <a:solidFill>
              <a:srgbClr val="ECE9E4"/>
            </a:solidFill>
            <a:prstDash val="solid"/>
          </a:ln>
        </p:spPr>
      </p:sp>
      <p:sp>
        <p:nvSpPr>
          <p:cNvPr id="39" name="Shape 37"/>
          <p:cNvSpPr/>
          <p:nvPr/>
        </p:nvSpPr>
        <p:spPr>
          <a:xfrm>
            <a:off x="11612880" y="2148840"/>
            <a:ext cx="0" cy="3337560"/>
          </a:xfrm>
          <a:prstGeom prst="line">
            <a:avLst/>
          </a:prstGeom>
          <a:noFill/>
          <a:ln w="9525">
            <a:solidFill>
              <a:srgbClr val="ECE9E4"/>
            </a:solidFill>
            <a:prstDash val="solid"/>
          </a:ln>
        </p:spPr>
      </p:sp>
      <p:sp>
        <p:nvSpPr>
          <p:cNvPr id="40" name="Text 38"/>
          <p:cNvSpPr/>
          <p:nvPr/>
        </p:nvSpPr>
        <p:spPr>
          <a:xfrm>
            <a:off x="548640" y="2240280"/>
            <a:ext cx="2423160" cy="274320"/>
          </a:xfrm>
          <a:prstGeom prst="rect">
            <a:avLst/>
          </a:prstGeom>
          <a:noFill/>
          <a:ln/>
        </p:spPr>
        <p:txBody>
          <a:bodyPr wrap="square" lIns="0" tIns="0" rIns="0" bIns="0" rtlCol="0" anchor="ctr"/>
          <a:lstStyle/>
          <a:p>
            <a:pPr indent="0" marL="0">
              <a:buNone/>
            </a:pPr>
            <a:r>
              <a:rPr lang="en-US" sz="950" dirty="0">
                <a:solidFill>
                  <a:srgbClr val="3E3A35"/>
                </a:solidFill>
                <a:latin typeface="맑은 고딕" pitchFamily="34" charset="0"/>
                <a:ea typeface="맑은 고딕" pitchFamily="34" charset="-122"/>
                <a:cs typeface="맑은 고딕" pitchFamily="34" charset="-120"/>
              </a:rPr>
              <a:t>계약 · 킥오프 · 협력 협의</a:t>
            </a:r>
            <a:endParaRPr lang="en-US" sz="950" dirty="0"/>
          </a:p>
        </p:txBody>
      </p:sp>
      <p:sp>
        <p:nvSpPr>
          <p:cNvPr id="41" name="Shape 39"/>
          <p:cNvSpPr/>
          <p:nvPr/>
        </p:nvSpPr>
        <p:spPr>
          <a:xfrm>
            <a:off x="3090672" y="2258568"/>
            <a:ext cx="1013841" cy="219456"/>
          </a:xfrm>
          <a:prstGeom prst="rect">
            <a:avLst/>
          </a:prstGeom>
          <a:solidFill>
            <a:srgbClr val="4A4A4A"/>
          </a:solidFill>
          <a:ln/>
        </p:spPr>
      </p:sp>
      <p:sp>
        <p:nvSpPr>
          <p:cNvPr id="42" name="Text 40"/>
          <p:cNvSpPr/>
          <p:nvPr/>
        </p:nvSpPr>
        <p:spPr>
          <a:xfrm>
            <a:off x="548640" y="2596896"/>
            <a:ext cx="2423160" cy="274320"/>
          </a:xfrm>
          <a:prstGeom prst="rect">
            <a:avLst/>
          </a:prstGeom>
          <a:noFill/>
          <a:ln/>
        </p:spPr>
        <p:txBody>
          <a:bodyPr wrap="square" lIns="0" tIns="0" rIns="0" bIns="0" rtlCol="0" anchor="ctr"/>
          <a:lstStyle/>
          <a:p>
            <a:pPr indent="0" marL="0">
              <a:buNone/>
            </a:pPr>
            <a:r>
              <a:rPr lang="en-US" sz="950" dirty="0">
                <a:solidFill>
                  <a:srgbClr val="3E3A35"/>
                </a:solidFill>
                <a:latin typeface="맑은 고딕" pitchFamily="34" charset="0"/>
                <a:ea typeface="맑은 고딕" pitchFamily="34" charset="-122"/>
                <a:cs typeface="맑은 고딕" pitchFamily="34" charset="-120"/>
              </a:rPr>
              <a:t>현장·문헌 리서치 / 주민 라포</a:t>
            </a:r>
            <a:endParaRPr lang="en-US" sz="950" dirty="0"/>
          </a:p>
        </p:txBody>
      </p:sp>
      <p:sp>
        <p:nvSpPr>
          <p:cNvPr id="43" name="Shape 41"/>
          <p:cNvSpPr/>
          <p:nvPr/>
        </p:nvSpPr>
        <p:spPr>
          <a:xfrm>
            <a:off x="3625025" y="2615184"/>
            <a:ext cx="2616899" cy="219456"/>
          </a:xfrm>
          <a:prstGeom prst="rect">
            <a:avLst/>
          </a:prstGeom>
          <a:solidFill>
            <a:srgbClr val="2F4858"/>
          </a:solidFill>
          <a:ln/>
        </p:spPr>
      </p:sp>
      <p:sp>
        <p:nvSpPr>
          <p:cNvPr id="44" name="Text 42"/>
          <p:cNvSpPr/>
          <p:nvPr/>
        </p:nvSpPr>
        <p:spPr>
          <a:xfrm>
            <a:off x="548640" y="2953512"/>
            <a:ext cx="2423160" cy="274320"/>
          </a:xfrm>
          <a:prstGeom prst="rect">
            <a:avLst/>
          </a:prstGeom>
          <a:noFill/>
          <a:ln/>
        </p:spPr>
        <p:txBody>
          <a:bodyPr wrap="square" lIns="0" tIns="0" rIns="0" bIns="0" rtlCol="0" anchor="ctr"/>
          <a:lstStyle/>
          <a:p>
            <a:pPr indent="0" marL="0">
              <a:buNone/>
            </a:pPr>
            <a:r>
              <a:rPr lang="en-US" sz="950" dirty="0">
                <a:solidFill>
                  <a:srgbClr val="3E3A35"/>
                </a:solidFill>
                <a:latin typeface="맑은 고딕" pitchFamily="34" charset="0"/>
                <a:ea typeface="맑은 고딕" pitchFamily="34" charset="-122"/>
                <a:cs typeface="맑은 고딕" pitchFamily="34" charset="-120"/>
              </a:rPr>
              <a:t>작가 선정 · 계약</a:t>
            </a:r>
            <a:endParaRPr lang="en-US" sz="950" dirty="0"/>
          </a:p>
        </p:txBody>
      </p:sp>
      <p:sp>
        <p:nvSpPr>
          <p:cNvPr id="45" name="Shape 43"/>
          <p:cNvSpPr/>
          <p:nvPr/>
        </p:nvSpPr>
        <p:spPr>
          <a:xfrm>
            <a:off x="5228082" y="2971800"/>
            <a:ext cx="1013841" cy="219456"/>
          </a:xfrm>
          <a:prstGeom prst="rect">
            <a:avLst/>
          </a:prstGeom>
          <a:solidFill>
            <a:srgbClr val="9C6B3C"/>
          </a:solidFill>
          <a:ln/>
        </p:spPr>
      </p:sp>
      <p:sp>
        <p:nvSpPr>
          <p:cNvPr id="46" name="Text 44"/>
          <p:cNvSpPr/>
          <p:nvPr/>
        </p:nvSpPr>
        <p:spPr>
          <a:xfrm>
            <a:off x="548640" y="3310128"/>
            <a:ext cx="2423160" cy="274320"/>
          </a:xfrm>
          <a:prstGeom prst="rect">
            <a:avLst/>
          </a:prstGeom>
          <a:noFill/>
          <a:ln/>
        </p:spPr>
        <p:txBody>
          <a:bodyPr wrap="square" lIns="0" tIns="0" rIns="0" bIns="0" rtlCol="0" anchor="ctr"/>
          <a:lstStyle/>
          <a:p>
            <a:pPr indent="0" marL="0">
              <a:buNone/>
            </a:pPr>
            <a:r>
              <a:rPr lang="en-US" sz="950" dirty="0">
                <a:solidFill>
                  <a:srgbClr val="3E3A35"/>
                </a:solidFill>
                <a:latin typeface="맑은 고딕" pitchFamily="34" charset="0"/>
                <a:ea typeface="맑은 고딕" pitchFamily="34" charset="-122"/>
                <a:cs typeface="맑은 고딕" pitchFamily="34" charset="-120"/>
              </a:rPr>
              <a:t>작품 제작 · 비평문 집필</a:t>
            </a:r>
            <a:endParaRPr lang="en-US" sz="950" dirty="0"/>
          </a:p>
        </p:txBody>
      </p:sp>
      <p:sp>
        <p:nvSpPr>
          <p:cNvPr id="47" name="Shape 45"/>
          <p:cNvSpPr/>
          <p:nvPr/>
        </p:nvSpPr>
        <p:spPr>
          <a:xfrm>
            <a:off x="5762435" y="3328416"/>
            <a:ext cx="3151251" cy="219456"/>
          </a:xfrm>
          <a:prstGeom prst="rect">
            <a:avLst/>
          </a:prstGeom>
          <a:solidFill>
            <a:srgbClr val="9C6B3C"/>
          </a:solidFill>
          <a:ln/>
        </p:spPr>
      </p:sp>
      <p:sp>
        <p:nvSpPr>
          <p:cNvPr id="48" name="Text 46"/>
          <p:cNvSpPr/>
          <p:nvPr/>
        </p:nvSpPr>
        <p:spPr>
          <a:xfrm>
            <a:off x="548640" y="3666744"/>
            <a:ext cx="2423160" cy="274320"/>
          </a:xfrm>
          <a:prstGeom prst="rect">
            <a:avLst/>
          </a:prstGeom>
          <a:noFill/>
          <a:ln/>
        </p:spPr>
        <p:txBody>
          <a:bodyPr wrap="square" lIns="0" tIns="0" rIns="0" bIns="0" rtlCol="0" anchor="ctr"/>
          <a:lstStyle/>
          <a:p>
            <a:pPr indent="0" marL="0">
              <a:buNone/>
            </a:pPr>
            <a:r>
              <a:rPr lang="en-US" sz="950" dirty="0">
                <a:solidFill>
                  <a:srgbClr val="3E3A35"/>
                </a:solidFill>
                <a:latin typeface="맑은 고딕" pitchFamily="34" charset="0"/>
                <a:ea typeface="맑은 고딕" pitchFamily="34" charset="-122"/>
                <a:cs typeface="맑은 고딕" pitchFamily="34" charset="-120"/>
              </a:rPr>
              <a:t>미디어 기술 설계 · 안전 검토</a:t>
            </a:r>
            <a:endParaRPr lang="en-US" sz="950" dirty="0"/>
          </a:p>
        </p:txBody>
      </p:sp>
      <p:sp>
        <p:nvSpPr>
          <p:cNvPr id="49" name="Shape 47"/>
          <p:cNvSpPr/>
          <p:nvPr/>
        </p:nvSpPr>
        <p:spPr>
          <a:xfrm>
            <a:off x="6296787" y="3685032"/>
            <a:ext cx="2082546" cy="219456"/>
          </a:xfrm>
          <a:prstGeom prst="rect">
            <a:avLst/>
          </a:prstGeom>
          <a:solidFill>
            <a:srgbClr val="2F4858"/>
          </a:solidFill>
          <a:ln/>
        </p:spPr>
      </p:sp>
      <p:sp>
        <p:nvSpPr>
          <p:cNvPr id="50" name="Text 48"/>
          <p:cNvSpPr/>
          <p:nvPr/>
        </p:nvSpPr>
        <p:spPr>
          <a:xfrm>
            <a:off x="548640" y="4023360"/>
            <a:ext cx="2423160" cy="274320"/>
          </a:xfrm>
          <a:prstGeom prst="rect">
            <a:avLst/>
          </a:prstGeom>
          <a:noFill/>
          <a:ln/>
        </p:spPr>
        <p:txBody>
          <a:bodyPr wrap="square" lIns="0" tIns="0" rIns="0" bIns="0" rtlCol="0" anchor="ctr"/>
          <a:lstStyle/>
          <a:p>
            <a:pPr indent="0" marL="0">
              <a:buNone/>
            </a:pPr>
            <a:r>
              <a:rPr lang="en-US" sz="950" dirty="0">
                <a:solidFill>
                  <a:srgbClr val="3E3A35"/>
                </a:solidFill>
                <a:latin typeface="맑은 고딕" pitchFamily="34" charset="0"/>
                <a:ea typeface="맑은 고딕" pitchFamily="34" charset="-122"/>
                <a:cs typeface="맑은 고딕" pitchFamily="34" charset="-120"/>
              </a:rPr>
              <a:t>홍보 · 프로그램 예약 오픈</a:t>
            </a:r>
            <a:endParaRPr lang="en-US" sz="950" dirty="0"/>
          </a:p>
        </p:txBody>
      </p:sp>
      <p:sp>
        <p:nvSpPr>
          <p:cNvPr id="51" name="Shape 49"/>
          <p:cNvSpPr/>
          <p:nvPr/>
        </p:nvSpPr>
        <p:spPr>
          <a:xfrm>
            <a:off x="7899844" y="4041648"/>
            <a:ext cx="1548193" cy="219456"/>
          </a:xfrm>
          <a:prstGeom prst="rect">
            <a:avLst/>
          </a:prstGeom>
          <a:solidFill>
            <a:srgbClr val="7A4A45"/>
          </a:solidFill>
          <a:ln/>
        </p:spPr>
      </p:sp>
      <p:sp>
        <p:nvSpPr>
          <p:cNvPr id="52" name="Text 50"/>
          <p:cNvSpPr/>
          <p:nvPr/>
        </p:nvSpPr>
        <p:spPr>
          <a:xfrm>
            <a:off x="548640" y="4379976"/>
            <a:ext cx="2423160" cy="274320"/>
          </a:xfrm>
          <a:prstGeom prst="rect">
            <a:avLst/>
          </a:prstGeom>
          <a:noFill/>
          <a:ln/>
        </p:spPr>
        <p:txBody>
          <a:bodyPr wrap="square" lIns="0" tIns="0" rIns="0" bIns="0" rtlCol="0" anchor="ctr"/>
          <a:lstStyle/>
          <a:p>
            <a:pPr indent="0" marL="0">
              <a:buNone/>
            </a:pPr>
            <a:r>
              <a:rPr lang="en-US" sz="950" dirty="0">
                <a:solidFill>
                  <a:srgbClr val="3E3A35"/>
                </a:solidFill>
                <a:latin typeface="맑은 고딕" pitchFamily="34" charset="0"/>
                <a:ea typeface="맑은 고딕" pitchFamily="34" charset="-122"/>
                <a:cs typeface="맑은 고딕" pitchFamily="34" charset="-120"/>
              </a:rPr>
              <a:t>공간 조성 · 가벽 · 설치</a:t>
            </a:r>
            <a:endParaRPr lang="en-US" sz="950" dirty="0"/>
          </a:p>
        </p:txBody>
      </p:sp>
      <p:sp>
        <p:nvSpPr>
          <p:cNvPr id="53" name="Shape 51"/>
          <p:cNvSpPr/>
          <p:nvPr/>
        </p:nvSpPr>
        <p:spPr>
          <a:xfrm>
            <a:off x="8968549" y="4398264"/>
            <a:ext cx="479489" cy="219456"/>
          </a:xfrm>
          <a:prstGeom prst="rect">
            <a:avLst/>
          </a:prstGeom>
          <a:solidFill>
            <a:srgbClr val="4A4A4A"/>
          </a:solidFill>
          <a:ln/>
        </p:spPr>
      </p:sp>
      <p:sp>
        <p:nvSpPr>
          <p:cNvPr id="54" name="Text 52"/>
          <p:cNvSpPr/>
          <p:nvPr/>
        </p:nvSpPr>
        <p:spPr>
          <a:xfrm>
            <a:off x="548640" y="4736592"/>
            <a:ext cx="2423160" cy="274320"/>
          </a:xfrm>
          <a:prstGeom prst="rect">
            <a:avLst/>
          </a:prstGeom>
          <a:noFill/>
          <a:ln/>
        </p:spPr>
        <p:txBody>
          <a:bodyPr wrap="square" lIns="0" tIns="0" rIns="0" bIns="0" rtlCol="0" anchor="ctr"/>
          <a:lstStyle/>
          <a:p>
            <a:pPr indent="0" marL="0">
              <a:buNone/>
            </a:pPr>
            <a:r>
              <a:rPr lang="en-US" sz="950" dirty="0">
                <a:solidFill>
                  <a:srgbClr val="3E3A35"/>
                </a:solidFill>
                <a:latin typeface="맑은 고딕" pitchFamily="34" charset="0"/>
                <a:ea typeface="맑은 고딕" pitchFamily="34" charset="-122"/>
                <a:cs typeface="맑은 고딕" pitchFamily="34" charset="-120"/>
              </a:rPr>
              <a:t>전시 운영 · 연계 프로그램 27회</a:t>
            </a:r>
            <a:endParaRPr lang="en-US" sz="950" dirty="0"/>
          </a:p>
        </p:txBody>
      </p:sp>
      <p:sp>
        <p:nvSpPr>
          <p:cNvPr id="55" name="Shape 53"/>
          <p:cNvSpPr/>
          <p:nvPr/>
        </p:nvSpPr>
        <p:spPr>
          <a:xfrm>
            <a:off x="9502902" y="4754880"/>
            <a:ext cx="1548193" cy="219456"/>
          </a:xfrm>
          <a:prstGeom prst="rect">
            <a:avLst/>
          </a:prstGeom>
          <a:solidFill>
            <a:srgbClr val="7A4A45"/>
          </a:solidFill>
          <a:ln/>
        </p:spPr>
      </p:sp>
      <p:sp>
        <p:nvSpPr>
          <p:cNvPr id="56" name="Text 54"/>
          <p:cNvSpPr/>
          <p:nvPr/>
        </p:nvSpPr>
        <p:spPr>
          <a:xfrm>
            <a:off x="548640" y="5093208"/>
            <a:ext cx="2423160" cy="274320"/>
          </a:xfrm>
          <a:prstGeom prst="rect">
            <a:avLst/>
          </a:prstGeom>
          <a:noFill/>
          <a:ln/>
        </p:spPr>
        <p:txBody>
          <a:bodyPr wrap="square" lIns="0" tIns="0" rIns="0" bIns="0" rtlCol="0" anchor="ctr"/>
          <a:lstStyle/>
          <a:p>
            <a:pPr indent="0" marL="0">
              <a:buNone/>
            </a:pPr>
            <a:r>
              <a:rPr lang="en-US" sz="950" dirty="0">
                <a:solidFill>
                  <a:srgbClr val="3E3A35"/>
                </a:solidFill>
                <a:latin typeface="맑은 고딕" pitchFamily="34" charset="0"/>
                <a:ea typeface="맑은 고딕" pitchFamily="34" charset="-122"/>
                <a:cs typeface="맑은 고딕" pitchFamily="34" charset="-120"/>
              </a:rPr>
              <a:t>철수 · 도록 · 아카이브 · 결과보고</a:t>
            </a:r>
            <a:endParaRPr lang="en-US" sz="950" dirty="0"/>
          </a:p>
        </p:txBody>
      </p:sp>
      <p:sp>
        <p:nvSpPr>
          <p:cNvPr id="57" name="Shape 55"/>
          <p:cNvSpPr/>
          <p:nvPr/>
        </p:nvSpPr>
        <p:spPr>
          <a:xfrm>
            <a:off x="10571607" y="5111496"/>
            <a:ext cx="1013841" cy="219456"/>
          </a:xfrm>
          <a:prstGeom prst="rect">
            <a:avLst/>
          </a:prstGeom>
          <a:solidFill>
            <a:srgbClr val="4A4A4A"/>
          </a:solidFill>
          <a:ln/>
        </p:spPr>
      </p:sp>
      <p:sp>
        <p:nvSpPr>
          <p:cNvPr id="58" name="Shape 56"/>
          <p:cNvSpPr/>
          <p:nvPr/>
        </p:nvSpPr>
        <p:spPr>
          <a:xfrm>
            <a:off x="9475470" y="2103120"/>
            <a:ext cx="0" cy="3383280"/>
          </a:xfrm>
          <a:prstGeom prst="line">
            <a:avLst/>
          </a:prstGeom>
          <a:noFill/>
          <a:ln w="19050">
            <a:solidFill>
              <a:srgbClr val="1A1A1A"/>
            </a:solidFill>
            <a:prstDash val="dash"/>
          </a:ln>
        </p:spPr>
      </p:sp>
      <p:sp>
        <p:nvSpPr>
          <p:cNvPr id="59" name="Shape 57"/>
          <p:cNvSpPr/>
          <p:nvPr/>
        </p:nvSpPr>
        <p:spPr>
          <a:xfrm>
            <a:off x="3170111" y="2103120"/>
            <a:ext cx="0" cy="3383280"/>
          </a:xfrm>
          <a:prstGeom prst="line">
            <a:avLst/>
          </a:prstGeom>
          <a:noFill/>
          <a:ln w="19050">
            <a:solidFill>
              <a:srgbClr val="1A1A1A"/>
            </a:solidFill>
            <a:prstDash val="dash"/>
          </a:ln>
        </p:spPr>
      </p:sp>
      <p:sp>
        <p:nvSpPr>
          <p:cNvPr id="60" name="Text 58"/>
          <p:cNvSpPr/>
          <p:nvPr/>
        </p:nvSpPr>
        <p:spPr>
          <a:xfrm>
            <a:off x="8835390" y="5559552"/>
            <a:ext cx="1737360" cy="256032"/>
          </a:xfrm>
          <a:prstGeom prst="rect">
            <a:avLst/>
          </a:prstGeom>
          <a:noFill/>
          <a:ln/>
        </p:spPr>
        <p:txBody>
          <a:bodyPr wrap="square" lIns="0" tIns="0" rIns="0" bIns="0" rtlCol="0" anchor="ctr"/>
          <a:lstStyle/>
          <a:p>
            <a:pPr algn="ctr" indent="0" marL="0">
              <a:buNone/>
            </a:pPr>
            <a:r>
              <a:rPr lang="en-US" sz="900" b="1" dirty="0">
                <a:solidFill>
                  <a:srgbClr val="1A1A1A"/>
                </a:solidFill>
                <a:latin typeface="맑은 고딕" pitchFamily="34" charset="0"/>
                <a:ea typeface="맑은 고딕" pitchFamily="34" charset="-122"/>
                <a:cs typeface="맑은 고딕" pitchFamily="34" charset="-120"/>
              </a:rPr>
              <a:t>▲ 2027. 9. 3  개막</a:t>
            </a:r>
            <a:endParaRPr lang="en-US" sz="900" dirty="0"/>
          </a:p>
        </p:txBody>
      </p:sp>
      <p:sp>
        <p:nvSpPr>
          <p:cNvPr id="61" name="Text 59"/>
          <p:cNvSpPr/>
          <p:nvPr/>
        </p:nvSpPr>
        <p:spPr>
          <a:xfrm>
            <a:off x="2560320" y="5559552"/>
            <a:ext cx="1371600" cy="256032"/>
          </a:xfrm>
          <a:prstGeom prst="rect">
            <a:avLst/>
          </a:prstGeom>
          <a:noFill/>
          <a:ln/>
        </p:spPr>
        <p:txBody>
          <a:bodyPr wrap="square" lIns="0" tIns="0" rIns="0" bIns="0" rtlCol="0" anchor="ctr"/>
          <a:lstStyle/>
          <a:p>
            <a:pPr algn="ctr" indent="0" marL="0">
              <a:buNone/>
            </a:pPr>
            <a:r>
              <a:rPr lang="en-US" sz="900" b="1" dirty="0">
                <a:solidFill>
                  <a:srgbClr val="1A1A1A"/>
                </a:solidFill>
                <a:latin typeface="맑은 고딕" pitchFamily="34" charset="0"/>
                <a:ea typeface="맑은 고딕" pitchFamily="34" charset="-122"/>
                <a:cs typeface="맑은 고딕" pitchFamily="34" charset="-120"/>
              </a:rPr>
              <a:t>▲ 킥오프</a:t>
            </a:r>
            <a:endParaRPr lang="en-US" sz="900" dirty="0"/>
          </a:p>
        </p:txBody>
      </p:sp>
      <p:sp>
        <p:nvSpPr>
          <p:cNvPr id="62" name="Shape 60"/>
          <p:cNvSpPr/>
          <p:nvPr/>
        </p:nvSpPr>
        <p:spPr>
          <a:xfrm>
            <a:off x="548640" y="5897880"/>
            <a:ext cx="11064240" cy="457200"/>
          </a:xfrm>
          <a:prstGeom prst="rect">
            <a:avLst/>
          </a:prstGeom>
          <a:solidFill>
            <a:srgbClr val="F3F1ED"/>
          </a:solidFill>
          <a:ln/>
        </p:spPr>
      </p:sp>
      <p:sp>
        <p:nvSpPr>
          <p:cNvPr id="63" name="Text 61"/>
          <p:cNvSpPr/>
          <p:nvPr/>
        </p:nvSpPr>
        <p:spPr>
          <a:xfrm>
            <a:off x="777240" y="5897880"/>
            <a:ext cx="10607040" cy="457200"/>
          </a:xfrm>
          <a:prstGeom prst="rect">
            <a:avLst/>
          </a:prstGeom>
          <a:noFill/>
          <a:ln/>
        </p:spPr>
        <p:txBody>
          <a:bodyPr wrap="square" lIns="0" tIns="0" rIns="0" bIns="0" rtlCol="0" anchor="ctr"/>
          <a:lstStyle/>
          <a:p>
            <a:pPr indent="0" marL="0">
              <a:buNone/>
            </a:pPr>
            <a:r>
              <a:rPr lang="en-US" sz="950" dirty="0">
                <a:solidFill>
                  <a:srgbClr val="3E3A35"/>
                </a:solidFill>
                <a:latin typeface="맑은 고딕" pitchFamily="34" charset="0"/>
                <a:ea typeface="맑은 고딕" pitchFamily="34" charset="-122"/>
                <a:cs typeface="맑은 고딕" pitchFamily="34" charset="-120"/>
              </a:rPr>
              <a:t>아이테르 표준 프로세스(전시 시작 약 1년 전 미팅 → 약 6개월 기획 → 2일 운송·설치 → 운영 → 소셜링)를 준수하되, 주민 구술과 원단 수집에 5개월을 별도 배정했습니다.</a:t>
            </a:r>
            <a:endParaRPr lang="en-US" sz="950" dirty="0"/>
          </a:p>
        </p:txBody>
      </p:sp>
      <p:sp>
        <p:nvSpPr>
          <p:cNvPr id="64" name="Text 62"/>
          <p:cNvSpPr/>
          <p:nvPr/>
        </p:nvSpPr>
        <p:spPr>
          <a:xfrm>
            <a:off x="548640" y="6419088"/>
            <a:ext cx="7315200" cy="274320"/>
          </a:xfrm>
          <a:prstGeom prst="rect">
            <a:avLst/>
          </a:prstGeom>
          <a:noFill/>
          <a:ln/>
        </p:spPr>
        <p:txBody>
          <a:bodyPr wrap="square" lIns="0" tIns="0" rIns="0" bIns="0" rtlCol="0" anchor="ctr"/>
          <a:lstStyle/>
          <a:p>
            <a:pPr algn="l" indent="0" marL="0">
              <a:buNone/>
            </a:pPr>
            <a:r>
              <a:rPr lang="en-US" sz="800" dirty="0">
                <a:solidFill>
                  <a:srgbClr val="8A857E"/>
                </a:solidFill>
                <a:latin typeface="맑은 고딕" pitchFamily="34" charset="0"/>
                <a:ea typeface="맑은 고딕" pitchFamily="34" charset="-122"/>
                <a:cs typeface="맑은 고딕" pitchFamily="34" charset="-120"/>
              </a:rPr>
              <a:t>아이테르 문화예술기획제안서   ·   덮인 물, 남은 올   ·   기획 추병곤</a:t>
            </a:r>
            <a:endParaRPr lang="en-US" sz="800" dirty="0"/>
          </a:p>
        </p:txBody>
      </p:sp>
      <p:sp>
        <p:nvSpPr>
          <p:cNvPr id="65" name="Text 63"/>
          <p:cNvSpPr/>
          <p:nvPr/>
        </p:nvSpPr>
        <p:spPr>
          <a:xfrm>
            <a:off x="10972800" y="6419088"/>
            <a:ext cx="640080" cy="274320"/>
          </a:xfrm>
          <a:prstGeom prst="rect">
            <a:avLst/>
          </a:prstGeom>
          <a:noFill/>
          <a:ln/>
        </p:spPr>
        <p:txBody>
          <a:bodyPr wrap="square" lIns="0" tIns="0" rIns="0" bIns="0" rtlCol="0" anchor="ctr"/>
          <a:lstStyle/>
          <a:p>
            <a:pPr algn="r" indent="0" marL="0">
              <a:buNone/>
            </a:pPr>
            <a:r>
              <a:rPr lang="en-US" sz="900" dirty="0">
                <a:solidFill>
                  <a:srgbClr val="8A857E"/>
                </a:solidFill>
                <a:latin typeface="Cambria" pitchFamily="34" charset="0"/>
                <a:ea typeface="Cambria" pitchFamily="34" charset="-122"/>
                <a:cs typeface="Cambria"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7315200" cy="237744"/>
          </a:xfrm>
          <a:prstGeom prst="rect">
            <a:avLst/>
          </a:prstGeom>
          <a:noFill/>
          <a:ln/>
        </p:spPr>
        <p:txBody>
          <a:bodyPr wrap="square" lIns="0" tIns="0" rIns="0" bIns="0" rtlCol="0" anchor="ctr"/>
          <a:lstStyle/>
          <a:p>
            <a:pPr indent="0" marL="0">
              <a:buNone/>
            </a:pPr>
            <a:r>
              <a:rPr lang="en-US" sz="1050" spc="250" kern="0" dirty="0">
                <a:solidFill>
                  <a:srgbClr val="8A857E"/>
                </a:solidFill>
                <a:latin typeface="Cambria" pitchFamily="34" charset="0"/>
                <a:ea typeface="Cambria" pitchFamily="34" charset="-122"/>
                <a:cs typeface="Cambria" pitchFamily="34" charset="-120"/>
              </a:rPr>
              <a:t>18  DIAGRAM 7</a:t>
            </a:r>
            <a:endParaRPr lang="en-US" sz="1050" dirty="0"/>
          </a:p>
        </p:txBody>
      </p:sp>
      <p:sp>
        <p:nvSpPr>
          <p:cNvPr id="3" name="Text 1"/>
          <p:cNvSpPr/>
          <p:nvPr/>
        </p:nvSpPr>
        <p:spPr>
          <a:xfrm>
            <a:off x="548640" y="694944"/>
            <a:ext cx="10058400" cy="502920"/>
          </a:xfrm>
          <a:prstGeom prst="rect">
            <a:avLst/>
          </a:prstGeom>
          <a:noFill/>
          <a:ln/>
        </p:spPr>
        <p:txBody>
          <a:bodyPr wrap="square" lIns="0" tIns="0" rIns="0" bIns="0" rtlCol="0" anchor="ctr"/>
          <a:lstStyle/>
          <a:p>
            <a:pPr indent="0" marL="0">
              <a:buNone/>
            </a:pPr>
            <a:r>
              <a:rPr lang="en-US" sz="2700" b="1" dirty="0">
                <a:solidFill>
                  <a:srgbClr val="1A1A1A"/>
                </a:solidFill>
                <a:latin typeface="맑은 고딕" pitchFamily="34" charset="0"/>
                <a:ea typeface="맑은 고딕" pitchFamily="34" charset="-122"/>
                <a:cs typeface="맑은 고딕" pitchFamily="34" charset="-120"/>
              </a:rPr>
              <a:t>[도식 7] 협력·재원 구조</a:t>
            </a:r>
            <a:endParaRPr lang="en-US" sz="2700" dirty="0"/>
          </a:p>
        </p:txBody>
      </p:sp>
      <p:sp>
        <p:nvSpPr>
          <p:cNvPr id="4" name="Text 2"/>
          <p:cNvSpPr/>
          <p:nvPr/>
        </p:nvSpPr>
        <p:spPr>
          <a:xfrm>
            <a:off x="548640" y="1225296"/>
            <a:ext cx="10607040" cy="310896"/>
          </a:xfrm>
          <a:prstGeom prst="rect">
            <a:avLst/>
          </a:prstGeom>
          <a:noFill/>
          <a:ln/>
        </p:spPr>
        <p:txBody>
          <a:bodyPr wrap="square" lIns="0" tIns="0" rIns="0" bIns="0" rtlCol="0" anchor="ctr"/>
          <a:lstStyle/>
          <a:p>
            <a:pPr indent="0" marL="0">
              <a:buNone/>
            </a:pPr>
            <a:r>
              <a:rPr lang="en-US" sz="1200" dirty="0">
                <a:solidFill>
                  <a:srgbClr val="8A857E"/>
                </a:solidFill>
                <a:latin typeface="맑은 고딕" pitchFamily="34" charset="0"/>
                <a:ea typeface="맑은 고딕" pitchFamily="34" charset="-122"/>
                <a:cs typeface="맑은 고딕" pitchFamily="34" charset="-120"/>
              </a:rPr>
              <a:t>기관은 명분과 공공성을, 기업은 지역환원 스토리를, 아이테르는 실행력과 작가 풀을 댄다</a:t>
            </a:r>
            <a:endParaRPr lang="en-US" sz="1200" dirty="0"/>
          </a:p>
        </p:txBody>
      </p:sp>
      <p:sp>
        <p:nvSpPr>
          <p:cNvPr id="5" name="Shape 3"/>
          <p:cNvSpPr/>
          <p:nvPr/>
        </p:nvSpPr>
        <p:spPr>
          <a:xfrm>
            <a:off x="548640" y="1783080"/>
            <a:ext cx="2587752" cy="1188720"/>
          </a:xfrm>
          <a:prstGeom prst="rect">
            <a:avLst/>
          </a:prstGeom>
          <a:solidFill>
            <a:srgbClr val="2F4858"/>
          </a:solidFill>
          <a:ln/>
        </p:spPr>
      </p:sp>
      <p:sp>
        <p:nvSpPr>
          <p:cNvPr id="6" name="Text 4"/>
          <p:cNvSpPr/>
          <p:nvPr/>
        </p:nvSpPr>
        <p:spPr>
          <a:xfrm>
            <a:off x="749808" y="1920240"/>
            <a:ext cx="2194560" cy="237744"/>
          </a:xfrm>
          <a:prstGeom prst="rect">
            <a:avLst/>
          </a:prstGeom>
          <a:noFill/>
          <a:ln/>
        </p:spPr>
        <p:txBody>
          <a:bodyPr wrap="square" lIns="0" tIns="0" rIns="0" bIns="0" rtlCol="0" anchor="ctr"/>
          <a:lstStyle/>
          <a:p>
            <a:pPr indent="0" marL="0">
              <a:buNone/>
            </a:pPr>
            <a:r>
              <a:rPr lang="en-US" sz="950" dirty="0">
                <a:solidFill>
                  <a:srgbClr val="D8D2C8"/>
                </a:solidFill>
                <a:latin typeface="맑은 고딕" pitchFamily="34" charset="0"/>
                <a:ea typeface="맑은 고딕" pitchFamily="34" charset="-122"/>
                <a:cs typeface="맑은 고딕" pitchFamily="34" charset="-120"/>
              </a:rPr>
              <a:t>주최</a:t>
            </a:r>
            <a:endParaRPr lang="en-US" sz="950" dirty="0"/>
          </a:p>
        </p:txBody>
      </p:sp>
      <p:sp>
        <p:nvSpPr>
          <p:cNvPr id="7" name="Text 5"/>
          <p:cNvSpPr/>
          <p:nvPr/>
        </p:nvSpPr>
        <p:spPr>
          <a:xfrm>
            <a:off x="749808" y="2157984"/>
            <a:ext cx="2194560" cy="320040"/>
          </a:xfrm>
          <a:prstGeom prst="rect">
            <a:avLst/>
          </a:prstGeom>
          <a:noFill/>
          <a:ln/>
        </p:spPr>
        <p:txBody>
          <a:bodyPr wrap="square" lIns="0" tIns="0" rIns="0" bIns="0" rtlCol="0" anchor="ctr"/>
          <a:lstStyle/>
          <a:p>
            <a:pPr indent="0" marL="0">
              <a:buNone/>
            </a:pPr>
            <a:r>
              <a:rPr lang="en-US" sz="1400" b="1" dirty="0">
                <a:solidFill>
                  <a:srgbClr val="FFFFFF"/>
                </a:solidFill>
                <a:latin typeface="맑은 고딕" pitchFamily="34" charset="0"/>
                <a:ea typeface="맑은 고딕" pitchFamily="34" charset="-122"/>
                <a:cs typeface="맑은 고딕" pitchFamily="34" charset="-120"/>
              </a:rPr>
              <a:t>기관</a:t>
            </a:r>
            <a:endParaRPr lang="en-US" sz="1400" dirty="0"/>
          </a:p>
        </p:txBody>
      </p:sp>
      <p:sp>
        <p:nvSpPr>
          <p:cNvPr id="8" name="Text 6"/>
          <p:cNvSpPr/>
          <p:nvPr/>
        </p:nvSpPr>
        <p:spPr>
          <a:xfrm>
            <a:off x="749808" y="2523744"/>
            <a:ext cx="2194560" cy="365760"/>
          </a:xfrm>
          <a:prstGeom prst="rect">
            <a:avLst/>
          </a:prstGeom>
          <a:noFill/>
          <a:ln/>
        </p:spPr>
        <p:txBody>
          <a:bodyPr wrap="square" lIns="0" tIns="0" rIns="0" bIns="0" rtlCol="0" anchor="ctr"/>
          <a:lstStyle/>
          <a:p>
            <a:pPr indent="0" marL="0">
              <a:lnSpc>
                <a:spcPts val="1200"/>
              </a:lnSpc>
              <a:buNone/>
            </a:pPr>
            <a:r>
              <a:rPr lang="en-US" sz="850" dirty="0">
                <a:solidFill>
                  <a:srgbClr val="E0DAD1"/>
                </a:solidFill>
                <a:latin typeface="맑은 고딕" pitchFamily="34" charset="0"/>
                <a:ea typeface="맑은 고딕" pitchFamily="34" charset="-122"/>
                <a:cs typeface="맑은 고딕" pitchFamily="34" charset="-120"/>
              </a:rPr>
              <a:t>부산광역시 동구 / 부산문화재단 등</a:t>
            </a:r>
            <a:endParaRPr lang="en-US" sz="850" dirty="0"/>
          </a:p>
        </p:txBody>
      </p:sp>
      <p:sp>
        <p:nvSpPr>
          <p:cNvPr id="9" name="Shape 7"/>
          <p:cNvSpPr/>
          <p:nvPr/>
        </p:nvSpPr>
        <p:spPr>
          <a:xfrm>
            <a:off x="3163824" y="2304288"/>
            <a:ext cx="182880" cy="146304"/>
          </a:xfrm>
          <a:prstGeom prst="rect">
            <a:avLst/>
          </a:prstGeom>
          <a:solidFill>
            <a:srgbClr val="D8D4CE"/>
          </a:solidFill>
          <a:ln/>
        </p:spPr>
      </p:sp>
      <p:sp>
        <p:nvSpPr>
          <p:cNvPr id="10" name="Shape 8"/>
          <p:cNvSpPr/>
          <p:nvPr/>
        </p:nvSpPr>
        <p:spPr>
          <a:xfrm>
            <a:off x="3374136" y="1783080"/>
            <a:ext cx="2587752" cy="1188720"/>
          </a:xfrm>
          <a:prstGeom prst="rect">
            <a:avLst/>
          </a:prstGeom>
          <a:solidFill>
            <a:srgbClr val="1A1A1A"/>
          </a:solidFill>
          <a:ln/>
        </p:spPr>
      </p:sp>
      <p:sp>
        <p:nvSpPr>
          <p:cNvPr id="11" name="Text 9"/>
          <p:cNvSpPr/>
          <p:nvPr/>
        </p:nvSpPr>
        <p:spPr>
          <a:xfrm>
            <a:off x="3575304" y="1920240"/>
            <a:ext cx="2194560" cy="237744"/>
          </a:xfrm>
          <a:prstGeom prst="rect">
            <a:avLst/>
          </a:prstGeom>
          <a:noFill/>
          <a:ln/>
        </p:spPr>
        <p:txBody>
          <a:bodyPr wrap="square" lIns="0" tIns="0" rIns="0" bIns="0" rtlCol="0" anchor="ctr"/>
          <a:lstStyle/>
          <a:p>
            <a:pPr indent="0" marL="0">
              <a:buNone/>
            </a:pPr>
            <a:r>
              <a:rPr lang="en-US" sz="950" dirty="0">
                <a:solidFill>
                  <a:srgbClr val="D8D2C8"/>
                </a:solidFill>
                <a:latin typeface="맑은 고딕" pitchFamily="34" charset="0"/>
                <a:ea typeface="맑은 고딕" pitchFamily="34" charset="-122"/>
                <a:cs typeface="맑은 고딕" pitchFamily="34" charset="-120"/>
              </a:rPr>
              <a:t>주관</a:t>
            </a:r>
            <a:endParaRPr lang="en-US" sz="950" dirty="0"/>
          </a:p>
        </p:txBody>
      </p:sp>
      <p:sp>
        <p:nvSpPr>
          <p:cNvPr id="12" name="Text 10"/>
          <p:cNvSpPr/>
          <p:nvPr/>
        </p:nvSpPr>
        <p:spPr>
          <a:xfrm>
            <a:off x="3575304" y="2157984"/>
            <a:ext cx="2194560" cy="320040"/>
          </a:xfrm>
          <a:prstGeom prst="rect">
            <a:avLst/>
          </a:prstGeom>
          <a:noFill/>
          <a:ln/>
        </p:spPr>
        <p:txBody>
          <a:bodyPr wrap="square" lIns="0" tIns="0" rIns="0" bIns="0" rtlCol="0" anchor="ctr"/>
          <a:lstStyle/>
          <a:p>
            <a:pPr indent="0" marL="0">
              <a:buNone/>
            </a:pPr>
            <a:r>
              <a:rPr lang="en-US" sz="1400" b="1" dirty="0">
                <a:solidFill>
                  <a:srgbClr val="FFFFFF"/>
                </a:solidFill>
                <a:latin typeface="맑은 고딕" pitchFamily="34" charset="0"/>
                <a:ea typeface="맑은 고딕" pitchFamily="34" charset="-122"/>
                <a:cs typeface="맑은 고딕" pitchFamily="34" charset="-120"/>
              </a:rPr>
              <a:t>예술협회 아이테르</a:t>
            </a:r>
            <a:endParaRPr lang="en-US" sz="1400" dirty="0"/>
          </a:p>
        </p:txBody>
      </p:sp>
      <p:sp>
        <p:nvSpPr>
          <p:cNvPr id="13" name="Text 11"/>
          <p:cNvSpPr/>
          <p:nvPr/>
        </p:nvSpPr>
        <p:spPr>
          <a:xfrm>
            <a:off x="3575304" y="2523744"/>
            <a:ext cx="2194560" cy="365760"/>
          </a:xfrm>
          <a:prstGeom prst="rect">
            <a:avLst/>
          </a:prstGeom>
          <a:noFill/>
          <a:ln/>
        </p:spPr>
        <p:txBody>
          <a:bodyPr wrap="square" lIns="0" tIns="0" rIns="0" bIns="0" rtlCol="0" anchor="ctr"/>
          <a:lstStyle/>
          <a:p>
            <a:pPr indent="0" marL="0">
              <a:lnSpc>
                <a:spcPts val="1200"/>
              </a:lnSpc>
              <a:buNone/>
            </a:pPr>
            <a:r>
              <a:rPr lang="en-US" sz="850" dirty="0">
                <a:solidFill>
                  <a:srgbClr val="E0DAD1"/>
                </a:solidFill>
                <a:latin typeface="맑은 고딕" pitchFamily="34" charset="0"/>
                <a:ea typeface="맑은 고딕" pitchFamily="34" charset="-122"/>
                <a:cs typeface="맑은 고딕" pitchFamily="34" charset="-120"/>
              </a:rPr>
              <a:t>기획·제작·운영 총괄 (기획 추병곤)</a:t>
            </a:r>
            <a:endParaRPr lang="en-US" sz="850" dirty="0"/>
          </a:p>
        </p:txBody>
      </p:sp>
      <p:sp>
        <p:nvSpPr>
          <p:cNvPr id="14" name="Shape 12"/>
          <p:cNvSpPr/>
          <p:nvPr/>
        </p:nvSpPr>
        <p:spPr>
          <a:xfrm>
            <a:off x="5989320" y="2304288"/>
            <a:ext cx="182880" cy="146304"/>
          </a:xfrm>
          <a:prstGeom prst="rect">
            <a:avLst/>
          </a:prstGeom>
          <a:solidFill>
            <a:srgbClr val="D8D4CE"/>
          </a:solidFill>
          <a:ln/>
        </p:spPr>
      </p:sp>
      <p:sp>
        <p:nvSpPr>
          <p:cNvPr id="15" name="Shape 13"/>
          <p:cNvSpPr/>
          <p:nvPr/>
        </p:nvSpPr>
        <p:spPr>
          <a:xfrm>
            <a:off x="6199632" y="1783080"/>
            <a:ext cx="2587752" cy="1188720"/>
          </a:xfrm>
          <a:prstGeom prst="rect">
            <a:avLst/>
          </a:prstGeom>
          <a:solidFill>
            <a:srgbClr val="9C6B3C"/>
          </a:solidFill>
          <a:ln/>
        </p:spPr>
      </p:sp>
      <p:sp>
        <p:nvSpPr>
          <p:cNvPr id="16" name="Text 14"/>
          <p:cNvSpPr/>
          <p:nvPr/>
        </p:nvSpPr>
        <p:spPr>
          <a:xfrm>
            <a:off x="6400800" y="1920240"/>
            <a:ext cx="2194560" cy="237744"/>
          </a:xfrm>
          <a:prstGeom prst="rect">
            <a:avLst/>
          </a:prstGeom>
          <a:noFill/>
          <a:ln/>
        </p:spPr>
        <p:txBody>
          <a:bodyPr wrap="square" lIns="0" tIns="0" rIns="0" bIns="0" rtlCol="0" anchor="ctr"/>
          <a:lstStyle/>
          <a:p>
            <a:pPr indent="0" marL="0">
              <a:buNone/>
            </a:pPr>
            <a:r>
              <a:rPr lang="en-US" sz="950" dirty="0">
                <a:solidFill>
                  <a:srgbClr val="D8D2C8"/>
                </a:solidFill>
                <a:latin typeface="맑은 고딕" pitchFamily="34" charset="0"/>
                <a:ea typeface="맑은 고딕" pitchFamily="34" charset="-122"/>
                <a:cs typeface="맑은 고딕" pitchFamily="34" charset="-120"/>
              </a:rPr>
              <a:t>후원</a:t>
            </a:r>
            <a:endParaRPr lang="en-US" sz="950" dirty="0"/>
          </a:p>
        </p:txBody>
      </p:sp>
      <p:sp>
        <p:nvSpPr>
          <p:cNvPr id="17" name="Text 15"/>
          <p:cNvSpPr/>
          <p:nvPr/>
        </p:nvSpPr>
        <p:spPr>
          <a:xfrm>
            <a:off x="6400800" y="2157984"/>
            <a:ext cx="2194560" cy="320040"/>
          </a:xfrm>
          <a:prstGeom prst="rect">
            <a:avLst/>
          </a:prstGeom>
          <a:noFill/>
          <a:ln/>
        </p:spPr>
        <p:txBody>
          <a:bodyPr wrap="square" lIns="0" tIns="0" rIns="0" bIns="0" rtlCol="0" anchor="ctr"/>
          <a:lstStyle/>
          <a:p>
            <a:pPr indent="0" marL="0">
              <a:buNone/>
            </a:pPr>
            <a:r>
              <a:rPr lang="en-US" sz="1400" b="1" dirty="0">
                <a:solidFill>
                  <a:srgbClr val="FFFFFF"/>
                </a:solidFill>
                <a:latin typeface="맑은 고딕" pitchFamily="34" charset="0"/>
                <a:ea typeface="맑은 고딕" pitchFamily="34" charset="-122"/>
                <a:cs typeface="맑은 고딕" pitchFamily="34" charset="-120"/>
              </a:rPr>
              <a:t>기업</a:t>
            </a:r>
            <a:endParaRPr lang="en-US" sz="1400" dirty="0"/>
          </a:p>
        </p:txBody>
      </p:sp>
      <p:sp>
        <p:nvSpPr>
          <p:cNvPr id="18" name="Text 16"/>
          <p:cNvSpPr/>
          <p:nvPr/>
        </p:nvSpPr>
        <p:spPr>
          <a:xfrm>
            <a:off x="6400800" y="2523744"/>
            <a:ext cx="2194560" cy="365760"/>
          </a:xfrm>
          <a:prstGeom prst="rect">
            <a:avLst/>
          </a:prstGeom>
          <a:noFill/>
          <a:ln/>
        </p:spPr>
        <p:txBody>
          <a:bodyPr wrap="square" lIns="0" tIns="0" rIns="0" bIns="0" rtlCol="0" anchor="ctr"/>
          <a:lstStyle/>
          <a:p>
            <a:pPr indent="0" marL="0">
              <a:lnSpc>
                <a:spcPts val="1200"/>
              </a:lnSpc>
              <a:buNone/>
            </a:pPr>
            <a:r>
              <a:rPr lang="en-US" sz="850" dirty="0">
                <a:solidFill>
                  <a:srgbClr val="E0DAD1"/>
                </a:solidFill>
                <a:latin typeface="맑은 고딕" pitchFamily="34" charset="0"/>
                <a:ea typeface="맑은 고딕" pitchFamily="34" charset="-122"/>
                <a:cs typeface="맑은 고딕" pitchFamily="34" charset="-120"/>
              </a:rPr>
              <a:t>메인 파트너 1사 · 프로그램 파트너 2사</a:t>
            </a:r>
            <a:endParaRPr lang="en-US" sz="850" dirty="0"/>
          </a:p>
        </p:txBody>
      </p:sp>
      <p:sp>
        <p:nvSpPr>
          <p:cNvPr id="19" name="Shape 17"/>
          <p:cNvSpPr/>
          <p:nvPr/>
        </p:nvSpPr>
        <p:spPr>
          <a:xfrm>
            <a:off x="8814816" y="2304288"/>
            <a:ext cx="182880" cy="146304"/>
          </a:xfrm>
          <a:prstGeom prst="rect">
            <a:avLst/>
          </a:prstGeom>
          <a:solidFill>
            <a:srgbClr val="D8D4CE"/>
          </a:solidFill>
          <a:ln/>
        </p:spPr>
      </p:sp>
      <p:sp>
        <p:nvSpPr>
          <p:cNvPr id="20" name="Shape 18"/>
          <p:cNvSpPr/>
          <p:nvPr/>
        </p:nvSpPr>
        <p:spPr>
          <a:xfrm>
            <a:off x="9025128" y="1783080"/>
            <a:ext cx="2587752" cy="1188720"/>
          </a:xfrm>
          <a:prstGeom prst="rect">
            <a:avLst/>
          </a:prstGeom>
          <a:solidFill>
            <a:srgbClr val="7A4A45"/>
          </a:solidFill>
          <a:ln/>
        </p:spPr>
      </p:sp>
      <p:sp>
        <p:nvSpPr>
          <p:cNvPr id="21" name="Text 19"/>
          <p:cNvSpPr/>
          <p:nvPr/>
        </p:nvSpPr>
        <p:spPr>
          <a:xfrm>
            <a:off x="9226296" y="1920240"/>
            <a:ext cx="2194560" cy="237744"/>
          </a:xfrm>
          <a:prstGeom prst="rect">
            <a:avLst/>
          </a:prstGeom>
          <a:noFill/>
          <a:ln/>
        </p:spPr>
        <p:txBody>
          <a:bodyPr wrap="square" lIns="0" tIns="0" rIns="0" bIns="0" rtlCol="0" anchor="ctr"/>
          <a:lstStyle/>
          <a:p>
            <a:pPr indent="0" marL="0">
              <a:buNone/>
            </a:pPr>
            <a:r>
              <a:rPr lang="en-US" sz="950" dirty="0">
                <a:solidFill>
                  <a:srgbClr val="D8D2C8"/>
                </a:solidFill>
                <a:latin typeface="맑은 고딕" pitchFamily="34" charset="0"/>
                <a:ea typeface="맑은 고딕" pitchFamily="34" charset="-122"/>
                <a:cs typeface="맑은 고딕" pitchFamily="34" charset="-120"/>
              </a:rPr>
              <a:t>협력</a:t>
            </a:r>
            <a:endParaRPr lang="en-US" sz="950" dirty="0"/>
          </a:p>
        </p:txBody>
      </p:sp>
      <p:sp>
        <p:nvSpPr>
          <p:cNvPr id="22" name="Text 20"/>
          <p:cNvSpPr/>
          <p:nvPr/>
        </p:nvSpPr>
        <p:spPr>
          <a:xfrm>
            <a:off x="9226296" y="2157984"/>
            <a:ext cx="2194560" cy="320040"/>
          </a:xfrm>
          <a:prstGeom prst="rect">
            <a:avLst/>
          </a:prstGeom>
          <a:noFill/>
          <a:ln/>
        </p:spPr>
        <p:txBody>
          <a:bodyPr wrap="square" lIns="0" tIns="0" rIns="0" bIns="0" rtlCol="0" anchor="ctr"/>
          <a:lstStyle/>
          <a:p>
            <a:pPr indent="0" marL="0">
              <a:buNone/>
            </a:pPr>
            <a:r>
              <a:rPr lang="en-US" sz="1400" b="1" dirty="0">
                <a:solidFill>
                  <a:srgbClr val="FFFFFF"/>
                </a:solidFill>
                <a:latin typeface="맑은 고딕" pitchFamily="34" charset="0"/>
                <a:ea typeface="맑은 고딕" pitchFamily="34" charset="-122"/>
                <a:cs typeface="맑은 고딕" pitchFamily="34" charset="-120"/>
              </a:rPr>
              <a:t>지역·기술</a:t>
            </a:r>
            <a:endParaRPr lang="en-US" sz="1400" dirty="0"/>
          </a:p>
        </p:txBody>
      </p:sp>
      <p:sp>
        <p:nvSpPr>
          <p:cNvPr id="23" name="Text 21"/>
          <p:cNvSpPr/>
          <p:nvPr/>
        </p:nvSpPr>
        <p:spPr>
          <a:xfrm>
            <a:off x="9226296" y="2523744"/>
            <a:ext cx="2194560" cy="365760"/>
          </a:xfrm>
          <a:prstGeom prst="rect">
            <a:avLst/>
          </a:prstGeom>
          <a:noFill/>
          <a:ln/>
        </p:spPr>
        <p:txBody>
          <a:bodyPr wrap="square" lIns="0" tIns="0" rIns="0" bIns="0" rtlCol="0" anchor="ctr"/>
          <a:lstStyle/>
          <a:p>
            <a:pPr indent="0" marL="0">
              <a:lnSpc>
                <a:spcPts val="1200"/>
              </a:lnSpc>
              <a:buNone/>
            </a:pPr>
            <a:r>
              <a:rPr lang="en-US" sz="850" dirty="0">
                <a:solidFill>
                  <a:srgbClr val="E0DAD1"/>
                </a:solidFill>
                <a:latin typeface="맑은 고딕" pitchFamily="34" charset="0"/>
                <a:ea typeface="맑은 고딕" pitchFamily="34" charset="-122"/>
                <a:cs typeface="맑은 고딕" pitchFamily="34" charset="-120"/>
              </a:rPr>
              <a:t>진시장 상인회 · 도서관·학교 · 기술협약사</a:t>
            </a:r>
            <a:endParaRPr lang="en-US" sz="850" dirty="0"/>
          </a:p>
        </p:txBody>
      </p:sp>
      <p:sp>
        <p:nvSpPr>
          <p:cNvPr id="24" name="Shape 22"/>
          <p:cNvSpPr/>
          <p:nvPr/>
        </p:nvSpPr>
        <p:spPr>
          <a:xfrm>
            <a:off x="548640" y="3154680"/>
            <a:ext cx="11064240" cy="384048"/>
          </a:xfrm>
          <a:prstGeom prst="rect">
            <a:avLst/>
          </a:prstGeom>
          <a:solidFill>
            <a:srgbClr val="F3F1ED"/>
          </a:solidFill>
          <a:ln/>
        </p:spPr>
      </p:sp>
      <p:sp>
        <p:nvSpPr>
          <p:cNvPr id="25" name="Text 23"/>
          <p:cNvSpPr/>
          <p:nvPr/>
        </p:nvSpPr>
        <p:spPr>
          <a:xfrm>
            <a:off x="777240" y="3154680"/>
            <a:ext cx="10607040" cy="384048"/>
          </a:xfrm>
          <a:prstGeom prst="rect">
            <a:avLst/>
          </a:prstGeom>
          <a:noFill/>
          <a:ln/>
        </p:spPr>
        <p:txBody>
          <a:bodyPr wrap="square" lIns="0" tIns="0" rIns="0" bIns="0" rtlCol="0" anchor="ctr"/>
          <a:lstStyle/>
          <a:p>
            <a:pPr indent="0" marL="0">
              <a:buNone/>
            </a:pPr>
            <a:r>
              <a:rPr lang="en-US" sz="1000" dirty="0">
                <a:solidFill>
                  <a:srgbClr val="3E3A35"/>
                </a:solidFill>
                <a:latin typeface="맑은 고딕" pitchFamily="34" charset="0"/>
                <a:ea typeface="맑은 고딕" pitchFamily="34" charset="-122"/>
                <a:cs typeface="맑은 고딕" pitchFamily="34" charset="-120"/>
              </a:rPr>
              <a:t>모든 성과물(아카이브·구술·도록)의 공동 저작 및 공공 개방을 전제로 협약 — 기관은 자산으로, 기업은 ESG 실적으로, 지역은 콘텐츠로 회수한다.</a:t>
            </a:r>
            <a:endParaRPr lang="en-US" sz="1000" dirty="0"/>
          </a:p>
        </p:txBody>
      </p:sp>
      <p:sp>
        <p:nvSpPr>
          <p:cNvPr id="26" name="Text 24"/>
          <p:cNvSpPr/>
          <p:nvPr/>
        </p:nvSpPr>
        <p:spPr>
          <a:xfrm>
            <a:off x="548640" y="3749040"/>
            <a:ext cx="4572000" cy="274320"/>
          </a:xfrm>
          <a:prstGeom prst="rect">
            <a:avLst/>
          </a:prstGeom>
          <a:noFill/>
          <a:ln/>
        </p:spPr>
        <p:txBody>
          <a:bodyPr wrap="square" lIns="0" tIns="0" rIns="0" bIns="0" rtlCol="0" anchor="ctr"/>
          <a:lstStyle/>
          <a:p>
            <a:pPr indent="0" marL="0">
              <a:buNone/>
            </a:pPr>
            <a:r>
              <a:rPr lang="en-US" sz="1200" b="1" dirty="0">
                <a:solidFill>
                  <a:srgbClr val="1A1A1A"/>
                </a:solidFill>
                <a:latin typeface="맑은 고딕" pitchFamily="34" charset="0"/>
                <a:ea typeface="맑은 고딕" pitchFamily="34" charset="-122"/>
                <a:cs typeface="맑은 고딕" pitchFamily="34" charset="-120"/>
              </a:rPr>
              <a:t>재원 구성 (총 80,000천원)</a:t>
            </a:r>
            <a:endParaRPr lang="en-US" sz="1200" dirty="0"/>
          </a:p>
        </p:txBody>
      </p:sp>
      <p:graphicFrame>
        <p:nvGraphicFramePr>
          <p:cNvPr id="27" name="Chart 0" descr=""/>
          <p:cNvGraphicFramePr/>
          <p:nvPr/>
        </p:nvGraphicFramePr>
        <p:xfrm>
          <a:off x="502920" y="4041648"/>
          <a:ext cx="4846320" cy="2194560"/>
        </p:xfrm>
        <a:graphic xmlns:a="http://schemas.openxmlformats.org/drawingml/2006/main">
          <a:graphicData uri="http://schemas.openxmlformats.org/drawingml/2006/chart">
            <c:chart xmlns:c="http://schemas.openxmlformats.org/drawingml/2006/chart" r:id="rId1"/>
          </a:graphicData>
        </a:graphic>
      </p:graphicFrame>
      <p:sp>
        <p:nvSpPr>
          <p:cNvPr id="28" name="Shape 25"/>
          <p:cNvSpPr/>
          <p:nvPr/>
        </p:nvSpPr>
        <p:spPr>
          <a:xfrm>
            <a:off x="5669280" y="3749040"/>
            <a:ext cx="5943600" cy="2395728"/>
          </a:xfrm>
          <a:prstGeom prst="rect">
            <a:avLst/>
          </a:prstGeom>
          <a:solidFill>
            <a:srgbClr val="F3F1ED"/>
          </a:solidFill>
          <a:ln/>
        </p:spPr>
      </p:sp>
      <p:sp>
        <p:nvSpPr>
          <p:cNvPr id="29" name="Text 26"/>
          <p:cNvSpPr/>
          <p:nvPr/>
        </p:nvSpPr>
        <p:spPr>
          <a:xfrm>
            <a:off x="5943600" y="3913632"/>
            <a:ext cx="5394960" cy="274320"/>
          </a:xfrm>
          <a:prstGeom prst="rect">
            <a:avLst/>
          </a:prstGeom>
          <a:noFill/>
          <a:ln/>
        </p:spPr>
        <p:txBody>
          <a:bodyPr wrap="square" lIns="0" tIns="0" rIns="0" bIns="0" rtlCol="0" anchor="ctr"/>
          <a:lstStyle/>
          <a:p>
            <a:pPr indent="0" marL="0">
              <a:buNone/>
            </a:pPr>
            <a:r>
              <a:rPr lang="en-US" sz="1200" b="1" dirty="0">
                <a:solidFill>
                  <a:srgbClr val="1A1A1A"/>
                </a:solidFill>
                <a:latin typeface="맑은 고딕" pitchFamily="34" charset="0"/>
                <a:ea typeface="맑은 고딕" pitchFamily="34" charset="-122"/>
                <a:cs typeface="맑은 고딕" pitchFamily="34" charset="-120"/>
              </a:rPr>
              <a:t>기업 협찬 3단계 (총 24,000천원)</a:t>
            </a:r>
            <a:endParaRPr lang="en-US" sz="1200" dirty="0"/>
          </a:p>
        </p:txBody>
      </p:sp>
      <p:sp>
        <p:nvSpPr>
          <p:cNvPr id="30" name="Text 27"/>
          <p:cNvSpPr/>
          <p:nvPr/>
        </p:nvSpPr>
        <p:spPr>
          <a:xfrm>
            <a:off x="5943600" y="4279392"/>
            <a:ext cx="1371600" cy="237744"/>
          </a:xfrm>
          <a:prstGeom prst="rect">
            <a:avLst/>
          </a:prstGeom>
          <a:noFill/>
          <a:ln/>
        </p:spPr>
        <p:txBody>
          <a:bodyPr wrap="square" lIns="0" tIns="0" rIns="0" bIns="0" rtlCol="0" anchor="ctr"/>
          <a:lstStyle/>
          <a:p>
            <a:pPr indent="0" marL="0">
              <a:buNone/>
            </a:pPr>
            <a:r>
              <a:rPr lang="en-US" sz="1050" b="1" dirty="0">
                <a:solidFill>
                  <a:srgbClr val="9C6B3C"/>
                </a:solidFill>
                <a:latin typeface="맑은 고딕" pitchFamily="34" charset="0"/>
                <a:ea typeface="맑은 고딕" pitchFamily="34" charset="-122"/>
                <a:cs typeface="맑은 고딕" pitchFamily="34" charset="-120"/>
              </a:rPr>
              <a:t>메인 파트너</a:t>
            </a:r>
            <a:endParaRPr lang="en-US" sz="1050" dirty="0"/>
          </a:p>
        </p:txBody>
      </p:sp>
      <p:sp>
        <p:nvSpPr>
          <p:cNvPr id="31" name="Text 28"/>
          <p:cNvSpPr/>
          <p:nvPr/>
        </p:nvSpPr>
        <p:spPr>
          <a:xfrm>
            <a:off x="7360920" y="4279392"/>
            <a:ext cx="1508760" cy="237744"/>
          </a:xfrm>
          <a:prstGeom prst="rect">
            <a:avLst/>
          </a:prstGeom>
          <a:noFill/>
          <a:ln/>
        </p:spPr>
        <p:txBody>
          <a:bodyPr wrap="square" lIns="0" tIns="0" rIns="0" bIns="0" rtlCol="0" anchor="ctr"/>
          <a:lstStyle/>
          <a:p>
            <a:pPr indent="0" marL="0">
              <a:buNone/>
            </a:pPr>
            <a:r>
              <a:rPr lang="en-US" sz="950" dirty="0">
                <a:solidFill>
                  <a:srgbClr val="1A1A1A"/>
                </a:solidFill>
                <a:latin typeface="맑은 고딕" pitchFamily="34" charset="0"/>
                <a:ea typeface="맑은 고딕" pitchFamily="34" charset="-122"/>
                <a:cs typeface="맑은 고딕" pitchFamily="34" charset="-120"/>
              </a:rPr>
              <a:t>1사 · 15,000천원</a:t>
            </a:r>
            <a:endParaRPr lang="en-US" sz="950" dirty="0"/>
          </a:p>
        </p:txBody>
      </p:sp>
      <p:sp>
        <p:nvSpPr>
          <p:cNvPr id="32" name="Text 29"/>
          <p:cNvSpPr/>
          <p:nvPr/>
        </p:nvSpPr>
        <p:spPr>
          <a:xfrm>
            <a:off x="5943600" y="4517136"/>
            <a:ext cx="5394960" cy="347472"/>
          </a:xfrm>
          <a:prstGeom prst="rect">
            <a:avLst/>
          </a:prstGeom>
          <a:noFill/>
          <a:ln/>
        </p:spPr>
        <p:txBody>
          <a:bodyPr wrap="square" lIns="0" tIns="0" rIns="0" bIns="0" rtlCol="0" anchor="ctr"/>
          <a:lstStyle/>
          <a:p>
            <a:pPr indent="0" marL="0">
              <a:lnSpc>
                <a:spcPts val="1200"/>
              </a:lnSpc>
              <a:buNone/>
            </a:pPr>
            <a:r>
              <a:rPr lang="en-US" sz="850" dirty="0">
                <a:solidFill>
                  <a:srgbClr val="4A453F"/>
                </a:solidFill>
                <a:latin typeface="맑은 고딕" pitchFamily="34" charset="0"/>
                <a:ea typeface="맑은 고딕" pitchFamily="34" charset="-122"/>
                <a:cs typeface="맑은 고딕" pitchFamily="34" charset="-120"/>
              </a:rPr>
              <a:t>전시명 병기 · 개막 스피치 · 도록 크레딧 · ESG 워크숍 4회 · 사옥 순회 전시 우선권</a:t>
            </a:r>
            <a:endParaRPr lang="en-US" sz="850" dirty="0"/>
          </a:p>
        </p:txBody>
      </p:sp>
      <p:sp>
        <p:nvSpPr>
          <p:cNvPr id="33" name="Text 30"/>
          <p:cNvSpPr/>
          <p:nvPr/>
        </p:nvSpPr>
        <p:spPr>
          <a:xfrm>
            <a:off x="5943600" y="4901184"/>
            <a:ext cx="1371600" cy="237744"/>
          </a:xfrm>
          <a:prstGeom prst="rect">
            <a:avLst/>
          </a:prstGeom>
          <a:noFill/>
          <a:ln/>
        </p:spPr>
        <p:txBody>
          <a:bodyPr wrap="square" lIns="0" tIns="0" rIns="0" bIns="0" rtlCol="0" anchor="ctr"/>
          <a:lstStyle/>
          <a:p>
            <a:pPr indent="0" marL="0">
              <a:buNone/>
            </a:pPr>
            <a:r>
              <a:rPr lang="en-US" sz="1050" b="1" dirty="0">
                <a:solidFill>
                  <a:srgbClr val="9C6B3C"/>
                </a:solidFill>
                <a:latin typeface="맑은 고딕" pitchFamily="34" charset="0"/>
                <a:ea typeface="맑은 고딕" pitchFamily="34" charset="-122"/>
                <a:cs typeface="맑은 고딕" pitchFamily="34" charset="-120"/>
              </a:rPr>
              <a:t>프로그램 파트너</a:t>
            </a:r>
            <a:endParaRPr lang="en-US" sz="1050" dirty="0"/>
          </a:p>
        </p:txBody>
      </p:sp>
      <p:sp>
        <p:nvSpPr>
          <p:cNvPr id="34" name="Text 31"/>
          <p:cNvSpPr/>
          <p:nvPr/>
        </p:nvSpPr>
        <p:spPr>
          <a:xfrm>
            <a:off x="7360920" y="4901184"/>
            <a:ext cx="1508760" cy="237744"/>
          </a:xfrm>
          <a:prstGeom prst="rect">
            <a:avLst/>
          </a:prstGeom>
          <a:noFill/>
          <a:ln/>
        </p:spPr>
        <p:txBody>
          <a:bodyPr wrap="square" lIns="0" tIns="0" rIns="0" bIns="0" rtlCol="0" anchor="ctr"/>
          <a:lstStyle/>
          <a:p>
            <a:pPr indent="0" marL="0">
              <a:buNone/>
            </a:pPr>
            <a:r>
              <a:rPr lang="en-US" sz="950" dirty="0">
                <a:solidFill>
                  <a:srgbClr val="1A1A1A"/>
                </a:solidFill>
                <a:latin typeface="맑은 고딕" pitchFamily="34" charset="0"/>
                <a:ea typeface="맑은 고딕" pitchFamily="34" charset="-122"/>
                <a:cs typeface="맑은 고딕" pitchFamily="34" charset="-120"/>
              </a:rPr>
              <a:t>2사 · 각 4,000천원</a:t>
            </a:r>
            <a:endParaRPr lang="en-US" sz="950" dirty="0"/>
          </a:p>
        </p:txBody>
      </p:sp>
      <p:sp>
        <p:nvSpPr>
          <p:cNvPr id="35" name="Text 32"/>
          <p:cNvSpPr/>
          <p:nvPr/>
        </p:nvSpPr>
        <p:spPr>
          <a:xfrm>
            <a:off x="5943600" y="5138928"/>
            <a:ext cx="5394960" cy="347472"/>
          </a:xfrm>
          <a:prstGeom prst="rect">
            <a:avLst/>
          </a:prstGeom>
          <a:noFill/>
          <a:ln/>
        </p:spPr>
        <p:txBody>
          <a:bodyPr wrap="square" lIns="0" tIns="0" rIns="0" bIns="0" rtlCol="0" anchor="ctr"/>
          <a:lstStyle/>
          <a:p>
            <a:pPr indent="0" marL="0">
              <a:lnSpc>
                <a:spcPts val="1200"/>
              </a:lnSpc>
              <a:buNone/>
            </a:pPr>
            <a:r>
              <a:rPr lang="en-US" sz="850" dirty="0">
                <a:solidFill>
                  <a:srgbClr val="4A453F"/>
                </a:solidFill>
                <a:latin typeface="맑은 고딕" pitchFamily="34" charset="0"/>
                <a:ea typeface="맑은 고딕" pitchFamily="34" charset="-122"/>
                <a:cs typeface="맑은 고딕" pitchFamily="34" charset="-120"/>
              </a:rPr>
              <a:t>지정 프로그램 네이밍(원단학교/범내 산책) · 현장 배너 · 임직원 초청 관람일 · 결과 리포트 제공</a:t>
            </a:r>
            <a:endParaRPr lang="en-US" sz="850" dirty="0"/>
          </a:p>
        </p:txBody>
      </p:sp>
      <p:sp>
        <p:nvSpPr>
          <p:cNvPr id="36" name="Text 33"/>
          <p:cNvSpPr/>
          <p:nvPr/>
        </p:nvSpPr>
        <p:spPr>
          <a:xfrm>
            <a:off x="5943600" y="5522976"/>
            <a:ext cx="1371600" cy="237744"/>
          </a:xfrm>
          <a:prstGeom prst="rect">
            <a:avLst/>
          </a:prstGeom>
          <a:noFill/>
          <a:ln/>
        </p:spPr>
        <p:txBody>
          <a:bodyPr wrap="square" lIns="0" tIns="0" rIns="0" bIns="0" rtlCol="0" anchor="ctr"/>
          <a:lstStyle/>
          <a:p>
            <a:pPr indent="0" marL="0">
              <a:buNone/>
            </a:pPr>
            <a:r>
              <a:rPr lang="en-US" sz="1050" b="1" dirty="0">
                <a:solidFill>
                  <a:srgbClr val="9C6B3C"/>
                </a:solidFill>
                <a:latin typeface="맑은 고딕" pitchFamily="34" charset="0"/>
                <a:ea typeface="맑은 고딕" pitchFamily="34" charset="-122"/>
                <a:cs typeface="맑은 고딕" pitchFamily="34" charset="-120"/>
              </a:rPr>
              <a:t>현물 파트너</a:t>
            </a:r>
            <a:endParaRPr lang="en-US" sz="1050" dirty="0"/>
          </a:p>
        </p:txBody>
      </p:sp>
      <p:sp>
        <p:nvSpPr>
          <p:cNvPr id="37" name="Text 34"/>
          <p:cNvSpPr/>
          <p:nvPr/>
        </p:nvSpPr>
        <p:spPr>
          <a:xfrm>
            <a:off x="7360920" y="5522976"/>
            <a:ext cx="1508760" cy="237744"/>
          </a:xfrm>
          <a:prstGeom prst="rect">
            <a:avLst/>
          </a:prstGeom>
          <a:noFill/>
          <a:ln/>
        </p:spPr>
        <p:txBody>
          <a:bodyPr wrap="square" lIns="0" tIns="0" rIns="0" bIns="0" rtlCol="0" anchor="ctr"/>
          <a:lstStyle/>
          <a:p>
            <a:pPr indent="0" marL="0">
              <a:buNone/>
            </a:pPr>
            <a:r>
              <a:rPr lang="en-US" sz="950" dirty="0">
                <a:solidFill>
                  <a:srgbClr val="1A1A1A"/>
                </a:solidFill>
                <a:latin typeface="맑은 고딕" pitchFamily="34" charset="0"/>
                <a:ea typeface="맑은 고딕" pitchFamily="34" charset="-122"/>
                <a:cs typeface="맑은 고딕" pitchFamily="34" charset="-120"/>
              </a:rPr>
              <a:t>다수 · 1,000천원 상당</a:t>
            </a:r>
            <a:endParaRPr lang="en-US" sz="950" dirty="0"/>
          </a:p>
        </p:txBody>
      </p:sp>
      <p:sp>
        <p:nvSpPr>
          <p:cNvPr id="38" name="Text 35"/>
          <p:cNvSpPr/>
          <p:nvPr/>
        </p:nvSpPr>
        <p:spPr>
          <a:xfrm>
            <a:off x="5943600" y="5760720"/>
            <a:ext cx="5394960" cy="347472"/>
          </a:xfrm>
          <a:prstGeom prst="rect">
            <a:avLst/>
          </a:prstGeom>
          <a:noFill/>
          <a:ln/>
        </p:spPr>
        <p:txBody>
          <a:bodyPr wrap="square" lIns="0" tIns="0" rIns="0" bIns="0" rtlCol="0" anchor="ctr"/>
          <a:lstStyle/>
          <a:p>
            <a:pPr indent="0" marL="0">
              <a:lnSpc>
                <a:spcPts val="1200"/>
              </a:lnSpc>
              <a:buNone/>
            </a:pPr>
            <a:r>
              <a:rPr lang="en-US" sz="850" dirty="0">
                <a:solidFill>
                  <a:srgbClr val="4A453F"/>
                </a:solidFill>
                <a:latin typeface="맑은 고딕" pitchFamily="34" charset="0"/>
                <a:ea typeface="맑은 고딕" pitchFamily="34" charset="-122"/>
                <a:cs typeface="맑은 고딕" pitchFamily="34" charset="-120"/>
              </a:rPr>
              <a:t>원단·자재·인쇄·F&amp;B 현물 제공 · 크레딧 표기 · 스탬프 투어 제휴</a:t>
            </a:r>
            <a:endParaRPr lang="en-US" sz="850" dirty="0"/>
          </a:p>
        </p:txBody>
      </p:sp>
      <p:sp>
        <p:nvSpPr>
          <p:cNvPr id="39" name="Text 36"/>
          <p:cNvSpPr/>
          <p:nvPr/>
        </p:nvSpPr>
        <p:spPr>
          <a:xfrm>
            <a:off x="548640" y="6419088"/>
            <a:ext cx="7315200" cy="274320"/>
          </a:xfrm>
          <a:prstGeom prst="rect">
            <a:avLst/>
          </a:prstGeom>
          <a:noFill/>
          <a:ln/>
        </p:spPr>
        <p:txBody>
          <a:bodyPr wrap="square" lIns="0" tIns="0" rIns="0" bIns="0" rtlCol="0" anchor="ctr"/>
          <a:lstStyle/>
          <a:p>
            <a:pPr algn="l" indent="0" marL="0">
              <a:buNone/>
            </a:pPr>
            <a:r>
              <a:rPr lang="en-US" sz="800" dirty="0">
                <a:solidFill>
                  <a:srgbClr val="8A857E"/>
                </a:solidFill>
                <a:latin typeface="맑은 고딕" pitchFamily="34" charset="0"/>
                <a:ea typeface="맑은 고딕" pitchFamily="34" charset="-122"/>
                <a:cs typeface="맑은 고딕" pitchFamily="34" charset="-120"/>
              </a:rPr>
              <a:t>아이테르 문화예술기획제안서   ·   덮인 물, 남은 올   ·   기획 추병곤</a:t>
            </a:r>
            <a:endParaRPr lang="en-US" sz="800" dirty="0"/>
          </a:p>
        </p:txBody>
      </p:sp>
      <p:sp>
        <p:nvSpPr>
          <p:cNvPr id="40" name="Text 37"/>
          <p:cNvSpPr/>
          <p:nvPr/>
        </p:nvSpPr>
        <p:spPr>
          <a:xfrm>
            <a:off x="10972800" y="6419088"/>
            <a:ext cx="640080" cy="274320"/>
          </a:xfrm>
          <a:prstGeom prst="rect">
            <a:avLst/>
          </a:prstGeom>
          <a:noFill/>
          <a:ln/>
        </p:spPr>
        <p:txBody>
          <a:bodyPr wrap="square" lIns="0" tIns="0" rIns="0" bIns="0" rtlCol="0" anchor="ctr"/>
          <a:lstStyle/>
          <a:p>
            <a:pPr algn="r" indent="0" marL="0">
              <a:buNone/>
            </a:pPr>
            <a:r>
              <a:rPr lang="en-US" sz="900" dirty="0">
                <a:solidFill>
                  <a:srgbClr val="8A857E"/>
                </a:solidFill>
                <a:latin typeface="Cambria" pitchFamily="34" charset="0"/>
                <a:ea typeface="Cambria" pitchFamily="34" charset="-122"/>
                <a:cs typeface="Cambria"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7315200" cy="237744"/>
          </a:xfrm>
          <a:prstGeom prst="rect">
            <a:avLst/>
          </a:prstGeom>
          <a:noFill/>
          <a:ln/>
        </p:spPr>
        <p:txBody>
          <a:bodyPr wrap="square" lIns="0" tIns="0" rIns="0" bIns="0" rtlCol="0" anchor="ctr"/>
          <a:lstStyle/>
          <a:p>
            <a:pPr indent="0" marL="0">
              <a:buNone/>
            </a:pPr>
            <a:r>
              <a:rPr lang="en-US" sz="1050" spc="250" kern="0" dirty="0">
                <a:solidFill>
                  <a:srgbClr val="8A857E"/>
                </a:solidFill>
                <a:latin typeface="Cambria" pitchFamily="34" charset="0"/>
                <a:ea typeface="Cambria" pitchFamily="34" charset="-122"/>
                <a:cs typeface="Cambria" pitchFamily="34" charset="-120"/>
              </a:rPr>
              <a:t>19  BUDGET</a:t>
            </a:r>
            <a:endParaRPr lang="en-US" sz="1050" dirty="0"/>
          </a:p>
        </p:txBody>
      </p:sp>
      <p:sp>
        <p:nvSpPr>
          <p:cNvPr id="3" name="Text 1"/>
          <p:cNvSpPr/>
          <p:nvPr/>
        </p:nvSpPr>
        <p:spPr>
          <a:xfrm>
            <a:off x="548640" y="694944"/>
            <a:ext cx="10058400" cy="502920"/>
          </a:xfrm>
          <a:prstGeom prst="rect">
            <a:avLst/>
          </a:prstGeom>
          <a:noFill/>
          <a:ln/>
        </p:spPr>
        <p:txBody>
          <a:bodyPr wrap="square" lIns="0" tIns="0" rIns="0" bIns="0" rtlCol="0" anchor="ctr"/>
          <a:lstStyle/>
          <a:p>
            <a:pPr indent="0" marL="0">
              <a:buNone/>
            </a:pPr>
            <a:r>
              <a:rPr lang="en-US" sz="2700" b="1" dirty="0">
                <a:solidFill>
                  <a:srgbClr val="1A1A1A"/>
                </a:solidFill>
                <a:latin typeface="맑은 고딕" pitchFamily="34" charset="0"/>
                <a:ea typeface="맑은 고딕" pitchFamily="34" charset="-122"/>
                <a:cs typeface="맑은 고딕" pitchFamily="34" charset="-120"/>
              </a:rPr>
              <a:t>예산(안)</a:t>
            </a:r>
            <a:endParaRPr lang="en-US" sz="2700" dirty="0"/>
          </a:p>
        </p:txBody>
      </p:sp>
      <p:sp>
        <p:nvSpPr>
          <p:cNvPr id="4" name="Text 2"/>
          <p:cNvSpPr/>
          <p:nvPr/>
        </p:nvSpPr>
        <p:spPr>
          <a:xfrm>
            <a:off x="548640" y="1225296"/>
            <a:ext cx="10607040" cy="310896"/>
          </a:xfrm>
          <a:prstGeom prst="rect">
            <a:avLst/>
          </a:prstGeom>
          <a:noFill/>
          <a:ln/>
        </p:spPr>
        <p:txBody>
          <a:bodyPr wrap="square" lIns="0" tIns="0" rIns="0" bIns="0" rtlCol="0" anchor="ctr"/>
          <a:lstStyle/>
          <a:p>
            <a:pPr indent="0" marL="0">
              <a:buNone/>
            </a:pPr>
            <a:r>
              <a:rPr lang="en-US" sz="1200" dirty="0">
                <a:solidFill>
                  <a:srgbClr val="8A857E"/>
                </a:solidFill>
                <a:latin typeface="맑은 고딕" pitchFamily="34" charset="0"/>
                <a:ea typeface="맑은 고딕" pitchFamily="34" charset="-122"/>
                <a:cs typeface="맑은 고딕" pitchFamily="34" charset="-120"/>
              </a:rPr>
              <a:t>단위: 천원 · 부가세 포함 · 협의에 따라 A(전체) / B(미디어 축소) / C(핵심) 3단계 스코프 운용</a:t>
            </a:r>
            <a:endParaRPr lang="en-US" sz="12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1700784"/>
          <a:ext cx="11064240" cy="914400"/>
        </p:xfrm>
        <a:graphic>
          <a:graphicData uri="http://schemas.openxmlformats.org/drawingml/2006/table">
            <a:tbl>
              <a:tblPr/>
              <a:tblGrid>
                <a:gridCol w="548640"/>
                <a:gridCol w="2377440"/>
                <a:gridCol w="5669280"/>
                <a:gridCol w="1371600"/>
                <a:gridCol w="1097280"/>
              </a:tblGrid>
              <a:tr h="292608">
                <a:tc>
                  <a:txBody>
                    <a:bodyPr/>
                    <a:lstStyle/>
                    <a:p>
                      <a:pPr algn="ctr" indent="0" marL="0">
                        <a:buNone/>
                      </a:pPr>
                      <a:r>
                        <a:rPr lang="en-US" sz="1050" b="1" dirty="0">
                          <a:solidFill>
                            <a:srgbClr val="FFFFFF"/>
                          </a:solidFill>
                          <a:latin typeface="맑은 고딕" pitchFamily="34" charset="0"/>
                          <a:ea typeface="맑은 고딕" pitchFamily="34" charset="-122"/>
                          <a:cs typeface="맑은 고딕" pitchFamily="34" charset="-120"/>
                        </a:rPr>
                        <a:t>No</a:t>
                      </a:r>
                      <a:endParaRPr lang="en-US" sz="1050" dirty="0">
                        <a:latin typeface="맑은 고딕" charset="0"/>
                        <a:ea typeface="맑은 고딕" charset="0"/>
                        <a:cs typeface="맑은 고딕" charset="0"/>
                      </a:endParaRPr>
                    </a:p>
                  </a:txBody>
                  <a:tcPr marL="101600" marR="101600" marT="25400" marB="25400"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1A1A1A"/>
                    </a:solidFill>
                  </a:tcPr>
                </a:tc>
                <a:tc>
                  <a:txBody>
                    <a:bodyPr/>
                    <a:lstStyle/>
                    <a:p>
                      <a:pPr indent="0" marL="0">
                        <a:buNone/>
                      </a:pPr>
                      <a:r>
                        <a:rPr lang="en-US" sz="1050" b="1" dirty="0">
                          <a:solidFill>
                            <a:srgbClr val="FFFFFF"/>
                          </a:solidFill>
                          <a:latin typeface="맑은 고딕" pitchFamily="34" charset="0"/>
                          <a:ea typeface="맑은 고딕" pitchFamily="34" charset="-122"/>
                          <a:cs typeface="맑은 고딕" pitchFamily="34" charset="-120"/>
                        </a:rPr>
                        <a:t>항목</a:t>
                      </a:r>
                      <a:endParaRPr lang="en-US" sz="1050" dirty="0">
                        <a:latin typeface="맑은 고딕" charset="0"/>
                        <a:ea typeface="맑은 고딕" charset="0"/>
                        <a:cs typeface="맑은 고딕" charset="0"/>
                      </a:endParaRPr>
                    </a:p>
                  </a:txBody>
                  <a:tcPr marL="101600" marR="101600" marT="25400" marB="25400"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1A1A1A"/>
                    </a:solidFill>
                  </a:tcPr>
                </a:tc>
                <a:tc>
                  <a:txBody>
                    <a:bodyPr/>
                    <a:lstStyle/>
                    <a:p>
                      <a:pPr indent="0" marL="0">
                        <a:buNone/>
                      </a:pPr>
                      <a:r>
                        <a:rPr lang="en-US" sz="1050" b="1" dirty="0">
                          <a:solidFill>
                            <a:srgbClr val="FFFFFF"/>
                          </a:solidFill>
                          <a:latin typeface="맑은 고딕" pitchFamily="34" charset="0"/>
                          <a:ea typeface="맑은 고딕" pitchFamily="34" charset="-122"/>
                          <a:cs typeface="맑은 고딕" pitchFamily="34" charset="-120"/>
                        </a:rPr>
                        <a:t>세부 내역</a:t>
                      </a:r>
                      <a:endParaRPr lang="en-US" sz="1050" dirty="0">
                        <a:latin typeface="맑은 고딕" charset="0"/>
                        <a:ea typeface="맑은 고딕" charset="0"/>
                        <a:cs typeface="맑은 고딕" charset="0"/>
                      </a:endParaRPr>
                    </a:p>
                  </a:txBody>
                  <a:tcPr marL="101600" marR="101600" marT="25400" marB="25400"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1A1A1A"/>
                    </a:solidFill>
                  </a:tcPr>
                </a:tc>
                <a:tc>
                  <a:txBody>
                    <a:bodyPr/>
                    <a:lstStyle/>
                    <a:p>
                      <a:pPr algn="r" indent="0" marL="0">
                        <a:buNone/>
                      </a:pPr>
                      <a:r>
                        <a:rPr lang="en-US" sz="1050" b="1" dirty="0">
                          <a:solidFill>
                            <a:srgbClr val="FFFFFF"/>
                          </a:solidFill>
                          <a:latin typeface="맑은 고딕" pitchFamily="34" charset="0"/>
                          <a:ea typeface="맑은 고딕" pitchFamily="34" charset="-122"/>
                          <a:cs typeface="맑은 고딕" pitchFamily="34" charset="-120"/>
                        </a:rPr>
                        <a:t>금액</a:t>
                      </a:r>
                      <a:endParaRPr lang="en-US" sz="1050" dirty="0">
                        <a:latin typeface="맑은 고딕" charset="0"/>
                        <a:ea typeface="맑은 고딕" charset="0"/>
                        <a:cs typeface="맑은 고딕" charset="0"/>
                      </a:endParaRPr>
                    </a:p>
                  </a:txBody>
                  <a:tcPr marL="101600" marR="101600" marT="25400" marB="25400"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1A1A1A"/>
                    </a:solidFill>
                  </a:tcPr>
                </a:tc>
                <a:tc>
                  <a:txBody>
                    <a:bodyPr/>
                    <a:lstStyle/>
                    <a:p>
                      <a:pPr algn="r" indent="0" marL="0">
                        <a:buNone/>
                      </a:pPr>
                      <a:r>
                        <a:rPr lang="en-US" sz="1050" b="1" dirty="0">
                          <a:solidFill>
                            <a:srgbClr val="FFFFFF"/>
                          </a:solidFill>
                          <a:latin typeface="맑은 고딕" pitchFamily="34" charset="0"/>
                          <a:ea typeface="맑은 고딕" pitchFamily="34" charset="-122"/>
                          <a:cs typeface="맑은 고딕" pitchFamily="34" charset="-120"/>
                        </a:rPr>
                        <a:t>비중</a:t>
                      </a:r>
                      <a:endParaRPr lang="en-US" sz="1050" dirty="0">
                        <a:latin typeface="맑은 고딕" charset="0"/>
                        <a:ea typeface="맑은 고딕" charset="0"/>
                        <a:cs typeface="맑은 고딕" charset="0"/>
                      </a:endParaRPr>
                    </a:p>
                  </a:txBody>
                  <a:tcPr marL="101600" marR="101600" marT="25400" marB="25400"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1A1A1A"/>
                    </a:solidFill>
                  </a:tcPr>
                </a:tc>
              </a:tr>
              <a:tr h="292608">
                <a:tc>
                  <a:txBody>
                    <a:bodyPr/>
                    <a:lstStyle/>
                    <a:p>
                      <a:pPr algn="ctr" indent="0" marL="0">
                        <a:buNone/>
                      </a:pPr>
                      <a:r>
                        <a:rPr lang="en-US" sz="1000" dirty="0">
                          <a:solidFill>
                            <a:srgbClr val="8A857E"/>
                          </a:solidFill>
                          <a:latin typeface="Cambria" pitchFamily="34" charset="0"/>
                          <a:ea typeface="Cambria" pitchFamily="34" charset="-122"/>
                          <a:cs typeface="Cambria" pitchFamily="34" charset="-120"/>
                        </a:rPr>
                        <a:t>01</a:t>
                      </a:r>
                      <a:endParaRPr lang="en-US" sz="1000" dirty="0">
                        <a:latin typeface="Cambria" charset="0"/>
                        <a:ea typeface="Cambria" charset="0"/>
                        <a:cs typeface="Cambria" charset="0"/>
                      </a:endParaRPr>
                    </a:p>
                  </a:txBody>
                  <a:tcPr marL="101600" marR="101600" marT="25400" marB="25400"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3F1ED"/>
                    </a:solidFill>
                  </a:tcPr>
                </a:tc>
                <a:tc>
                  <a:txBody>
                    <a:bodyPr/>
                    <a:lstStyle/>
                    <a:p>
                      <a:pPr indent="0" marL="0">
                        <a:buNone/>
                      </a:pPr>
                      <a:r>
                        <a:rPr lang="en-US" sz="1050" b="1" dirty="0">
                          <a:solidFill>
                            <a:srgbClr val="1A1A1A"/>
                          </a:solidFill>
                          <a:latin typeface="맑은 고딕" pitchFamily="34" charset="0"/>
                          <a:ea typeface="맑은 고딕" pitchFamily="34" charset="-122"/>
                          <a:cs typeface="맑은 고딕" pitchFamily="34" charset="-120"/>
                        </a:rPr>
                        <a:t>기획·운영비</a:t>
                      </a:r>
                      <a:endParaRPr lang="en-US" sz="1050" dirty="0">
                        <a:latin typeface="맑은 고딕" charset="0"/>
                        <a:ea typeface="맑은 고딕" charset="0"/>
                        <a:cs typeface="맑은 고딕" charset="0"/>
                      </a:endParaRPr>
                    </a:p>
                  </a:txBody>
                  <a:tcPr marL="101600" marR="101600" marT="25400" marB="25400"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3F1ED"/>
                    </a:solidFill>
                  </a:tcPr>
                </a:tc>
                <a:tc>
                  <a:txBody>
                    <a:bodyPr/>
                    <a:lstStyle/>
                    <a:p>
                      <a:pPr indent="0" marL="0">
                        <a:buNone/>
                      </a:pPr>
                      <a:r>
                        <a:rPr lang="en-US" sz="950" dirty="0">
                          <a:solidFill>
                            <a:srgbClr val="4A453F"/>
                          </a:solidFill>
                          <a:latin typeface="맑은 고딕" pitchFamily="34" charset="0"/>
                          <a:ea typeface="맑은 고딕" pitchFamily="34" charset="-122"/>
                          <a:cs typeface="맑은 고딕" pitchFamily="34" charset="-120"/>
                        </a:rPr>
                        <a:t>기획료, 코디네이터, 운영인력(도슨트 2인 × 3개월)</a:t>
                      </a:r>
                      <a:endParaRPr lang="en-US" sz="950" dirty="0">
                        <a:latin typeface="맑은 고딕" charset="0"/>
                        <a:ea typeface="맑은 고딕" charset="0"/>
                        <a:cs typeface="맑은 고딕" charset="0"/>
                      </a:endParaRPr>
                    </a:p>
                  </a:txBody>
                  <a:tcPr marL="101600" marR="101600" marT="25400" marB="25400"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3F1ED"/>
                    </a:solidFill>
                  </a:tcPr>
                </a:tc>
                <a:tc>
                  <a:txBody>
                    <a:bodyPr/>
                    <a:lstStyle/>
                    <a:p>
                      <a:pPr algn="r" indent="0" marL="0">
                        <a:buNone/>
                      </a:pPr>
                      <a:r>
                        <a:rPr lang="en-US" sz="1050" b="1" dirty="0">
                          <a:solidFill>
                            <a:srgbClr val="1A1A1A"/>
                          </a:solidFill>
                          <a:latin typeface="맑은 고딕" pitchFamily="34" charset="0"/>
                          <a:ea typeface="맑은 고딕" pitchFamily="34" charset="-122"/>
                          <a:cs typeface="맑은 고딕" pitchFamily="34" charset="-120"/>
                        </a:rPr>
                        <a:t>10,000</a:t>
                      </a:r>
                      <a:endParaRPr lang="en-US" sz="1050" dirty="0">
                        <a:latin typeface="맑은 고딕" charset="0"/>
                        <a:ea typeface="맑은 고딕" charset="0"/>
                        <a:cs typeface="맑은 고딕" charset="0"/>
                      </a:endParaRPr>
                    </a:p>
                  </a:txBody>
                  <a:tcPr marL="101600" marR="101600" marT="25400" marB="25400"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3F1ED"/>
                    </a:solidFill>
                  </a:tcPr>
                </a:tc>
                <a:tc>
                  <a:txBody>
                    <a:bodyPr/>
                    <a:lstStyle/>
                    <a:p>
                      <a:pPr algn="r" indent="0" marL="0">
                        <a:buNone/>
                      </a:pPr>
                      <a:r>
                        <a:rPr lang="en-US" sz="950" dirty="0">
                          <a:solidFill>
                            <a:srgbClr val="8A857E"/>
                          </a:solidFill>
                          <a:latin typeface="맑은 고딕" pitchFamily="34" charset="0"/>
                          <a:ea typeface="맑은 고딕" pitchFamily="34" charset="-122"/>
                          <a:cs typeface="맑은 고딕" pitchFamily="34" charset="-120"/>
                        </a:rPr>
                        <a:t>12.5%</a:t>
                      </a:r>
                      <a:endParaRPr lang="en-US" sz="950" dirty="0">
                        <a:latin typeface="맑은 고딕" charset="0"/>
                        <a:ea typeface="맑은 고딕" charset="0"/>
                        <a:cs typeface="맑은 고딕" charset="0"/>
                      </a:endParaRPr>
                    </a:p>
                  </a:txBody>
                  <a:tcPr marL="101600" marR="101600" marT="25400" marB="25400"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3F1ED"/>
                    </a:solidFill>
                  </a:tcPr>
                </a:tc>
              </a:tr>
              <a:tr h="292608">
                <a:tc>
                  <a:txBody>
                    <a:bodyPr/>
                    <a:lstStyle/>
                    <a:p>
                      <a:pPr algn="ctr" indent="0" marL="0">
                        <a:buNone/>
                      </a:pPr>
                      <a:r>
                        <a:rPr lang="en-US" sz="1000" dirty="0">
                          <a:solidFill>
                            <a:srgbClr val="8A857E"/>
                          </a:solidFill>
                          <a:latin typeface="Cambria" pitchFamily="34" charset="0"/>
                          <a:ea typeface="Cambria" pitchFamily="34" charset="-122"/>
                          <a:cs typeface="Cambria" pitchFamily="34" charset="-120"/>
                        </a:rPr>
                        <a:t>02</a:t>
                      </a:r>
                      <a:endParaRPr lang="en-US" sz="1000" dirty="0">
                        <a:latin typeface="Cambria" charset="0"/>
                        <a:ea typeface="Cambria" charset="0"/>
                        <a:cs typeface="Cambria" charset="0"/>
                      </a:endParaRPr>
                    </a:p>
                  </a:txBody>
                  <a:tcPr marL="101600" marR="101600" marT="25400" marB="25400"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3F1ED"/>
                    </a:solidFill>
                  </a:tcPr>
                </a:tc>
                <a:tc>
                  <a:txBody>
                    <a:bodyPr/>
                    <a:lstStyle/>
                    <a:p>
                      <a:pPr indent="0" marL="0">
                        <a:buNone/>
                      </a:pPr>
                      <a:r>
                        <a:rPr lang="en-US" sz="1050" b="1" dirty="0">
                          <a:solidFill>
                            <a:srgbClr val="1A1A1A"/>
                          </a:solidFill>
                          <a:latin typeface="맑은 고딕" pitchFamily="34" charset="0"/>
                          <a:ea typeface="맑은 고딕" pitchFamily="34" charset="-122"/>
                          <a:cs typeface="맑은 고딕" pitchFamily="34" charset="-120"/>
                        </a:rPr>
                        <a:t>작가 사례비·창작지원금</a:t>
                      </a:r>
                      <a:endParaRPr lang="en-US" sz="1050" dirty="0">
                        <a:latin typeface="맑은 고딕" charset="0"/>
                        <a:ea typeface="맑은 고딕" charset="0"/>
                        <a:cs typeface="맑은 고딕" charset="0"/>
                      </a:endParaRPr>
                    </a:p>
                  </a:txBody>
                  <a:tcPr marL="101600" marR="101600" marT="25400" marB="25400"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3F1ED"/>
                    </a:solidFill>
                  </a:tcPr>
                </a:tc>
                <a:tc>
                  <a:txBody>
                    <a:bodyPr/>
                    <a:lstStyle/>
                    <a:p>
                      <a:pPr indent="0" marL="0">
                        <a:buNone/>
                      </a:pPr>
                      <a:r>
                        <a:rPr lang="en-US" sz="950" dirty="0">
                          <a:solidFill>
                            <a:srgbClr val="4A453F"/>
                          </a:solidFill>
                          <a:latin typeface="맑은 고딕" pitchFamily="34" charset="0"/>
                          <a:ea typeface="맑은 고딕" pitchFamily="34" charset="-122"/>
                          <a:cs typeface="맑은 고딕" pitchFamily="34" charset="-120"/>
                        </a:rPr>
                        <a:t>7인·팀 / 표준계약 준수, 사례비·재료비 분리</a:t>
                      </a:r>
                      <a:endParaRPr lang="en-US" sz="950" dirty="0">
                        <a:latin typeface="맑은 고딕" charset="0"/>
                        <a:ea typeface="맑은 고딕" charset="0"/>
                        <a:cs typeface="맑은 고딕" charset="0"/>
                      </a:endParaRPr>
                    </a:p>
                  </a:txBody>
                  <a:tcPr marL="101600" marR="101600" marT="25400" marB="25400"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3F1ED"/>
                    </a:solidFill>
                  </a:tcPr>
                </a:tc>
                <a:tc>
                  <a:txBody>
                    <a:bodyPr/>
                    <a:lstStyle/>
                    <a:p>
                      <a:pPr algn="r" indent="0" marL="0">
                        <a:buNone/>
                      </a:pPr>
                      <a:r>
                        <a:rPr lang="en-US" sz="1050" b="1" dirty="0">
                          <a:solidFill>
                            <a:srgbClr val="1A1A1A"/>
                          </a:solidFill>
                          <a:latin typeface="맑은 고딕" pitchFamily="34" charset="0"/>
                          <a:ea typeface="맑은 고딕" pitchFamily="34" charset="-122"/>
                          <a:cs typeface="맑은 고딕" pitchFamily="34" charset="-120"/>
                        </a:rPr>
                        <a:t>13,000</a:t>
                      </a:r>
                      <a:endParaRPr lang="en-US" sz="1050" dirty="0">
                        <a:latin typeface="맑은 고딕" charset="0"/>
                        <a:ea typeface="맑은 고딕" charset="0"/>
                        <a:cs typeface="맑은 고딕" charset="0"/>
                      </a:endParaRPr>
                    </a:p>
                  </a:txBody>
                  <a:tcPr marL="101600" marR="101600" marT="25400" marB="25400"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3F1ED"/>
                    </a:solidFill>
                  </a:tcPr>
                </a:tc>
                <a:tc>
                  <a:txBody>
                    <a:bodyPr/>
                    <a:lstStyle/>
                    <a:p>
                      <a:pPr algn="r" indent="0" marL="0">
                        <a:buNone/>
                      </a:pPr>
                      <a:r>
                        <a:rPr lang="en-US" sz="950" dirty="0">
                          <a:solidFill>
                            <a:srgbClr val="8A857E"/>
                          </a:solidFill>
                          <a:latin typeface="맑은 고딕" pitchFamily="34" charset="0"/>
                          <a:ea typeface="맑은 고딕" pitchFamily="34" charset="-122"/>
                          <a:cs typeface="맑은 고딕" pitchFamily="34" charset="-120"/>
                        </a:rPr>
                        <a:t>16.3%</a:t>
                      </a:r>
                      <a:endParaRPr lang="en-US" sz="950" dirty="0">
                        <a:latin typeface="맑은 고딕" charset="0"/>
                        <a:ea typeface="맑은 고딕" charset="0"/>
                        <a:cs typeface="맑은 고딕" charset="0"/>
                      </a:endParaRPr>
                    </a:p>
                  </a:txBody>
                  <a:tcPr marL="101600" marR="101600" marT="25400" marB="25400"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3F1ED"/>
                    </a:solidFill>
                  </a:tcPr>
                </a:tc>
              </a:tr>
              <a:tr h="292608">
                <a:tc>
                  <a:txBody>
                    <a:bodyPr/>
                    <a:lstStyle/>
                    <a:p>
                      <a:pPr algn="ctr" indent="0" marL="0">
                        <a:buNone/>
                      </a:pPr>
                      <a:r>
                        <a:rPr lang="en-US" sz="1000" dirty="0">
                          <a:solidFill>
                            <a:srgbClr val="8A857E"/>
                          </a:solidFill>
                          <a:latin typeface="Cambria" pitchFamily="34" charset="0"/>
                          <a:ea typeface="Cambria" pitchFamily="34" charset="-122"/>
                          <a:cs typeface="Cambria" pitchFamily="34" charset="-120"/>
                        </a:rPr>
                        <a:t>03</a:t>
                      </a:r>
                      <a:endParaRPr lang="en-US" sz="1000" dirty="0">
                        <a:latin typeface="Cambria" charset="0"/>
                        <a:ea typeface="Cambria" charset="0"/>
                        <a:cs typeface="Cambria" charset="0"/>
                      </a:endParaRPr>
                    </a:p>
                  </a:txBody>
                  <a:tcPr marL="101600" marR="101600" marT="25400" marB="25400"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3F1ED"/>
                    </a:solidFill>
                  </a:tcPr>
                </a:tc>
                <a:tc>
                  <a:txBody>
                    <a:bodyPr/>
                    <a:lstStyle/>
                    <a:p>
                      <a:pPr indent="0" marL="0">
                        <a:buNone/>
                      </a:pPr>
                      <a:r>
                        <a:rPr lang="en-US" sz="1050" b="1" dirty="0">
                          <a:solidFill>
                            <a:srgbClr val="1A1A1A"/>
                          </a:solidFill>
                          <a:latin typeface="맑은 고딕" pitchFamily="34" charset="0"/>
                          <a:ea typeface="맑은 고딕" pitchFamily="34" charset="-122"/>
                          <a:cs typeface="맑은 고딕" pitchFamily="34" charset="-120"/>
                        </a:rPr>
                        <a:t>작품 제작·설치비</a:t>
                      </a:r>
                      <a:endParaRPr lang="en-US" sz="1050" dirty="0">
                        <a:latin typeface="맑은 고딕" charset="0"/>
                        <a:ea typeface="맑은 고딕" charset="0"/>
                        <a:cs typeface="맑은 고딕" charset="0"/>
                      </a:endParaRPr>
                    </a:p>
                  </a:txBody>
                  <a:tcPr marL="101600" marR="101600" marT="25400" marB="25400"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3F1ED"/>
                    </a:solidFill>
                  </a:tcPr>
                </a:tc>
                <a:tc>
                  <a:txBody>
                    <a:bodyPr/>
                    <a:lstStyle/>
                    <a:p>
                      <a:pPr indent="0" marL="0">
                        <a:buNone/>
                      </a:pPr>
                      <a:r>
                        <a:rPr lang="en-US" sz="950" dirty="0">
                          <a:solidFill>
                            <a:srgbClr val="4A453F"/>
                          </a:solidFill>
                          <a:latin typeface="맑은 고딕" pitchFamily="34" charset="0"/>
                          <a:ea typeface="맑은 고딕" pitchFamily="34" charset="-122"/>
                          <a:cs typeface="맑은 고딕" pitchFamily="34" charset="-120"/>
                        </a:rPr>
                        <a:t>신작 제작 지원, 원단 수집·가공, 설치 인력</a:t>
                      </a:r>
                      <a:endParaRPr lang="en-US" sz="950" dirty="0">
                        <a:latin typeface="맑은 고딕" charset="0"/>
                        <a:ea typeface="맑은 고딕" charset="0"/>
                        <a:cs typeface="맑은 고딕" charset="0"/>
                      </a:endParaRPr>
                    </a:p>
                  </a:txBody>
                  <a:tcPr marL="101600" marR="101600" marT="25400" marB="25400"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3F1ED"/>
                    </a:solidFill>
                  </a:tcPr>
                </a:tc>
                <a:tc>
                  <a:txBody>
                    <a:bodyPr/>
                    <a:lstStyle/>
                    <a:p>
                      <a:pPr algn="r" indent="0" marL="0">
                        <a:buNone/>
                      </a:pPr>
                      <a:r>
                        <a:rPr lang="en-US" sz="1050" b="1" dirty="0">
                          <a:solidFill>
                            <a:srgbClr val="1A1A1A"/>
                          </a:solidFill>
                          <a:latin typeface="맑은 고딕" pitchFamily="34" charset="0"/>
                          <a:ea typeface="맑은 고딕" pitchFamily="34" charset="-122"/>
                          <a:cs typeface="맑은 고딕" pitchFamily="34" charset="-120"/>
                        </a:rPr>
                        <a:t>15,000</a:t>
                      </a:r>
                      <a:endParaRPr lang="en-US" sz="1050" dirty="0">
                        <a:latin typeface="맑은 고딕" charset="0"/>
                        <a:ea typeface="맑은 고딕" charset="0"/>
                        <a:cs typeface="맑은 고딕" charset="0"/>
                      </a:endParaRPr>
                    </a:p>
                  </a:txBody>
                  <a:tcPr marL="101600" marR="101600" marT="25400" marB="25400"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3F1ED"/>
                    </a:solidFill>
                  </a:tcPr>
                </a:tc>
                <a:tc>
                  <a:txBody>
                    <a:bodyPr/>
                    <a:lstStyle/>
                    <a:p>
                      <a:pPr algn="r" indent="0" marL="0">
                        <a:buNone/>
                      </a:pPr>
                      <a:r>
                        <a:rPr lang="en-US" sz="950" dirty="0">
                          <a:solidFill>
                            <a:srgbClr val="8A857E"/>
                          </a:solidFill>
                          <a:latin typeface="맑은 고딕" pitchFamily="34" charset="0"/>
                          <a:ea typeface="맑은 고딕" pitchFamily="34" charset="-122"/>
                          <a:cs typeface="맑은 고딕" pitchFamily="34" charset="-120"/>
                        </a:rPr>
                        <a:t>18.8%</a:t>
                      </a:r>
                      <a:endParaRPr lang="en-US" sz="950" dirty="0">
                        <a:latin typeface="맑은 고딕" charset="0"/>
                        <a:ea typeface="맑은 고딕" charset="0"/>
                        <a:cs typeface="맑은 고딕" charset="0"/>
                      </a:endParaRPr>
                    </a:p>
                  </a:txBody>
                  <a:tcPr marL="101600" marR="101600" marT="25400" marB="25400"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3F1ED"/>
                    </a:solidFill>
                  </a:tcPr>
                </a:tc>
              </a:tr>
              <a:tr h="292608">
                <a:tc>
                  <a:txBody>
                    <a:bodyPr/>
                    <a:lstStyle/>
                    <a:p>
                      <a:pPr algn="ctr" indent="0" marL="0">
                        <a:buNone/>
                      </a:pPr>
                      <a:r>
                        <a:rPr lang="en-US" sz="1000" dirty="0">
                          <a:solidFill>
                            <a:srgbClr val="8A857E"/>
                          </a:solidFill>
                          <a:latin typeface="Cambria" pitchFamily="34" charset="0"/>
                          <a:ea typeface="Cambria" pitchFamily="34" charset="-122"/>
                          <a:cs typeface="Cambria" pitchFamily="34" charset="-120"/>
                        </a:rPr>
                        <a:t>04</a:t>
                      </a:r>
                      <a:endParaRPr lang="en-US" sz="1000" dirty="0">
                        <a:latin typeface="Cambria" charset="0"/>
                        <a:ea typeface="Cambria" charset="0"/>
                        <a:cs typeface="Cambria" charset="0"/>
                      </a:endParaRPr>
                    </a:p>
                  </a:txBody>
                  <a:tcPr marL="101600" marR="101600" marT="25400" marB="25400"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3F1ED"/>
                    </a:solidFill>
                  </a:tcPr>
                </a:tc>
                <a:tc>
                  <a:txBody>
                    <a:bodyPr/>
                    <a:lstStyle/>
                    <a:p>
                      <a:pPr indent="0" marL="0">
                        <a:buNone/>
                      </a:pPr>
                      <a:r>
                        <a:rPr lang="en-US" sz="1050" b="1" dirty="0">
                          <a:solidFill>
                            <a:srgbClr val="1A1A1A"/>
                          </a:solidFill>
                          <a:latin typeface="맑은 고딕" pitchFamily="34" charset="0"/>
                          <a:ea typeface="맑은 고딕" pitchFamily="34" charset="-122"/>
                          <a:cs typeface="맑은 고딕" pitchFamily="34" charset="-120"/>
                        </a:rPr>
                        <a:t>미디어·기술 구현</a:t>
                      </a:r>
                      <a:endParaRPr lang="en-US" sz="1050" dirty="0">
                        <a:latin typeface="맑은 고딕" charset="0"/>
                        <a:ea typeface="맑은 고딕" charset="0"/>
                        <a:cs typeface="맑은 고딕" charset="0"/>
                      </a:endParaRPr>
                    </a:p>
                  </a:txBody>
                  <a:tcPr marL="101600" marR="101600" marT="25400" marB="25400"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3F1ED"/>
                    </a:solidFill>
                  </a:tcPr>
                </a:tc>
                <a:tc>
                  <a:txBody>
                    <a:bodyPr/>
                    <a:lstStyle/>
                    <a:p>
                      <a:pPr indent="0" marL="0">
                        <a:buNone/>
                      </a:pPr>
                      <a:r>
                        <a:rPr lang="en-US" sz="950" dirty="0">
                          <a:solidFill>
                            <a:srgbClr val="4A453F"/>
                          </a:solidFill>
                          <a:latin typeface="맑은 고딕" pitchFamily="34" charset="0"/>
                          <a:ea typeface="맑은 고딕" pitchFamily="34" charset="-122"/>
                          <a:cs typeface="맑은 고딕" pitchFamily="34" charset="-120"/>
                        </a:rPr>
                        <a:t>프로젝터·서버 임차, 프로그래밍, 8채널 사운드, 수음</a:t>
                      </a:r>
                      <a:endParaRPr lang="en-US" sz="950" dirty="0">
                        <a:latin typeface="맑은 고딕" charset="0"/>
                        <a:ea typeface="맑은 고딕" charset="0"/>
                        <a:cs typeface="맑은 고딕" charset="0"/>
                      </a:endParaRPr>
                    </a:p>
                  </a:txBody>
                  <a:tcPr marL="101600" marR="101600" marT="25400" marB="25400"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3F1ED"/>
                    </a:solidFill>
                  </a:tcPr>
                </a:tc>
                <a:tc>
                  <a:txBody>
                    <a:bodyPr/>
                    <a:lstStyle/>
                    <a:p>
                      <a:pPr algn="r" indent="0" marL="0">
                        <a:buNone/>
                      </a:pPr>
                      <a:r>
                        <a:rPr lang="en-US" sz="1050" b="1" dirty="0">
                          <a:solidFill>
                            <a:srgbClr val="1A1A1A"/>
                          </a:solidFill>
                          <a:latin typeface="맑은 고딕" pitchFamily="34" charset="0"/>
                          <a:ea typeface="맑은 고딕" pitchFamily="34" charset="-122"/>
                          <a:cs typeface="맑은 고딕" pitchFamily="34" charset="-120"/>
                        </a:rPr>
                        <a:t>13,000</a:t>
                      </a:r>
                      <a:endParaRPr lang="en-US" sz="1050" dirty="0">
                        <a:latin typeface="맑은 고딕" charset="0"/>
                        <a:ea typeface="맑은 고딕" charset="0"/>
                        <a:cs typeface="맑은 고딕" charset="0"/>
                      </a:endParaRPr>
                    </a:p>
                  </a:txBody>
                  <a:tcPr marL="101600" marR="101600" marT="25400" marB="25400"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3F1ED"/>
                    </a:solidFill>
                  </a:tcPr>
                </a:tc>
                <a:tc>
                  <a:txBody>
                    <a:bodyPr/>
                    <a:lstStyle/>
                    <a:p>
                      <a:pPr algn="r" indent="0" marL="0">
                        <a:buNone/>
                      </a:pPr>
                      <a:r>
                        <a:rPr lang="en-US" sz="950" dirty="0">
                          <a:solidFill>
                            <a:srgbClr val="8A857E"/>
                          </a:solidFill>
                          <a:latin typeface="맑은 고딕" pitchFamily="34" charset="0"/>
                          <a:ea typeface="맑은 고딕" pitchFamily="34" charset="-122"/>
                          <a:cs typeface="맑은 고딕" pitchFamily="34" charset="-120"/>
                        </a:rPr>
                        <a:t>16.3%</a:t>
                      </a:r>
                      <a:endParaRPr lang="en-US" sz="950" dirty="0">
                        <a:latin typeface="맑은 고딕" charset="0"/>
                        <a:ea typeface="맑은 고딕" charset="0"/>
                        <a:cs typeface="맑은 고딕" charset="0"/>
                      </a:endParaRPr>
                    </a:p>
                  </a:txBody>
                  <a:tcPr marL="101600" marR="101600" marT="25400" marB="25400"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3F1ED"/>
                    </a:solidFill>
                  </a:tcPr>
                </a:tc>
              </a:tr>
              <a:tr h="292608">
                <a:tc>
                  <a:txBody>
                    <a:bodyPr/>
                    <a:lstStyle/>
                    <a:p>
                      <a:pPr algn="ctr" indent="0" marL="0">
                        <a:buNone/>
                      </a:pPr>
                      <a:r>
                        <a:rPr lang="en-US" sz="1000" dirty="0">
                          <a:solidFill>
                            <a:srgbClr val="8A857E"/>
                          </a:solidFill>
                          <a:latin typeface="Cambria" pitchFamily="34" charset="0"/>
                          <a:ea typeface="Cambria" pitchFamily="34" charset="-122"/>
                          <a:cs typeface="Cambria" pitchFamily="34" charset="-120"/>
                        </a:rPr>
                        <a:t>05</a:t>
                      </a:r>
                      <a:endParaRPr lang="en-US" sz="1000" dirty="0">
                        <a:latin typeface="Cambria" charset="0"/>
                        <a:ea typeface="Cambria" charset="0"/>
                        <a:cs typeface="Cambria" charset="0"/>
                      </a:endParaRPr>
                    </a:p>
                  </a:txBody>
                  <a:tcPr marL="101600" marR="101600" marT="25400" marB="25400"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3F1ED"/>
                    </a:solidFill>
                  </a:tcPr>
                </a:tc>
                <a:tc>
                  <a:txBody>
                    <a:bodyPr/>
                    <a:lstStyle/>
                    <a:p>
                      <a:pPr indent="0" marL="0">
                        <a:buNone/>
                      </a:pPr>
                      <a:r>
                        <a:rPr lang="en-US" sz="1050" b="1" dirty="0">
                          <a:solidFill>
                            <a:srgbClr val="1A1A1A"/>
                          </a:solidFill>
                          <a:latin typeface="맑은 고딕" pitchFamily="34" charset="0"/>
                          <a:ea typeface="맑은 고딕" pitchFamily="34" charset="-122"/>
                          <a:cs typeface="맑은 고딕" pitchFamily="34" charset="-120"/>
                        </a:rPr>
                        <a:t>공간 조성·가벽·안전보강</a:t>
                      </a:r>
                      <a:endParaRPr lang="en-US" sz="1050" dirty="0">
                        <a:latin typeface="맑은 고딕" charset="0"/>
                        <a:ea typeface="맑은 고딕" charset="0"/>
                        <a:cs typeface="맑은 고딕" charset="0"/>
                      </a:endParaRPr>
                    </a:p>
                  </a:txBody>
                  <a:tcPr marL="101600" marR="101600" marT="25400" marB="25400"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3F1ED"/>
                    </a:solidFill>
                  </a:tcPr>
                </a:tc>
                <a:tc>
                  <a:txBody>
                    <a:bodyPr/>
                    <a:lstStyle/>
                    <a:p>
                      <a:pPr indent="0" marL="0">
                        <a:buNone/>
                      </a:pPr>
                      <a:r>
                        <a:rPr lang="en-US" sz="950" dirty="0">
                          <a:solidFill>
                            <a:srgbClr val="4A453F"/>
                          </a:solidFill>
                          <a:latin typeface="맑은 고딕" pitchFamily="34" charset="0"/>
                          <a:ea typeface="맑은 고딕" pitchFamily="34" charset="-122"/>
                          <a:cs typeface="맑은 고딕" pitchFamily="34" charset="-120"/>
                        </a:rPr>
                        <a:t>가벽 렌탈 12매, 조명·전기 증설, 소방·안전 보강</a:t>
                      </a:r>
                      <a:endParaRPr lang="en-US" sz="950" dirty="0">
                        <a:latin typeface="맑은 고딕" charset="0"/>
                        <a:ea typeface="맑은 고딕" charset="0"/>
                        <a:cs typeface="맑은 고딕" charset="0"/>
                      </a:endParaRPr>
                    </a:p>
                  </a:txBody>
                  <a:tcPr marL="101600" marR="101600" marT="25400" marB="25400"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3F1ED"/>
                    </a:solidFill>
                  </a:tcPr>
                </a:tc>
                <a:tc>
                  <a:txBody>
                    <a:bodyPr/>
                    <a:lstStyle/>
                    <a:p>
                      <a:pPr algn="r" indent="0" marL="0">
                        <a:buNone/>
                      </a:pPr>
                      <a:r>
                        <a:rPr lang="en-US" sz="1050" b="1" dirty="0">
                          <a:solidFill>
                            <a:srgbClr val="1A1A1A"/>
                          </a:solidFill>
                          <a:latin typeface="맑은 고딕" pitchFamily="34" charset="0"/>
                          <a:ea typeface="맑은 고딕" pitchFamily="34" charset="-122"/>
                          <a:cs typeface="맑은 고딕" pitchFamily="34" charset="-120"/>
                        </a:rPr>
                        <a:t>6,000</a:t>
                      </a:r>
                      <a:endParaRPr lang="en-US" sz="1050" dirty="0">
                        <a:latin typeface="맑은 고딕" charset="0"/>
                        <a:ea typeface="맑은 고딕" charset="0"/>
                        <a:cs typeface="맑은 고딕" charset="0"/>
                      </a:endParaRPr>
                    </a:p>
                  </a:txBody>
                  <a:tcPr marL="101600" marR="101600" marT="25400" marB="25400"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3F1ED"/>
                    </a:solidFill>
                  </a:tcPr>
                </a:tc>
                <a:tc>
                  <a:txBody>
                    <a:bodyPr/>
                    <a:lstStyle/>
                    <a:p>
                      <a:pPr algn="r" indent="0" marL="0">
                        <a:buNone/>
                      </a:pPr>
                      <a:r>
                        <a:rPr lang="en-US" sz="950" dirty="0">
                          <a:solidFill>
                            <a:srgbClr val="8A857E"/>
                          </a:solidFill>
                          <a:latin typeface="맑은 고딕" pitchFamily="34" charset="0"/>
                          <a:ea typeface="맑은 고딕" pitchFamily="34" charset="-122"/>
                          <a:cs typeface="맑은 고딕" pitchFamily="34" charset="-120"/>
                        </a:rPr>
                        <a:t>7.5%</a:t>
                      </a:r>
                      <a:endParaRPr lang="en-US" sz="950" dirty="0">
                        <a:latin typeface="맑은 고딕" charset="0"/>
                        <a:ea typeface="맑은 고딕" charset="0"/>
                        <a:cs typeface="맑은 고딕" charset="0"/>
                      </a:endParaRPr>
                    </a:p>
                  </a:txBody>
                  <a:tcPr marL="101600" marR="101600" marT="25400" marB="25400"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3F1ED"/>
                    </a:solidFill>
                  </a:tcPr>
                </a:tc>
              </a:tr>
              <a:tr h="292608">
                <a:tc>
                  <a:txBody>
                    <a:bodyPr/>
                    <a:lstStyle/>
                    <a:p>
                      <a:pPr algn="ctr" indent="0" marL="0">
                        <a:buNone/>
                      </a:pPr>
                      <a:r>
                        <a:rPr lang="en-US" sz="1000" dirty="0">
                          <a:solidFill>
                            <a:srgbClr val="8A857E"/>
                          </a:solidFill>
                          <a:latin typeface="Cambria" pitchFamily="34" charset="0"/>
                          <a:ea typeface="Cambria" pitchFamily="34" charset="-122"/>
                          <a:cs typeface="Cambria" pitchFamily="34" charset="-120"/>
                        </a:rPr>
                        <a:t>06</a:t>
                      </a:r>
                      <a:endParaRPr lang="en-US" sz="1000" dirty="0">
                        <a:latin typeface="Cambria" charset="0"/>
                        <a:ea typeface="Cambria" charset="0"/>
                        <a:cs typeface="Cambria" charset="0"/>
                      </a:endParaRPr>
                    </a:p>
                  </a:txBody>
                  <a:tcPr marL="101600" marR="101600" marT="25400" marB="25400"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3F1ED"/>
                    </a:solidFill>
                  </a:tcPr>
                </a:tc>
                <a:tc>
                  <a:txBody>
                    <a:bodyPr/>
                    <a:lstStyle/>
                    <a:p>
                      <a:pPr indent="0" marL="0">
                        <a:buNone/>
                      </a:pPr>
                      <a:r>
                        <a:rPr lang="en-US" sz="1050" b="1" dirty="0">
                          <a:solidFill>
                            <a:srgbClr val="1A1A1A"/>
                          </a:solidFill>
                          <a:latin typeface="맑은 고딕" pitchFamily="34" charset="0"/>
                          <a:ea typeface="맑은 고딕" pitchFamily="34" charset="-122"/>
                          <a:cs typeface="맑은 고딕" pitchFamily="34" charset="-120"/>
                        </a:rPr>
                        <a:t>홍보·디자인·인쇄</a:t>
                      </a:r>
                      <a:endParaRPr lang="en-US" sz="1050" dirty="0">
                        <a:latin typeface="맑은 고딕" charset="0"/>
                        <a:ea typeface="맑은 고딕" charset="0"/>
                        <a:cs typeface="맑은 고딕" charset="0"/>
                      </a:endParaRPr>
                    </a:p>
                  </a:txBody>
                  <a:tcPr marL="101600" marR="101600" marT="25400" marB="25400"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3F1ED"/>
                    </a:solidFill>
                  </a:tcPr>
                </a:tc>
                <a:tc>
                  <a:txBody>
                    <a:bodyPr/>
                    <a:lstStyle/>
                    <a:p>
                      <a:pPr indent="0" marL="0">
                        <a:buNone/>
                      </a:pPr>
                      <a:r>
                        <a:rPr lang="en-US" sz="950" dirty="0">
                          <a:solidFill>
                            <a:srgbClr val="4A453F"/>
                          </a:solidFill>
                          <a:latin typeface="맑은 고딕" pitchFamily="34" charset="0"/>
                          <a:ea typeface="맑은 고딕" pitchFamily="34" charset="-122"/>
                          <a:cs typeface="맑은 고딕" pitchFamily="34" charset="-120"/>
                        </a:rPr>
                        <a:t>BI·포스터·사인·현수막, 숏폼 8편, 보도자료 4차</a:t>
                      </a:r>
                      <a:endParaRPr lang="en-US" sz="950" dirty="0">
                        <a:latin typeface="맑은 고딕" charset="0"/>
                        <a:ea typeface="맑은 고딕" charset="0"/>
                        <a:cs typeface="맑은 고딕" charset="0"/>
                      </a:endParaRPr>
                    </a:p>
                  </a:txBody>
                  <a:tcPr marL="101600" marR="101600" marT="25400" marB="25400"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3F1ED"/>
                    </a:solidFill>
                  </a:tcPr>
                </a:tc>
                <a:tc>
                  <a:txBody>
                    <a:bodyPr/>
                    <a:lstStyle/>
                    <a:p>
                      <a:pPr algn="r" indent="0" marL="0">
                        <a:buNone/>
                      </a:pPr>
                      <a:r>
                        <a:rPr lang="en-US" sz="1050" b="1" dirty="0">
                          <a:solidFill>
                            <a:srgbClr val="1A1A1A"/>
                          </a:solidFill>
                          <a:latin typeface="맑은 고딕" pitchFamily="34" charset="0"/>
                          <a:ea typeface="맑은 고딕" pitchFamily="34" charset="-122"/>
                          <a:cs typeface="맑은 고딕" pitchFamily="34" charset="-120"/>
                        </a:rPr>
                        <a:t>6,000</a:t>
                      </a:r>
                      <a:endParaRPr lang="en-US" sz="1050" dirty="0">
                        <a:latin typeface="맑은 고딕" charset="0"/>
                        <a:ea typeface="맑은 고딕" charset="0"/>
                        <a:cs typeface="맑은 고딕" charset="0"/>
                      </a:endParaRPr>
                    </a:p>
                  </a:txBody>
                  <a:tcPr marL="101600" marR="101600" marT="25400" marB="25400"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3F1ED"/>
                    </a:solidFill>
                  </a:tcPr>
                </a:tc>
                <a:tc>
                  <a:txBody>
                    <a:bodyPr/>
                    <a:lstStyle/>
                    <a:p>
                      <a:pPr algn="r" indent="0" marL="0">
                        <a:buNone/>
                      </a:pPr>
                      <a:r>
                        <a:rPr lang="en-US" sz="950" dirty="0">
                          <a:solidFill>
                            <a:srgbClr val="8A857E"/>
                          </a:solidFill>
                          <a:latin typeface="맑은 고딕" pitchFamily="34" charset="0"/>
                          <a:ea typeface="맑은 고딕" pitchFamily="34" charset="-122"/>
                          <a:cs typeface="맑은 고딕" pitchFamily="34" charset="-120"/>
                        </a:rPr>
                        <a:t>7.5%</a:t>
                      </a:r>
                      <a:endParaRPr lang="en-US" sz="950" dirty="0">
                        <a:latin typeface="맑은 고딕" charset="0"/>
                        <a:ea typeface="맑은 고딕" charset="0"/>
                        <a:cs typeface="맑은 고딕" charset="0"/>
                      </a:endParaRPr>
                    </a:p>
                  </a:txBody>
                  <a:tcPr marL="101600" marR="101600" marT="25400" marB="25400"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3F1ED"/>
                    </a:solidFill>
                  </a:tcPr>
                </a:tc>
              </a:tr>
              <a:tr h="292608">
                <a:tc>
                  <a:txBody>
                    <a:bodyPr/>
                    <a:lstStyle/>
                    <a:p>
                      <a:pPr algn="ctr" indent="0" marL="0">
                        <a:buNone/>
                      </a:pPr>
                      <a:r>
                        <a:rPr lang="en-US" sz="1000" dirty="0">
                          <a:solidFill>
                            <a:srgbClr val="8A857E"/>
                          </a:solidFill>
                          <a:latin typeface="Cambria" pitchFamily="34" charset="0"/>
                          <a:ea typeface="Cambria" pitchFamily="34" charset="-122"/>
                          <a:cs typeface="Cambria" pitchFamily="34" charset="-120"/>
                        </a:rPr>
                        <a:t>07</a:t>
                      </a:r>
                      <a:endParaRPr lang="en-US" sz="1000" dirty="0">
                        <a:latin typeface="Cambria" charset="0"/>
                        <a:ea typeface="Cambria" charset="0"/>
                        <a:cs typeface="Cambria" charset="0"/>
                      </a:endParaRPr>
                    </a:p>
                  </a:txBody>
                  <a:tcPr marL="101600" marR="101600" marT="25400" marB="25400"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3F1ED"/>
                    </a:solidFill>
                  </a:tcPr>
                </a:tc>
                <a:tc>
                  <a:txBody>
                    <a:bodyPr/>
                    <a:lstStyle/>
                    <a:p>
                      <a:pPr indent="0" marL="0">
                        <a:buNone/>
                      </a:pPr>
                      <a:r>
                        <a:rPr lang="en-US" sz="1050" b="1" dirty="0">
                          <a:solidFill>
                            <a:srgbClr val="1A1A1A"/>
                          </a:solidFill>
                          <a:latin typeface="맑은 고딕" pitchFamily="34" charset="0"/>
                          <a:ea typeface="맑은 고딕" pitchFamily="34" charset="-122"/>
                          <a:cs typeface="맑은 고딕" pitchFamily="34" charset="-120"/>
                        </a:rPr>
                        <a:t>지역연계 프로그램 운영</a:t>
                      </a:r>
                      <a:endParaRPr lang="en-US" sz="1050" dirty="0">
                        <a:latin typeface="맑은 고딕" charset="0"/>
                        <a:ea typeface="맑은 고딕" charset="0"/>
                        <a:cs typeface="맑은 고딕" charset="0"/>
                      </a:endParaRPr>
                    </a:p>
                  </a:txBody>
                  <a:tcPr marL="101600" marR="101600" marT="25400" marB="25400"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3F1ED"/>
                    </a:solidFill>
                  </a:tcPr>
                </a:tc>
                <a:tc>
                  <a:txBody>
                    <a:bodyPr/>
                    <a:lstStyle/>
                    <a:p>
                      <a:pPr indent="0" marL="0">
                        <a:buNone/>
                      </a:pPr>
                      <a:r>
                        <a:rPr lang="en-US" sz="950" dirty="0">
                          <a:solidFill>
                            <a:srgbClr val="4A453F"/>
                          </a:solidFill>
                          <a:latin typeface="맑은 고딕" pitchFamily="34" charset="0"/>
                          <a:ea typeface="맑은 고딕" pitchFamily="34" charset="-122"/>
                          <a:cs typeface="맑은 고딕" pitchFamily="34" charset="-120"/>
                        </a:rPr>
                        <a:t>7종 27회 재료비·강사비·투어 운영비</a:t>
                      </a:r>
                      <a:endParaRPr lang="en-US" sz="950" dirty="0">
                        <a:latin typeface="맑은 고딕" charset="0"/>
                        <a:ea typeface="맑은 고딕" charset="0"/>
                        <a:cs typeface="맑은 고딕" charset="0"/>
                      </a:endParaRPr>
                    </a:p>
                  </a:txBody>
                  <a:tcPr marL="101600" marR="101600" marT="25400" marB="25400"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3F1ED"/>
                    </a:solidFill>
                  </a:tcPr>
                </a:tc>
                <a:tc>
                  <a:txBody>
                    <a:bodyPr/>
                    <a:lstStyle/>
                    <a:p>
                      <a:pPr algn="r" indent="0" marL="0">
                        <a:buNone/>
                      </a:pPr>
                      <a:r>
                        <a:rPr lang="en-US" sz="1050" b="1" dirty="0">
                          <a:solidFill>
                            <a:srgbClr val="1A1A1A"/>
                          </a:solidFill>
                          <a:latin typeface="맑은 고딕" pitchFamily="34" charset="0"/>
                          <a:ea typeface="맑은 고딕" pitchFamily="34" charset="-122"/>
                          <a:cs typeface="맑은 고딕" pitchFamily="34" charset="-120"/>
                        </a:rPr>
                        <a:t>7,000</a:t>
                      </a:r>
                      <a:endParaRPr lang="en-US" sz="1050" dirty="0">
                        <a:latin typeface="맑은 고딕" charset="0"/>
                        <a:ea typeface="맑은 고딕" charset="0"/>
                        <a:cs typeface="맑은 고딕" charset="0"/>
                      </a:endParaRPr>
                    </a:p>
                  </a:txBody>
                  <a:tcPr marL="101600" marR="101600" marT="25400" marB="25400"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3F1ED"/>
                    </a:solidFill>
                  </a:tcPr>
                </a:tc>
                <a:tc>
                  <a:txBody>
                    <a:bodyPr/>
                    <a:lstStyle/>
                    <a:p>
                      <a:pPr algn="r" indent="0" marL="0">
                        <a:buNone/>
                      </a:pPr>
                      <a:r>
                        <a:rPr lang="en-US" sz="950" dirty="0">
                          <a:solidFill>
                            <a:srgbClr val="8A857E"/>
                          </a:solidFill>
                          <a:latin typeface="맑은 고딕" pitchFamily="34" charset="0"/>
                          <a:ea typeface="맑은 고딕" pitchFamily="34" charset="-122"/>
                          <a:cs typeface="맑은 고딕" pitchFamily="34" charset="-120"/>
                        </a:rPr>
                        <a:t>8.8%</a:t>
                      </a:r>
                      <a:endParaRPr lang="en-US" sz="950" dirty="0">
                        <a:latin typeface="맑은 고딕" charset="0"/>
                        <a:ea typeface="맑은 고딕" charset="0"/>
                        <a:cs typeface="맑은 고딕" charset="0"/>
                      </a:endParaRPr>
                    </a:p>
                  </a:txBody>
                  <a:tcPr marL="101600" marR="101600" marT="25400" marB="25400"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3F1ED"/>
                    </a:solidFill>
                  </a:tcPr>
                </a:tc>
              </a:tr>
              <a:tr h="292608">
                <a:tc>
                  <a:txBody>
                    <a:bodyPr/>
                    <a:lstStyle/>
                    <a:p>
                      <a:pPr algn="ctr" indent="0" marL="0">
                        <a:buNone/>
                      </a:pPr>
                      <a:r>
                        <a:rPr lang="en-US" sz="1000" dirty="0">
                          <a:solidFill>
                            <a:srgbClr val="8A857E"/>
                          </a:solidFill>
                          <a:latin typeface="Cambria" pitchFamily="34" charset="0"/>
                          <a:ea typeface="Cambria" pitchFamily="34" charset="-122"/>
                          <a:cs typeface="Cambria" pitchFamily="34" charset="-120"/>
                        </a:rPr>
                        <a:t>08</a:t>
                      </a:r>
                      <a:endParaRPr lang="en-US" sz="1000" dirty="0">
                        <a:latin typeface="Cambria" charset="0"/>
                        <a:ea typeface="Cambria" charset="0"/>
                        <a:cs typeface="Cambria" charset="0"/>
                      </a:endParaRPr>
                    </a:p>
                  </a:txBody>
                  <a:tcPr marL="101600" marR="101600" marT="25400" marB="25400"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3F1ED"/>
                    </a:solidFill>
                  </a:tcPr>
                </a:tc>
                <a:tc>
                  <a:txBody>
                    <a:bodyPr/>
                    <a:lstStyle/>
                    <a:p>
                      <a:pPr indent="0" marL="0">
                        <a:buNone/>
                      </a:pPr>
                      <a:r>
                        <a:rPr lang="en-US" sz="1050" b="1" dirty="0">
                          <a:solidFill>
                            <a:srgbClr val="1A1A1A"/>
                          </a:solidFill>
                          <a:latin typeface="맑은 고딕" pitchFamily="34" charset="0"/>
                          <a:ea typeface="맑은 고딕" pitchFamily="34" charset="-122"/>
                          <a:cs typeface="맑은 고딕" pitchFamily="34" charset="-120"/>
                        </a:rPr>
                        <a:t>도록·아카이브 구축</a:t>
                      </a:r>
                      <a:endParaRPr lang="en-US" sz="1050" dirty="0">
                        <a:latin typeface="맑은 고딕" charset="0"/>
                        <a:ea typeface="맑은 고딕" charset="0"/>
                        <a:cs typeface="맑은 고딕" charset="0"/>
                      </a:endParaRPr>
                    </a:p>
                  </a:txBody>
                  <a:tcPr marL="101600" marR="101600" marT="25400" marB="25400"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3F1ED"/>
                    </a:solidFill>
                  </a:tcPr>
                </a:tc>
                <a:tc>
                  <a:txBody>
                    <a:bodyPr/>
                    <a:lstStyle/>
                    <a:p>
                      <a:pPr indent="0" marL="0">
                        <a:buNone/>
                      </a:pPr>
                      <a:r>
                        <a:rPr lang="en-US" sz="950" dirty="0">
                          <a:solidFill>
                            <a:srgbClr val="4A453F"/>
                          </a:solidFill>
                          <a:latin typeface="맑은 고딕" pitchFamily="34" charset="0"/>
                          <a:ea typeface="맑은 고딕" pitchFamily="34" charset="-122"/>
                          <a:cs typeface="맑은 고딕" pitchFamily="34" charset="-120"/>
                        </a:rPr>
                        <a:t>도록 300부, 비평문 3편, 웹 아카이브 구축·번역</a:t>
                      </a:r>
                      <a:endParaRPr lang="en-US" sz="950" dirty="0">
                        <a:latin typeface="맑은 고딕" charset="0"/>
                        <a:ea typeface="맑은 고딕" charset="0"/>
                        <a:cs typeface="맑은 고딕" charset="0"/>
                      </a:endParaRPr>
                    </a:p>
                  </a:txBody>
                  <a:tcPr marL="101600" marR="101600" marT="25400" marB="25400"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3F1ED"/>
                    </a:solidFill>
                  </a:tcPr>
                </a:tc>
                <a:tc>
                  <a:txBody>
                    <a:bodyPr/>
                    <a:lstStyle/>
                    <a:p>
                      <a:pPr algn="r" indent="0" marL="0">
                        <a:buNone/>
                      </a:pPr>
                      <a:r>
                        <a:rPr lang="en-US" sz="1050" b="1" dirty="0">
                          <a:solidFill>
                            <a:srgbClr val="1A1A1A"/>
                          </a:solidFill>
                          <a:latin typeface="맑은 고딕" pitchFamily="34" charset="0"/>
                          <a:ea typeface="맑은 고딕" pitchFamily="34" charset="-122"/>
                          <a:cs typeface="맑은 고딕" pitchFamily="34" charset="-120"/>
                        </a:rPr>
                        <a:t>4,500</a:t>
                      </a:r>
                      <a:endParaRPr lang="en-US" sz="1050" dirty="0">
                        <a:latin typeface="맑은 고딕" charset="0"/>
                        <a:ea typeface="맑은 고딕" charset="0"/>
                        <a:cs typeface="맑은 고딕" charset="0"/>
                      </a:endParaRPr>
                    </a:p>
                  </a:txBody>
                  <a:tcPr marL="101600" marR="101600" marT="25400" marB="25400"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3F1ED"/>
                    </a:solidFill>
                  </a:tcPr>
                </a:tc>
                <a:tc>
                  <a:txBody>
                    <a:bodyPr/>
                    <a:lstStyle/>
                    <a:p>
                      <a:pPr algn="r" indent="0" marL="0">
                        <a:buNone/>
                      </a:pPr>
                      <a:r>
                        <a:rPr lang="en-US" sz="950" dirty="0">
                          <a:solidFill>
                            <a:srgbClr val="8A857E"/>
                          </a:solidFill>
                          <a:latin typeface="맑은 고딕" pitchFamily="34" charset="0"/>
                          <a:ea typeface="맑은 고딕" pitchFamily="34" charset="-122"/>
                          <a:cs typeface="맑은 고딕" pitchFamily="34" charset="-120"/>
                        </a:rPr>
                        <a:t>5.6%</a:t>
                      </a:r>
                      <a:endParaRPr lang="en-US" sz="950" dirty="0">
                        <a:latin typeface="맑은 고딕" charset="0"/>
                        <a:ea typeface="맑은 고딕" charset="0"/>
                        <a:cs typeface="맑은 고딕" charset="0"/>
                      </a:endParaRPr>
                    </a:p>
                  </a:txBody>
                  <a:tcPr marL="101600" marR="101600" marT="25400" marB="25400"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3F1ED"/>
                    </a:solidFill>
                  </a:tcPr>
                </a:tc>
              </a:tr>
              <a:tr h="292608">
                <a:tc>
                  <a:txBody>
                    <a:bodyPr/>
                    <a:lstStyle/>
                    <a:p>
                      <a:pPr algn="ctr" indent="0" marL="0">
                        <a:buNone/>
                      </a:pPr>
                      <a:r>
                        <a:rPr lang="en-US" sz="1000" dirty="0">
                          <a:solidFill>
                            <a:srgbClr val="8A857E"/>
                          </a:solidFill>
                          <a:latin typeface="Cambria" pitchFamily="34" charset="0"/>
                          <a:ea typeface="Cambria" pitchFamily="34" charset="-122"/>
                          <a:cs typeface="Cambria" pitchFamily="34" charset="-120"/>
                        </a:rPr>
                        <a:t>09</a:t>
                      </a:r>
                      <a:endParaRPr lang="en-US" sz="1000" dirty="0">
                        <a:latin typeface="Cambria" charset="0"/>
                        <a:ea typeface="Cambria" charset="0"/>
                        <a:cs typeface="Cambria" charset="0"/>
                      </a:endParaRPr>
                    </a:p>
                  </a:txBody>
                  <a:tcPr marL="101600" marR="101600" marT="25400" marB="25400"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3F1ED"/>
                    </a:solidFill>
                  </a:tcPr>
                </a:tc>
                <a:tc>
                  <a:txBody>
                    <a:bodyPr/>
                    <a:lstStyle/>
                    <a:p>
                      <a:pPr indent="0" marL="0">
                        <a:buNone/>
                      </a:pPr>
                      <a:r>
                        <a:rPr lang="en-US" sz="1050" b="1" dirty="0">
                          <a:solidFill>
                            <a:srgbClr val="1A1A1A"/>
                          </a:solidFill>
                          <a:latin typeface="맑은 고딕" pitchFamily="34" charset="0"/>
                          <a:ea typeface="맑은 고딕" pitchFamily="34" charset="-122"/>
                          <a:cs typeface="맑은 고딕" pitchFamily="34" charset="-120"/>
                        </a:rPr>
                        <a:t>운송·보험·안전관리</a:t>
                      </a:r>
                      <a:endParaRPr lang="en-US" sz="1050" dirty="0">
                        <a:latin typeface="맑은 고딕" charset="0"/>
                        <a:ea typeface="맑은 고딕" charset="0"/>
                        <a:cs typeface="맑은 고딕" charset="0"/>
                      </a:endParaRPr>
                    </a:p>
                  </a:txBody>
                  <a:tcPr marL="101600" marR="101600" marT="25400" marB="25400"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3F1ED"/>
                    </a:solidFill>
                  </a:tcPr>
                </a:tc>
                <a:tc>
                  <a:txBody>
                    <a:bodyPr/>
                    <a:lstStyle/>
                    <a:p>
                      <a:pPr indent="0" marL="0">
                        <a:buNone/>
                      </a:pPr>
                      <a:r>
                        <a:rPr lang="en-US" sz="950" dirty="0">
                          <a:solidFill>
                            <a:srgbClr val="4A453F"/>
                          </a:solidFill>
                          <a:latin typeface="맑은 고딕" pitchFamily="34" charset="0"/>
                          <a:ea typeface="맑은 고딕" pitchFamily="34" charset="-122"/>
                          <a:cs typeface="맑은 고딕" pitchFamily="34" charset="-120"/>
                        </a:rPr>
                        <a:t>작품 운송, 전시종합보험, 온습도 계측·소방 점검</a:t>
                      </a:r>
                      <a:endParaRPr lang="en-US" sz="950" dirty="0">
                        <a:latin typeface="맑은 고딕" charset="0"/>
                        <a:ea typeface="맑은 고딕" charset="0"/>
                        <a:cs typeface="맑은 고딕" charset="0"/>
                      </a:endParaRPr>
                    </a:p>
                  </a:txBody>
                  <a:tcPr marL="101600" marR="101600" marT="25400" marB="25400"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3F1ED"/>
                    </a:solidFill>
                  </a:tcPr>
                </a:tc>
                <a:tc>
                  <a:txBody>
                    <a:bodyPr/>
                    <a:lstStyle/>
                    <a:p>
                      <a:pPr algn="r" indent="0" marL="0">
                        <a:buNone/>
                      </a:pPr>
                      <a:r>
                        <a:rPr lang="en-US" sz="1050" b="1" dirty="0">
                          <a:solidFill>
                            <a:srgbClr val="1A1A1A"/>
                          </a:solidFill>
                          <a:latin typeface="맑은 고딕" pitchFamily="34" charset="0"/>
                          <a:ea typeface="맑은 고딕" pitchFamily="34" charset="-122"/>
                          <a:cs typeface="맑은 고딕" pitchFamily="34" charset="-120"/>
                        </a:rPr>
                        <a:t>2,500</a:t>
                      </a:r>
                      <a:endParaRPr lang="en-US" sz="1050" dirty="0">
                        <a:latin typeface="맑은 고딕" charset="0"/>
                        <a:ea typeface="맑은 고딕" charset="0"/>
                        <a:cs typeface="맑은 고딕" charset="0"/>
                      </a:endParaRPr>
                    </a:p>
                  </a:txBody>
                  <a:tcPr marL="101600" marR="101600" marT="25400" marB="25400"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3F1ED"/>
                    </a:solidFill>
                  </a:tcPr>
                </a:tc>
                <a:tc>
                  <a:txBody>
                    <a:bodyPr/>
                    <a:lstStyle/>
                    <a:p>
                      <a:pPr algn="r" indent="0" marL="0">
                        <a:buNone/>
                      </a:pPr>
                      <a:r>
                        <a:rPr lang="en-US" sz="950" dirty="0">
                          <a:solidFill>
                            <a:srgbClr val="8A857E"/>
                          </a:solidFill>
                          <a:latin typeface="맑은 고딕" pitchFamily="34" charset="0"/>
                          <a:ea typeface="맑은 고딕" pitchFamily="34" charset="-122"/>
                          <a:cs typeface="맑은 고딕" pitchFamily="34" charset="-120"/>
                        </a:rPr>
                        <a:t>3.1%</a:t>
                      </a:r>
                      <a:endParaRPr lang="en-US" sz="950" dirty="0">
                        <a:latin typeface="맑은 고딕" charset="0"/>
                        <a:ea typeface="맑은 고딕" charset="0"/>
                        <a:cs typeface="맑은 고딕" charset="0"/>
                      </a:endParaRPr>
                    </a:p>
                  </a:txBody>
                  <a:tcPr marL="101600" marR="101600" marT="25400" marB="25400"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3F1ED"/>
                    </a:solidFill>
                  </a:tcPr>
                </a:tc>
              </a:tr>
              <a:tr h="292608">
                <a:tc>
                  <a:txBody>
                    <a:bodyPr/>
                    <a:lstStyle/>
                    <a:p>
                      <a:pPr algn="ctr" indent="0" marL="0">
                        <a:buNone/>
                      </a:pPr>
                      <a:r>
                        <a:rPr lang="en-US" sz="1000" dirty="0">
                          <a:solidFill>
                            <a:srgbClr val="8A857E"/>
                          </a:solidFill>
                          <a:latin typeface="Cambria" pitchFamily="34" charset="0"/>
                          <a:ea typeface="Cambria" pitchFamily="34" charset="-122"/>
                          <a:cs typeface="Cambria" pitchFamily="34" charset="-120"/>
                        </a:rPr>
                        <a:t>10</a:t>
                      </a:r>
                      <a:endParaRPr lang="en-US" sz="1000" dirty="0">
                        <a:latin typeface="Cambria" charset="0"/>
                        <a:ea typeface="Cambria" charset="0"/>
                        <a:cs typeface="Cambria" charset="0"/>
                      </a:endParaRPr>
                    </a:p>
                  </a:txBody>
                  <a:tcPr marL="101600" marR="101600" marT="25400" marB="25400"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3F1ED"/>
                    </a:solidFill>
                  </a:tcPr>
                </a:tc>
                <a:tc>
                  <a:txBody>
                    <a:bodyPr/>
                    <a:lstStyle/>
                    <a:p>
                      <a:pPr indent="0" marL="0">
                        <a:buNone/>
                      </a:pPr>
                      <a:r>
                        <a:rPr lang="en-US" sz="1050" b="1" dirty="0">
                          <a:solidFill>
                            <a:srgbClr val="1A1A1A"/>
                          </a:solidFill>
                          <a:latin typeface="맑은 고딕" pitchFamily="34" charset="0"/>
                          <a:ea typeface="맑은 고딕" pitchFamily="34" charset="-122"/>
                          <a:cs typeface="맑은 고딕" pitchFamily="34" charset="-120"/>
                        </a:rPr>
                        <a:t>예비비</a:t>
                      </a:r>
                      <a:endParaRPr lang="en-US" sz="1050" dirty="0">
                        <a:latin typeface="맑은 고딕" charset="0"/>
                        <a:ea typeface="맑은 고딕" charset="0"/>
                        <a:cs typeface="맑은 고딕" charset="0"/>
                      </a:endParaRPr>
                    </a:p>
                  </a:txBody>
                  <a:tcPr marL="101600" marR="101600" marT="25400" marB="25400"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3F1ED"/>
                    </a:solidFill>
                  </a:tcPr>
                </a:tc>
                <a:tc>
                  <a:txBody>
                    <a:bodyPr/>
                    <a:lstStyle/>
                    <a:p>
                      <a:pPr indent="0" marL="0">
                        <a:buNone/>
                      </a:pPr>
                      <a:r>
                        <a:rPr lang="en-US" sz="950" dirty="0">
                          <a:solidFill>
                            <a:srgbClr val="4A453F"/>
                          </a:solidFill>
                          <a:latin typeface="맑은 고딕" pitchFamily="34" charset="0"/>
                          <a:ea typeface="맑은 고딕" pitchFamily="34" charset="-122"/>
                          <a:cs typeface="맑은 고딕" pitchFamily="34" charset="-120"/>
                        </a:rPr>
                        <a:t>환율·자재비 변동 및 돌발 대응</a:t>
                      </a:r>
                      <a:endParaRPr lang="en-US" sz="950" dirty="0">
                        <a:latin typeface="맑은 고딕" charset="0"/>
                        <a:ea typeface="맑은 고딕" charset="0"/>
                        <a:cs typeface="맑은 고딕" charset="0"/>
                      </a:endParaRPr>
                    </a:p>
                  </a:txBody>
                  <a:tcPr marL="101600" marR="101600" marT="25400" marB="25400"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3F1ED"/>
                    </a:solidFill>
                  </a:tcPr>
                </a:tc>
                <a:tc>
                  <a:txBody>
                    <a:bodyPr/>
                    <a:lstStyle/>
                    <a:p>
                      <a:pPr algn="r" indent="0" marL="0">
                        <a:buNone/>
                      </a:pPr>
                      <a:r>
                        <a:rPr lang="en-US" sz="1050" b="1" dirty="0">
                          <a:solidFill>
                            <a:srgbClr val="1A1A1A"/>
                          </a:solidFill>
                          <a:latin typeface="맑은 고딕" pitchFamily="34" charset="0"/>
                          <a:ea typeface="맑은 고딕" pitchFamily="34" charset="-122"/>
                          <a:cs typeface="맑은 고딕" pitchFamily="34" charset="-120"/>
                        </a:rPr>
                        <a:t>3,000</a:t>
                      </a:r>
                      <a:endParaRPr lang="en-US" sz="1050" dirty="0">
                        <a:latin typeface="맑은 고딕" charset="0"/>
                        <a:ea typeface="맑은 고딕" charset="0"/>
                        <a:cs typeface="맑은 고딕" charset="0"/>
                      </a:endParaRPr>
                    </a:p>
                  </a:txBody>
                  <a:tcPr marL="101600" marR="101600" marT="25400" marB="25400"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3F1ED"/>
                    </a:solidFill>
                  </a:tcPr>
                </a:tc>
                <a:tc>
                  <a:txBody>
                    <a:bodyPr/>
                    <a:lstStyle/>
                    <a:p>
                      <a:pPr algn="r" indent="0" marL="0">
                        <a:buNone/>
                      </a:pPr>
                      <a:r>
                        <a:rPr lang="en-US" sz="950" dirty="0">
                          <a:solidFill>
                            <a:srgbClr val="8A857E"/>
                          </a:solidFill>
                          <a:latin typeface="맑은 고딕" pitchFamily="34" charset="0"/>
                          <a:ea typeface="맑은 고딕" pitchFamily="34" charset="-122"/>
                          <a:cs typeface="맑은 고딕" pitchFamily="34" charset="-120"/>
                        </a:rPr>
                        <a:t>3.8%</a:t>
                      </a:r>
                      <a:endParaRPr lang="en-US" sz="950" dirty="0">
                        <a:latin typeface="맑은 고딕" charset="0"/>
                        <a:ea typeface="맑은 고딕" charset="0"/>
                        <a:cs typeface="맑은 고딕" charset="0"/>
                      </a:endParaRPr>
                    </a:p>
                  </a:txBody>
                  <a:tcPr marL="101600" marR="101600" marT="25400" marB="25400"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3F1ED"/>
                    </a:solidFill>
                  </a:tcPr>
                </a:tc>
              </a:tr>
              <a:tr h="292608">
                <a:tc>
                  <a:txBody>
                    <a:bodyPr/>
                    <a:lstStyle/>
                    <a:p>
                      <a:pPr indent="0" marL="0">
                        <a:buNone/>
                      </a:pPr>
                      <a:endParaRPr lang="en-US" sz="1200" dirty="0"/>
                    </a:p>
                  </a:txBody>
                  <a:tcPr marL="101600" marR="101600" marT="25400" marB="25400">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9C6B3C"/>
                    </a:solidFill>
                  </a:tcPr>
                </a:tc>
                <a:tc>
                  <a:txBody>
                    <a:bodyPr/>
                    <a:lstStyle/>
                    <a:p>
                      <a:pPr indent="0" marL="0">
                        <a:buNone/>
                      </a:pPr>
                      <a:r>
                        <a:rPr lang="en-US" sz="1150" b="1" dirty="0">
                          <a:solidFill>
                            <a:srgbClr val="FFFFFF"/>
                          </a:solidFill>
                          <a:latin typeface="맑은 고딕" pitchFamily="34" charset="0"/>
                          <a:ea typeface="맑은 고딕" pitchFamily="34" charset="-122"/>
                          <a:cs typeface="맑은 고딕" pitchFamily="34" charset="-120"/>
                        </a:rPr>
                        <a:t>합    계</a:t>
                      </a:r>
                      <a:endParaRPr lang="en-US" sz="1150" dirty="0">
                        <a:latin typeface="맑은 고딕" charset="0"/>
                        <a:ea typeface="맑은 고딕" charset="0"/>
                        <a:cs typeface="맑은 고딕" charset="0"/>
                      </a:endParaRPr>
                    </a:p>
                  </a:txBody>
                  <a:tcPr marL="101600" marR="101600" marT="25400" marB="25400"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9C6B3C"/>
                    </a:solidFill>
                  </a:tcPr>
                </a:tc>
                <a:tc>
                  <a:txBody>
                    <a:bodyPr/>
                    <a:lstStyle/>
                    <a:p>
                      <a:pPr indent="0" marL="0">
                        <a:buNone/>
                      </a:pPr>
                      <a:r>
                        <a:rPr lang="en-US" sz="950" dirty="0">
                          <a:solidFill>
                            <a:srgbClr val="F0E7DA"/>
                          </a:solidFill>
                          <a:latin typeface="맑은 고딕" pitchFamily="34" charset="0"/>
                          <a:ea typeface="맑은 고딕" pitchFamily="34" charset="-122"/>
                          <a:cs typeface="맑은 고딕" pitchFamily="34" charset="-120"/>
                        </a:rPr>
                        <a:t>기관 보조 40,000 · 기업 협찬 24,000 · 자부담·현물 12,000 · 자체수익 4,000</a:t>
                      </a:r>
                      <a:endParaRPr lang="en-US" sz="950" dirty="0">
                        <a:latin typeface="맑은 고딕" charset="0"/>
                        <a:ea typeface="맑은 고딕" charset="0"/>
                        <a:cs typeface="맑은 고딕" charset="0"/>
                      </a:endParaRPr>
                    </a:p>
                  </a:txBody>
                  <a:tcPr marL="101600" marR="101600" marT="25400" marB="25400"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9C6B3C"/>
                    </a:solidFill>
                  </a:tcPr>
                </a:tc>
                <a:tc>
                  <a:txBody>
                    <a:bodyPr/>
                    <a:lstStyle/>
                    <a:p>
                      <a:pPr algn="r" indent="0" marL="0">
                        <a:buNone/>
                      </a:pPr>
                      <a:r>
                        <a:rPr lang="en-US" sz="1250" b="1" dirty="0">
                          <a:solidFill>
                            <a:srgbClr val="FFFFFF"/>
                          </a:solidFill>
                          <a:latin typeface="맑은 고딕" pitchFamily="34" charset="0"/>
                          <a:ea typeface="맑은 고딕" pitchFamily="34" charset="-122"/>
                          <a:cs typeface="맑은 고딕" pitchFamily="34" charset="-120"/>
                        </a:rPr>
                        <a:t>80,000</a:t>
                      </a:r>
                      <a:endParaRPr lang="en-US" sz="1250" dirty="0">
                        <a:latin typeface="맑은 고딕" charset="0"/>
                        <a:ea typeface="맑은 고딕" charset="0"/>
                        <a:cs typeface="맑은 고딕" charset="0"/>
                      </a:endParaRPr>
                    </a:p>
                  </a:txBody>
                  <a:tcPr marL="101600" marR="101600" marT="25400" marB="25400"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9C6B3C"/>
                    </a:solidFill>
                  </a:tcPr>
                </a:tc>
                <a:tc>
                  <a:txBody>
                    <a:bodyPr/>
                    <a:lstStyle/>
                    <a:p>
                      <a:pPr algn="r" indent="0" marL="0">
                        <a:buNone/>
                      </a:pPr>
                      <a:r>
                        <a:rPr lang="en-US" sz="950" dirty="0">
                          <a:solidFill>
                            <a:srgbClr val="F0E7DA"/>
                          </a:solidFill>
                          <a:latin typeface="맑은 고딕" pitchFamily="34" charset="0"/>
                          <a:ea typeface="맑은 고딕" pitchFamily="34" charset="-122"/>
                          <a:cs typeface="맑은 고딕" pitchFamily="34" charset="-120"/>
                        </a:rPr>
                        <a:t>100%</a:t>
                      </a:r>
                      <a:endParaRPr lang="en-US" sz="950" dirty="0">
                        <a:latin typeface="맑은 고딕" charset="0"/>
                        <a:ea typeface="맑은 고딕" charset="0"/>
                        <a:cs typeface="맑은 고딕" charset="0"/>
                      </a:endParaRPr>
                    </a:p>
                  </a:txBody>
                  <a:tcPr marL="101600" marR="101600" marT="25400" marB="25400"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9C6B3C"/>
                    </a:solidFill>
                  </a:tcPr>
                </a:tc>
              </a:tr>
            </a:tbl>
          </a:graphicData>
        </a:graphic>
      </p:graphicFrame>
      <p:sp>
        <p:nvSpPr>
          <p:cNvPr id="6" name="Text 3"/>
          <p:cNvSpPr/>
          <p:nvPr/>
        </p:nvSpPr>
        <p:spPr>
          <a:xfrm>
            <a:off x="548640" y="5852160"/>
            <a:ext cx="11064240" cy="411480"/>
          </a:xfrm>
          <a:prstGeom prst="rect">
            <a:avLst/>
          </a:prstGeom>
          <a:noFill/>
          <a:ln/>
        </p:spPr>
        <p:txBody>
          <a:bodyPr wrap="square" lIns="0" tIns="0" rIns="0" bIns="0" rtlCol="0" anchor="ctr"/>
          <a:lstStyle/>
          <a:p>
            <a:pPr indent="0" marL="0">
              <a:lnSpc>
                <a:spcPts val="1300"/>
              </a:lnSpc>
              <a:buNone/>
            </a:pPr>
            <a:r>
              <a:rPr lang="en-US" sz="900" dirty="0">
                <a:solidFill>
                  <a:srgbClr val="8A857E"/>
                </a:solidFill>
                <a:latin typeface="맑은 고딕" pitchFamily="34" charset="0"/>
                <a:ea typeface="맑은 고딕" pitchFamily="34" charset="-122"/>
                <a:cs typeface="맑은 고딕" pitchFamily="34" charset="-120"/>
              </a:rPr>
              <a:t>※ 상기 금액은 33평·8실 규모와 9월 개막 일정을 전제로 한 산정 예시입니다. 확정 견적은 협의 후 아이테르 표준 견적서로 제출합니다.  ※ 가벽은 아이테르 렌탈을 적용해 조성비를 절감하고, 전시 종료 후 회수하여 다음 전시로 이월합니다.</a:t>
            </a:r>
            <a:endParaRPr lang="en-US" sz="900" dirty="0"/>
          </a:p>
        </p:txBody>
      </p:sp>
      <p:sp>
        <p:nvSpPr>
          <p:cNvPr id="7" name="Text 4"/>
          <p:cNvSpPr/>
          <p:nvPr/>
        </p:nvSpPr>
        <p:spPr>
          <a:xfrm>
            <a:off x="548640" y="6419088"/>
            <a:ext cx="7315200" cy="274320"/>
          </a:xfrm>
          <a:prstGeom prst="rect">
            <a:avLst/>
          </a:prstGeom>
          <a:noFill/>
          <a:ln/>
        </p:spPr>
        <p:txBody>
          <a:bodyPr wrap="square" lIns="0" tIns="0" rIns="0" bIns="0" rtlCol="0" anchor="ctr"/>
          <a:lstStyle/>
          <a:p>
            <a:pPr algn="l" indent="0" marL="0">
              <a:buNone/>
            </a:pPr>
            <a:r>
              <a:rPr lang="en-US" sz="800" dirty="0">
                <a:solidFill>
                  <a:srgbClr val="8A857E"/>
                </a:solidFill>
                <a:latin typeface="맑은 고딕" pitchFamily="34" charset="0"/>
                <a:ea typeface="맑은 고딕" pitchFamily="34" charset="-122"/>
                <a:cs typeface="맑은 고딕" pitchFamily="34" charset="-120"/>
              </a:rPr>
              <a:t>아이테르 문화예술기획제안서   ·   덮인 물, 남은 올   ·   기획 추병곤</a:t>
            </a:r>
            <a:endParaRPr lang="en-US" sz="800" dirty="0"/>
          </a:p>
        </p:txBody>
      </p:sp>
      <p:sp>
        <p:nvSpPr>
          <p:cNvPr id="8" name="Text 5"/>
          <p:cNvSpPr/>
          <p:nvPr/>
        </p:nvSpPr>
        <p:spPr>
          <a:xfrm>
            <a:off x="10972800" y="6419088"/>
            <a:ext cx="640080" cy="274320"/>
          </a:xfrm>
          <a:prstGeom prst="rect">
            <a:avLst/>
          </a:prstGeom>
          <a:noFill/>
          <a:ln/>
        </p:spPr>
        <p:txBody>
          <a:bodyPr wrap="square" lIns="0" tIns="0" rIns="0" bIns="0" rtlCol="0" anchor="ctr"/>
          <a:lstStyle/>
          <a:p>
            <a:pPr algn="r" indent="0" marL="0">
              <a:buNone/>
            </a:pPr>
            <a:r>
              <a:rPr lang="en-US" sz="900" dirty="0">
                <a:solidFill>
                  <a:srgbClr val="8A857E"/>
                </a:solidFill>
                <a:latin typeface="Cambria" pitchFamily="34" charset="0"/>
                <a:ea typeface="Cambria" pitchFamily="34" charset="-122"/>
                <a:cs typeface="Cambria"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A1A1A"/>
        </a:solidFill>
      </p:bgPr>
    </p:bg>
    <p:spTree>
      <p:nvGrpSpPr>
        <p:cNvPr id="1" name=""/>
        <p:cNvGrpSpPr/>
        <p:nvPr/>
      </p:nvGrpSpPr>
      <p:grpSpPr>
        <a:xfrm>
          <a:off x="0" y="0"/>
          <a:ext cx="0" cy="0"/>
          <a:chOff x="0" y="0"/>
          <a:chExt cx="0" cy="0"/>
        </a:xfrm>
      </p:grpSpPr>
      <p:sp>
        <p:nvSpPr>
          <p:cNvPr id="2" name="Text 0"/>
          <p:cNvSpPr/>
          <p:nvPr/>
        </p:nvSpPr>
        <p:spPr>
          <a:xfrm>
            <a:off x="822960" y="2148840"/>
            <a:ext cx="1828800" cy="822960"/>
          </a:xfrm>
          <a:prstGeom prst="rect">
            <a:avLst/>
          </a:prstGeom>
          <a:noFill/>
          <a:ln/>
        </p:spPr>
        <p:txBody>
          <a:bodyPr wrap="square" lIns="0" tIns="0" rIns="0" bIns="0" rtlCol="0" anchor="ctr"/>
          <a:lstStyle/>
          <a:p>
            <a:pPr indent="0" marL="0">
              <a:buNone/>
            </a:pPr>
            <a:r>
              <a:rPr lang="en-US" sz="4600" dirty="0">
                <a:solidFill>
                  <a:srgbClr val="4A4640"/>
                </a:solidFill>
                <a:latin typeface="Cambria" pitchFamily="34" charset="0"/>
                <a:ea typeface="Cambria" pitchFamily="34" charset="-122"/>
                <a:cs typeface="Cambria" pitchFamily="34" charset="-120"/>
              </a:rPr>
              <a:t>Ⅴ</a:t>
            </a:r>
            <a:endParaRPr lang="en-US" sz="4600" dirty="0"/>
          </a:p>
        </p:txBody>
      </p:sp>
      <p:sp>
        <p:nvSpPr>
          <p:cNvPr id="3" name="Text 1"/>
          <p:cNvSpPr/>
          <p:nvPr/>
        </p:nvSpPr>
        <p:spPr>
          <a:xfrm>
            <a:off x="822960" y="2926080"/>
            <a:ext cx="8229600" cy="822960"/>
          </a:xfrm>
          <a:prstGeom prst="rect">
            <a:avLst/>
          </a:prstGeom>
          <a:noFill/>
          <a:ln/>
        </p:spPr>
        <p:txBody>
          <a:bodyPr wrap="square" lIns="0" tIns="0" rIns="0" bIns="0" rtlCol="0" anchor="ctr"/>
          <a:lstStyle/>
          <a:p>
            <a:pPr indent="0" marL="0">
              <a:buNone/>
            </a:pPr>
            <a:r>
              <a:rPr lang="en-US" sz="4000" b="1" dirty="0">
                <a:solidFill>
                  <a:srgbClr val="FFFFFF"/>
                </a:solidFill>
                <a:latin typeface="바탕" pitchFamily="34" charset="0"/>
                <a:ea typeface="바탕" pitchFamily="34" charset="-122"/>
                <a:cs typeface="바탕" pitchFamily="34" charset="-120"/>
              </a:rPr>
              <a:t>성과와 확장</a:t>
            </a:r>
            <a:endParaRPr lang="en-US" sz="4000" dirty="0"/>
          </a:p>
        </p:txBody>
      </p:sp>
      <p:sp>
        <p:nvSpPr>
          <p:cNvPr id="4" name="Text 2"/>
          <p:cNvSpPr/>
          <p:nvPr/>
        </p:nvSpPr>
        <p:spPr>
          <a:xfrm>
            <a:off x="868680" y="3794760"/>
            <a:ext cx="9601200" cy="365760"/>
          </a:xfrm>
          <a:prstGeom prst="rect">
            <a:avLst/>
          </a:prstGeom>
          <a:noFill/>
          <a:ln/>
        </p:spPr>
        <p:txBody>
          <a:bodyPr wrap="square" lIns="0" tIns="0" rIns="0" bIns="0" rtlCol="0" anchor="ctr"/>
          <a:lstStyle/>
          <a:p>
            <a:pPr indent="0" marL="0">
              <a:buNone/>
            </a:pPr>
            <a:r>
              <a:rPr lang="en-US" sz="1350" dirty="0">
                <a:solidFill>
                  <a:srgbClr val="A9A29A"/>
                </a:solidFill>
                <a:latin typeface="맑은 고딕" pitchFamily="34" charset="0"/>
                <a:ea typeface="맑은 고딕" pitchFamily="34" charset="-122"/>
                <a:cs typeface="맑은 고딕" pitchFamily="34" charset="-120"/>
              </a:rPr>
              <a:t>66일의 전시가 남기는 것 — 기대효과 · 리스크 관리 · 확장 시나리오</a:t>
            </a:r>
            <a:endParaRPr lang="en-US" sz="1350" dirty="0"/>
          </a:p>
        </p:txBody>
      </p:sp>
      <p:pic>
        <p:nvPicPr>
          <p:cNvPr id="5" name="Image 0" descr="/home/claude/aither/img/W09_0.jpeg">    </p:cNvPr>
          <p:cNvPicPr>
            <a:picLocks noChangeAspect="1"/>
          </p:cNvPicPr>
          <p:nvPr/>
        </p:nvPicPr>
        <p:blipFill>
          <a:blip r:embed="rId1"/>
          <a:srcRect l="0" r="0" t="0" b="0"/>
          <a:stretch/>
        </p:blipFill>
        <p:spPr>
          <a:xfrm>
            <a:off x="6949440" y="0"/>
            <a:ext cx="5212080" cy="6858000"/>
          </a:xfrm>
          <a:prstGeom prst="rect">
            <a:avLst/>
          </a:prstGeom>
        </p:spPr>
      </p:pic>
      <p:sp>
        <p:nvSpPr>
          <p:cNvPr id="6" name="Text 3"/>
          <p:cNvSpPr/>
          <p:nvPr/>
        </p:nvSpPr>
        <p:spPr>
          <a:xfrm>
            <a:off x="868680" y="5989320"/>
            <a:ext cx="5486400" cy="256032"/>
          </a:xfrm>
          <a:prstGeom prst="rect">
            <a:avLst/>
          </a:prstGeom>
          <a:noFill/>
          <a:ln/>
        </p:spPr>
        <p:txBody>
          <a:bodyPr wrap="square" lIns="0" tIns="0" rIns="0" bIns="0" rtlCol="0" anchor="ctr"/>
          <a:lstStyle/>
          <a:p>
            <a:pPr indent="0" marL="0">
              <a:buNone/>
            </a:pPr>
            <a:r>
              <a:rPr lang="en-US" sz="850" dirty="0">
                <a:solidFill>
                  <a:srgbClr val="6E6A65"/>
                </a:solidFill>
                <a:latin typeface="맑은 고딕" pitchFamily="34" charset="0"/>
                <a:ea typeface="맑은 고딕" pitchFamily="34" charset="-122"/>
                <a:cs typeface="맑은 고딕" pitchFamily="34" charset="-120"/>
              </a:rPr>
              <a:t>사진 · 가벽 기반 전시 운영 사례  ·  아이테르 제공</a:t>
            </a:r>
            <a:endParaRPr lang="en-US" sz="850" dirty="0"/>
          </a:p>
        </p:txBody>
      </p:sp>
      <p:sp>
        <p:nvSpPr>
          <p:cNvPr id="7" name="Text 4"/>
          <p:cNvSpPr/>
          <p:nvPr/>
        </p:nvSpPr>
        <p:spPr>
          <a:xfrm>
            <a:off x="868680" y="4343400"/>
            <a:ext cx="2926080" cy="640080"/>
          </a:xfrm>
          <a:prstGeom prst="rect">
            <a:avLst/>
          </a:prstGeom>
          <a:noFill/>
          <a:ln/>
        </p:spPr>
        <p:txBody>
          <a:bodyPr wrap="square" lIns="0" tIns="0" rIns="0" bIns="0" rtlCol="0" anchor="ctr"/>
          <a:lstStyle/>
          <a:p>
            <a:pPr indent="0" marL="0">
              <a:buNone/>
            </a:pPr>
            <a:r>
              <a:rPr lang="en-US" sz="4000" b="1" dirty="0">
                <a:solidFill>
                  <a:srgbClr val="9C6B3C"/>
                </a:solidFill>
                <a:latin typeface="Cambria" pitchFamily="34" charset="0"/>
                <a:ea typeface="Cambria" pitchFamily="34" charset="-122"/>
                <a:cs typeface="Cambria" pitchFamily="34" charset="-120"/>
              </a:rPr>
              <a:t>4,500</a:t>
            </a:r>
            <a:endParaRPr lang="en-US" sz="4000" dirty="0"/>
          </a:p>
        </p:txBody>
      </p:sp>
      <p:sp>
        <p:nvSpPr>
          <p:cNvPr id="8" name="Text 5"/>
          <p:cNvSpPr/>
          <p:nvPr/>
        </p:nvSpPr>
        <p:spPr>
          <a:xfrm>
            <a:off x="914400" y="5029200"/>
            <a:ext cx="4572000" cy="274320"/>
          </a:xfrm>
          <a:prstGeom prst="rect">
            <a:avLst/>
          </a:prstGeom>
          <a:noFill/>
          <a:ln/>
        </p:spPr>
        <p:txBody>
          <a:bodyPr wrap="square" lIns="0" tIns="0" rIns="0" bIns="0" rtlCol="0" anchor="ctr"/>
          <a:lstStyle/>
          <a:p>
            <a:pPr indent="0" marL="0">
              <a:buNone/>
            </a:pPr>
            <a:r>
              <a:rPr lang="en-US" sz="1000" dirty="0">
                <a:solidFill>
                  <a:srgbClr val="8D8A84"/>
                </a:solidFill>
                <a:latin typeface="맑은 고딕" pitchFamily="34" charset="0"/>
                <a:ea typeface="맑은 고딕" pitchFamily="34" charset="-122"/>
                <a:cs typeface="맑은 고딕" pitchFamily="34" charset="-120"/>
              </a:rPr>
              <a:t>목표 관람객 (개관 57일 · 일평균 79명)</a:t>
            </a:r>
            <a:endParaRPr lang="en-US" sz="1000" dirty="0"/>
          </a:p>
        </p:txBody>
      </p:sp>
      <p:sp>
        <p:nvSpPr>
          <p:cNvPr id="9" name="Text 6"/>
          <p:cNvSpPr/>
          <p:nvPr/>
        </p:nvSpPr>
        <p:spPr>
          <a:xfrm>
            <a:off x="548640" y="6419088"/>
            <a:ext cx="7315200" cy="274320"/>
          </a:xfrm>
          <a:prstGeom prst="rect">
            <a:avLst/>
          </a:prstGeom>
          <a:noFill/>
          <a:ln/>
        </p:spPr>
        <p:txBody>
          <a:bodyPr wrap="square" lIns="0" tIns="0" rIns="0" bIns="0" rtlCol="0" anchor="ctr"/>
          <a:lstStyle/>
          <a:p>
            <a:pPr algn="l" indent="0" marL="0">
              <a:buNone/>
            </a:pPr>
            <a:r>
              <a:rPr lang="en-US" sz="800" dirty="0">
                <a:solidFill>
                  <a:srgbClr val="6E6A65"/>
                </a:solidFill>
                <a:latin typeface="맑은 고딕" pitchFamily="34" charset="0"/>
                <a:ea typeface="맑은 고딕" pitchFamily="34" charset="-122"/>
                <a:cs typeface="맑은 고딕" pitchFamily="34" charset="-120"/>
              </a:rPr>
              <a:t>아이테르 문화예술기획제안서   ·   덮인 물, 남은 올   ·   기획 추병곤</a:t>
            </a:r>
            <a:endParaRPr lang="en-US" sz="800" dirty="0"/>
          </a:p>
        </p:txBody>
      </p:sp>
      <p:sp>
        <p:nvSpPr>
          <p:cNvPr id="10" name="Text 7"/>
          <p:cNvSpPr/>
          <p:nvPr/>
        </p:nvSpPr>
        <p:spPr>
          <a:xfrm>
            <a:off x="10972800" y="6419088"/>
            <a:ext cx="640080" cy="274320"/>
          </a:xfrm>
          <a:prstGeom prst="rect">
            <a:avLst/>
          </a:prstGeom>
          <a:noFill/>
          <a:ln/>
        </p:spPr>
        <p:txBody>
          <a:bodyPr wrap="square" lIns="0" tIns="0" rIns="0" bIns="0" rtlCol="0" anchor="ctr"/>
          <a:lstStyle/>
          <a:p>
            <a:pPr algn="r" indent="0" marL="0">
              <a:buNone/>
            </a:pPr>
            <a:r>
              <a:rPr lang="en-US" sz="900" dirty="0">
                <a:solidFill>
                  <a:srgbClr val="6E6A65"/>
                </a:solidFill>
                <a:latin typeface="Cambria" pitchFamily="34" charset="0"/>
                <a:ea typeface="Cambria" pitchFamily="34" charset="-122"/>
                <a:cs typeface="Cambria"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7315200" cy="237744"/>
          </a:xfrm>
          <a:prstGeom prst="rect">
            <a:avLst/>
          </a:prstGeom>
          <a:noFill/>
          <a:ln/>
        </p:spPr>
        <p:txBody>
          <a:bodyPr wrap="square" lIns="0" tIns="0" rIns="0" bIns="0" rtlCol="0" anchor="ctr"/>
          <a:lstStyle/>
          <a:p>
            <a:pPr indent="0" marL="0">
              <a:buNone/>
            </a:pPr>
            <a:r>
              <a:rPr lang="en-US" sz="1050" spc="250" kern="0" dirty="0">
                <a:solidFill>
                  <a:srgbClr val="8A857E"/>
                </a:solidFill>
                <a:latin typeface="Cambria" pitchFamily="34" charset="0"/>
                <a:ea typeface="Cambria" pitchFamily="34" charset="-122"/>
                <a:cs typeface="Cambria" pitchFamily="34" charset="-120"/>
              </a:rPr>
              <a:t>20  DIAGRAM 8</a:t>
            </a:r>
            <a:endParaRPr lang="en-US" sz="1050" dirty="0"/>
          </a:p>
        </p:txBody>
      </p:sp>
      <p:sp>
        <p:nvSpPr>
          <p:cNvPr id="3" name="Text 1"/>
          <p:cNvSpPr/>
          <p:nvPr/>
        </p:nvSpPr>
        <p:spPr>
          <a:xfrm>
            <a:off x="548640" y="694944"/>
            <a:ext cx="10058400" cy="502920"/>
          </a:xfrm>
          <a:prstGeom prst="rect">
            <a:avLst/>
          </a:prstGeom>
          <a:noFill/>
          <a:ln/>
        </p:spPr>
        <p:txBody>
          <a:bodyPr wrap="square" lIns="0" tIns="0" rIns="0" bIns="0" rtlCol="0" anchor="ctr"/>
          <a:lstStyle/>
          <a:p>
            <a:pPr indent="0" marL="0">
              <a:buNone/>
            </a:pPr>
            <a:r>
              <a:rPr lang="en-US" sz="2700" b="1" dirty="0">
                <a:solidFill>
                  <a:srgbClr val="1A1A1A"/>
                </a:solidFill>
                <a:latin typeface="맑은 고딕" pitchFamily="34" charset="0"/>
                <a:ea typeface="맑은 고딕" pitchFamily="34" charset="-122"/>
                <a:cs typeface="맑은 고딕" pitchFamily="34" charset="-120"/>
              </a:rPr>
              <a:t>[도식 8] 기대효과 · KPI</a:t>
            </a:r>
            <a:endParaRPr lang="en-US" sz="2700" dirty="0"/>
          </a:p>
        </p:txBody>
      </p:sp>
      <p:sp>
        <p:nvSpPr>
          <p:cNvPr id="4" name="Text 2"/>
          <p:cNvSpPr/>
          <p:nvPr/>
        </p:nvSpPr>
        <p:spPr>
          <a:xfrm>
            <a:off x="548640" y="1225296"/>
            <a:ext cx="10607040" cy="310896"/>
          </a:xfrm>
          <a:prstGeom prst="rect">
            <a:avLst/>
          </a:prstGeom>
          <a:noFill/>
          <a:ln/>
        </p:spPr>
        <p:txBody>
          <a:bodyPr wrap="square" lIns="0" tIns="0" rIns="0" bIns="0" rtlCol="0" anchor="ctr"/>
          <a:lstStyle/>
          <a:p>
            <a:pPr indent="0" marL="0">
              <a:buNone/>
            </a:pPr>
            <a:r>
              <a:rPr lang="en-US" sz="1200" dirty="0">
                <a:solidFill>
                  <a:srgbClr val="8A857E"/>
                </a:solidFill>
                <a:latin typeface="맑은 고딕" pitchFamily="34" charset="0"/>
                <a:ea typeface="맑은 고딕" pitchFamily="34" charset="-122"/>
                <a:cs typeface="맑은 고딕" pitchFamily="34" charset="-120"/>
              </a:rPr>
              <a:t>정량 지표는 측정하고, 정성 효과는 아카이브로 증명한다</a:t>
            </a:r>
            <a:endParaRPr lang="en-US" sz="1200" dirty="0"/>
          </a:p>
        </p:txBody>
      </p:sp>
      <p:sp>
        <p:nvSpPr>
          <p:cNvPr id="5" name="Shape 3"/>
          <p:cNvSpPr/>
          <p:nvPr/>
        </p:nvSpPr>
        <p:spPr>
          <a:xfrm>
            <a:off x="548640" y="1783080"/>
            <a:ext cx="2212848" cy="1234440"/>
          </a:xfrm>
          <a:prstGeom prst="rect">
            <a:avLst/>
          </a:prstGeom>
          <a:solidFill>
            <a:srgbClr val="FFFFFF"/>
          </a:solidFill>
          <a:ln w="9525">
            <a:solidFill>
              <a:srgbClr val="D8D4CE"/>
            </a:solidFill>
            <a:prstDash val="solid"/>
          </a:ln>
        </p:spPr>
      </p:sp>
      <p:sp>
        <p:nvSpPr>
          <p:cNvPr id="6" name="Shape 4"/>
          <p:cNvSpPr/>
          <p:nvPr/>
        </p:nvSpPr>
        <p:spPr>
          <a:xfrm>
            <a:off x="731520" y="1947672"/>
            <a:ext cx="128016" cy="128016"/>
          </a:xfrm>
          <a:prstGeom prst="rect">
            <a:avLst/>
          </a:prstGeom>
          <a:solidFill>
            <a:srgbClr val="2F4858"/>
          </a:solidFill>
          <a:ln/>
        </p:spPr>
      </p:sp>
      <p:sp>
        <p:nvSpPr>
          <p:cNvPr id="7" name="Text 5"/>
          <p:cNvSpPr/>
          <p:nvPr/>
        </p:nvSpPr>
        <p:spPr>
          <a:xfrm>
            <a:off x="731520" y="2112264"/>
            <a:ext cx="1828800" cy="384048"/>
          </a:xfrm>
          <a:prstGeom prst="rect">
            <a:avLst/>
          </a:prstGeom>
          <a:noFill/>
          <a:ln/>
        </p:spPr>
        <p:txBody>
          <a:bodyPr wrap="square" lIns="0" tIns="0" rIns="0" bIns="0" rtlCol="0" anchor="ctr"/>
          <a:lstStyle/>
          <a:p>
            <a:pPr indent="0" marL="0">
              <a:buNone/>
            </a:pPr>
            <a:r>
              <a:rPr lang="en-US" sz="2100" b="1" dirty="0">
                <a:solidFill>
                  <a:srgbClr val="1A1A1A"/>
                </a:solidFill>
                <a:latin typeface="맑은 고딕" pitchFamily="34" charset="0"/>
                <a:ea typeface="맑은 고딕" pitchFamily="34" charset="-122"/>
                <a:cs typeface="맑은 고딕" pitchFamily="34" charset="-120"/>
              </a:rPr>
              <a:t>4,500명</a:t>
            </a:r>
            <a:endParaRPr lang="en-US" sz="2100" dirty="0"/>
          </a:p>
        </p:txBody>
      </p:sp>
      <p:sp>
        <p:nvSpPr>
          <p:cNvPr id="8" name="Text 6"/>
          <p:cNvSpPr/>
          <p:nvPr/>
        </p:nvSpPr>
        <p:spPr>
          <a:xfrm>
            <a:off x="731520" y="2514600"/>
            <a:ext cx="1828800" cy="237744"/>
          </a:xfrm>
          <a:prstGeom prst="rect">
            <a:avLst/>
          </a:prstGeom>
          <a:noFill/>
          <a:ln/>
        </p:spPr>
        <p:txBody>
          <a:bodyPr wrap="square" lIns="0" tIns="0" rIns="0" bIns="0" rtlCol="0" anchor="ctr"/>
          <a:lstStyle/>
          <a:p>
            <a:pPr indent="0" marL="0">
              <a:buNone/>
            </a:pPr>
            <a:r>
              <a:rPr lang="en-US" sz="1100" b="1" dirty="0">
                <a:solidFill>
                  <a:srgbClr val="2F4858"/>
                </a:solidFill>
                <a:latin typeface="맑은 고딕" pitchFamily="34" charset="0"/>
                <a:ea typeface="맑은 고딕" pitchFamily="34" charset="-122"/>
                <a:cs typeface="맑은 고딕" pitchFamily="34" charset="-120"/>
              </a:rPr>
              <a:t>관람객</a:t>
            </a:r>
            <a:endParaRPr lang="en-US" sz="1100" dirty="0"/>
          </a:p>
        </p:txBody>
      </p:sp>
      <p:sp>
        <p:nvSpPr>
          <p:cNvPr id="9" name="Text 7"/>
          <p:cNvSpPr/>
          <p:nvPr/>
        </p:nvSpPr>
        <p:spPr>
          <a:xfrm>
            <a:off x="731520" y="2743200"/>
            <a:ext cx="1828800" cy="237744"/>
          </a:xfrm>
          <a:prstGeom prst="rect">
            <a:avLst/>
          </a:prstGeom>
          <a:noFill/>
          <a:ln/>
        </p:spPr>
        <p:txBody>
          <a:bodyPr wrap="square" lIns="0" tIns="0" rIns="0" bIns="0" rtlCol="0" anchor="ctr"/>
          <a:lstStyle/>
          <a:p>
            <a:pPr indent="0" marL="0">
              <a:buNone/>
            </a:pPr>
            <a:r>
              <a:rPr lang="en-US" sz="850" dirty="0">
                <a:solidFill>
                  <a:srgbClr val="8A857E"/>
                </a:solidFill>
                <a:latin typeface="맑은 고딕" pitchFamily="34" charset="0"/>
                <a:ea typeface="맑은 고딕" pitchFamily="34" charset="-122"/>
                <a:cs typeface="맑은 고딕" pitchFamily="34" charset="-120"/>
              </a:rPr>
              <a:t>개관 57일 · 동시 25인 회차제</a:t>
            </a:r>
            <a:endParaRPr lang="en-US" sz="850" dirty="0"/>
          </a:p>
        </p:txBody>
      </p:sp>
      <p:sp>
        <p:nvSpPr>
          <p:cNvPr id="10" name="Shape 8"/>
          <p:cNvSpPr/>
          <p:nvPr/>
        </p:nvSpPr>
        <p:spPr>
          <a:xfrm>
            <a:off x="2944368" y="1783080"/>
            <a:ext cx="2212848" cy="1234440"/>
          </a:xfrm>
          <a:prstGeom prst="rect">
            <a:avLst/>
          </a:prstGeom>
          <a:solidFill>
            <a:srgbClr val="FFFFFF"/>
          </a:solidFill>
          <a:ln w="9525">
            <a:solidFill>
              <a:srgbClr val="D8D4CE"/>
            </a:solidFill>
            <a:prstDash val="solid"/>
          </a:ln>
        </p:spPr>
      </p:sp>
      <p:sp>
        <p:nvSpPr>
          <p:cNvPr id="11" name="Shape 9"/>
          <p:cNvSpPr/>
          <p:nvPr/>
        </p:nvSpPr>
        <p:spPr>
          <a:xfrm>
            <a:off x="3127248" y="1947672"/>
            <a:ext cx="128016" cy="128016"/>
          </a:xfrm>
          <a:prstGeom prst="rect">
            <a:avLst/>
          </a:prstGeom>
          <a:solidFill>
            <a:srgbClr val="9C6B3C"/>
          </a:solidFill>
          <a:ln/>
        </p:spPr>
      </p:sp>
      <p:sp>
        <p:nvSpPr>
          <p:cNvPr id="12" name="Text 10"/>
          <p:cNvSpPr/>
          <p:nvPr/>
        </p:nvSpPr>
        <p:spPr>
          <a:xfrm>
            <a:off x="3127248" y="2112264"/>
            <a:ext cx="1828800" cy="384048"/>
          </a:xfrm>
          <a:prstGeom prst="rect">
            <a:avLst/>
          </a:prstGeom>
          <a:noFill/>
          <a:ln/>
        </p:spPr>
        <p:txBody>
          <a:bodyPr wrap="square" lIns="0" tIns="0" rIns="0" bIns="0" rtlCol="0" anchor="ctr"/>
          <a:lstStyle/>
          <a:p>
            <a:pPr indent="0" marL="0">
              <a:buNone/>
            </a:pPr>
            <a:r>
              <a:rPr lang="en-US" sz="2100" b="1" dirty="0">
                <a:solidFill>
                  <a:srgbClr val="1A1A1A"/>
                </a:solidFill>
                <a:latin typeface="맑은 고딕" pitchFamily="34" charset="0"/>
                <a:ea typeface="맑은 고딕" pitchFamily="34" charset="-122"/>
                <a:cs typeface="맑은 고딕" pitchFamily="34" charset="-120"/>
              </a:rPr>
              <a:t>800명</a:t>
            </a:r>
            <a:endParaRPr lang="en-US" sz="2100" dirty="0"/>
          </a:p>
        </p:txBody>
      </p:sp>
      <p:sp>
        <p:nvSpPr>
          <p:cNvPr id="13" name="Text 11"/>
          <p:cNvSpPr/>
          <p:nvPr/>
        </p:nvSpPr>
        <p:spPr>
          <a:xfrm>
            <a:off x="3127248" y="2514600"/>
            <a:ext cx="1828800" cy="237744"/>
          </a:xfrm>
          <a:prstGeom prst="rect">
            <a:avLst/>
          </a:prstGeom>
          <a:noFill/>
          <a:ln/>
        </p:spPr>
        <p:txBody>
          <a:bodyPr wrap="square" lIns="0" tIns="0" rIns="0" bIns="0" rtlCol="0" anchor="ctr"/>
          <a:lstStyle/>
          <a:p>
            <a:pPr indent="0" marL="0">
              <a:buNone/>
            </a:pPr>
            <a:r>
              <a:rPr lang="en-US" sz="1100" b="1" dirty="0">
                <a:solidFill>
                  <a:srgbClr val="9C6B3C"/>
                </a:solidFill>
                <a:latin typeface="맑은 고딕" pitchFamily="34" charset="0"/>
                <a:ea typeface="맑은 고딕" pitchFamily="34" charset="-122"/>
                <a:cs typeface="맑은 고딕" pitchFamily="34" charset="-120"/>
              </a:rPr>
              <a:t>프로그램 참여</a:t>
            </a:r>
            <a:endParaRPr lang="en-US" sz="1100" dirty="0"/>
          </a:p>
        </p:txBody>
      </p:sp>
      <p:sp>
        <p:nvSpPr>
          <p:cNvPr id="14" name="Text 12"/>
          <p:cNvSpPr/>
          <p:nvPr/>
        </p:nvSpPr>
        <p:spPr>
          <a:xfrm>
            <a:off x="3127248" y="2743200"/>
            <a:ext cx="1828800" cy="237744"/>
          </a:xfrm>
          <a:prstGeom prst="rect">
            <a:avLst/>
          </a:prstGeom>
          <a:noFill/>
          <a:ln/>
        </p:spPr>
        <p:txBody>
          <a:bodyPr wrap="square" lIns="0" tIns="0" rIns="0" bIns="0" rtlCol="0" anchor="ctr"/>
          <a:lstStyle/>
          <a:p>
            <a:pPr indent="0" marL="0">
              <a:buNone/>
            </a:pPr>
            <a:r>
              <a:rPr lang="en-US" sz="850" dirty="0">
                <a:solidFill>
                  <a:srgbClr val="8A857E"/>
                </a:solidFill>
                <a:latin typeface="맑은 고딕" pitchFamily="34" charset="0"/>
                <a:ea typeface="맑은 고딕" pitchFamily="34" charset="-122"/>
                <a:cs typeface="맑은 고딕" pitchFamily="34" charset="-120"/>
              </a:rPr>
              <a:t>7종 27회 · 사전예약제</a:t>
            </a:r>
            <a:endParaRPr lang="en-US" sz="850" dirty="0"/>
          </a:p>
        </p:txBody>
      </p:sp>
      <p:sp>
        <p:nvSpPr>
          <p:cNvPr id="15" name="Shape 13"/>
          <p:cNvSpPr/>
          <p:nvPr/>
        </p:nvSpPr>
        <p:spPr>
          <a:xfrm>
            <a:off x="5340096" y="1783080"/>
            <a:ext cx="2212848" cy="1234440"/>
          </a:xfrm>
          <a:prstGeom prst="rect">
            <a:avLst/>
          </a:prstGeom>
          <a:solidFill>
            <a:srgbClr val="FFFFFF"/>
          </a:solidFill>
          <a:ln w="9525">
            <a:solidFill>
              <a:srgbClr val="D8D4CE"/>
            </a:solidFill>
            <a:prstDash val="solid"/>
          </a:ln>
        </p:spPr>
      </p:sp>
      <p:sp>
        <p:nvSpPr>
          <p:cNvPr id="16" name="Shape 14"/>
          <p:cNvSpPr/>
          <p:nvPr/>
        </p:nvSpPr>
        <p:spPr>
          <a:xfrm>
            <a:off x="5522976" y="1947672"/>
            <a:ext cx="128016" cy="128016"/>
          </a:xfrm>
          <a:prstGeom prst="rect">
            <a:avLst/>
          </a:prstGeom>
          <a:solidFill>
            <a:srgbClr val="7A4A45"/>
          </a:solidFill>
          <a:ln/>
        </p:spPr>
      </p:sp>
      <p:sp>
        <p:nvSpPr>
          <p:cNvPr id="17" name="Text 15"/>
          <p:cNvSpPr/>
          <p:nvPr/>
        </p:nvSpPr>
        <p:spPr>
          <a:xfrm>
            <a:off x="5522976" y="2112264"/>
            <a:ext cx="1828800" cy="384048"/>
          </a:xfrm>
          <a:prstGeom prst="rect">
            <a:avLst/>
          </a:prstGeom>
          <a:noFill/>
          <a:ln/>
        </p:spPr>
        <p:txBody>
          <a:bodyPr wrap="square" lIns="0" tIns="0" rIns="0" bIns="0" rtlCol="0" anchor="ctr"/>
          <a:lstStyle/>
          <a:p>
            <a:pPr indent="0" marL="0">
              <a:buNone/>
            </a:pPr>
            <a:r>
              <a:rPr lang="en-US" sz="2100" b="1" dirty="0">
                <a:solidFill>
                  <a:srgbClr val="1A1A1A"/>
                </a:solidFill>
                <a:latin typeface="맑은 고딕" pitchFamily="34" charset="0"/>
                <a:ea typeface="맑은 고딕" pitchFamily="34" charset="-122"/>
                <a:cs typeface="맑은 고딕" pitchFamily="34" charset="-120"/>
              </a:rPr>
              <a:t>30인</a:t>
            </a:r>
            <a:endParaRPr lang="en-US" sz="2100" dirty="0"/>
          </a:p>
        </p:txBody>
      </p:sp>
      <p:sp>
        <p:nvSpPr>
          <p:cNvPr id="18" name="Text 16"/>
          <p:cNvSpPr/>
          <p:nvPr/>
        </p:nvSpPr>
        <p:spPr>
          <a:xfrm>
            <a:off x="5522976" y="2514600"/>
            <a:ext cx="1828800" cy="237744"/>
          </a:xfrm>
          <a:prstGeom prst="rect">
            <a:avLst/>
          </a:prstGeom>
          <a:noFill/>
          <a:ln/>
        </p:spPr>
        <p:txBody>
          <a:bodyPr wrap="square" lIns="0" tIns="0" rIns="0" bIns="0" rtlCol="0" anchor="ctr"/>
          <a:lstStyle/>
          <a:p>
            <a:pPr indent="0" marL="0">
              <a:buNone/>
            </a:pPr>
            <a:r>
              <a:rPr lang="en-US" sz="1100" b="1" dirty="0">
                <a:solidFill>
                  <a:srgbClr val="7A4A45"/>
                </a:solidFill>
                <a:latin typeface="맑은 고딕" pitchFamily="34" charset="0"/>
                <a:ea typeface="맑은 고딕" pitchFamily="34" charset="-122"/>
                <a:cs typeface="맑은 고딕" pitchFamily="34" charset="-120"/>
              </a:rPr>
              <a:t>구술 채록</a:t>
            </a:r>
            <a:endParaRPr lang="en-US" sz="1100" dirty="0"/>
          </a:p>
        </p:txBody>
      </p:sp>
      <p:sp>
        <p:nvSpPr>
          <p:cNvPr id="19" name="Text 17"/>
          <p:cNvSpPr/>
          <p:nvPr/>
        </p:nvSpPr>
        <p:spPr>
          <a:xfrm>
            <a:off x="5522976" y="2743200"/>
            <a:ext cx="1828800" cy="237744"/>
          </a:xfrm>
          <a:prstGeom prst="rect">
            <a:avLst/>
          </a:prstGeom>
          <a:noFill/>
          <a:ln/>
        </p:spPr>
        <p:txBody>
          <a:bodyPr wrap="square" lIns="0" tIns="0" rIns="0" bIns="0" rtlCol="0" anchor="ctr"/>
          <a:lstStyle/>
          <a:p>
            <a:pPr indent="0" marL="0">
              <a:buNone/>
            </a:pPr>
            <a:r>
              <a:rPr lang="en-US" sz="850" dirty="0">
                <a:solidFill>
                  <a:srgbClr val="8A857E"/>
                </a:solidFill>
                <a:latin typeface="맑은 고딕" pitchFamily="34" charset="0"/>
                <a:ea typeface="맑은 고딕" pitchFamily="34" charset="-122"/>
                <a:cs typeface="맑은 고딕" pitchFamily="34" charset="-120"/>
              </a:rPr>
              <a:t>주민·상인·전직 방직 노동자</a:t>
            </a:r>
            <a:endParaRPr lang="en-US" sz="850" dirty="0"/>
          </a:p>
        </p:txBody>
      </p:sp>
      <p:sp>
        <p:nvSpPr>
          <p:cNvPr id="20" name="Shape 18"/>
          <p:cNvSpPr/>
          <p:nvPr/>
        </p:nvSpPr>
        <p:spPr>
          <a:xfrm>
            <a:off x="548640" y="3200400"/>
            <a:ext cx="2212848" cy="1234440"/>
          </a:xfrm>
          <a:prstGeom prst="rect">
            <a:avLst/>
          </a:prstGeom>
          <a:solidFill>
            <a:srgbClr val="FFFFFF"/>
          </a:solidFill>
          <a:ln w="9525">
            <a:solidFill>
              <a:srgbClr val="D8D4CE"/>
            </a:solidFill>
            <a:prstDash val="solid"/>
          </a:ln>
        </p:spPr>
      </p:sp>
      <p:sp>
        <p:nvSpPr>
          <p:cNvPr id="21" name="Shape 19"/>
          <p:cNvSpPr/>
          <p:nvPr/>
        </p:nvSpPr>
        <p:spPr>
          <a:xfrm>
            <a:off x="731520" y="3364992"/>
            <a:ext cx="128016" cy="128016"/>
          </a:xfrm>
          <a:prstGeom prst="rect">
            <a:avLst/>
          </a:prstGeom>
          <a:solidFill>
            <a:srgbClr val="7A4A45"/>
          </a:solidFill>
          <a:ln/>
        </p:spPr>
      </p:sp>
      <p:sp>
        <p:nvSpPr>
          <p:cNvPr id="22" name="Text 20"/>
          <p:cNvSpPr/>
          <p:nvPr/>
        </p:nvSpPr>
        <p:spPr>
          <a:xfrm>
            <a:off x="731520" y="3529584"/>
            <a:ext cx="1828800" cy="384048"/>
          </a:xfrm>
          <a:prstGeom prst="rect">
            <a:avLst/>
          </a:prstGeom>
          <a:noFill/>
          <a:ln/>
        </p:spPr>
        <p:txBody>
          <a:bodyPr wrap="square" lIns="0" tIns="0" rIns="0" bIns="0" rtlCol="0" anchor="ctr"/>
          <a:lstStyle/>
          <a:p>
            <a:pPr indent="0" marL="0">
              <a:buNone/>
            </a:pPr>
            <a:r>
              <a:rPr lang="en-US" sz="2100" b="1" dirty="0">
                <a:solidFill>
                  <a:srgbClr val="1A1A1A"/>
                </a:solidFill>
                <a:latin typeface="맑은 고딕" pitchFamily="34" charset="0"/>
                <a:ea typeface="맑은 고딕" pitchFamily="34" charset="-122"/>
                <a:cs typeface="맑은 고딕" pitchFamily="34" charset="-120"/>
              </a:rPr>
              <a:t>500점</a:t>
            </a:r>
            <a:endParaRPr lang="en-US" sz="2100" dirty="0"/>
          </a:p>
        </p:txBody>
      </p:sp>
      <p:sp>
        <p:nvSpPr>
          <p:cNvPr id="23" name="Text 21"/>
          <p:cNvSpPr/>
          <p:nvPr/>
        </p:nvSpPr>
        <p:spPr>
          <a:xfrm>
            <a:off x="731520" y="3931920"/>
            <a:ext cx="1828800" cy="237744"/>
          </a:xfrm>
          <a:prstGeom prst="rect">
            <a:avLst/>
          </a:prstGeom>
          <a:noFill/>
          <a:ln/>
        </p:spPr>
        <p:txBody>
          <a:bodyPr wrap="square" lIns="0" tIns="0" rIns="0" bIns="0" rtlCol="0" anchor="ctr"/>
          <a:lstStyle/>
          <a:p>
            <a:pPr indent="0" marL="0">
              <a:buNone/>
            </a:pPr>
            <a:r>
              <a:rPr lang="en-US" sz="1100" b="1" dirty="0">
                <a:solidFill>
                  <a:srgbClr val="7A4A45"/>
                </a:solidFill>
                <a:latin typeface="맑은 고딕" pitchFamily="34" charset="0"/>
                <a:ea typeface="맑은 고딕" pitchFamily="34" charset="-122"/>
                <a:cs typeface="맑은 고딕" pitchFamily="34" charset="-120"/>
              </a:rPr>
              <a:t>참여 드로잉</a:t>
            </a:r>
            <a:endParaRPr lang="en-US" sz="1100" dirty="0"/>
          </a:p>
        </p:txBody>
      </p:sp>
      <p:sp>
        <p:nvSpPr>
          <p:cNvPr id="24" name="Text 22"/>
          <p:cNvSpPr/>
          <p:nvPr/>
        </p:nvSpPr>
        <p:spPr>
          <a:xfrm>
            <a:off x="731520" y="4160520"/>
            <a:ext cx="1828800" cy="237744"/>
          </a:xfrm>
          <a:prstGeom prst="rect">
            <a:avLst/>
          </a:prstGeom>
          <a:noFill/>
          <a:ln/>
        </p:spPr>
        <p:txBody>
          <a:bodyPr wrap="square" lIns="0" tIns="0" rIns="0" bIns="0" rtlCol="0" anchor="ctr"/>
          <a:lstStyle/>
          <a:p>
            <a:pPr indent="0" marL="0">
              <a:buNone/>
            </a:pPr>
            <a:r>
              <a:rPr lang="en-US" sz="850" dirty="0">
                <a:solidFill>
                  <a:srgbClr val="8A857E"/>
                </a:solidFill>
                <a:latin typeface="맑은 고딕" pitchFamily="34" charset="0"/>
                <a:ea typeface="맑은 고딕" pitchFamily="34" charset="-122"/>
                <a:cs typeface="맑은 고딕" pitchFamily="34" charset="-120"/>
              </a:rPr>
              <a:t>⑦실 상시 증축</a:t>
            </a:r>
            <a:endParaRPr lang="en-US" sz="850" dirty="0"/>
          </a:p>
        </p:txBody>
      </p:sp>
      <p:sp>
        <p:nvSpPr>
          <p:cNvPr id="25" name="Shape 23"/>
          <p:cNvSpPr/>
          <p:nvPr/>
        </p:nvSpPr>
        <p:spPr>
          <a:xfrm>
            <a:off x="2944368" y="3200400"/>
            <a:ext cx="2212848" cy="1234440"/>
          </a:xfrm>
          <a:prstGeom prst="rect">
            <a:avLst/>
          </a:prstGeom>
          <a:solidFill>
            <a:srgbClr val="FFFFFF"/>
          </a:solidFill>
          <a:ln w="9525">
            <a:solidFill>
              <a:srgbClr val="D8D4CE"/>
            </a:solidFill>
            <a:prstDash val="solid"/>
          </a:ln>
        </p:spPr>
      </p:sp>
      <p:sp>
        <p:nvSpPr>
          <p:cNvPr id="26" name="Shape 24"/>
          <p:cNvSpPr/>
          <p:nvPr/>
        </p:nvSpPr>
        <p:spPr>
          <a:xfrm>
            <a:off x="3127248" y="3364992"/>
            <a:ext cx="128016" cy="128016"/>
          </a:xfrm>
          <a:prstGeom prst="rect">
            <a:avLst/>
          </a:prstGeom>
          <a:solidFill>
            <a:srgbClr val="4A4A4A"/>
          </a:solidFill>
          <a:ln/>
        </p:spPr>
      </p:sp>
      <p:sp>
        <p:nvSpPr>
          <p:cNvPr id="27" name="Text 25"/>
          <p:cNvSpPr/>
          <p:nvPr/>
        </p:nvSpPr>
        <p:spPr>
          <a:xfrm>
            <a:off x="3127248" y="3529584"/>
            <a:ext cx="1828800" cy="384048"/>
          </a:xfrm>
          <a:prstGeom prst="rect">
            <a:avLst/>
          </a:prstGeom>
          <a:noFill/>
          <a:ln/>
        </p:spPr>
        <p:txBody>
          <a:bodyPr wrap="square" lIns="0" tIns="0" rIns="0" bIns="0" rtlCol="0" anchor="ctr"/>
          <a:lstStyle/>
          <a:p>
            <a:pPr indent="0" marL="0">
              <a:buNone/>
            </a:pPr>
            <a:r>
              <a:rPr lang="en-US" sz="2100" b="1" dirty="0">
                <a:solidFill>
                  <a:srgbClr val="1A1A1A"/>
                </a:solidFill>
                <a:latin typeface="맑은 고딕" pitchFamily="34" charset="0"/>
                <a:ea typeface="맑은 고딕" pitchFamily="34" charset="-122"/>
                <a:cs typeface="맑은 고딕" pitchFamily="34" charset="-120"/>
              </a:rPr>
              <a:t>15건</a:t>
            </a:r>
            <a:endParaRPr lang="en-US" sz="2100" dirty="0"/>
          </a:p>
        </p:txBody>
      </p:sp>
      <p:sp>
        <p:nvSpPr>
          <p:cNvPr id="28" name="Text 26"/>
          <p:cNvSpPr/>
          <p:nvPr/>
        </p:nvSpPr>
        <p:spPr>
          <a:xfrm>
            <a:off x="3127248" y="3931920"/>
            <a:ext cx="1828800" cy="237744"/>
          </a:xfrm>
          <a:prstGeom prst="rect">
            <a:avLst/>
          </a:prstGeom>
          <a:noFill/>
          <a:ln/>
        </p:spPr>
        <p:txBody>
          <a:bodyPr wrap="square" lIns="0" tIns="0" rIns="0" bIns="0" rtlCol="0" anchor="ctr"/>
          <a:lstStyle/>
          <a:p>
            <a:pPr indent="0" marL="0">
              <a:buNone/>
            </a:pPr>
            <a:r>
              <a:rPr lang="en-US" sz="1100" b="1" dirty="0">
                <a:solidFill>
                  <a:srgbClr val="4A4A4A"/>
                </a:solidFill>
                <a:latin typeface="맑은 고딕" pitchFamily="34" charset="0"/>
                <a:ea typeface="맑은 고딕" pitchFamily="34" charset="-122"/>
                <a:cs typeface="맑은 고딕" pitchFamily="34" charset="-120"/>
              </a:rPr>
              <a:t>언론 보도</a:t>
            </a:r>
            <a:endParaRPr lang="en-US" sz="1100" dirty="0"/>
          </a:p>
        </p:txBody>
      </p:sp>
      <p:sp>
        <p:nvSpPr>
          <p:cNvPr id="29" name="Text 27"/>
          <p:cNvSpPr/>
          <p:nvPr/>
        </p:nvSpPr>
        <p:spPr>
          <a:xfrm>
            <a:off x="3127248" y="4160520"/>
            <a:ext cx="1828800" cy="237744"/>
          </a:xfrm>
          <a:prstGeom prst="rect">
            <a:avLst/>
          </a:prstGeom>
          <a:noFill/>
          <a:ln/>
        </p:spPr>
        <p:txBody>
          <a:bodyPr wrap="square" lIns="0" tIns="0" rIns="0" bIns="0" rtlCol="0" anchor="ctr"/>
          <a:lstStyle/>
          <a:p>
            <a:pPr indent="0" marL="0">
              <a:buNone/>
            </a:pPr>
            <a:r>
              <a:rPr lang="en-US" sz="850" dirty="0">
                <a:solidFill>
                  <a:srgbClr val="8A857E"/>
                </a:solidFill>
                <a:latin typeface="맑은 고딕" pitchFamily="34" charset="0"/>
                <a:ea typeface="맑은 고딕" pitchFamily="34" charset="-122"/>
                <a:cs typeface="맑은 고딕" pitchFamily="34" charset="-120"/>
              </a:rPr>
              <a:t>SNS 도달 30만 · 숏폼 8편</a:t>
            </a:r>
            <a:endParaRPr lang="en-US" sz="850" dirty="0"/>
          </a:p>
        </p:txBody>
      </p:sp>
      <p:sp>
        <p:nvSpPr>
          <p:cNvPr id="30" name="Shape 28"/>
          <p:cNvSpPr/>
          <p:nvPr/>
        </p:nvSpPr>
        <p:spPr>
          <a:xfrm>
            <a:off x="5340096" y="3200400"/>
            <a:ext cx="2212848" cy="1234440"/>
          </a:xfrm>
          <a:prstGeom prst="rect">
            <a:avLst/>
          </a:prstGeom>
          <a:solidFill>
            <a:srgbClr val="FFFFFF"/>
          </a:solidFill>
          <a:ln w="9525">
            <a:solidFill>
              <a:srgbClr val="D8D4CE"/>
            </a:solidFill>
            <a:prstDash val="solid"/>
          </a:ln>
        </p:spPr>
      </p:sp>
      <p:sp>
        <p:nvSpPr>
          <p:cNvPr id="31" name="Shape 29"/>
          <p:cNvSpPr/>
          <p:nvPr/>
        </p:nvSpPr>
        <p:spPr>
          <a:xfrm>
            <a:off x="5522976" y="3364992"/>
            <a:ext cx="128016" cy="128016"/>
          </a:xfrm>
          <a:prstGeom prst="rect">
            <a:avLst/>
          </a:prstGeom>
          <a:solidFill>
            <a:srgbClr val="4A4A4A"/>
          </a:solidFill>
          <a:ln/>
        </p:spPr>
      </p:sp>
      <p:sp>
        <p:nvSpPr>
          <p:cNvPr id="32" name="Text 30"/>
          <p:cNvSpPr/>
          <p:nvPr/>
        </p:nvSpPr>
        <p:spPr>
          <a:xfrm>
            <a:off x="5522976" y="3529584"/>
            <a:ext cx="1828800" cy="384048"/>
          </a:xfrm>
          <a:prstGeom prst="rect">
            <a:avLst/>
          </a:prstGeom>
          <a:noFill/>
          <a:ln/>
        </p:spPr>
        <p:txBody>
          <a:bodyPr wrap="square" lIns="0" tIns="0" rIns="0" bIns="0" rtlCol="0" anchor="ctr"/>
          <a:lstStyle/>
          <a:p>
            <a:pPr indent="0" marL="0">
              <a:buNone/>
            </a:pPr>
            <a:r>
              <a:rPr lang="en-US" sz="2100" b="1" dirty="0">
                <a:solidFill>
                  <a:srgbClr val="1A1A1A"/>
                </a:solidFill>
                <a:latin typeface="맑은 고딕" pitchFamily="34" charset="0"/>
                <a:ea typeface="맑은 고딕" pitchFamily="34" charset="-122"/>
                <a:cs typeface="맑은 고딕" pitchFamily="34" charset="-120"/>
              </a:rPr>
              <a:t>300건</a:t>
            </a:r>
            <a:endParaRPr lang="en-US" sz="2100" dirty="0"/>
          </a:p>
        </p:txBody>
      </p:sp>
      <p:sp>
        <p:nvSpPr>
          <p:cNvPr id="33" name="Text 31"/>
          <p:cNvSpPr/>
          <p:nvPr/>
        </p:nvSpPr>
        <p:spPr>
          <a:xfrm>
            <a:off x="5522976" y="3931920"/>
            <a:ext cx="1828800" cy="237744"/>
          </a:xfrm>
          <a:prstGeom prst="rect">
            <a:avLst/>
          </a:prstGeom>
          <a:noFill/>
          <a:ln/>
        </p:spPr>
        <p:txBody>
          <a:bodyPr wrap="square" lIns="0" tIns="0" rIns="0" bIns="0" rtlCol="0" anchor="ctr"/>
          <a:lstStyle/>
          <a:p>
            <a:pPr indent="0" marL="0">
              <a:buNone/>
            </a:pPr>
            <a:r>
              <a:rPr lang="en-US" sz="1100" b="1" dirty="0">
                <a:solidFill>
                  <a:srgbClr val="4A4A4A"/>
                </a:solidFill>
                <a:latin typeface="맑은 고딕" pitchFamily="34" charset="0"/>
                <a:ea typeface="맑은 고딕" pitchFamily="34" charset="-122"/>
                <a:cs typeface="맑은 고딕" pitchFamily="34" charset="-120"/>
              </a:rPr>
              <a:t>아카이브 구축</a:t>
            </a:r>
            <a:endParaRPr lang="en-US" sz="1100" dirty="0"/>
          </a:p>
        </p:txBody>
      </p:sp>
      <p:sp>
        <p:nvSpPr>
          <p:cNvPr id="34" name="Text 32"/>
          <p:cNvSpPr/>
          <p:nvPr/>
        </p:nvSpPr>
        <p:spPr>
          <a:xfrm>
            <a:off x="5522976" y="4160520"/>
            <a:ext cx="1828800" cy="237744"/>
          </a:xfrm>
          <a:prstGeom prst="rect">
            <a:avLst/>
          </a:prstGeom>
          <a:noFill/>
          <a:ln/>
        </p:spPr>
        <p:txBody>
          <a:bodyPr wrap="square" lIns="0" tIns="0" rIns="0" bIns="0" rtlCol="0" anchor="ctr"/>
          <a:lstStyle/>
          <a:p>
            <a:pPr indent="0" marL="0">
              <a:buNone/>
            </a:pPr>
            <a:r>
              <a:rPr lang="en-US" sz="850" dirty="0">
                <a:solidFill>
                  <a:srgbClr val="8A857E"/>
                </a:solidFill>
                <a:latin typeface="맑은 고딕" pitchFamily="34" charset="0"/>
                <a:ea typeface="맑은 고딕" pitchFamily="34" charset="-122"/>
                <a:cs typeface="맑은 고딕" pitchFamily="34" charset="-120"/>
              </a:rPr>
              <a:t>도록 1권 · 비평문 3편</a:t>
            </a:r>
            <a:endParaRPr lang="en-US" sz="850" dirty="0"/>
          </a:p>
        </p:txBody>
      </p:sp>
      <p:sp>
        <p:nvSpPr>
          <p:cNvPr id="35" name="Shape 33"/>
          <p:cNvSpPr/>
          <p:nvPr/>
        </p:nvSpPr>
        <p:spPr>
          <a:xfrm>
            <a:off x="7863840" y="1783080"/>
            <a:ext cx="3749040" cy="2697480"/>
          </a:xfrm>
          <a:prstGeom prst="rect">
            <a:avLst/>
          </a:prstGeom>
          <a:solidFill>
            <a:srgbClr val="1A1A1A"/>
          </a:solidFill>
          <a:ln/>
        </p:spPr>
      </p:sp>
      <p:sp>
        <p:nvSpPr>
          <p:cNvPr id="36" name="Text 34"/>
          <p:cNvSpPr/>
          <p:nvPr/>
        </p:nvSpPr>
        <p:spPr>
          <a:xfrm>
            <a:off x="8119872" y="1965960"/>
            <a:ext cx="3291840" cy="274320"/>
          </a:xfrm>
          <a:prstGeom prst="rect">
            <a:avLst/>
          </a:prstGeom>
          <a:noFill/>
          <a:ln/>
        </p:spPr>
        <p:txBody>
          <a:bodyPr wrap="square" lIns="0" tIns="0" rIns="0" bIns="0" rtlCol="0" anchor="ctr"/>
          <a:lstStyle/>
          <a:p>
            <a:pPr indent="0" marL="0">
              <a:buNone/>
            </a:pPr>
            <a:r>
              <a:rPr lang="en-US" sz="1250" b="1" dirty="0">
                <a:solidFill>
                  <a:srgbClr val="FFFFFF"/>
                </a:solidFill>
                <a:latin typeface="맑은 고딕" pitchFamily="34" charset="0"/>
                <a:ea typeface="맑은 고딕" pitchFamily="34" charset="-122"/>
                <a:cs typeface="맑은 고딕" pitchFamily="34" charset="-120"/>
              </a:rPr>
              <a:t>정성적 효과</a:t>
            </a:r>
            <a:endParaRPr lang="en-US" sz="1250" dirty="0"/>
          </a:p>
        </p:txBody>
      </p:sp>
      <p:sp>
        <p:nvSpPr>
          <p:cNvPr id="37" name="Text 35"/>
          <p:cNvSpPr/>
          <p:nvPr/>
        </p:nvSpPr>
        <p:spPr>
          <a:xfrm>
            <a:off x="8119872" y="2331720"/>
            <a:ext cx="3291840" cy="2011680"/>
          </a:xfrm>
          <a:prstGeom prst="rect">
            <a:avLst/>
          </a:prstGeom>
          <a:noFill/>
          <a:ln/>
        </p:spPr>
        <p:txBody>
          <a:bodyPr wrap="square" lIns="0" tIns="0" rIns="0" bIns="0" rtlCol="0" anchor="ctr"/>
          <a:lstStyle/>
          <a:p>
            <a:pPr indent="0" marL="0">
              <a:lnSpc>
                <a:spcPts val="1600"/>
              </a:lnSpc>
              <a:buNone/>
            </a:pPr>
            <a:r>
              <a:rPr lang="en-US" sz="1000" dirty="0">
                <a:solidFill>
                  <a:srgbClr val="CFC8BE"/>
                </a:solidFill>
                <a:latin typeface="맑은 고딕" pitchFamily="34" charset="0"/>
                <a:ea typeface="맑은 고딕" pitchFamily="34" charset="-122"/>
                <a:cs typeface="맑은 고딕" pitchFamily="34" charset="-120"/>
              </a:rPr>
              <a:t>· 노후 가옥의 문화적 재생 모델 — 철거·리모델링이 아닌 '읽고 덧대는' 방식의 선례</a:t>
            </a:r>
            <a:endParaRPr lang="en-US" sz="1000" dirty="0"/>
          </a:p>
          <a:p>
            <a:pPr indent="0" marL="0">
              <a:lnSpc>
                <a:spcPts val="1600"/>
              </a:lnSpc>
              <a:buNone/>
            </a:pPr>
            <a:r>
              <a:rPr lang="en-US" sz="1000" dirty="0">
                <a:solidFill>
                  <a:srgbClr val="CFC8BE"/>
                </a:solidFill>
                <a:latin typeface="맑은 고딕" pitchFamily="34" charset="0"/>
                <a:ea typeface="맑은 고딕" pitchFamily="34" charset="-122"/>
                <a:cs typeface="맑은 고딕" pitchFamily="34" charset="-120"/>
              </a:rPr>
              <a:t>· 조방 터와 복개천 기억의 공공 자산화 — 재개발 이전에 기록을 확보</a:t>
            </a:r>
            <a:endParaRPr lang="en-US" sz="1000" dirty="0"/>
          </a:p>
          <a:p>
            <a:pPr indent="0" marL="0">
              <a:lnSpc>
                <a:spcPts val="1600"/>
              </a:lnSpc>
              <a:buNone/>
            </a:pPr>
            <a:r>
              <a:rPr lang="en-US" sz="1000" dirty="0">
                <a:solidFill>
                  <a:srgbClr val="CFC8BE"/>
                </a:solidFill>
                <a:latin typeface="맑은 고딕" pitchFamily="34" charset="0"/>
                <a:ea typeface="맑은 고딕" pitchFamily="34" charset="-122"/>
                <a:cs typeface="맑은 고딕" pitchFamily="34" charset="-120"/>
              </a:rPr>
              <a:t>· 상권–예술 연계 — 진시장 12개 상점을 관람 동선에 편입</a:t>
            </a:r>
            <a:endParaRPr lang="en-US" sz="1000" dirty="0"/>
          </a:p>
          <a:p>
            <a:pPr indent="0" marL="0">
              <a:lnSpc>
                <a:spcPts val="1600"/>
              </a:lnSpc>
              <a:buNone/>
            </a:pPr>
            <a:r>
              <a:rPr lang="en-US" sz="1000" dirty="0">
                <a:solidFill>
                  <a:srgbClr val="CFC8BE"/>
                </a:solidFill>
                <a:latin typeface="맑은 고딕" pitchFamily="34" charset="0"/>
                <a:ea typeface="맑은 고딕" pitchFamily="34" charset="-122"/>
                <a:cs typeface="맑은 고딕" pitchFamily="34" charset="-120"/>
              </a:rPr>
              <a:t>· 기업 ESG의 지역 밀착 서사 — 기부가 아니라 '함께 짠 결과물'</a:t>
            </a:r>
            <a:endParaRPr lang="en-US" sz="1000" dirty="0"/>
          </a:p>
          <a:p>
            <a:pPr indent="0" marL="0">
              <a:lnSpc>
                <a:spcPts val="1600"/>
              </a:lnSpc>
              <a:buNone/>
            </a:pPr>
            <a:r>
              <a:rPr lang="en-US" sz="1000" dirty="0">
                <a:solidFill>
                  <a:srgbClr val="CFC8BE"/>
                </a:solidFill>
                <a:latin typeface="맑은 고딕" pitchFamily="34" charset="0"/>
                <a:ea typeface="맑은 고딕" pitchFamily="34" charset="-122"/>
                <a:cs typeface="맑은 고딕" pitchFamily="34" charset="-120"/>
              </a:rPr>
              <a:t>· 신진작가 성장 트랙 — 비평·아카이브·순회로 이어지는 후속 지원</a:t>
            </a:r>
            <a:endParaRPr lang="en-US" sz="1000" dirty="0"/>
          </a:p>
        </p:txBody>
      </p:sp>
      <p:sp>
        <p:nvSpPr>
          <p:cNvPr id="38" name="Shape 36"/>
          <p:cNvSpPr/>
          <p:nvPr/>
        </p:nvSpPr>
        <p:spPr>
          <a:xfrm>
            <a:off x="548640" y="4709160"/>
            <a:ext cx="11064240" cy="1417320"/>
          </a:xfrm>
          <a:prstGeom prst="rect">
            <a:avLst/>
          </a:prstGeom>
          <a:solidFill>
            <a:srgbClr val="F3F1ED"/>
          </a:solidFill>
          <a:ln/>
        </p:spPr>
      </p:sp>
      <p:sp>
        <p:nvSpPr>
          <p:cNvPr id="39" name="Text 37"/>
          <p:cNvSpPr/>
          <p:nvPr/>
        </p:nvSpPr>
        <p:spPr>
          <a:xfrm>
            <a:off x="822960" y="4864608"/>
            <a:ext cx="4572000" cy="274320"/>
          </a:xfrm>
          <a:prstGeom prst="rect">
            <a:avLst/>
          </a:prstGeom>
          <a:noFill/>
          <a:ln/>
        </p:spPr>
        <p:txBody>
          <a:bodyPr wrap="square" lIns="0" tIns="0" rIns="0" bIns="0" rtlCol="0" anchor="ctr"/>
          <a:lstStyle/>
          <a:p>
            <a:pPr indent="0" marL="0">
              <a:buNone/>
            </a:pPr>
            <a:r>
              <a:rPr lang="en-US" sz="1200" b="1" dirty="0">
                <a:solidFill>
                  <a:srgbClr val="1A1A1A"/>
                </a:solidFill>
                <a:latin typeface="맑은 고딕" pitchFamily="34" charset="0"/>
                <a:ea typeface="맑은 고딕" pitchFamily="34" charset="-122"/>
                <a:cs typeface="맑은 고딕" pitchFamily="34" charset="-120"/>
              </a:rPr>
              <a:t>측정과 보고</a:t>
            </a:r>
            <a:endParaRPr lang="en-US" sz="1200" dirty="0"/>
          </a:p>
        </p:txBody>
      </p:sp>
      <p:sp>
        <p:nvSpPr>
          <p:cNvPr id="40" name="Text 38"/>
          <p:cNvSpPr/>
          <p:nvPr/>
        </p:nvSpPr>
        <p:spPr>
          <a:xfrm>
            <a:off x="822960" y="5212080"/>
            <a:ext cx="2560320" cy="256032"/>
          </a:xfrm>
          <a:prstGeom prst="rect">
            <a:avLst/>
          </a:prstGeom>
          <a:noFill/>
          <a:ln/>
        </p:spPr>
        <p:txBody>
          <a:bodyPr wrap="square" lIns="0" tIns="0" rIns="0" bIns="0" rtlCol="0" anchor="ctr"/>
          <a:lstStyle/>
          <a:p>
            <a:pPr indent="0" marL="0">
              <a:buNone/>
            </a:pPr>
            <a:r>
              <a:rPr lang="en-US" sz="1050" b="1" dirty="0">
                <a:solidFill>
                  <a:srgbClr val="2F4858"/>
                </a:solidFill>
                <a:latin typeface="맑은 고딕" pitchFamily="34" charset="0"/>
                <a:ea typeface="맑은 고딕" pitchFamily="34" charset="-122"/>
                <a:cs typeface="맑은 고딕" pitchFamily="34" charset="-120"/>
              </a:rPr>
              <a:t>주간</a:t>
            </a:r>
            <a:endParaRPr lang="en-US" sz="1050" dirty="0"/>
          </a:p>
        </p:txBody>
      </p:sp>
      <p:sp>
        <p:nvSpPr>
          <p:cNvPr id="41" name="Text 39"/>
          <p:cNvSpPr/>
          <p:nvPr/>
        </p:nvSpPr>
        <p:spPr>
          <a:xfrm>
            <a:off x="822960" y="5468112"/>
            <a:ext cx="2560320" cy="548640"/>
          </a:xfrm>
          <a:prstGeom prst="rect">
            <a:avLst/>
          </a:prstGeom>
          <a:noFill/>
          <a:ln/>
        </p:spPr>
        <p:txBody>
          <a:bodyPr wrap="square" lIns="0" tIns="0" rIns="0" bIns="0" rtlCol="0" anchor="ctr"/>
          <a:lstStyle/>
          <a:p>
            <a:pPr indent="0" marL="0">
              <a:lnSpc>
                <a:spcPts val="1300"/>
              </a:lnSpc>
              <a:buNone/>
            </a:pPr>
            <a:r>
              <a:rPr lang="en-US" sz="900" dirty="0">
                <a:solidFill>
                  <a:srgbClr val="4A453F"/>
                </a:solidFill>
                <a:latin typeface="맑은 고딕" pitchFamily="34" charset="0"/>
                <a:ea typeface="맑은 고딕" pitchFamily="34" charset="-122"/>
                <a:cs typeface="맑은 고딕" pitchFamily="34" charset="-120"/>
              </a:rPr>
              <a:t>관람객 카운터·회차별 예약률·프로그램 만족도(5점 척도)</a:t>
            </a:r>
            <a:endParaRPr lang="en-US" sz="900" dirty="0"/>
          </a:p>
        </p:txBody>
      </p:sp>
      <p:sp>
        <p:nvSpPr>
          <p:cNvPr id="42" name="Text 40"/>
          <p:cNvSpPr/>
          <p:nvPr/>
        </p:nvSpPr>
        <p:spPr>
          <a:xfrm>
            <a:off x="3547872" y="5212080"/>
            <a:ext cx="2560320" cy="256032"/>
          </a:xfrm>
          <a:prstGeom prst="rect">
            <a:avLst/>
          </a:prstGeom>
          <a:noFill/>
          <a:ln/>
        </p:spPr>
        <p:txBody>
          <a:bodyPr wrap="square" lIns="0" tIns="0" rIns="0" bIns="0" rtlCol="0" anchor="ctr"/>
          <a:lstStyle/>
          <a:p>
            <a:pPr indent="0" marL="0">
              <a:buNone/>
            </a:pPr>
            <a:r>
              <a:rPr lang="en-US" sz="1050" b="1" dirty="0">
                <a:solidFill>
                  <a:srgbClr val="2F4858"/>
                </a:solidFill>
                <a:latin typeface="맑은 고딕" pitchFamily="34" charset="0"/>
                <a:ea typeface="맑은 고딕" pitchFamily="34" charset="-122"/>
                <a:cs typeface="맑은 고딕" pitchFamily="34" charset="-120"/>
              </a:rPr>
              <a:t>월간</a:t>
            </a:r>
            <a:endParaRPr lang="en-US" sz="1050" dirty="0"/>
          </a:p>
        </p:txBody>
      </p:sp>
      <p:sp>
        <p:nvSpPr>
          <p:cNvPr id="43" name="Text 41"/>
          <p:cNvSpPr/>
          <p:nvPr/>
        </p:nvSpPr>
        <p:spPr>
          <a:xfrm>
            <a:off x="3547872" y="5468112"/>
            <a:ext cx="2560320" cy="548640"/>
          </a:xfrm>
          <a:prstGeom prst="rect">
            <a:avLst/>
          </a:prstGeom>
          <a:noFill/>
          <a:ln/>
        </p:spPr>
        <p:txBody>
          <a:bodyPr wrap="square" lIns="0" tIns="0" rIns="0" bIns="0" rtlCol="0" anchor="ctr"/>
          <a:lstStyle/>
          <a:p>
            <a:pPr indent="0" marL="0">
              <a:lnSpc>
                <a:spcPts val="1300"/>
              </a:lnSpc>
              <a:buNone/>
            </a:pPr>
            <a:r>
              <a:rPr lang="en-US" sz="900" dirty="0">
                <a:solidFill>
                  <a:srgbClr val="4A453F"/>
                </a:solidFill>
                <a:latin typeface="맑은 고딕" pitchFamily="34" charset="0"/>
                <a:ea typeface="맑은 고딕" pitchFamily="34" charset="-122"/>
                <a:cs typeface="맑은 고딕" pitchFamily="34" charset="-120"/>
              </a:rPr>
              <a:t>기관·후원사 대상 진행 리포트(관람·미디어·아카이브 3면 지표)</a:t>
            </a:r>
            <a:endParaRPr lang="en-US" sz="900" dirty="0"/>
          </a:p>
        </p:txBody>
      </p:sp>
      <p:sp>
        <p:nvSpPr>
          <p:cNvPr id="44" name="Text 42"/>
          <p:cNvSpPr/>
          <p:nvPr/>
        </p:nvSpPr>
        <p:spPr>
          <a:xfrm>
            <a:off x="6272784" y="5212080"/>
            <a:ext cx="2560320" cy="256032"/>
          </a:xfrm>
          <a:prstGeom prst="rect">
            <a:avLst/>
          </a:prstGeom>
          <a:noFill/>
          <a:ln/>
        </p:spPr>
        <p:txBody>
          <a:bodyPr wrap="square" lIns="0" tIns="0" rIns="0" bIns="0" rtlCol="0" anchor="ctr"/>
          <a:lstStyle/>
          <a:p>
            <a:pPr indent="0" marL="0">
              <a:buNone/>
            </a:pPr>
            <a:r>
              <a:rPr lang="en-US" sz="1050" b="1" dirty="0">
                <a:solidFill>
                  <a:srgbClr val="2F4858"/>
                </a:solidFill>
                <a:latin typeface="맑은 고딕" pitchFamily="34" charset="0"/>
                <a:ea typeface="맑은 고딕" pitchFamily="34" charset="-122"/>
                <a:cs typeface="맑은 고딕" pitchFamily="34" charset="-120"/>
              </a:rPr>
              <a:t>종료</a:t>
            </a:r>
            <a:endParaRPr lang="en-US" sz="1050" dirty="0"/>
          </a:p>
        </p:txBody>
      </p:sp>
      <p:sp>
        <p:nvSpPr>
          <p:cNvPr id="45" name="Text 43"/>
          <p:cNvSpPr/>
          <p:nvPr/>
        </p:nvSpPr>
        <p:spPr>
          <a:xfrm>
            <a:off x="6272784" y="5468112"/>
            <a:ext cx="2560320" cy="548640"/>
          </a:xfrm>
          <a:prstGeom prst="rect">
            <a:avLst/>
          </a:prstGeom>
          <a:noFill/>
          <a:ln/>
        </p:spPr>
        <p:txBody>
          <a:bodyPr wrap="square" lIns="0" tIns="0" rIns="0" bIns="0" rtlCol="0" anchor="ctr"/>
          <a:lstStyle/>
          <a:p>
            <a:pPr indent="0" marL="0">
              <a:lnSpc>
                <a:spcPts val="1300"/>
              </a:lnSpc>
              <a:buNone/>
            </a:pPr>
            <a:r>
              <a:rPr lang="en-US" sz="900" dirty="0">
                <a:solidFill>
                  <a:srgbClr val="4A453F"/>
                </a:solidFill>
                <a:latin typeface="맑은 고딕" pitchFamily="34" charset="0"/>
                <a:ea typeface="맑은 고딕" pitchFamily="34" charset="-122"/>
                <a:cs typeface="맑은 고딕" pitchFamily="34" charset="-120"/>
              </a:rPr>
              <a:t>결과보고서 1식 + 후원사 전용 ESG 리포트 + 도록·아카이브 납품</a:t>
            </a:r>
            <a:endParaRPr lang="en-US" sz="900" dirty="0"/>
          </a:p>
        </p:txBody>
      </p:sp>
      <p:sp>
        <p:nvSpPr>
          <p:cNvPr id="46" name="Text 44"/>
          <p:cNvSpPr/>
          <p:nvPr/>
        </p:nvSpPr>
        <p:spPr>
          <a:xfrm>
            <a:off x="8997696" y="5212080"/>
            <a:ext cx="2560320" cy="256032"/>
          </a:xfrm>
          <a:prstGeom prst="rect">
            <a:avLst/>
          </a:prstGeom>
          <a:noFill/>
          <a:ln/>
        </p:spPr>
        <p:txBody>
          <a:bodyPr wrap="square" lIns="0" tIns="0" rIns="0" bIns="0" rtlCol="0" anchor="ctr"/>
          <a:lstStyle/>
          <a:p>
            <a:pPr indent="0" marL="0">
              <a:buNone/>
            </a:pPr>
            <a:r>
              <a:rPr lang="en-US" sz="1050" b="1" dirty="0">
                <a:solidFill>
                  <a:srgbClr val="2F4858"/>
                </a:solidFill>
                <a:latin typeface="맑은 고딕" pitchFamily="34" charset="0"/>
                <a:ea typeface="맑은 고딕" pitchFamily="34" charset="-122"/>
                <a:cs typeface="맑은 고딕" pitchFamily="34" charset="-120"/>
              </a:rPr>
              <a:t>사후</a:t>
            </a:r>
            <a:endParaRPr lang="en-US" sz="1050" dirty="0"/>
          </a:p>
        </p:txBody>
      </p:sp>
      <p:sp>
        <p:nvSpPr>
          <p:cNvPr id="47" name="Text 45"/>
          <p:cNvSpPr/>
          <p:nvPr/>
        </p:nvSpPr>
        <p:spPr>
          <a:xfrm>
            <a:off x="8997696" y="5468112"/>
            <a:ext cx="2560320" cy="548640"/>
          </a:xfrm>
          <a:prstGeom prst="rect">
            <a:avLst/>
          </a:prstGeom>
          <a:noFill/>
          <a:ln/>
        </p:spPr>
        <p:txBody>
          <a:bodyPr wrap="square" lIns="0" tIns="0" rIns="0" bIns="0" rtlCol="0" anchor="ctr"/>
          <a:lstStyle/>
          <a:p>
            <a:pPr indent="0" marL="0">
              <a:lnSpc>
                <a:spcPts val="1300"/>
              </a:lnSpc>
              <a:buNone/>
            </a:pPr>
            <a:r>
              <a:rPr lang="en-US" sz="900" dirty="0">
                <a:solidFill>
                  <a:srgbClr val="4A453F"/>
                </a:solidFill>
                <a:latin typeface="맑은 고딕" pitchFamily="34" charset="0"/>
                <a:ea typeface="맑은 고딕" pitchFamily="34" charset="-122"/>
                <a:cs typeface="맑은 고딕" pitchFamily="34" charset="-120"/>
              </a:rPr>
              <a:t>폐막 3개월 후 도서관 이관·순회 협의 현황 추가 보고</a:t>
            </a:r>
            <a:endParaRPr lang="en-US" sz="900" dirty="0"/>
          </a:p>
        </p:txBody>
      </p:sp>
      <p:sp>
        <p:nvSpPr>
          <p:cNvPr id="48" name="Text 46"/>
          <p:cNvSpPr/>
          <p:nvPr/>
        </p:nvSpPr>
        <p:spPr>
          <a:xfrm>
            <a:off x="548640" y="6419088"/>
            <a:ext cx="7315200" cy="274320"/>
          </a:xfrm>
          <a:prstGeom prst="rect">
            <a:avLst/>
          </a:prstGeom>
          <a:noFill/>
          <a:ln/>
        </p:spPr>
        <p:txBody>
          <a:bodyPr wrap="square" lIns="0" tIns="0" rIns="0" bIns="0" rtlCol="0" anchor="ctr"/>
          <a:lstStyle/>
          <a:p>
            <a:pPr algn="l" indent="0" marL="0">
              <a:buNone/>
            </a:pPr>
            <a:r>
              <a:rPr lang="en-US" sz="800" dirty="0">
                <a:solidFill>
                  <a:srgbClr val="8A857E"/>
                </a:solidFill>
                <a:latin typeface="맑은 고딕" pitchFamily="34" charset="0"/>
                <a:ea typeface="맑은 고딕" pitchFamily="34" charset="-122"/>
                <a:cs typeface="맑은 고딕" pitchFamily="34" charset="-120"/>
              </a:rPr>
              <a:t>아이테르 문화예술기획제안서   ·   덮인 물, 남은 올   ·   기획 추병곤</a:t>
            </a:r>
            <a:endParaRPr lang="en-US" sz="800" dirty="0"/>
          </a:p>
        </p:txBody>
      </p:sp>
      <p:sp>
        <p:nvSpPr>
          <p:cNvPr id="49" name="Text 47"/>
          <p:cNvSpPr/>
          <p:nvPr/>
        </p:nvSpPr>
        <p:spPr>
          <a:xfrm>
            <a:off x="10972800" y="6419088"/>
            <a:ext cx="640080" cy="274320"/>
          </a:xfrm>
          <a:prstGeom prst="rect">
            <a:avLst/>
          </a:prstGeom>
          <a:noFill/>
          <a:ln/>
        </p:spPr>
        <p:txBody>
          <a:bodyPr wrap="square" lIns="0" tIns="0" rIns="0" bIns="0" rtlCol="0" anchor="ctr"/>
          <a:lstStyle/>
          <a:p>
            <a:pPr algn="r" indent="0" marL="0">
              <a:buNone/>
            </a:pPr>
            <a:r>
              <a:rPr lang="en-US" sz="900" dirty="0">
                <a:solidFill>
                  <a:srgbClr val="8A857E"/>
                </a:solidFill>
                <a:latin typeface="Cambria" pitchFamily="34" charset="0"/>
                <a:ea typeface="Cambria" pitchFamily="34" charset="-122"/>
                <a:cs typeface="Cambria"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7315200" cy="237744"/>
          </a:xfrm>
          <a:prstGeom prst="rect">
            <a:avLst/>
          </a:prstGeom>
          <a:noFill/>
          <a:ln/>
        </p:spPr>
        <p:txBody>
          <a:bodyPr wrap="square" lIns="0" tIns="0" rIns="0" bIns="0" rtlCol="0" anchor="ctr"/>
          <a:lstStyle/>
          <a:p>
            <a:pPr indent="0" marL="0">
              <a:buNone/>
            </a:pPr>
            <a:r>
              <a:rPr lang="en-US" sz="1050" spc="250" kern="0" dirty="0">
                <a:solidFill>
                  <a:srgbClr val="8A857E"/>
                </a:solidFill>
                <a:latin typeface="Cambria" pitchFamily="34" charset="0"/>
                <a:ea typeface="Cambria" pitchFamily="34" charset="-122"/>
                <a:cs typeface="Cambria" pitchFamily="34" charset="-120"/>
              </a:rPr>
              <a:t>21  RISK</a:t>
            </a:r>
            <a:endParaRPr lang="en-US" sz="1050" dirty="0"/>
          </a:p>
        </p:txBody>
      </p:sp>
      <p:sp>
        <p:nvSpPr>
          <p:cNvPr id="3" name="Text 1"/>
          <p:cNvSpPr/>
          <p:nvPr/>
        </p:nvSpPr>
        <p:spPr>
          <a:xfrm>
            <a:off x="548640" y="694944"/>
            <a:ext cx="10058400" cy="502920"/>
          </a:xfrm>
          <a:prstGeom prst="rect">
            <a:avLst/>
          </a:prstGeom>
          <a:noFill/>
          <a:ln/>
        </p:spPr>
        <p:txBody>
          <a:bodyPr wrap="square" lIns="0" tIns="0" rIns="0" bIns="0" rtlCol="0" anchor="ctr"/>
          <a:lstStyle/>
          <a:p>
            <a:pPr indent="0" marL="0">
              <a:buNone/>
            </a:pPr>
            <a:r>
              <a:rPr lang="en-US" sz="2700" b="1" dirty="0">
                <a:solidFill>
                  <a:srgbClr val="1A1A1A"/>
                </a:solidFill>
                <a:latin typeface="맑은 고딕" pitchFamily="34" charset="0"/>
                <a:ea typeface="맑은 고딕" pitchFamily="34" charset="-122"/>
                <a:cs typeface="맑은 고딕" pitchFamily="34" charset="-120"/>
              </a:rPr>
              <a:t>리스크 관리 및 안전 계획</a:t>
            </a:r>
            <a:endParaRPr lang="en-US" sz="2700" dirty="0"/>
          </a:p>
        </p:txBody>
      </p:sp>
      <p:sp>
        <p:nvSpPr>
          <p:cNvPr id="4" name="Text 2"/>
          <p:cNvSpPr/>
          <p:nvPr/>
        </p:nvSpPr>
        <p:spPr>
          <a:xfrm>
            <a:off x="548640" y="1225296"/>
            <a:ext cx="10607040" cy="310896"/>
          </a:xfrm>
          <a:prstGeom prst="rect">
            <a:avLst/>
          </a:prstGeom>
          <a:noFill/>
          <a:ln/>
        </p:spPr>
        <p:txBody>
          <a:bodyPr wrap="square" lIns="0" tIns="0" rIns="0" bIns="0" rtlCol="0" anchor="ctr"/>
          <a:lstStyle/>
          <a:p>
            <a:pPr indent="0" marL="0">
              <a:buNone/>
            </a:pPr>
            <a:r>
              <a:rPr lang="en-US" sz="1200" dirty="0">
                <a:solidFill>
                  <a:srgbClr val="8A857E"/>
                </a:solidFill>
                <a:latin typeface="맑은 고딕" pitchFamily="34" charset="0"/>
                <a:ea typeface="맑은 고딕" pitchFamily="34" charset="-122"/>
                <a:cs typeface="맑은 고딕" pitchFamily="34" charset="-120"/>
              </a:rPr>
              <a:t>노후 목조 가옥에서 전시를 여는 일의 실제 — 위험을 먼저 적고, 담당과 조치를 붙인다</a:t>
            </a:r>
            <a:endParaRPr lang="en-US" sz="12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48640" y="1700784"/>
          <a:ext cx="11064240" cy="914400"/>
        </p:xfrm>
        <a:graphic>
          <a:graphicData uri="http://schemas.openxmlformats.org/drawingml/2006/table">
            <a:tbl>
              <a:tblPr/>
              <a:tblGrid>
                <a:gridCol w="2377440"/>
                <a:gridCol w="777240"/>
                <a:gridCol w="777240"/>
                <a:gridCol w="7132320"/>
              </a:tblGrid>
              <a:tr h="402336">
                <a:tc>
                  <a:txBody>
                    <a:bodyPr/>
                    <a:lstStyle/>
                    <a:p>
                      <a:pPr algn="l" indent="0" marL="0">
                        <a:buNone/>
                      </a:pPr>
                      <a:r>
                        <a:rPr lang="en-US" sz="1050" b="1" dirty="0">
                          <a:solidFill>
                            <a:srgbClr val="FFFFFF"/>
                          </a:solidFill>
                          <a:latin typeface="맑은 고딕" pitchFamily="34" charset="0"/>
                          <a:ea typeface="맑은 고딕" pitchFamily="34" charset="-122"/>
                          <a:cs typeface="맑은 고딕" pitchFamily="34" charset="-120"/>
                        </a:rPr>
                        <a:t>위험 요인</a:t>
                      </a:r>
                      <a:endParaRPr lang="en-US" sz="1050" dirty="0">
                        <a:latin typeface="맑은 고딕" charset="0"/>
                        <a:ea typeface="맑은 고딕" charset="0"/>
                        <a:cs typeface="맑은 고딕" charset="0"/>
                      </a:endParaRPr>
                    </a:p>
                  </a:txBody>
                  <a:tcPr marL="114300" marR="114300" marT="38100" marB="38100"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1A1A1A"/>
                    </a:solidFill>
                  </a:tcPr>
                </a:tc>
                <a:tc>
                  <a:txBody>
                    <a:bodyPr/>
                    <a:lstStyle/>
                    <a:p>
                      <a:pPr algn="ctr" indent="0" marL="0">
                        <a:buNone/>
                      </a:pPr>
                      <a:r>
                        <a:rPr lang="en-US" sz="1050" b="1" dirty="0">
                          <a:solidFill>
                            <a:srgbClr val="FFFFFF"/>
                          </a:solidFill>
                          <a:latin typeface="맑은 고딕" pitchFamily="34" charset="0"/>
                          <a:ea typeface="맑은 고딕" pitchFamily="34" charset="-122"/>
                          <a:cs typeface="맑은 고딕" pitchFamily="34" charset="-120"/>
                        </a:rPr>
                        <a:t>가능성</a:t>
                      </a:r>
                      <a:endParaRPr lang="en-US" sz="1050" dirty="0">
                        <a:latin typeface="맑은 고딕" charset="0"/>
                        <a:ea typeface="맑은 고딕" charset="0"/>
                        <a:cs typeface="맑은 고딕" charset="0"/>
                      </a:endParaRPr>
                    </a:p>
                  </a:txBody>
                  <a:tcPr marL="114300" marR="114300" marT="38100" marB="38100"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1A1A1A"/>
                    </a:solidFill>
                  </a:tcPr>
                </a:tc>
                <a:tc>
                  <a:txBody>
                    <a:bodyPr/>
                    <a:lstStyle/>
                    <a:p>
                      <a:pPr algn="ctr" indent="0" marL="0">
                        <a:buNone/>
                      </a:pPr>
                      <a:r>
                        <a:rPr lang="en-US" sz="1050" b="1" dirty="0">
                          <a:solidFill>
                            <a:srgbClr val="FFFFFF"/>
                          </a:solidFill>
                          <a:latin typeface="맑은 고딕" pitchFamily="34" charset="0"/>
                          <a:ea typeface="맑은 고딕" pitchFamily="34" charset="-122"/>
                          <a:cs typeface="맑은 고딕" pitchFamily="34" charset="-120"/>
                        </a:rPr>
                        <a:t>영향</a:t>
                      </a:r>
                      <a:endParaRPr lang="en-US" sz="1050" dirty="0">
                        <a:latin typeface="맑은 고딕" charset="0"/>
                        <a:ea typeface="맑은 고딕" charset="0"/>
                        <a:cs typeface="맑은 고딕" charset="0"/>
                      </a:endParaRPr>
                    </a:p>
                  </a:txBody>
                  <a:tcPr marL="114300" marR="114300" marT="38100" marB="38100"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1A1A1A"/>
                    </a:solidFill>
                  </a:tcPr>
                </a:tc>
                <a:tc>
                  <a:txBody>
                    <a:bodyPr/>
                    <a:lstStyle/>
                    <a:p>
                      <a:pPr algn="l" indent="0" marL="0">
                        <a:buNone/>
                      </a:pPr>
                      <a:r>
                        <a:rPr lang="en-US" sz="1050" b="1" dirty="0">
                          <a:solidFill>
                            <a:srgbClr val="FFFFFF"/>
                          </a:solidFill>
                          <a:latin typeface="맑은 고딕" pitchFamily="34" charset="0"/>
                          <a:ea typeface="맑은 고딕" pitchFamily="34" charset="-122"/>
                          <a:cs typeface="맑은 고딕" pitchFamily="34" charset="-120"/>
                        </a:rPr>
                        <a:t>대응 조치</a:t>
                      </a:r>
                      <a:endParaRPr lang="en-US" sz="1050" dirty="0">
                        <a:latin typeface="맑은 고딕" charset="0"/>
                        <a:ea typeface="맑은 고딕" charset="0"/>
                        <a:cs typeface="맑은 고딕" charset="0"/>
                      </a:endParaRPr>
                    </a:p>
                  </a:txBody>
                  <a:tcPr marL="114300" marR="114300" marT="38100" marB="38100"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1A1A1A"/>
                    </a:solidFill>
                  </a:tcPr>
                </a:tc>
              </a:tr>
              <a:tr h="402336">
                <a:tc>
                  <a:txBody>
                    <a:bodyPr/>
                    <a:lstStyle/>
                    <a:p>
                      <a:pPr indent="0" marL="0">
                        <a:buNone/>
                      </a:pPr>
                      <a:r>
                        <a:rPr lang="en-US" sz="1050" b="1" dirty="0">
                          <a:solidFill>
                            <a:srgbClr val="1A1A1A"/>
                          </a:solidFill>
                          <a:latin typeface="맑은 고딕" pitchFamily="34" charset="0"/>
                          <a:ea typeface="맑은 고딕" pitchFamily="34" charset="-122"/>
                          <a:cs typeface="맑은 고딕" pitchFamily="34" charset="-120"/>
                        </a:rPr>
                        <a:t>화재 · 전기 과부하</a:t>
                      </a:r>
                      <a:endParaRPr lang="en-US" sz="1050" dirty="0">
                        <a:latin typeface="맑은 고딕" charset="0"/>
                        <a:ea typeface="맑은 고딕" charset="0"/>
                        <a:cs typeface="맑은 고딕" charset="0"/>
                      </a:endParaRPr>
                    </a:p>
                  </a:txBody>
                  <a:tcPr marL="114300" marR="114300" marT="38100" marB="38100"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3F1ED"/>
                    </a:solidFill>
                  </a:tcPr>
                </a:tc>
                <a:tc>
                  <a:txBody>
                    <a:bodyPr/>
                    <a:lstStyle/>
                    <a:p>
                      <a:pPr algn="ctr" indent="0" marL="0">
                        <a:buNone/>
                      </a:pPr>
                      <a:r>
                        <a:rPr lang="en-US" sz="1000" dirty="0">
                          <a:solidFill>
                            <a:srgbClr val="4A453F"/>
                          </a:solidFill>
                          <a:latin typeface="맑은 고딕" pitchFamily="34" charset="0"/>
                          <a:ea typeface="맑은 고딕" pitchFamily="34" charset="-122"/>
                          <a:cs typeface="맑은 고딕" pitchFamily="34" charset="-120"/>
                        </a:rPr>
                        <a:t>중</a:t>
                      </a:r>
                      <a:endParaRPr lang="en-US" sz="1000" dirty="0">
                        <a:latin typeface="맑은 고딕" charset="0"/>
                        <a:ea typeface="맑은 고딕" charset="0"/>
                        <a:cs typeface="맑은 고딕" charset="0"/>
                      </a:endParaRPr>
                    </a:p>
                  </a:txBody>
                  <a:tcPr marL="114300" marR="114300" marT="38100" marB="38100"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3F1ED"/>
                    </a:solidFill>
                  </a:tcPr>
                </a:tc>
                <a:tc>
                  <a:txBody>
                    <a:bodyPr/>
                    <a:lstStyle/>
                    <a:p>
                      <a:pPr algn="ctr" indent="0" marL="0">
                        <a:buNone/>
                      </a:pPr>
                      <a:r>
                        <a:rPr lang="en-US" sz="1000" b="1" dirty="0">
                          <a:solidFill>
                            <a:srgbClr val="7A4A45"/>
                          </a:solidFill>
                          <a:latin typeface="맑은 고딕" pitchFamily="34" charset="0"/>
                          <a:ea typeface="맑은 고딕" pitchFamily="34" charset="-122"/>
                          <a:cs typeface="맑은 고딕" pitchFamily="34" charset="-120"/>
                        </a:rPr>
                        <a:t>상</a:t>
                      </a:r>
                      <a:endParaRPr lang="en-US" sz="1000" dirty="0">
                        <a:latin typeface="맑은 고딕" charset="0"/>
                        <a:ea typeface="맑은 고딕" charset="0"/>
                        <a:cs typeface="맑은 고딕" charset="0"/>
                      </a:endParaRPr>
                    </a:p>
                  </a:txBody>
                  <a:tcPr marL="114300" marR="114300" marT="38100" marB="38100"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3F1ED"/>
                    </a:solidFill>
                  </a:tcPr>
                </a:tc>
                <a:tc>
                  <a:txBody>
                    <a:bodyPr/>
                    <a:lstStyle/>
                    <a:p>
                      <a:pPr indent="0" marL="0">
                        <a:buNone/>
                      </a:pPr>
                      <a:r>
                        <a:rPr lang="en-US" sz="950" dirty="0">
                          <a:solidFill>
                            <a:srgbClr val="4A453F"/>
                          </a:solidFill>
                          <a:latin typeface="맑은 고딕" pitchFamily="34" charset="0"/>
                          <a:ea typeface="맑은 고딕" pitchFamily="34" charset="-122"/>
                          <a:cs typeface="맑은 고딕" pitchFamily="34" charset="-120"/>
                        </a:rPr>
                        <a:t>설치 2개월 전 용량 계측 후 전용 분전반 임시 증설, 저열 장비 우선, 감지기·소화기 증설, 개막 전 소방 합동 점검, 일일 마감 점검 체크리스트 운용</a:t>
                      </a:r>
                      <a:endParaRPr lang="en-US" sz="950" dirty="0">
                        <a:latin typeface="맑은 고딕" charset="0"/>
                        <a:ea typeface="맑은 고딕" charset="0"/>
                        <a:cs typeface="맑은 고딕" charset="0"/>
                      </a:endParaRPr>
                    </a:p>
                  </a:txBody>
                  <a:tcPr marL="114300" marR="114300" marT="38100" marB="38100"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3F1ED"/>
                    </a:solidFill>
                  </a:tcPr>
                </a:tc>
              </a:tr>
              <a:tr h="402336">
                <a:tc>
                  <a:txBody>
                    <a:bodyPr/>
                    <a:lstStyle/>
                    <a:p>
                      <a:pPr indent="0" marL="0">
                        <a:buNone/>
                      </a:pPr>
                      <a:r>
                        <a:rPr lang="en-US" sz="1050" b="1" dirty="0">
                          <a:solidFill>
                            <a:srgbClr val="1A1A1A"/>
                          </a:solidFill>
                          <a:latin typeface="맑은 고딕" pitchFamily="34" charset="0"/>
                          <a:ea typeface="맑은 고딕" pitchFamily="34" charset="-122"/>
                          <a:cs typeface="맑은 고딕" pitchFamily="34" charset="-120"/>
                        </a:rPr>
                        <a:t>습도 · 결로로 인한 작품 손상</a:t>
                      </a:r>
                      <a:endParaRPr lang="en-US" sz="1050" dirty="0">
                        <a:latin typeface="맑은 고딕" charset="0"/>
                        <a:ea typeface="맑은 고딕" charset="0"/>
                        <a:cs typeface="맑은 고딕" charset="0"/>
                      </a:endParaRPr>
                    </a:p>
                  </a:txBody>
                  <a:tcPr marL="114300" marR="114300" marT="38100" marB="38100"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3F1ED"/>
                    </a:solidFill>
                  </a:tcPr>
                </a:tc>
                <a:tc>
                  <a:txBody>
                    <a:bodyPr/>
                    <a:lstStyle/>
                    <a:p>
                      <a:pPr algn="ctr" indent="0" marL="0">
                        <a:buNone/>
                      </a:pPr>
                      <a:r>
                        <a:rPr lang="en-US" sz="1000" dirty="0">
                          <a:solidFill>
                            <a:srgbClr val="4A453F"/>
                          </a:solidFill>
                          <a:latin typeface="맑은 고딕" pitchFamily="34" charset="0"/>
                          <a:ea typeface="맑은 고딕" pitchFamily="34" charset="-122"/>
                          <a:cs typeface="맑은 고딕" pitchFamily="34" charset="-120"/>
                        </a:rPr>
                        <a:t>상</a:t>
                      </a:r>
                      <a:endParaRPr lang="en-US" sz="1000" dirty="0">
                        <a:latin typeface="맑은 고딕" charset="0"/>
                        <a:ea typeface="맑은 고딕" charset="0"/>
                        <a:cs typeface="맑은 고딕" charset="0"/>
                      </a:endParaRPr>
                    </a:p>
                  </a:txBody>
                  <a:tcPr marL="114300" marR="114300" marT="38100" marB="38100"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3F1ED"/>
                    </a:solidFill>
                  </a:tcPr>
                </a:tc>
                <a:tc>
                  <a:txBody>
                    <a:bodyPr/>
                    <a:lstStyle/>
                    <a:p>
                      <a:pPr algn="ctr" indent="0" marL="0">
                        <a:buNone/>
                      </a:pPr>
                      <a:r>
                        <a:rPr lang="en-US" sz="1000" dirty="0">
                          <a:solidFill>
                            <a:srgbClr val="4A453F"/>
                          </a:solidFill>
                          <a:latin typeface="맑은 고딕" pitchFamily="34" charset="0"/>
                          <a:ea typeface="맑은 고딕" pitchFamily="34" charset="-122"/>
                          <a:cs typeface="맑은 고딕" pitchFamily="34" charset="-120"/>
                        </a:rPr>
                        <a:t>중</a:t>
                      </a:r>
                      <a:endParaRPr lang="en-US" sz="1000" dirty="0">
                        <a:latin typeface="맑은 고딕" charset="0"/>
                        <a:ea typeface="맑은 고딕" charset="0"/>
                        <a:cs typeface="맑은 고딕" charset="0"/>
                      </a:endParaRPr>
                    </a:p>
                  </a:txBody>
                  <a:tcPr marL="114300" marR="114300" marT="38100" marB="38100"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3F1ED"/>
                    </a:solidFill>
                  </a:tcPr>
                </a:tc>
                <a:tc>
                  <a:txBody>
                    <a:bodyPr/>
                    <a:lstStyle/>
                    <a:p>
                      <a:pPr indent="0" marL="0">
                        <a:buNone/>
                      </a:pPr>
                      <a:r>
                        <a:rPr lang="en-US" sz="950" dirty="0">
                          <a:solidFill>
                            <a:srgbClr val="4A453F"/>
                          </a:solidFill>
                          <a:latin typeface="맑은 고딕" pitchFamily="34" charset="0"/>
                          <a:ea typeface="맑은 고딕" pitchFamily="34" charset="-122"/>
                          <a:cs typeface="맑은 고딕" pitchFamily="34" charset="-120"/>
                        </a:rPr>
                        <a:t>8실 온습도 로거 상시 계측, 제습기 2대 상시 가동, 습기 민감 매체 사전 배제, 주 1회 작품 상태조사서(컨디션 리포트) 작성 및 작가 공유</a:t>
                      </a:r>
                      <a:endParaRPr lang="en-US" sz="950" dirty="0">
                        <a:latin typeface="맑은 고딕" charset="0"/>
                        <a:ea typeface="맑은 고딕" charset="0"/>
                        <a:cs typeface="맑은 고딕" charset="0"/>
                      </a:endParaRPr>
                    </a:p>
                  </a:txBody>
                  <a:tcPr marL="114300" marR="114300" marT="38100" marB="38100"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3F1ED"/>
                    </a:solidFill>
                  </a:tcPr>
                </a:tc>
              </a:tr>
              <a:tr h="402336">
                <a:tc>
                  <a:txBody>
                    <a:bodyPr/>
                    <a:lstStyle/>
                    <a:p>
                      <a:pPr indent="0" marL="0">
                        <a:buNone/>
                      </a:pPr>
                      <a:r>
                        <a:rPr lang="en-US" sz="1050" b="1" dirty="0">
                          <a:solidFill>
                            <a:srgbClr val="1A1A1A"/>
                          </a:solidFill>
                          <a:latin typeface="맑은 고딕" pitchFamily="34" charset="0"/>
                          <a:ea typeface="맑은 고딕" pitchFamily="34" charset="-122"/>
                          <a:cs typeface="맑은 고딕" pitchFamily="34" charset="-120"/>
                        </a:rPr>
                        <a:t>협소 동선 · 관람객 안전</a:t>
                      </a:r>
                      <a:endParaRPr lang="en-US" sz="1050" dirty="0">
                        <a:latin typeface="맑은 고딕" charset="0"/>
                        <a:ea typeface="맑은 고딕" charset="0"/>
                        <a:cs typeface="맑은 고딕" charset="0"/>
                      </a:endParaRPr>
                    </a:p>
                  </a:txBody>
                  <a:tcPr marL="114300" marR="114300" marT="38100" marB="38100"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3F1ED"/>
                    </a:solidFill>
                  </a:tcPr>
                </a:tc>
                <a:tc>
                  <a:txBody>
                    <a:bodyPr/>
                    <a:lstStyle/>
                    <a:p>
                      <a:pPr algn="ctr" indent="0" marL="0">
                        <a:buNone/>
                      </a:pPr>
                      <a:r>
                        <a:rPr lang="en-US" sz="1000" dirty="0">
                          <a:solidFill>
                            <a:srgbClr val="4A453F"/>
                          </a:solidFill>
                          <a:latin typeface="맑은 고딕" pitchFamily="34" charset="0"/>
                          <a:ea typeface="맑은 고딕" pitchFamily="34" charset="-122"/>
                          <a:cs typeface="맑은 고딕" pitchFamily="34" charset="-120"/>
                        </a:rPr>
                        <a:t>중</a:t>
                      </a:r>
                      <a:endParaRPr lang="en-US" sz="1000" dirty="0">
                        <a:latin typeface="맑은 고딕" charset="0"/>
                        <a:ea typeface="맑은 고딕" charset="0"/>
                        <a:cs typeface="맑은 고딕" charset="0"/>
                      </a:endParaRPr>
                    </a:p>
                  </a:txBody>
                  <a:tcPr marL="114300" marR="114300" marT="38100" marB="38100"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3F1ED"/>
                    </a:solidFill>
                  </a:tcPr>
                </a:tc>
                <a:tc>
                  <a:txBody>
                    <a:bodyPr/>
                    <a:lstStyle/>
                    <a:p>
                      <a:pPr algn="ctr" indent="0" marL="0">
                        <a:buNone/>
                      </a:pPr>
                      <a:r>
                        <a:rPr lang="en-US" sz="1000" dirty="0">
                          <a:solidFill>
                            <a:srgbClr val="4A453F"/>
                          </a:solidFill>
                          <a:latin typeface="맑은 고딕" pitchFamily="34" charset="0"/>
                          <a:ea typeface="맑은 고딕" pitchFamily="34" charset="-122"/>
                          <a:cs typeface="맑은 고딕" pitchFamily="34" charset="-120"/>
                        </a:rPr>
                        <a:t>중</a:t>
                      </a:r>
                      <a:endParaRPr lang="en-US" sz="1000" dirty="0">
                        <a:latin typeface="맑은 고딕" charset="0"/>
                        <a:ea typeface="맑은 고딕" charset="0"/>
                        <a:cs typeface="맑은 고딕" charset="0"/>
                      </a:endParaRPr>
                    </a:p>
                  </a:txBody>
                  <a:tcPr marL="114300" marR="114300" marT="38100" marB="38100"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3F1ED"/>
                    </a:solidFill>
                  </a:tcPr>
                </a:tc>
                <a:tc>
                  <a:txBody>
                    <a:bodyPr/>
                    <a:lstStyle/>
                    <a:p>
                      <a:pPr indent="0" marL="0">
                        <a:buNone/>
                      </a:pPr>
                      <a:r>
                        <a:rPr lang="en-US" sz="950" dirty="0">
                          <a:solidFill>
                            <a:srgbClr val="4A453F"/>
                          </a:solidFill>
                          <a:latin typeface="맑은 고딕" pitchFamily="34" charset="0"/>
                          <a:ea typeface="맑은 고딕" pitchFamily="34" charset="-122"/>
                          <a:cs typeface="맑은 고딕" pitchFamily="34" charset="-120"/>
                        </a:rPr>
                        <a:t>동시 관람 정원 25인 회차제(30분 간격), 문지방·단차 야광 표시, 도슨트 상시 1인 배치, 유도등·비상등 점검, 전시종합보험 가입</a:t>
                      </a:r>
                      <a:endParaRPr lang="en-US" sz="950" dirty="0">
                        <a:latin typeface="맑은 고딕" charset="0"/>
                        <a:ea typeface="맑은 고딕" charset="0"/>
                        <a:cs typeface="맑은 고딕" charset="0"/>
                      </a:endParaRPr>
                    </a:p>
                  </a:txBody>
                  <a:tcPr marL="114300" marR="114300" marT="38100" marB="38100"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3F1ED"/>
                    </a:solidFill>
                  </a:tcPr>
                </a:tc>
              </a:tr>
              <a:tr h="402336">
                <a:tc>
                  <a:txBody>
                    <a:bodyPr/>
                    <a:lstStyle/>
                    <a:p>
                      <a:pPr indent="0" marL="0">
                        <a:buNone/>
                      </a:pPr>
                      <a:r>
                        <a:rPr lang="en-US" sz="1050" b="1" dirty="0">
                          <a:solidFill>
                            <a:srgbClr val="1A1A1A"/>
                          </a:solidFill>
                          <a:latin typeface="맑은 고딕" pitchFamily="34" charset="0"/>
                          <a:ea typeface="맑은 고딕" pitchFamily="34" charset="-122"/>
                          <a:cs typeface="맑은 고딕" pitchFamily="34" charset="-120"/>
                        </a:rPr>
                        <a:t>주민 · 상인 민원(소음·주차)</a:t>
                      </a:r>
                      <a:endParaRPr lang="en-US" sz="1050" dirty="0">
                        <a:latin typeface="맑은 고딕" charset="0"/>
                        <a:ea typeface="맑은 고딕" charset="0"/>
                        <a:cs typeface="맑은 고딕" charset="0"/>
                      </a:endParaRPr>
                    </a:p>
                  </a:txBody>
                  <a:tcPr marL="114300" marR="114300" marT="38100" marB="38100"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3F1ED"/>
                    </a:solidFill>
                  </a:tcPr>
                </a:tc>
                <a:tc>
                  <a:txBody>
                    <a:bodyPr/>
                    <a:lstStyle/>
                    <a:p>
                      <a:pPr algn="ctr" indent="0" marL="0">
                        <a:buNone/>
                      </a:pPr>
                      <a:r>
                        <a:rPr lang="en-US" sz="1000" dirty="0">
                          <a:solidFill>
                            <a:srgbClr val="4A453F"/>
                          </a:solidFill>
                          <a:latin typeface="맑은 고딕" pitchFamily="34" charset="0"/>
                          <a:ea typeface="맑은 고딕" pitchFamily="34" charset="-122"/>
                          <a:cs typeface="맑은 고딕" pitchFamily="34" charset="-120"/>
                        </a:rPr>
                        <a:t>중</a:t>
                      </a:r>
                      <a:endParaRPr lang="en-US" sz="1000" dirty="0">
                        <a:latin typeface="맑은 고딕" charset="0"/>
                        <a:ea typeface="맑은 고딕" charset="0"/>
                        <a:cs typeface="맑은 고딕" charset="0"/>
                      </a:endParaRPr>
                    </a:p>
                  </a:txBody>
                  <a:tcPr marL="114300" marR="114300" marT="38100" marB="38100"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3F1ED"/>
                    </a:solidFill>
                  </a:tcPr>
                </a:tc>
                <a:tc>
                  <a:txBody>
                    <a:bodyPr/>
                    <a:lstStyle/>
                    <a:p>
                      <a:pPr algn="ctr" indent="0" marL="0">
                        <a:buNone/>
                      </a:pPr>
                      <a:r>
                        <a:rPr lang="en-US" sz="1000" dirty="0">
                          <a:solidFill>
                            <a:srgbClr val="4A453F"/>
                          </a:solidFill>
                          <a:latin typeface="맑은 고딕" pitchFamily="34" charset="0"/>
                          <a:ea typeface="맑은 고딕" pitchFamily="34" charset="-122"/>
                          <a:cs typeface="맑은 고딕" pitchFamily="34" charset="-120"/>
                        </a:rPr>
                        <a:t>중</a:t>
                      </a:r>
                      <a:endParaRPr lang="en-US" sz="1000" dirty="0">
                        <a:latin typeface="맑은 고딕" charset="0"/>
                        <a:ea typeface="맑은 고딕" charset="0"/>
                        <a:cs typeface="맑은 고딕" charset="0"/>
                      </a:endParaRPr>
                    </a:p>
                  </a:txBody>
                  <a:tcPr marL="114300" marR="114300" marT="38100" marB="38100"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3F1ED"/>
                    </a:solidFill>
                  </a:tcPr>
                </a:tc>
                <a:tc>
                  <a:txBody>
                    <a:bodyPr/>
                    <a:lstStyle/>
                    <a:p>
                      <a:pPr indent="0" marL="0">
                        <a:buNone/>
                      </a:pPr>
                      <a:r>
                        <a:rPr lang="en-US" sz="950" dirty="0">
                          <a:solidFill>
                            <a:srgbClr val="4A453F"/>
                          </a:solidFill>
                          <a:latin typeface="맑은 고딕" pitchFamily="34" charset="0"/>
                          <a:ea typeface="맑은 고딕" pitchFamily="34" charset="-122"/>
                          <a:cs typeface="맑은 고딕" pitchFamily="34" charset="-120"/>
                        </a:rPr>
                        <a:t>개막 전 주민 설명회 2회, 민원 단일 창구 지정, 야간 사운드 볼륨 자동 감쇄, 진시장 공영주차장 안내 및 도보 동선 유도</a:t>
                      </a:r>
                      <a:endParaRPr lang="en-US" sz="950" dirty="0">
                        <a:latin typeface="맑은 고딕" charset="0"/>
                        <a:ea typeface="맑은 고딕" charset="0"/>
                        <a:cs typeface="맑은 고딕" charset="0"/>
                      </a:endParaRPr>
                    </a:p>
                  </a:txBody>
                  <a:tcPr marL="114300" marR="114300" marT="38100" marB="38100"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3F1ED"/>
                    </a:solidFill>
                  </a:tcPr>
                </a:tc>
              </a:tr>
              <a:tr h="402336">
                <a:tc>
                  <a:txBody>
                    <a:bodyPr/>
                    <a:lstStyle/>
                    <a:p>
                      <a:pPr indent="0" marL="0">
                        <a:buNone/>
                      </a:pPr>
                      <a:r>
                        <a:rPr lang="en-US" sz="1050" b="1" dirty="0">
                          <a:solidFill>
                            <a:srgbClr val="1A1A1A"/>
                          </a:solidFill>
                          <a:latin typeface="맑은 고딕" pitchFamily="34" charset="0"/>
                          <a:ea typeface="맑은 고딕" pitchFamily="34" charset="-122"/>
                          <a:cs typeface="맑은 고딕" pitchFamily="34" charset="-120"/>
                        </a:rPr>
                        <a:t>기술 장비 장애 · 정전</a:t>
                      </a:r>
                      <a:endParaRPr lang="en-US" sz="1050" dirty="0">
                        <a:latin typeface="맑은 고딕" charset="0"/>
                        <a:ea typeface="맑은 고딕" charset="0"/>
                        <a:cs typeface="맑은 고딕" charset="0"/>
                      </a:endParaRPr>
                    </a:p>
                  </a:txBody>
                  <a:tcPr marL="114300" marR="114300" marT="38100" marB="38100"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3F1ED"/>
                    </a:solidFill>
                  </a:tcPr>
                </a:tc>
                <a:tc>
                  <a:txBody>
                    <a:bodyPr/>
                    <a:lstStyle/>
                    <a:p>
                      <a:pPr algn="ctr" indent="0" marL="0">
                        <a:buNone/>
                      </a:pPr>
                      <a:r>
                        <a:rPr lang="en-US" sz="1000" dirty="0">
                          <a:solidFill>
                            <a:srgbClr val="4A453F"/>
                          </a:solidFill>
                          <a:latin typeface="맑은 고딕" pitchFamily="34" charset="0"/>
                          <a:ea typeface="맑은 고딕" pitchFamily="34" charset="-122"/>
                          <a:cs typeface="맑은 고딕" pitchFamily="34" charset="-120"/>
                        </a:rPr>
                        <a:t>중</a:t>
                      </a:r>
                      <a:endParaRPr lang="en-US" sz="1000" dirty="0">
                        <a:latin typeface="맑은 고딕" charset="0"/>
                        <a:ea typeface="맑은 고딕" charset="0"/>
                        <a:cs typeface="맑은 고딕" charset="0"/>
                      </a:endParaRPr>
                    </a:p>
                  </a:txBody>
                  <a:tcPr marL="114300" marR="114300" marT="38100" marB="38100"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3F1ED"/>
                    </a:solidFill>
                  </a:tcPr>
                </a:tc>
                <a:tc>
                  <a:txBody>
                    <a:bodyPr/>
                    <a:lstStyle/>
                    <a:p>
                      <a:pPr algn="ctr" indent="0" marL="0">
                        <a:buNone/>
                      </a:pPr>
                      <a:r>
                        <a:rPr lang="en-US" sz="1000" dirty="0">
                          <a:solidFill>
                            <a:srgbClr val="4A453F"/>
                          </a:solidFill>
                          <a:latin typeface="맑은 고딕" pitchFamily="34" charset="0"/>
                          <a:ea typeface="맑은 고딕" pitchFamily="34" charset="-122"/>
                          <a:cs typeface="맑은 고딕" pitchFamily="34" charset="-120"/>
                        </a:rPr>
                        <a:t>중</a:t>
                      </a:r>
                      <a:endParaRPr lang="en-US" sz="1000" dirty="0">
                        <a:latin typeface="맑은 고딕" charset="0"/>
                        <a:ea typeface="맑은 고딕" charset="0"/>
                        <a:cs typeface="맑은 고딕" charset="0"/>
                      </a:endParaRPr>
                    </a:p>
                  </a:txBody>
                  <a:tcPr marL="114300" marR="114300" marT="38100" marB="38100"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3F1ED"/>
                    </a:solidFill>
                  </a:tcPr>
                </a:tc>
                <a:tc>
                  <a:txBody>
                    <a:bodyPr/>
                    <a:lstStyle/>
                    <a:p>
                      <a:pPr indent="0" marL="0">
                        <a:buNone/>
                      </a:pPr>
                      <a:r>
                        <a:rPr lang="en-US" sz="950" dirty="0">
                          <a:solidFill>
                            <a:srgbClr val="4A453F"/>
                          </a:solidFill>
                          <a:latin typeface="맑은 고딕" pitchFamily="34" charset="0"/>
                          <a:ea typeface="맑은 고딕" pitchFamily="34" charset="-122"/>
                          <a:cs typeface="맑은 고딕" pitchFamily="34" charset="-120"/>
                        </a:rPr>
                        <a:t>예비 프로젝터 1대·UPS 1식 상비, 협약사 설치기간 현장 상주, 장애 시 대체 상영 시나리오 사전 승인 및 안내문 비치</a:t>
                      </a:r>
                      <a:endParaRPr lang="en-US" sz="950" dirty="0">
                        <a:latin typeface="맑은 고딕" charset="0"/>
                        <a:ea typeface="맑은 고딕" charset="0"/>
                        <a:cs typeface="맑은 고딕" charset="0"/>
                      </a:endParaRPr>
                    </a:p>
                  </a:txBody>
                  <a:tcPr marL="114300" marR="114300" marT="38100" marB="38100"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3F1ED"/>
                    </a:solidFill>
                  </a:tcPr>
                </a:tc>
              </a:tr>
              <a:tr h="402336">
                <a:tc>
                  <a:txBody>
                    <a:bodyPr/>
                    <a:lstStyle/>
                    <a:p>
                      <a:pPr indent="0" marL="0">
                        <a:buNone/>
                      </a:pPr>
                      <a:r>
                        <a:rPr lang="en-US" sz="1050" b="1" dirty="0">
                          <a:solidFill>
                            <a:srgbClr val="1A1A1A"/>
                          </a:solidFill>
                          <a:latin typeface="맑은 고딕" pitchFamily="34" charset="0"/>
                          <a:ea typeface="맑은 고딕" pitchFamily="34" charset="-122"/>
                          <a:cs typeface="맑은 고딕" pitchFamily="34" charset="-120"/>
                        </a:rPr>
                        <a:t>우천 · 누수</a:t>
                      </a:r>
                      <a:endParaRPr lang="en-US" sz="1050" dirty="0">
                        <a:latin typeface="맑은 고딕" charset="0"/>
                        <a:ea typeface="맑은 고딕" charset="0"/>
                        <a:cs typeface="맑은 고딕" charset="0"/>
                      </a:endParaRPr>
                    </a:p>
                  </a:txBody>
                  <a:tcPr marL="114300" marR="114300" marT="38100" marB="38100"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3F1ED"/>
                    </a:solidFill>
                  </a:tcPr>
                </a:tc>
                <a:tc>
                  <a:txBody>
                    <a:bodyPr/>
                    <a:lstStyle/>
                    <a:p>
                      <a:pPr algn="ctr" indent="0" marL="0">
                        <a:buNone/>
                      </a:pPr>
                      <a:r>
                        <a:rPr lang="en-US" sz="1000" dirty="0">
                          <a:solidFill>
                            <a:srgbClr val="4A453F"/>
                          </a:solidFill>
                          <a:latin typeface="맑은 고딕" pitchFamily="34" charset="0"/>
                          <a:ea typeface="맑은 고딕" pitchFamily="34" charset="-122"/>
                          <a:cs typeface="맑은 고딕" pitchFamily="34" charset="-120"/>
                        </a:rPr>
                        <a:t>중</a:t>
                      </a:r>
                      <a:endParaRPr lang="en-US" sz="1000" dirty="0">
                        <a:latin typeface="맑은 고딕" charset="0"/>
                        <a:ea typeface="맑은 고딕" charset="0"/>
                        <a:cs typeface="맑은 고딕" charset="0"/>
                      </a:endParaRPr>
                    </a:p>
                  </a:txBody>
                  <a:tcPr marL="114300" marR="114300" marT="38100" marB="38100"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3F1ED"/>
                    </a:solidFill>
                  </a:tcPr>
                </a:tc>
                <a:tc>
                  <a:txBody>
                    <a:bodyPr/>
                    <a:lstStyle/>
                    <a:p>
                      <a:pPr algn="ctr" indent="0" marL="0">
                        <a:buNone/>
                      </a:pPr>
                      <a:r>
                        <a:rPr lang="en-US" sz="1000" dirty="0">
                          <a:solidFill>
                            <a:srgbClr val="4A453F"/>
                          </a:solidFill>
                          <a:latin typeface="맑은 고딕" pitchFamily="34" charset="0"/>
                          <a:ea typeface="맑은 고딕" pitchFamily="34" charset="-122"/>
                          <a:cs typeface="맑은 고딕" pitchFamily="34" charset="-120"/>
                        </a:rPr>
                        <a:t>중</a:t>
                      </a:r>
                      <a:endParaRPr lang="en-US" sz="1000" dirty="0">
                        <a:latin typeface="맑은 고딕" charset="0"/>
                        <a:ea typeface="맑은 고딕" charset="0"/>
                        <a:cs typeface="맑은 고딕" charset="0"/>
                      </a:endParaRPr>
                    </a:p>
                  </a:txBody>
                  <a:tcPr marL="114300" marR="114300" marT="38100" marB="38100"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3F1ED"/>
                    </a:solidFill>
                  </a:tcPr>
                </a:tc>
                <a:tc>
                  <a:txBody>
                    <a:bodyPr/>
                    <a:lstStyle/>
                    <a:p>
                      <a:pPr indent="0" marL="0">
                        <a:buNone/>
                      </a:pPr>
                      <a:r>
                        <a:rPr lang="en-US" sz="950" dirty="0">
                          <a:solidFill>
                            <a:srgbClr val="4A453F"/>
                          </a:solidFill>
                          <a:latin typeface="맑은 고딕" pitchFamily="34" charset="0"/>
                          <a:ea typeface="맑은 고딕" pitchFamily="34" charset="-122"/>
                          <a:cs typeface="맑은 고딕" pitchFamily="34" charset="-120"/>
                        </a:rPr>
                        <a:t>장마 전 방수 점검 및 취약 구간 작품 미배치, 방수포·양생재 상시 비치, 강우 시 ③실 운영 일시 중단 프로토콜</a:t>
                      </a:r>
                      <a:endParaRPr lang="en-US" sz="950" dirty="0">
                        <a:latin typeface="맑은 고딕" charset="0"/>
                        <a:ea typeface="맑은 고딕" charset="0"/>
                        <a:cs typeface="맑은 고딕" charset="0"/>
                      </a:endParaRPr>
                    </a:p>
                  </a:txBody>
                  <a:tcPr marL="114300" marR="114300" marT="38100" marB="38100"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3F1ED"/>
                    </a:solidFill>
                  </a:tcPr>
                </a:tc>
              </a:tr>
              <a:tr h="402336">
                <a:tc>
                  <a:txBody>
                    <a:bodyPr/>
                    <a:lstStyle/>
                    <a:p>
                      <a:pPr indent="0" marL="0">
                        <a:buNone/>
                      </a:pPr>
                      <a:r>
                        <a:rPr lang="en-US" sz="1050" b="1" dirty="0">
                          <a:solidFill>
                            <a:srgbClr val="1A1A1A"/>
                          </a:solidFill>
                          <a:latin typeface="맑은 고딕" pitchFamily="34" charset="0"/>
                          <a:ea typeface="맑은 고딕" pitchFamily="34" charset="-122"/>
                          <a:cs typeface="맑은 고딕" pitchFamily="34" charset="-120"/>
                        </a:rPr>
                        <a:t>예산 변동 · 협찬 미확정</a:t>
                      </a:r>
                      <a:endParaRPr lang="en-US" sz="1050" dirty="0">
                        <a:latin typeface="맑은 고딕" charset="0"/>
                        <a:ea typeface="맑은 고딕" charset="0"/>
                        <a:cs typeface="맑은 고딕" charset="0"/>
                      </a:endParaRPr>
                    </a:p>
                  </a:txBody>
                  <a:tcPr marL="114300" marR="114300" marT="38100" marB="38100"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3F1ED"/>
                    </a:solidFill>
                  </a:tcPr>
                </a:tc>
                <a:tc>
                  <a:txBody>
                    <a:bodyPr/>
                    <a:lstStyle/>
                    <a:p>
                      <a:pPr algn="ctr" indent="0" marL="0">
                        <a:buNone/>
                      </a:pPr>
                      <a:r>
                        <a:rPr lang="en-US" sz="1000" dirty="0">
                          <a:solidFill>
                            <a:srgbClr val="4A453F"/>
                          </a:solidFill>
                          <a:latin typeface="맑은 고딕" pitchFamily="34" charset="0"/>
                          <a:ea typeface="맑은 고딕" pitchFamily="34" charset="-122"/>
                          <a:cs typeface="맑은 고딕" pitchFamily="34" charset="-120"/>
                        </a:rPr>
                        <a:t>중</a:t>
                      </a:r>
                      <a:endParaRPr lang="en-US" sz="1000" dirty="0">
                        <a:latin typeface="맑은 고딕" charset="0"/>
                        <a:ea typeface="맑은 고딕" charset="0"/>
                        <a:cs typeface="맑은 고딕" charset="0"/>
                      </a:endParaRPr>
                    </a:p>
                  </a:txBody>
                  <a:tcPr marL="114300" marR="114300" marT="38100" marB="38100"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3F1ED"/>
                    </a:solidFill>
                  </a:tcPr>
                </a:tc>
                <a:tc>
                  <a:txBody>
                    <a:bodyPr/>
                    <a:lstStyle/>
                    <a:p>
                      <a:pPr algn="ctr" indent="0" marL="0">
                        <a:buNone/>
                      </a:pPr>
                      <a:r>
                        <a:rPr lang="en-US" sz="1000" b="1" dirty="0">
                          <a:solidFill>
                            <a:srgbClr val="7A4A45"/>
                          </a:solidFill>
                          <a:latin typeface="맑은 고딕" pitchFamily="34" charset="0"/>
                          <a:ea typeface="맑은 고딕" pitchFamily="34" charset="-122"/>
                          <a:cs typeface="맑은 고딕" pitchFamily="34" charset="-120"/>
                        </a:rPr>
                        <a:t>상</a:t>
                      </a:r>
                      <a:endParaRPr lang="en-US" sz="1000" dirty="0">
                        <a:latin typeface="맑은 고딕" charset="0"/>
                        <a:ea typeface="맑은 고딕" charset="0"/>
                        <a:cs typeface="맑은 고딕" charset="0"/>
                      </a:endParaRPr>
                    </a:p>
                  </a:txBody>
                  <a:tcPr marL="114300" marR="114300" marT="38100" marB="38100"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3F1ED"/>
                    </a:solidFill>
                  </a:tcPr>
                </a:tc>
                <a:tc>
                  <a:txBody>
                    <a:bodyPr/>
                    <a:lstStyle/>
                    <a:p>
                      <a:pPr indent="0" marL="0">
                        <a:buNone/>
                      </a:pPr>
                      <a:r>
                        <a:rPr lang="en-US" sz="950" dirty="0">
                          <a:solidFill>
                            <a:srgbClr val="4A453F"/>
                          </a:solidFill>
                          <a:latin typeface="맑은 고딕" pitchFamily="34" charset="0"/>
                          <a:ea typeface="맑은 고딕" pitchFamily="34" charset="-122"/>
                          <a:cs typeface="맑은 고딕" pitchFamily="34" charset="-120"/>
                        </a:rPr>
                        <a:t>A(전체)/B(미디어 축소)/C(핵심) 3단계 스코프 사전 설계, 예비비 3,000천원, 가벽 렌탈로 조성비 변동 흡수</a:t>
                      </a:r>
                      <a:endParaRPr lang="en-US" sz="950" dirty="0">
                        <a:latin typeface="맑은 고딕" charset="0"/>
                        <a:ea typeface="맑은 고딕" charset="0"/>
                        <a:cs typeface="맑은 고딕" charset="0"/>
                      </a:endParaRPr>
                    </a:p>
                  </a:txBody>
                  <a:tcPr marL="114300" marR="114300" marT="38100" marB="38100" anchor="ctr">
                    <a:lnL w="15240" cap="flat" cmpd="sng" algn="ctr">
                      <a:solidFill>
                        <a:srgbClr val="FFFFFF"/>
                      </a:solidFill>
                      <a:prstDash val="solid"/>
                      <a:round/>
                      <a:headEnd type="none" w="med" len="med"/>
                      <a:tailEnd type="none" w="med" len="med"/>
                    </a:lnL>
                    <a:lnR w="15240" cap="flat" cmpd="sng" algn="ctr">
                      <a:solidFill>
                        <a:srgbClr val="FFFFFF"/>
                      </a:solidFill>
                      <a:prstDash val="solid"/>
                      <a:round/>
                      <a:headEnd type="none" w="med" len="med"/>
                      <a:tailEnd type="none" w="med" len="med"/>
                    </a:lnR>
                    <a:lnT w="15240" cap="flat" cmpd="sng" algn="ctr">
                      <a:solidFill>
                        <a:srgbClr val="FFFFFF"/>
                      </a:solidFill>
                      <a:prstDash val="solid"/>
                      <a:round/>
                      <a:headEnd type="none" w="med" len="med"/>
                      <a:tailEnd type="none" w="med" len="med"/>
                    </a:lnT>
                    <a:lnB w="15240" cap="flat" cmpd="sng" algn="ctr">
                      <a:solidFill>
                        <a:srgbClr val="FFFFFF"/>
                      </a:solidFill>
                      <a:prstDash val="solid"/>
                      <a:round/>
                      <a:headEnd type="none" w="med" len="med"/>
                      <a:tailEnd type="none" w="med" len="med"/>
                    </a:lnB>
                    <a:solidFill>
                      <a:srgbClr val="F3F1ED"/>
                    </a:solidFill>
                  </a:tcPr>
                </a:tc>
              </a:tr>
            </a:tbl>
          </a:graphicData>
        </a:graphic>
      </p:graphicFrame>
      <p:sp>
        <p:nvSpPr>
          <p:cNvPr id="6" name="Shape 3"/>
          <p:cNvSpPr/>
          <p:nvPr/>
        </p:nvSpPr>
        <p:spPr>
          <a:xfrm>
            <a:off x="548640" y="5596128"/>
            <a:ext cx="11064240" cy="548640"/>
          </a:xfrm>
          <a:prstGeom prst="rect">
            <a:avLst/>
          </a:prstGeom>
          <a:solidFill>
            <a:srgbClr val="2F4858"/>
          </a:solidFill>
          <a:ln/>
        </p:spPr>
      </p:sp>
      <p:sp>
        <p:nvSpPr>
          <p:cNvPr id="7" name="Text 4"/>
          <p:cNvSpPr/>
          <p:nvPr/>
        </p:nvSpPr>
        <p:spPr>
          <a:xfrm>
            <a:off x="822960" y="5596128"/>
            <a:ext cx="10607040" cy="548640"/>
          </a:xfrm>
          <a:prstGeom prst="rect">
            <a:avLst/>
          </a:prstGeom>
          <a:noFill/>
          <a:ln/>
        </p:spPr>
        <p:txBody>
          <a:bodyPr wrap="square" lIns="0" tIns="0" rIns="0" bIns="0" rtlCol="0" anchor="ctr"/>
          <a:lstStyle/>
          <a:p>
            <a:pPr indent="0" marL="0">
              <a:buNone/>
            </a:pPr>
            <a:r>
              <a:rPr lang="en-US" sz="1050" dirty="0">
                <a:solidFill>
                  <a:srgbClr val="EAF0F3"/>
                </a:solidFill>
                <a:latin typeface="맑은 고딕" pitchFamily="34" charset="0"/>
                <a:ea typeface="맑은 고딕" pitchFamily="34" charset="-122"/>
                <a:cs typeface="맑은 고딕" pitchFamily="34" charset="-120"/>
              </a:rPr>
              <a:t>안전 책임 — 기획자가 소방안전관리자 자격을 보유하고 있어 설치·운영 전 기간 현장 안전관리를 직접 수행하며, 개막 전 관할 소방서 합동 점검을 자체적으로 요청합니다.</a:t>
            </a:r>
            <a:endParaRPr lang="en-US" sz="1050" dirty="0"/>
          </a:p>
        </p:txBody>
      </p:sp>
      <p:sp>
        <p:nvSpPr>
          <p:cNvPr id="8" name="Text 5"/>
          <p:cNvSpPr/>
          <p:nvPr/>
        </p:nvSpPr>
        <p:spPr>
          <a:xfrm>
            <a:off x="548640" y="6419088"/>
            <a:ext cx="7315200" cy="274320"/>
          </a:xfrm>
          <a:prstGeom prst="rect">
            <a:avLst/>
          </a:prstGeom>
          <a:noFill/>
          <a:ln/>
        </p:spPr>
        <p:txBody>
          <a:bodyPr wrap="square" lIns="0" tIns="0" rIns="0" bIns="0" rtlCol="0" anchor="ctr"/>
          <a:lstStyle/>
          <a:p>
            <a:pPr algn="l" indent="0" marL="0">
              <a:buNone/>
            </a:pPr>
            <a:r>
              <a:rPr lang="en-US" sz="800" dirty="0">
                <a:solidFill>
                  <a:srgbClr val="8A857E"/>
                </a:solidFill>
                <a:latin typeface="맑은 고딕" pitchFamily="34" charset="0"/>
                <a:ea typeface="맑은 고딕" pitchFamily="34" charset="-122"/>
                <a:cs typeface="맑은 고딕" pitchFamily="34" charset="-120"/>
              </a:rPr>
              <a:t>아이테르 문화예술기획제안서   ·   덮인 물, 남은 올   ·   기획 추병곤</a:t>
            </a:r>
            <a:endParaRPr lang="en-US" sz="800" dirty="0"/>
          </a:p>
        </p:txBody>
      </p:sp>
      <p:sp>
        <p:nvSpPr>
          <p:cNvPr id="9" name="Text 6"/>
          <p:cNvSpPr/>
          <p:nvPr/>
        </p:nvSpPr>
        <p:spPr>
          <a:xfrm>
            <a:off x="10972800" y="6419088"/>
            <a:ext cx="640080" cy="274320"/>
          </a:xfrm>
          <a:prstGeom prst="rect">
            <a:avLst/>
          </a:prstGeom>
          <a:noFill/>
          <a:ln/>
        </p:spPr>
        <p:txBody>
          <a:bodyPr wrap="square" lIns="0" tIns="0" rIns="0" bIns="0" rtlCol="0" anchor="ctr"/>
          <a:lstStyle/>
          <a:p>
            <a:pPr algn="r" indent="0" marL="0">
              <a:buNone/>
            </a:pPr>
            <a:r>
              <a:rPr lang="en-US" sz="900" dirty="0">
                <a:solidFill>
                  <a:srgbClr val="8A857E"/>
                </a:solidFill>
                <a:latin typeface="Cambria" pitchFamily="34" charset="0"/>
                <a:ea typeface="Cambria" pitchFamily="34" charset="-122"/>
                <a:cs typeface="Cambria"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7315200" cy="237744"/>
          </a:xfrm>
          <a:prstGeom prst="rect">
            <a:avLst/>
          </a:prstGeom>
          <a:noFill/>
          <a:ln/>
        </p:spPr>
        <p:txBody>
          <a:bodyPr wrap="square" lIns="0" tIns="0" rIns="0" bIns="0" rtlCol="0" anchor="ctr"/>
          <a:lstStyle/>
          <a:p>
            <a:pPr indent="0" marL="0">
              <a:buNone/>
            </a:pPr>
            <a:r>
              <a:rPr lang="en-US" sz="1050" spc="250" kern="0" dirty="0">
                <a:solidFill>
                  <a:srgbClr val="8A857E"/>
                </a:solidFill>
                <a:latin typeface="Cambria" pitchFamily="34" charset="0"/>
                <a:ea typeface="Cambria" pitchFamily="34" charset="-122"/>
                <a:cs typeface="Cambria" pitchFamily="34" charset="-120"/>
              </a:rPr>
              <a:t>22  SCALE-UP</a:t>
            </a:r>
            <a:endParaRPr lang="en-US" sz="1050" dirty="0"/>
          </a:p>
        </p:txBody>
      </p:sp>
      <p:sp>
        <p:nvSpPr>
          <p:cNvPr id="3" name="Text 1"/>
          <p:cNvSpPr/>
          <p:nvPr/>
        </p:nvSpPr>
        <p:spPr>
          <a:xfrm>
            <a:off x="548640" y="694944"/>
            <a:ext cx="10058400" cy="502920"/>
          </a:xfrm>
          <a:prstGeom prst="rect">
            <a:avLst/>
          </a:prstGeom>
          <a:noFill/>
          <a:ln/>
        </p:spPr>
        <p:txBody>
          <a:bodyPr wrap="square" lIns="0" tIns="0" rIns="0" bIns="0" rtlCol="0" anchor="ctr"/>
          <a:lstStyle/>
          <a:p>
            <a:pPr indent="0" marL="0">
              <a:buNone/>
            </a:pPr>
            <a:r>
              <a:rPr lang="en-US" sz="2700" b="1" dirty="0">
                <a:solidFill>
                  <a:srgbClr val="1A1A1A"/>
                </a:solidFill>
                <a:latin typeface="맑은 고딕" pitchFamily="34" charset="0"/>
                <a:ea typeface="맑은 고딕" pitchFamily="34" charset="-122"/>
                <a:cs typeface="맑은 고딕" pitchFamily="34" charset="-120"/>
              </a:rPr>
              <a:t>확장 시나리오</a:t>
            </a:r>
            <a:endParaRPr lang="en-US" sz="2700" dirty="0"/>
          </a:p>
        </p:txBody>
      </p:sp>
      <p:sp>
        <p:nvSpPr>
          <p:cNvPr id="4" name="Text 2"/>
          <p:cNvSpPr/>
          <p:nvPr/>
        </p:nvSpPr>
        <p:spPr>
          <a:xfrm>
            <a:off x="548640" y="1225296"/>
            <a:ext cx="10607040" cy="310896"/>
          </a:xfrm>
          <a:prstGeom prst="rect">
            <a:avLst/>
          </a:prstGeom>
          <a:noFill/>
          <a:ln/>
        </p:spPr>
        <p:txBody>
          <a:bodyPr wrap="square" lIns="0" tIns="0" rIns="0" bIns="0" rtlCol="0" anchor="ctr"/>
          <a:lstStyle/>
          <a:p>
            <a:pPr indent="0" marL="0">
              <a:buNone/>
            </a:pPr>
            <a:r>
              <a:rPr lang="en-US" sz="1200" dirty="0">
                <a:solidFill>
                  <a:srgbClr val="8A857E"/>
                </a:solidFill>
                <a:latin typeface="맑은 고딕" pitchFamily="34" charset="0"/>
                <a:ea typeface="맑은 고딕" pitchFamily="34" charset="-122"/>
                <a:cs typeface="맑은 고딕" pitchFamily="34" charset="-120"/>
              </a:rPr>
              <a:t>이 제안은 단발 전시가 아니라, 아이테르가 반복 판매할 수 있는 하나의 포맷이다</a:t>
            </a:r>
            <a:endParaRPr lang="en-US" sz="1200" dirty="0"/>
          </a:p>
        </p:txBody>
      </p:sp>
      <p:sp>
        <p:nvSpPr>
          <p:cNvPr id="5" name="Shape 3"/>
          <p:cNvSpPr/>
          <p:nvPr/>
        </p:nvSpPr>
        <p:spPr>
          <a:xfrm>
            <a:off x="548640" y="1783080"/>
            <a:ext cx="5394960" cy="1691640"/>
          </a:xfrm>
          <a:prstGeom prst="rect">
            <a:avLst/>
          </a:prstGeom>
          <a:solidFill>
            <a:srgbClr val="FFFFFF"/>
          </a:solidFill>
          <a:ln w="9525">
            <a:solidFill>
              <a:srgbClr val="D8D4CE"/>
            </a:solidFill>
            <a:prstDash val="solid"/>
          </a:ln>
        </p:spPr>
      </p:sp>
      <p:sp>
        <p:nvSpPr>
          <p:cNvPr id="6" name="Shape 4"/>
          <p:cNvSpPr/>
          <p:nvPr/>
        </p:nvSpPr>
        <p:spPr>
          <a:xfrm>
            <a:off x="749808" y="1984248"/>
            <a:ext cx="384048" cy="384048"/>
          </a:xfrm>
          <a:prstGeom prst="rect">
            <a:avLst/>
          </a:prstGeom>
          <a:solidFill>
            <a:srgbClr val="2F4858"/>
          </a:solidFill>
          <a:ln/>
        </p:spPr>
      </p:sp>
      <p:sp>
        <p:nvSpPr>
          <p:cNvPr id="7" name="Text 5"/>
          <p:cNvSpPr/>
          <p:nvPr/>
        </p:nvSpPr>
        <p:spPr>
          <a:xfrm>
            <a:off x="749808" y="198424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A</a:t>
            </a:r>
            <a:endParaRPr lang="en-US" sz="1500" dirty="0"/>
          </a:p>
        </p:txBody>
      </p:sp>
      <p:sp>
        <p:nvSpPr>
          <p:cNvPr id="8" name="Text 6"/>
          <p:cNvSpPr/>
          <p:nvPr/>
        </p:nvSpPr>
        <p:spPr>
          <a:xfrm>
            <a:off x="1261872" y="2002536"/>
            <a:ext cx="3017520" cy="347472"/>
          </a:xfrm>
          <a:prstGeom prst="rect">
            <a:avLst/>
          </a:prstGeom>
          <a:noFill/>
          <a:ln/>
        </p:spPr>
        <p:txBody>
          <a:bodyPr wrap="square" lIns="0" tIns="0" rIns="0" bIns="0" rtlCol="0" anchor="ctr"/>
          <a:lstStyle/>
          <a:p>
            <a:pPr indent="0" marL="0">
              <a:buNone/>
            </a:pPr>
            <a:r>
              <a:rPr lang="en-US" sz="1250" b="1" dirty="0">
                <a:solidFill>
                  <a:srgbClr val="1A1A1A"/>
                </a:solidFill>
                <a:latin typeface="맑은 고딕" pitchFamily="34" charset="0"/>
                <a:ea typeface="맑은 고딕" pitchFamily="34" charset="-122"/>
                <a:cs typeface="맑은 고딕" pitchFamily="34" charset="-120"/>
              </a:rPr>
              <a:t>순회 — 미디어 확장판</a:t>
            </a:r>
            <a:endParaRPr lang="en-US" sz="1250" dirty="0"/>
          </a:p>
        </p:txBody>
      </p:sp>
      <p:sp>
        <p:nvSpPr>
          <p:cNvPr id="9" name="Text 7"/>
          <p:cNvSpPr/>
          <p:nvPr/>
        </p:nvSpPr>
        <p:spPr>
          <a:xfrm>
            <a:off x="1261872" y="2441448"/>
            <a:ext cx="3017520" cy="868680"/>
          </a:xfrm>
          <a:prstGeom prst="rect">
            <a:avLst/>
          </a:prstGeom>
          <a:noFill/>
          <a:ln/>
        </p:spPr>
        <p:txBody>
          <a:bodyPr wrap="square" lIns="0" tIns="0" rIns="0" bIns="0" rtlCol="0" anchor="t"/>
          <a:lstStyle/>
          <a:p>
            <a:pPr indent="0" marL="0">
              <a:lnSpc>
                <a:spcPts val="1500"/>
              </a:lnSpc>
              <a:buNone/>
            </a:pPr>
            <a:r>
              <a:rPr lang="en-US" sz="950" dirty="0">
                <a:solidFill>
                  <a:srgbClr val="4A453F"/>
                </a:solidFill>
                <a:latin typeface="맑은 고딕" pitchFamily="34" charset="0"/>
                <a:ea typeface="맑은 고딕" pitchFamily="34" charset="-122"/>
                <a:cs typeface="맑은 고딕" pitchFamily="34" charset="-120"/>
              </a:rPr>
              <a:t>⑤실 메인홀 콘텐츠를 대형 몰입형으로 재편해 아이테르 제휴망(제주 빛의 벙커, 서울 빛의 시어터, 수원 띠아트, 인천문화재단)으로 순회. 지역 콘텐츠 기반 몰입형 공동기획이라는 기존 제휴 조건과 그대로 맞물린다.</a:t>
            </a:r>
            <a:endParaRPr lang="en-US" sz="950" dirty="0"/>
          </a:p>
        </p:txBody>
      </p:sp>
      <p:pic>
        <p:nvPicPr>
          <p:cNvPr id="10" name="Image 0" descr="/home/claude/aither/img/A40_1.jpeg">    </p:cNvPr>
          <p:cNvPicPr>
            <a:picLocks noChangeAspect="1"/>
          </p:cNvPicPr>
          <p:nvPr/>
        </p:nvPicPr>
        <p:blipFill>
          <a:blip r:embed="rId1"/>
          <a:srcRect l="0" r="0" t="0" b="0"/>
          <a:stretch/>
        </p:blipFill>
        <p:spPr>
          <a:xfrm>
            <a:off x="4434840" y="1984248"/>
            <a:ext cx="1298448" cy="1298448"/>
          </a:xfrm>
          <a:prstGeom prst="rect">
            <a:avLst/>
          </a:prstGeom>
        </p:spPr>
      </p:pic>
      <p:sp>
        <p:nvSpPr>
          <p:cNvPr id="11" name="Shape 8"/>
          <p:cNvSpPr/>
          <p:nvPr/>
        </p:nvSpPr>
        <p:spPr>
          <a:xfrm>
            <a:off x="6217920" y="1783080"/>
            <a:ext cx="5394960" cy="1691640"/>
          </a:xfrm>
          <a:prstGeom prst="rect">
            <a:avLst/>
          </a:prstGeom>
          <a:solidFill>
            <a:srgbClr val="FFFFFF"/>
          </a:solidFill>
          <a:ln w="9525">
            <a:solidFill>
              <a:srgbClr val="D8D4CE"/>
            </a:solidFill>
            <a:prstDash val="solid"/>
          </a:ln>
        </p:spPr>
      </p:sp>
      <p:sp>
        <p:nvSpPr>
          <p:cNvPr id="12" name="Shape 9"/>
          <p:cNvSpPr/>
          <p:nvPr/>
        </p:nvSpPr>
        <p:spPr>
          <a:xfrm>
            <a:off x="6419088" y="1984248"/>
            <a:ext cx="384048" cy="384048"/>
          </a:xfrm>
          <a:prstGeom prst="rect">
            <a:avLst/>
          </a:prstGeom>
          <a:solidFill>
            <a:srgbClr val="9C6B3C"/>
          </a:solidFill>
          <a:ln/>
        </p:spPr>
      </p:sp>
      <p:sp>
        <p:nvSpPr>
          <p:cNvPr id="13" name="Text 10"/>
          <p:cNvSpPr/>
          <p:nvPr/>
        </p:nvSpPr>
        <p:spPr>
          <a:xfrm>
            <a:off x="6419088" y="198424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B</a:t>
            </a:r>
            <a:endParaRPr lang="en-US" sz="1500" dirty="0"/>
          </a:p>
        </p:txBody>
      </p:sp>
      <p:sp>
        <p:nvSpPr>
          <p:cNvPr id="14" name="Text 11"/>
          <p:cNvSpPr/>
          <p:nvPr/>
        </p:nvSpPr>
        <p:spPr>
          <a:xfrm>
            <a:off x="6931152" y="2002536"/>
            <a:ext cx="3017520" cy="347472"/>
          </a:xfrm>
          <a:prstGeom prst="rect">
            <a:avLst/>
          </a:prstGeom>
          <a:noFill/>
          <a:ln/>
        </p:spPr>
        <p:txBody>
          <a:bodyPr wrap="square" lIns="0" tIns="0" rIns="0" bIns="0" rtlCol="0" anchor="ctr"/>
          <a:lstStyle/>
          <a:p>
            <a:pPr indent="0" marL="0">
              <a:buNone/>
            </a:pPr>
            <a:r>
              <a:rPr lang="en-US" sz="1250" b="1" dirty="0">
                <a:solidFill>
                  <a:srgbClr val="1A1A1A"/>
                </a:solidFill>
                <a:latin typeface="맑은 고딕" pitchFamily="34" charset="0"/>
                <a:ea typeface="맑은 고딕" pitchFamily="34" charset="-122"/>
                <a:cs typeface="맑은 고딕" pitchFamily="34" charset="-120"/>
              </a:rPr>
              <a:t>기업 맞춤 패키지 3종</a:t>
            </a:r>
            <a:endParaRPr lang="en-US" sz="1250" dirty="0"/>
          </a:p>
        </p:txBody>
      </p:sp>
      <p:sp>
        <p:nvSpPr>
          <p:cNvPr id="15" name="Text 12"/>
          <p:cNvSpPr/>
          <p:nvPr/>
        </p:nvSpPr>
        <p:spPr>
          <a:xfrm>
            <a:off x="6931152" y="2441448"/>
            <a:ext cx="3017520" cy="868680"/>
          </a:xfrm>
          <a:prstGeom prst="rect">
            <a:avLst/>
          </a:prstGeom>
          <a:noFill/>
          <a:ln/>
        </p:spPr>
        <p:txBody>
          <a:bodyPr wrap="square" lIns="0" tIns="0" rIns="0" bIns="0" rtlCol="0" anchor="t"/>
          <a:lstStyle/>
          <a:p>
            <a:pPr indent="0" marL="0">
              <a:lnSpc>
                <a:spcPts val="1500"/>
              </a:lnSpc>
              <a:buNone/>
            </a:pPr>
            <a:r>
              <a:rPr lang="en-US" sz="950" dirty="0">
                <a:solidFill>
                  <a:srgbClr val="4A453F"/>
                </a:solidFill>
                <a:latin typeface="맑은 고딕" pitchFamily="34" charset="0"/>
                <a:ea typeface="맑은 고딕" pitchFamily="34" charset="-122"/>
                <a:cs typeface="맑은 고딕" pitchFamily="34" charset="-120"/>
              </a:rPr>
              <a:t>① 로비 전시형 — 가벽 렌탈 모듈로 사옥·지점 순회</a:t>
            </a:r>
            <a:endParaRPr lang="en-US" sz="950" dirty="0"/>
          </a:p>
          <a:p>
            <a:pPr indent="0" marL="0">
              <a:lnSpc>
                <a:spcPts val="1500"/>
              </a:lnSpc>
              <a:buNone/>
            </a:pPr>
            <a:r>
              <a:rPr lang="en-US" sz="950" dirty="0">
                <a:solidFill>
                  <a:srgbClr val="4A453F"/>
                </a:solidFill>
                <a:latin typeface="맑은 고딕" pitchFamily="34" charset="0"/>
                <a:ea typeface="맑은 고딕" pitchFamily="34" charset="-122"/>
                <a:cs typeface="맑은 고딕" pitchFamily="34" charset="-120"/>
              </a:rPr>
              <a:t>② 임직원 참여형 — 원단학교 기반 ESG 워크숍 상품화</a:t>
            </a:r>
            <a:endParaRPr lang="en-US" sz="950" dirty="0"/>
          </a:p>
          <a:p>
            <a:pPr indent="0" marL="0">
              <a:lnSpc>
                <a:spcPts val="1500"/>
              </a:lnSpc>
              <a:buNone/>
            </a:pPr>
            <a:r>
              <a:rPr lang="en-US" sz="950" dirty="0">
                <a:solidFill>
                  <a:srgbClr val="4A453F"/>
                </a:solidFill>
                <a:latin typeface="맑은 고딕" pitchFamily="34" charset="0"/>
                <a:ea typeface="맑은 고딕" pitchFamily="34" charset="-122"/>
                <a:cs typeface="맑은 고딕" pitchFamily="34" charset="-120"/>
              </a:rPr>
              <a:t>③ 브랜드 아카이브형 — 기업의 창업·사사(社史)를 물질 아카이브로 제작</a:t>
            </a:r>
            <a:endParaRPr lang="en-US" sz="950" dirty="0"/>
          </a:p>
        </p:txBody>
      </p:sp>
      <p:pic>
        <p:nvPicPr>
          <p:cNvPr id="16" name="Image 1" descr="/home/claude/aither/img/A27_2.jpeg">    </p:cNvPr>
          <p:cNvPicPr>
            <a:picLocks noChangeAspect="1"/>
          </p:cNvPicPr>
          <p:nvPr/>
        </p:nvPicPr>
        <p:blipFill>
          <a:blip r:embed="rId2"/>
          <a:srcRect l="0" r="0" t="0" b="0"/>
          <a:stretch/>
        </p:blipFill>
        <p:spPr>
          <a:xfrm>
            <a:off x="10104120" y="1984248"/>
            <a:ext cx="1298448" cy="1298448"/>
          </a:xfrm>
          <a:prstGeom prst="rect">
            <a:avLst/>
          </a:prstGeom>
        </p:spPr>
      </p:pic>
      <p:sp>
        <p:nvSpPr>
          <p:cNvPr id="17" name="Shape 13"/>
          <p:cNvSpPr/>
          <p:nvPr/>
        </p:nvSpPr>
        <p:spPr>
          <a:xfrm>
            <a:off x="548640" y="3749040"/>
            <a:ext cx="5394960" cy="1691640"/>
          </a:xfrm>
          <a:prstGeom prst="rect">
            <a:avLst/>
          </a:prstGeom>
          <a:solidFill>
            <a:srgbClr val="FFFFFF"/>
          </a:solidFill>
          <a:ln w="9525">
            <a:solidFill>
              <a:srgbClr val="D8D4CE"/>
            </a:solidFill>
            <a:prstDash val="solid"/>
          </a:ln>
        </p:spPr>
      </p:sp>
      <p:sp>
        <p:nvSpPr>
          <p:cNvPr id="18" name="Shape 14"/>
          <p:cNvSpPr/>
          <p:nvPr/>
        </p:nvSpPr>
        <p:spPr>
          <a:xfrm>
            <a:off x="749808" y="3950208"/>
            <a:ext cx="384048" cy="384048"/>
          </a:xfrm>
          <a:prstGeom prst="rect">
            <a:avLst/>
          </a:prstGeom>
          <a:solidFill>
            <a:srgbClr val="7A4A45"/>
          </a:solidFill>
          <a:ln/>
        </p:spPr>
      </p:sp>
      <p:sp>
        <p:nvSpPr>
          <p:cNvPr id="19" name="Text 15"/>
          <p:cNvSpPr/>
          <p:nvPr/>
        </p:nvSpPr>
        <p:spPr>
          <a:xfrm>
            <a:off x="749808" y="395020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C</a:t>
            </a:r>
            <a:endParaRPr lang="en-US" sz="1500" dirty="0"/>
          </a:p>
        </p:txBody>
      </p:sp>
      <p:sp>
        <p:nvSpPr>
          <p:cNvPr id="20" name="Text 16"/>
          <p:cNvSpPr/>
          <p:nvPr/>
        </p:nvSpPr>
        <p:spPr>
          <a:xfrm>
            <a:off x="1261872" y="3968496"/>
            <a:ext cx="3017520" cy="347472"/>
          </a:xfrm>
          <a:prstGeom prst="rect">
            <a:avLst/>
          </a:prstGeom>
          <a:noFill/>
          <a:ln/>
        </p:spPr>
        <p:txBody>
          <a:bodyPr wrap="square" lIns="0" tIns="0" rIns="0" bIns="0" rtlCol="0" anchor="ctr"/>
          <a:lstStyle/>
          <a:p>
            <a:pPr indent="0" marL="0">
              <a:buNone/>
            </a:pPr>
            <a:r>
              <a:rPr lang="en-US" sz="1250" b="1" dirty="0">
                <a:solidFill>
                  <a:srgbClr val="1A1A1A"/>
                </a:solidFill>
                <a:latin typeface="맑은 고딕" pitchFamily="34" charset="0"/>
                <a:ea typeface="맑은 고딕" pitchFamily="34" charset="-122"/>
                <a:cs typeface="맑은 고딕" pitchFamily="34" charset="-120"/>
              </a:rPr>
              <a:t>2차년도 확장 — 《덮인 물, 남은 올 Ⅱ: 매축》</a:t>
            </a:r>
            <a:endParaRPr lang="en-US" sz="1250" dirty="0"/>
          </a:p>
        </p:txBody>
      </p:sp>
      <p:sp>
        <p:nvSpPr>
          <p:cNvPr id="21" name="Text 17"/>
          <p:cNvSpPr/>
          <p:nvPr/>
        </p:nvSpPr>
        <p:spPr>
          <a:xfrm>
            <a:off x="1261872" y="4407408"/>
            <a:ext cx="3017520" cy="868680"/>
          </a:xfrm>
          <a:prstGeom prst="rect">
            <a:avLst/>
          </a:prstGeom>
          <a:noFill/>
          <a:ln/>
        </p:spPr>
        <p:txBody>
          <a:bodyPr wrap="square" lIns="0" tIns="0" rIns="0" bIns="0" rtlCol="0" anchor="t"/>
          <a:lstStyle/>
          <a:p>
            <a:pPr indent="0" marL="0">
              <a:lnSpc>
                <a:spcPts val="1500"/>
              </a:lnSpc>
              <a:buNone/>
            </a:pPr>
            <a:r>
              <a:rPr lang="en-US" sz="950" dirty="0">
                <a:solidFill>
                  <a:srgbClr val="4A453F"/>
                </a:solidFill>
                <a:latin typeface="맑은 고딕" pitchFamily="34" charset="0"/>
                <a:ea typeface="맑은 고딕" pitchFamily="34" charset="-122"/>
                <a:cs typeface="맑은 고딕" pitchFamily="34" charset="-120"/>
              </a:rPr>
              <a:t>부산진매축과 매축지마을로 주제를 확장해 시리즈화. 1차년도에 구축한 아카이브 300건이 2차년도의 리서치 기반이 되어 준비 기간과 비용을 함께 줄인다.</a:t>
            </a:r>
            <a:endParaRPr lang="en-US" sz="950" dirty="0"/>
          </a:p>
        </p:txBody>
      </p:sp>
      <p:pic>
        <p:nvPicPr>
          <p:cNvPr id="22" name="Image 2" descr="/home/claude/aither/img/A29_1.jpeg">    </p:cNvPr>
          <p:cNvPicPr>
            <a:picLocks noChangeAspect="1"/>
          </p:cNvPicPr>
          <p:nvPr/>
        </p:nvPicPr>
        <p:blipFill>
          <a:blip r:embed="rId3"/>
          <a:srcRect l="0" r="0" t="0" b="0"/>
          <a:stretch/>
        </p:blipFill>
        <p:spPr>
          <a:xfrm>
            <a:off x="4434840" y="3950208"/>
            <a:ext cx="1298448" cy="1298448"/>
          </a:xfrm>
          <a:prstGeom prst="rect">
            <a:avLst/>
          </a:prstGeom>
        </p:spPr>
      </p:pic>
      <p:sp>
        <p:nvSpPr>
          <p:cNvPr id="23" name="Shape 18"/>
          <p:cNvSpPr/>
          <p:nvPr/>
        </p:nvSpPr>
        <p:spPr>
          <a:xfrm>
            <a:off x="6217920" y="3749040"/>
            <a:ext cx="5394960" cy="1691640"/>
          </a:xfrm>
          <a:prstGeom prst="rect">
            <a:avLst/>
          </a:prstGeom>
          <a:solidFill>
            <a:srgbClr val="FFFFFF"/>
          </a:solidFill>
          <a:ln w="9525">
            <a:solidFill>
              <a:srgbClr val="D8D4CE"/>
            </a:solidFill>
            <a:prstDash val="solid"/>
          </a:ln>
        </p:spPr>
      </p:sp>
      <p:sp>
        <p:nvSpPr>
          <p:cNvPr id="24" name="Shape 19"/>
          <p:cNvSpPr/>
          <p:nvPr/>
        </p:nvSpPr>
        <p:spPr>
          <a:xfrm>
            <a:off x="6419088" y="3950208"/>
            <a:ext cx="384048" cy="384048"/>
          </a:xfrm>
          <a:prstGeom prst="rect">
            <a:avLst/>
          </a:prstGeom>
          <a:solidFill>
            <a:srgbClr val="4A4A4A"/>
          </a:solidFill>
          <a:ln/>
        </p:spPr>
      </p:sp>
      <p:sp>
        <p:nvSpPr>
          <p:cNvPr id="25" name="Text 20"/>
          <p:cNvSpPr/>
          <p:nvPr/>
        </p:nvSpPr>
        <p:spPr>
          <a:xfrm>
            <a:off x="6419088" y="395020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D</a:t>
            </a:r>
            <a:endParaRPr lang="en-US" sz="1500" dirty="0"/>
          </a:p>
        </p:txBody>
      </p:sp>
      <p:sp>
        <p:nvSpPr>
          <p:cNvPr id="26" name="Text 21"/>
          <p:cNvSpPr/>
          <p:nvPr/>
        </p:nvSpPr>
        <p:spPr>
          <a:xfrm>
            <a:off x="6931152" y="3968496"/>
            <a:ext cx="3017520" cy="347472"/>
          </a:xfrm>
          <a:prstGeom prst="rect">
            <a:avLst/>
          </a:prstGeom>
          <a:noFill/>
          <a:ln/>
        </p:spPr>
        <p:txBody>
          <a:bodyPr wrap="square" lIns="0" tIns="0" rIns="0" bIns="0" rtlCol="0" anchor="ctr"/>
          <a:lstStyle/>
          <a:p>
            <a:pPr indent="0" marL="0">
              <a:buNone/>
            </a:pPr>
            <a:r>
              <a:rPr lang="en-US" sz="1250" b="1" dirty="0">
                <a:solidFill>
                  <a:srgbClr val="1A1A1A"/>
                </a:solidFill>
                <a:latin typeface="맑은 고딕" pitchFamily="34" charset="0"/>
                <a:ea typeface="맑은 고딕" pitchFamily="34" charset="-122"/>
                <a:cs typeface="맑은 고딕" pitchFamily="34" charset="-120"/>
              </a:rPr>
              <a:t>상시 수익 전환</a:t>
            </a:r>
            <a:endParaRPr lang="en-US" sz="1250" dirty="0"/>
          </a:p>
        </p:txBody>
      </p:sp>
      <p:sp>
        <p:nvSpPr>
          <p:cNvPr id="27" name="Text 22"/>
          <p:cNvSpPr/>
          <p:nvPr/>
        </p:nvSpPr>
        <p:spPr>
          <a:xfrm>
            <a:off x="6931152" y="4407408"/>
            <a:ext cx="3017520" cy="868680"/>
          </a:xfrm>
          <a:prstGeom prst="rect">
            <a:avLst/>
          </a:prstGeom>
          <a:noFill/>
          <a:ln/>
        </p:spPr>
        <p:txBody>
          <a:bodyPr wrap="square" lIns="0" tIns="0" rIns="0" bIns="0" rtlCol="0" anchor="t"/>
          <a:lstStyle/>
          <a:p>
            <a:pPr indent="0" marL="0">
              <a:lnSpc>
                <a:spcPts val="1500"/>
              </a:lnSpc>
              <a:buNone/>
            </a:pPr>
            <a:r>
              <a:rPr lang="en-US" sz="950" dirty="0">
                <a:solidFill>
                  <a:srgbClr val="4A453F"/>
                </a:solidFill>
                <a:latin typeface="맑은 고딕" pitchFamily="34" charset="0"/>
                <a:ea typeface="맑은 고딕" pitchFamily="34" charset="-122"/>
                <a:cs typeface="맑은 고딕" pitchFamily="34" charset="-120"/>
              </a:rPr>
              <a:t>· 범내 산책 워킹투어의 유료 정례화(주말 상설)</a:t>
            </a:r>
            <a:endParaRPr lang="en-US" sz="950" dirty="0"/>
          </a:p>
          <a:p>
            <a:pPr indent="0" marL="0">
              <a:lnSpc>
                <a:spcPts val="1500"/>
              </a:lnSpc>
              <a:buNone/>
            </a:pPr>
            <a:r>
              <a:rPr lang="en-US" sz="950" dirty="0">
                <a:solidFill>
                  <a:srgbClr val="4A453F"/>
                </a:solidFill>
                <a:latin typeface="맑은 고딕" pitchFamily="34" charset="0"/>
                <a:ea typeface="맑은 고딕" pitchFamily="34" charset="-122"/>
                <a:cs typeface="맑은 고딕" pitchFamily="34" charset="-120"/>
              </a:rPr>
              <a:t>· 자투리 원단 굿즈 라인 상시 판매</a:t>
            </a:r>
            <a:endParaRPr lang="en-US" sz="950" dirty="0"/>
          </a:p>
          <a:p>
            <a:pPr indent="0" marL="0">
              <a:lnSpc>
                <a:spcPts val="1500"/>
              </a:lnSpc>
              <a:buNone/>
            </a:pPr>
            <a:r>
              <a:rPr lang="en-US" sz="950" dirty="0">
                <a:solidFill>
                  <a:srgbClr val="4A453F"/>
                </a:solidFill>
                <a:latin typeface="맑은 고딕" pitchFamily="34" charset="0"/>
                <a:ea typeface="맑은 고딕" pitchFamily="34" charset="-122"/>
                <a:cs typeface="맑은 고딕" pitchFamily="34" charset="-120"/>
              </a:rPr>
              <a:t>· 아카이브 이미지 라이선싱 및 교육 교재화</a:t>
            </a:r>
            <a:endParaRPr lang="en-US" sz="950" dirty="0"/>
          </a:p>
        </p:txBody>
      </p:sp>
      <p:pic>
        <p:nvPicPr>
          <p:cNvPr id="28" name="Image 3" descr="/home/claude/aither/img/A34_1.jpeg">    </p:cNvPr>
          <p:cNvPicPr>
            <a:picLocks noChangeAspect="1"/>
          </p:cNvPicPr>
          <p:nvPr/>
        </p:nvPicPr>
        <p:blipFill>
          <a:blip r:embed="rId4"/>
          <a:srcRect l="0" r="0" t="0" b="0"/>
          <a:stretch/>
        </p:blipFill>
        <p:spPr>
          <a:xfrm>
            <a:off x="10104120" y="3950208"/>
            <a:ext cx="1298448" cy="1298448"/>
          </a:xfrm>
          <a:prstGeom prst="rect">
            <a:avLst/>
          </a:prstGeom>
        </p:spPr>
      </p:pic>
      <p:sp>
        <p:nvSpPr>
          <p:cNvPr id="29" name="Shape 23"/>
          <p:cNvSpPr/>
          <p:nvPr/>
        </p:nvSpPr>
        <p:spPr>
          <a:xfrm>
            <a:off x="548640" y="5760720"/>
            <a:ext cx="11064240" cy="457200"/>
          </a:xfrm>
          <a:prstGeom prst="rect">
            <a:avLst/>
          </a:prstGeom>
          <a:solidFill>
            <a:srgbClr val="1A1A1A"/>
          </a:solidFill>
          <a:ln/>
        </p:spPr>
      </p:sp>
      <p:sp>
        <p:nvSpPr>
          <p:cNvPr id="30" name="Text 24"/>
          <p:cNvSpPr/>
          <p:nvPr/>
        </p:nvSpPr>
        <p:spPr>
          <a:xfrm>
            <a:off x="822960" y="5760720"/>
            <a:ext cx="10607040" cy="457200"/>
          </a:xfrm>
          <a:prstGeom prst="rect">
            <a:avLst/>
          </a:prstGeom>
          <a:noFill/>
          <a:ln/>
        </p:spPr>
        <p:txBody>
          <a:bodyPr wrap="square" lIns="0" tIns="0" rIns="0" bIns="0" rtlCol="0" anchor="ctr"/>
          <a:lstStyle/>
          <a:p>
            <a:pPr indent="0" marL="0">
              <a:buNone/>
            </a:pPr>
            <a:r>
              <a:rPr lang="en-US" sz="1050" dirty="0">
                <a:solidFill>
                  <a:srgbClr val="E4DFD6"/>
                </a:solidFill>
                <a:latin typeface="맑은 고딕" pitchFamily="34" charset="0"/>
                <a:ea typeface="맑은 고딕" pitchFamily="34" charset="-122"/>
                <a:cs typeface="맑은 고딕" pitchFamily="34" charset="-120"/>
              </a:rPr>
              <a:t>한 채의 집에서 시작해, 한 동네의 포맷으로 — 범일가옥은 아이테르가 '지역 예술로 세상을 설득하는' 첫 번째 사례가 될 수 있습니다.</a:t>
            </a:r>
            <a:endParaRPr lang="en-US" sz="1050" dirty="0"/>
          </a:p>
        </p:txBody>
      </p:sp>
      <p:sp>
        <p:nvSpPr>
          <p:cNvPr id="31" name="Text 25"/>
          <p:cNvSpPr/>
          <p:nvPr/>
        </p:nvSpPr>
        <p:spPr>
          <a:xfrm>
            <a:off x="548640" y="6419088"/>
            <a:ext cx="7315200" cy="274320"/>
          </a:xfrm>
          <a:prstGeom prst="rect">
            <a:avLst/>
          </a:prstGeom>
          <a:noFill/>
          <a:ln/>
        </p:spPr>
        <p:txBody>
          <a:bodyPr wrap="square" lIns="0" tIns="0" rIns="0" bIns="0" rtlCol="0" anchor="ctr"/>
          <a:lstStyle/>
          <a:p>
            <a:pPr algn="l" indent="0" marL="0">
              <a:buNone/>
            </a:pPr>
            <a:r>
              <a:rPr lang="en-US" sz="800" dirty="0">
                <a:solidFill>
                  <a:srgbClr val="8A857E"/>
                </a:solidFill>
                <a:latin typeface="맑은 고딕" pitchFamily="34" charset="0"/>
                <a:ea typeface="맑은 고딕" pitchFamily="34" charset="-122"/>
                <a:cs typeface="맑은 고딕" pitchFamily="34" charset="-120"/>
              </a:rPr>
              <a:t>아이테르 문화예술기획제안서   ·   덮인 물, 남은 올   ·   기획 추병곤</a:t>
            </a:r>
            <a:endParaRPr lang="en-US" sz="800" dirty="0"/>
          </a:p>
        </p:txBody>
      </p:sp>
      <p:sp>
        <p:nvSpPr>
          <p:cNvPr id="32" name="Text 26"/>
          <p:cNvSpPr/>
          <p:nvPr/>
        </p:nvSpPr>
        <p:spPr>
          <a:xfrm>
            <a:off x="10972800" y="6419088"/>
            <a:ext cx="640080" cy="274320"/>
          </a:xfrm>
          <a:prstGeom prst="rect">
            <a:avLst/>
          </a:prstGeom>
          <a:noFill/>
          <a:ln/>
        </p:spPr>
        <p:txBody>
          <a:bodyPr wrap="square" lIns="0" tIns="0" rIns="0" bIns="0" rtlCol="0" anchor="ctr"/>
          <a:lstStyle/>
          <a:p>
            <a:pPr algn="r" indent="0" marL="0">
              <a:buNone/>
            </a:pPr>
            <a:r>
              <a:rPr lang="en-US" sz="900" dirty="0">
                <a:solidFill>
                  <a:srgbClr val="8A857E"/>
                </a:solidFill>
                <a:latin typeface="Cambria" pitchFamily="34" charset="0"/>
                <a:ea typeface="Cambria" pitchFamily="34" charset="-122"/>
                <a:cs typeface="Cambria"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7315200" cy="237744"/>
          </a:xfrm>
          <a:prstGeom prst="rect">
            <a:avLst/>
          </a:prstGeom>
          <a:noFill/>
          <a:ln/>
        </p:spPr>
        <p:txBody>
          <a:bodyPr wrap="square" lIns="0" tIns="0" rIns="0" bIns="0" rtlCol="0" anchor="ctr"/>
          <a:lstStyle/>
          <a:p>
            <a:pPr indent="0" marL="0">
              <a:buNone/>
            </a:pPr>
            <a:r>
              <a:rPr lang="en-US" sz="1050" spc="250" kern="0" dirty="0">
                <a:solidFill>
                  <a:srgbClr val="8A857E"/>
                </a:solidFill>
                <a:latin typeface="Cambria" pitchFamily="34" charset="0"/>
                <a:ea typeface="Cambria" pitchFamily="34" charset="-122"/>
                <a:cs typeface="Cambria" pitchFamily="34" charset="-120"/>
              </a:rPr>
              <a:t>23  PLANNER</a:t>
            </a:r>
            <a:endParaRPr lang="en-US" sz="1050" dirty="0"/>
          </a:p>
        </p:txBody>
      </p:sp>
      <p:sp>
        <p:nvSpPr>
          <p:cNvPr id="3" name="Text 1"/>
          <p:cNvSpPr/>
          <p:nvPr/>
        </p:nvSpPr>
        <p:spPr>
          <a:xfrm>
            <a:off x="548640" y="694944"/>
            <a:ext cx="10058400" cy="502920"/>
          </a:xfrm>
          <a:prstGeom prst="rect">
            <a:avLst/>
          </a:prstGeom>
          <a:noFill/>
          <a:ln/>
        </p:spPr>
        <p:txBody>
          <a:bodyPr wrap="square" lIns="0" tIns="0" rIns="0" bIns="0" rtlCol="0" anchor="ctr"/>
          <a:lstStyle/>
          <a:p>
            <a:pPr indent="0" marL="0">
              <a:buNone/>
            </a:pPr>
            <a:r>
              <a:rPr lang="en-US" sz="2700" b="1" dirty="0">
                <a:solidFill>
                  <a:srgbClr val="1A1A1A"/>
                </a:solidFill>
                <a:latin typeface="맑은 고딕" pitchFamily="34" charset="0"/>
                <a:ea typeface="맑은 고딕" pitchFamily="34" charset="-122"/>
                <a:cs typeface="맑은 고딕" pitchFamily="34" charset="-120"/>
              </a:rPr>
              <a:t>기획자 소개 — 추병곤</a:t>
            </a:r>
            <a:endParaRPr lang="en-US" sz="2700" dirty="0"/>
          </a:p>
        </p:txBody>
      </p:sp>
      <p:sp>
        <p:nvSpPr>
          <p:cNvPr id="4" name="Text 2"/>
          <p:cNvSpPr/>
          <p:nvPr/>
        </p:nvSpPr>
        <p:spPr>
          <a:xfrm>
            <a:off x="548640" y="1225296"/>
            <a:ext cx="10607040" cy="310896"/>
          </a:xfrm>
          <a:prstGeom prst="rect">
            <a:avLst/>
          </a:prstGeom>
          <a:noFill/>
          <a:ln/>
        </p:spPr>
        <p:txBody>
          <a:bodyPr wrap="square" lIns="0" tIns="0" rIns="0" bIns="0" rtlCol="0" anchor="ctr"/>
          <a:lstStyle/>
          <a:p>
            <a:pPr indent="0" marL="0">
              <a:buNone/>
            </a:pPr>
            <a:r>
              <a:rPr lang="en-US" sz="1200" dirty="0">
                <a:solidFill>
                  <a:srgbClr val="8A857E"/>
                </a:solidFill>
                <a:latin typeface="맑은 고딕" pitchFamily="34" charset="0"/>
                <a:ea typeface="맑은 고딕" pitchFamily="34" charset="-122"/>
                <a:cs typeface="맑은 고딕" pitchFamily="34" charset="-120"/>
              </a:rPr>
              <a:t>층위 사이의 매개자: 이론(미학·신유물론) · 실무(학예·도슨트·아카이브) · 창작(설치·드로잉)</a:t>
            </a:r>
            <a:endParaRPr lang="en-US" sz="1200" dirty="0"/>
          </a:p>
        </p:txBody>
      </p:sp>
      <p:sp>
        <p:nvSpPr>
          <p:cNvPr id="5" name="Shape 3"/>
          <p:cNvSpPr/>
          <p:nvPr/>
        </p:nvSpPr>
        <p:spPr>
          <a:xfrm>
            <a:off x="548640" y="1783080"/>
            <a:ext cx="2286000" cy="1417320"/>
          </a:xfrm>
          <a:prstGeom prst="rect">
            <a:avLst/>
          </a:prstGeom>
          <a:solidFill>
            <a:srgbClr val="1A1A1A"/>
          </a:solidFill>
          <a:ln/>
        </p:spPr>
      </p:sp>
      <p:sp>
        <p:nvSpPr>
          <p:cNvPr id="6" name="Text 4"/>
          <p:cNvSpPr/>
          <p:nvPr/>
        </p:nvSpPr>
        <p:spPr>
          <a:xfrm>
            <a:off x="749808" y="1938528"/>
            <a:ext cx="1920240" cy="274320"/>
          </a:xfrm>
          <a:prstGeom prst="rect">
            <a:avLst/>
          </a:prstGeom>
          <a:noFill/>
          <a:ln/>
        </p:spPr>
        <p:txBody>
          <a:bodyPr wrap="square" lIns="0" tIns="0" rIns="0" bIns="0" rtlCol="0" anchor="ctr"/>
          <a:lstStyle/>
          <a:p>
            <a:pPr indent="0" marL="0">
              <a:buNone/>
            </a:pPr>
            <a:r>
              <a:rPr lang="en-US" sz="1300" b="1" dirty="0">
                <a:solidFill>
                  <a:srgbClr val="FFFFFF"/>
                </a:solidFill>
                <a:latin typeface="맑은 고딕" pitchFamily="34" charset="0"/>
                <a:ea typeface="맑은 고딕" pitchFamily="34" charset="-122"/>
                <a:cs typeface="맑은 고딕" pitchFamily="34" charset="-120"/>
              </a:rPr>
              <a:t>추병곤 秋炳坤</a:t>
            </a:r>
            <a:endParaRPr lang="en-US" sz="1300" dirty="0"/>
          </a:p>
        </p:txBody>
      </p:sp>
      <p:sp>
        <p:nvSpPr>
          <p:cNvPr id="7" name="Text 5"/>
          <p:cNvSpPr/>
          <p:nvPr/>
        </p:nvSpPr>
        <p:spPr>
          <a:xfrm>
            <a:off x="749808" y="2231136"/>
            <a:ext cx="1920240" cy="914400"/>
          </a:xfrm>
          <a:prstGeom prst="rect">
            <a:avLst/>
          </a:prstGeom>
          <a:noFill/>
          <a:ln/>
        </p:spPr>
        <p:txBody>
          <a:bodyPr wrap="square" lIns="0" tIns="0" rIns="0" bIns="0" rtlCol="0" anchor="ctr"/>
          <a:lstStyle/>
          <a:p>
            <a:pPr indent="0" marL="0">
              <a:lnSpc>
                <a:spcPts val="1400"/>
              </a:lnSpc>
              <a:buNone/>
            </a:pPr>
            <a:r>
              <a:rPr lang="en-US" sz="950" dirty="0">
                <a:solidFill>
                  <a:srgbClr val="CFC8BE"/>
                </a:solidFill>
                <a:latin typeface="맑은 고딕" pitchFamily="34" charset="0"/>
                <a:ea typeface="맑은 고딕" pitchFamily="34" charset="-122"/>
                <a:cs typeface="맑은 고딕" pitchFamily="34" charset="-120"/>
              </a:rPr>
              <a:t>학예사 · 미학 연구자</a:t>
            </a:r>
            <a:endParaRPr lang="en-US" sz="950" dirty="0"/>
          </a:p>
          <a:p>
            <a:pPr indent="0" marL="0">
              <a:lnSpc>
                <a:spcPts val="1400"/>
              </a:lnSpc>
              <a:buNone/>
            </a:pPr>
            <a:r>
              <a:rPr lang="en-US" sz="950" dirty="0">
                <a:solidFill>
                  <a:srgbClr val="CFC8BE"/>
                </a:solidFill>
                <a:latin typeface="맑은 고딕" pitchFamily="34" charset="0"/>
                <a:ea typeface="맑은 고딕" pitchFamily="34" charset="-122"/>
                <a:cs typeface="맑은 고딕" pitchFamily="34" charset="-120"/>
              </a:rPr>
              <a:t>설치/드로잉 작가</a:t>
            </a:r>
            <a:endParaRPr lang="en-US" sz="950" dirty="0"/>
          </a:p>
          <a:p>
            <a:pPr indent="0" marL="0">
              <a:lnSpc>
                <a:spcPts val="1400"/>
              </a:lnSpc>
              <a:buNone/>
            </a:pPr>
            <a:endParaRPr lang="en-US" sz="950" dirty="0"/>
          </a:p>
          <a:p>
            <a:pPr indent="0" marL="0">
              <a:lnSpc>
                <a:spcPts val="1400"/>
              </a:lnSpc>
              <a:buNone/>
            </a:pPr>
            <a:r>
              <a:rPr lang="en-US" sz="950" dirty="0">
                <a:solidFill>
                  <a:srgbClr val="CFC8BE"/>
                </a:solidFill>
                <a:latin typeface="맑은 고딕" pitchFamily="34" charset="0"/>
                <a:ea typeface="맑은 고딕" pitchFamily="34" charset="-122"/>
                <a:cs typeface="맑은 고딕" pitchFamily="34" charset="-120"/>
              </a:rPr>
              <a:t>010-3910-3588</a:t>
            </a:r>
            <a:endParaRPr lang="en-US" sz="950" dirty="0"/>
          </a:p>
          <a:p>
            <a:pPr indent="0" marL="0">
              <a:lnSpc>
                <a:spcPts val="1400"/>
              </a:lnSpc>
              <a:buNone/>
            </a:pPr>
            <a:r>
              <a:rPr lang="en-US" sz="950" dirty="0">
                <a:solidFill>
                  <a:srgbClr val="CFC8BE"/>
                </a:solidFill>
                <a:latin typeface="맑은 고딕" pitchFamily="34" charset="0"/>
                <a:ea typeface="맑은 고딕" pitchFamily="34" charset="-122"/>
                <a:cs typeface="맑은 고딕" pitchFamily="34" charset="-120"/>
              </a:rPr>
              <a:t>utopiz@naver.com</a:t>
            </a:r>
            <a:endParaRPr lang="en-US" sz="950" dirty="0"/>
          </a:p>
        </p:txBody>
      </p:sp>
      <p:sp>
        <p:nvSpPr>
          <p:cNvPr id="8" name="Shape 6"/>
          <p:cNvSpPr/>
          <p:nvPr/>
        </p:nvSpPr>
        <p:spPr>
          <a:xfrm>
            <a:off x="548640" y="3291840"/>
            <a:ext cx="2286000" cy="2834640"/>
          </a:xfrm>
          <a:prstGeom prst="rect">
            <a:avLst/>
          </a:prstGeom>
          <a:solidFill>
            <a:srgbClr val="F3F1ED"/>
          </a:solidFill>
          <a:ln/>
        </p:spPr>
      </p:sp>
      <p:sp>
        <p:nvSpPr>
          <p:cNvPr id="9" name="Text 7"/>
          <p:cNvSpPr/>
          <p:nvPr/>
        </p:nvSpPr>
        <p:spPr>
          <a:xfrm>
            <a:off x="749808" y="3438144"/>
            <a:ext cx="1920240" cy="256032"/>
          </a:xfrm>
          <a:prstGeom prst="rect">
            <a:avLst/>
          </a:prstGeom>
          <a:noFill/>
          <a:ln/>
        </p:spPr>
        <p:txBody>
          <a:bodyPr wrap="square" lIns="0" tIns="0" rIns="0" bIns="0" rtlCol="0" anchor="ctr"/>
          <a:lstStyle/>
          <a:p>
            <a:pPr indent="0" marL="0">
              <a:buNone/>
            </a:pPr>
            <a:r>
              <a:rPr lang="en-US" sz="1100" b="1" dirty="0">
                <a:solidFill>
                  <a:srgbClr val="1A1A1A"/>
                </a:solidFill>
                <a:latin typeface="맑은 고딕" pitchFamily="34" charset="0"/>
                <a:ea typeface="맑은 고딕" pitchFamily="34" charset="-122"/>
                <a:cs typeface="맑은 고딕" pitchFamily="34" charset="-120"/>
              </a:rPr>
              <a:t>기획 키워드</a:t>
            </a:r>
            <a:endParaRPr lang="en-US" sz="1100" dirty="0"/>
          </a:p>
        </p:txBody>
      </p:sp>
      <p:sp>
        <p:nvSpPr>
          <p:cNvPr id="10" name="Text 8"/>
          <p:cNvSpPr/>
          <p:nvPr/>
        </p:nvSpPr>
        <p:spPr>
          <a:xfrm>
            <a:off x="749808" y="3749040"/>
            <a:ext cx="1965960" cy="274320"/>
          </a:xfrm>
          <a:prstGeom prst="rect">
            <a:avLst/>
          </a:prstGeom>
          <a:noFill/>
          <a:ln/>
        </p:spPr>
        <p:txBody>
          <a:bodyPr wrap="square" lIns="0" tIns="0" rIns="0" bIns="0" rtlCol="0" anchor="ctr"/>
          <a:lstStyle/>
          <a:p>
            <a:pPr indent="0" marL="0">
              <a:buNone/>
            </a:pPr>
            <a:r>
              <a:rPr lang="en-US" sz="950" dirty="0">
                <a:solidFill>
                  <a:srgbClr val="3E3A35"/>
                </a:solidFill>
                <a:latin typeface="맑은 고딕" pitchFamily="34" charset="0"/>
                <a:ea typeface="맑은 고딕" pitchFamily="34" charset="-122"/>
                <a:cs typeface="맑은 고딕" pitchFamily="34" charset="-120"/>
              </a:rPr>
              <a:t>— 신유물론 · 물질적 생성</a:t>
            </a:r>
            <a:endParaRPr lang="en-US" sz="950" dirty="0"/>
          </a:p>
        </p:txBody>
      </p:sp>
      <p:sp>
        <p:nvSpPr>
          <p:cNvPr id="11" name="Text 9"/>
          <p:cNvSpPr/>
          <p:nvPr/>
        </p:nvSpPr>
        <p:spPr>
          <a:xfrm>
            <a:off x="749808" y="4041648"/>
            <a:ext cx="1965960" cy="274320"/>
          </a:xfrm>
          <a:prstGeom prst="rect">
            <a:avLst/>
          </a:prstGeom>
          <a:noFill/>
          <a:ln/>
        </p:spPr>
        <p:txBody>
          <a:bodyPr wrap="square" lIns="0" tIns="0" rIns="0" bIns="0" rtlCol="0" anchor="ctr"/>
          <a:lstStyle/>
          <a:p>
            <a:pPr indent="0" marL="0">
              <a:buNone/>
            </a:pPr>
            <a:r>
              <a:rPr lang="en-US" sz="950" dirty="0">
                <a:solidFill>
                  <a:srgbClr val="3E3A35"/>
                </a:solidFill>
                <a:latin typeface="맑은 고딕" pitchFamily="34" charset="0"/>
                <a:ea typeface="맑은 고딕" pitchFamily="34" charset="-122"/>
                <a:cs typeface="맑은 고딕" pitchFamily="34" charset="-120"/>
              </a:rPr>
              <a:t>— 장소특정성 · 지역성</a:t>
            </a:r>
            <a:endParaRPr lang="en-US" sz="950" dirty="0"/>
          </a:p>
        </p:txBody>
      </p:sp>
      <p:sp>
        <p:nvSpPr>
          <p:cNvPr id="12" name="Text 10"/>
          <p:cNvSpPr/>
          <p:nvPr/>
        </p:nvSpPr>
        <p:spPr>
          <a:xfrm>
            <a:off x="749808" y="4334256"/>
            <a:ext cx="1965960" cy="274320"/>
          </a:xfrm>
          <a:prstGeom prst="rect">
            <a:avLst/>
          </a:prstGeom>
          <a:noFill/>
          <a:ln/>
        </p:spPr>
        <p:txBody>
          <a:bodyPr wrap="square" lIns="0" tIns="0" rIns="0" bIns="0" rtlCol="0" anchor="ctr"/>
          <a:lstStyle/>
          <a:p>
            <a:pPr indent="0" marL="0">
              <a:buNone/>
            </a:pPr>
            <a:r>
              <a:rPr lang="en-US" sz="950" dirty="0">
                <a:solidFill>
                  <a:srgbClr val="3E3A35"/>
                </a:solidFill>
                <a:latin typeface="맑은 고딕" pitchFamily="34" charset="0"/>
                <a:ea typeface="맑은 고딕" pitchFamily="34" charset="-122"/>
                <a:cs typeface="맑은 고딕" pitchFamily="34" charset="-120"/>
              </a:rPr>
              <a:t>— 비인간 행위자</a:t>
            </a:r>
            <a:endParaRPr lang="en-US" sz="950" dirty="0"/>
          </a:p>
        </p:txBody>
      </p:sp>
      <p:sp>
        <p:nvSpPr>
          <p:cNvPr id="13" name="Text 11"/>
          <p:cNvSpPr/>
          <p:nvPr/>
        </p:nvSpPr>
        <p:spPr>
          <a:xfrm>
            <a:off x="749808" y="4626864"/>
            <a:ext cx="1965960" cy="274320"/>
          </a:xfrm>
          <a:prstGeom prst="rect">
            <a:avLst/>
          </a:prstGeom>
          <a:noFill/>
          <a:ln/>
        </p:spPr>
        <p:txBody>
          <a:bodyPr wrap="square" lIns="0" tIns="0" rIns="0" bIns="0" rtlCol="0" anchor="ctr"/>
          <a:lstStyle/>
          <a:p>
            <a:pPr indent="0" marL="0">
              <a:buNone/>
            </a:pPr>
            <a:r>
              <a:rPr lang="en-US" sz="950" dirty="0">
                <a:solidFill>
                  <a:srgbClr val="3E3A35"/>
                </a:solidFill>
                <a:latin typeface="맑은 고딕" pitchFamily="34" charset="0"/>
                <a:ea typeface="맑은 고딕" pitchFamily="34" charset="-122"/>
                <a:cs typeface="맑은 고딕" pitchFamily="34" charset="-120"/>
              </a:rPr>
              <a:t>— 참여와 퍼실리테이션</a:t>
            </a:r>
            <a:endParaRPr lang="en-US" sz="950" dirty="0"/>
          </a:p>
        </p:txBody>
      </p:sp>
      <p:sp>
        <p:nvSpPr>
          <p:cNvPr id="14" name="Text 12"/>
          <p:cNvSpPr/>
          <p:nvPr/>
        </p:nvSpPr>
        <p:spPr>
          <a:xfrm>
            <a:off x="749808" y="4919472"/>
            <a:ext cx="1965960" cy="274320"/>
          </a:xfrm>
          <a:prstGeom prst="rect">
            <a:avLst/>
          </a:prstGeom>
          <a:noFill/>
          <a:ln/>
        </p:spPr>
        <p:txBody>
          <a:bodyPr wrap="square" lIns="0" tIns="0" rIns="0" bIns="0" rtlCol="0" anchor="ctr"/>
          <a:lstStyle/>
          <a:p>
            <a:pPr indent="0" marL="0">
              <a:buNone/>
            </a:pPr>
            <a:r>
              <a:rPr lang="en-US" sz="950" dirty="0">
                <a:solidFill>
                  <a:srgbClr val="3E3A35"/>
                </a:solidFill>
                <a:latin typeface="맑은 고딕" pitchFamily="34" charset="0"/>
                <a:ea typeface="맑은 고딕" pitchFamily="34" charset="-122"/>
                <a:cs typeface="맑은 고딕" pitchFamily="34" charset="-120"/>
              </a:rPr>
              <a:t>— M·L·A 아카이브 연계</a:t>
            </a:r>
            <a:endParaRPr lang="en-US" sz="950" dirty="0"/>
          </a:p>
        </p:txBody>
      </p:sp>
      <p:sp>
        <p:nvSpPr>
          <p:cNvPr id="15" name="Text 13"/>
          <p:cNvSpPr/>
          <p:nvPr/>
        </p:nvSpPr>
        <p:spPr>
          <a:xfrm>
            <a:off x="749808" y="5212080"/>
            <a:ext cx="1965960" cy="274320"/>
          </a:xfrm>
          <a:prstGeom prst="rect">
            <a:avLst/>
          </a:prstGeom>
          <a:noFill/>
          <a:ln/>
        </p:spPr>
        <p:txBody>
          <a:bodyPr wrap="square" lIns="0" tIns="0" rIns="0" bIns="0" rtlCol="0" anchor="ctr"/>
          <a:lstStyle/>
          <a:p>
            <a:pPr indent="0" marL="0">
              <a:buNone/>
            </a:pPr>
            <a:r>
              <a:rPr lang="en-US" sz="950" dirty="0">
                <a:solidFill>
                  <a:srgbClr val="3E3A35"/>
                </a:solidFill>
                <a:latin typeface="맑은 고딕" pitchFamily="34" charset="0"/>
                <a:ea typeface="맑은 고딕" pitchFamily="34" charset="-122"/>
                <a:cs typeface="맑은 고딕" pitchFamily="34" charset="-120"/>
              </a:rPr>
              <a:t>— 노후 공간의 안전 운영</a:t>
            </a:r>
            <a:endParaRPr lang="en-US" sz="950" dirty="0"/>
          </a:p>
        </p:txBody>
      </p:sp>
      <p:sp>
        <p:nvSpPr>
          <p:cNvPr id="16" name="Text 14"/>
          <p:cNvSpPr/>
          <p:nvPr/>
        </p:nvSpPr>
        <p:spPr>
          <a:xfrm>
            <a:off x="749808" y="5504688"/>
            <a:ext cx="1965960" cy="274320"/>
          </a:xfrm>
          <a:prstGeom prst="rect">
            <a:avLst/>
          </a:prstGeom>
          <a:noFill/>
          <a:ln/>
        </p:spPr>
        <p:txBody>
          <a:bodyPr wrap="square" lIns="0" tIns="0" rIns="0" bIns="0" rtlCol="0" anchor="ctr"/>
          <a:lstStyle/>
          <a:p>
            <a:pPr indent="0" marL="0">
              <a:buNone/>
            </a:pPr>
            <a:r>
              <a:rPr lang="en-US" sz="950" dirty="0">
                <a:solidFill>
                  <a:srgbClr val="3E3A35"/>
                </a:solidFill>
                <a:latin typeface="맑은 고딕" pitchFamily="34" charset="0"/>
                <a:ea typeface="맑은 고딕" pitchFamily="34" charset="-122"/>
                <a:cs typeface="맑은 고딕" pitchFamily="34" charset="-120"/>
              </a:rPr>
              <a:t>— 표준계약 · 보조금 정산</a:t>
            </a:r>
            <a:endParaRPr lang="en-US" sz="950" dirty="0"/>
          </a:p>
        </p:txBody>
      </p:sp>
      <p:sp>
        <p:nvSpPr>
          <p:cNvPr id="17" name="Text 15"/>
          <p:cNvSpPr/>
          <p:nvPr/>
        </p:nvSpPr>
        <p:spPr>
          <a:xfrm>
            <a:off x="749808" y="5797296"/>
            <a:ext cx="1965960" cy="274320"/>
          </a:xfrm>
          <a:prstGeom prst="rect">
            <a:avLst/>
          </a:prstGeom>
          <a:noFill/>
          <a:ln/>
        </p:spPr>
        <p:txBody>
          <a:bodyPr wrap="square" lIns="0" tIns="0" rIns="0" bIns="0" rtlCol="0" anchor="ctr"/>
          <a:lstStyle/>
          <a:p>
            <a:pPr indent="0" marL="0">
              <a:buNone/>
            </a:pPr>
            <a:r>
              <a:rPr lang="en-US" sz="950" dirty="0">
                <a:solidFill>
                  <a:srgbClr val="3E3A35"/>
                </a:solidFill>
                <a:latin typeface="맑은 고딕" pitchFamily="34" charset="0"/>
                <a:ea typeface="맑은 고딕" pitchFamily="34" charset="-122"/>
                <a:cs typeface="맑은 고딕" pitchFamily="34" charset="-120"/>
              </a:rPr>
              <a:t>— 부산 거주 · 현장 상주</a:t>
            </a:r>
            <a:endParaRPr lang="en-US" sz="950" dirty="0"/>
          </a:p>
        </p:txBody>
      </p:sp>
      <p:sp>
        <p:nvSpPr>
          <p:cNvPr id="18" name="Shape 16"/>
          <p:cNvSpPr/>
          <p:nvPr/>
        </p:nvSpPr>
        <p:spPr>
          <a:xfrm>
            <a:off x="3063240" y="1783080"/>
            <a:ext cx="2743200" cy="475488"/>
          </a:xfrm>
          <a:prstGeom prst="rect">
            <a:avLst/>
          </a:prstGeom>
          <a:solidFill>
            <a:srgbClr val="9C6B3C"/>
          </a:solidFill>
          <a:ln/>
        </p:spPr>
      </p:sp>
      <p:sp>
        <p:nvSpPr>
          <p:cNvPr id="19" name="Text 17"/>
          <p:cNvSpPr/>
          <p:nvPr/>
        </p:nvSpPr>
        <p:spPr>
          <a:xfrm>
            <a:off x="3209544" y="1783080"/>
            <a:ext cx="2468880" cy="475488"/>
          </a:xfrm>
          <a:prstGeom prst="rect">
            <a:avLst/>
          </a:prstGeom>
          <a:noFill/>
          <a:ln/>
        </p:spPr>
        <p:txBody>
          <a:bodyPr wrap="square" lIns="0" tIns="0" rIns="0" bIns="0" rtlCol="0" anchor="ctr"/>
          <a:lstStyle/>
          <a:p>
            <a:pPr indent="0" marL="0">
              <a:lnSpc>
                <a:spcPts val="1300"/>
              </a:lnSpc>
              <a:buNone/>
            </a:pPr>
            <a:r>
              <a:rPr lang="en-US" sz="1050" b="1" dirty="0">
                <a:solidFill>
                  <a:srgbClr val="FFFFFF"/>
                </a:solidFill>
                <a:latin typeface="맑은 고딕" pitchFamily="34" charset="0"/>
                <a:ea typeface="맑은 고딕" pitchFamily="34" charset="-122"/>
                <a:cs typeface="맑은 고딕" pitchFamily="34" charset="-120"/>
              </a:rPr>
              <a:t>경력 8년 · 국공립–재단–사립 전 스펙트럼</a:t>
            </a:r>
            <a:endParaRPr lang="en-US" sz="1050" dirty="0"/>
          </a:p>
        </p:txBody>
      </p:sp>
      <p:sp>
        <p:nvSpPr>
          <p:cNvPr id="20" name="Text 18"/>
          <p:cNvSpPr/>
          <p:nvPr/>
        </p:nvSpPr>
        <p:spPr>
          <a:xfrm>
            <a:off x="3108960" y="2395728"/>
            <a:ext cx="2651760" cy="2788920"/>
          </a:xfrm>
          <a:prstGeom prst="rect">
            <a:avLst/>
          </a:prstGeom>
          <a:noFill/>
          <a:ln/>
        </p:spPr>
        <p:txBody>
          <a:bodyPr wrap="square" lIns="0" tIns="0" rIns="0" bIns="0" rtlCol="0" anchor="t"/>
          <a:lstStyle/>
          <a:p>
            <a:pPr marL="342900" indent="-342900">
              <a:lnSpc>
                <a:spcPts val="1400"/>
              </a:lnSpc>
              <a:spcAft>
                <a:spcPts val="900"/>
              </a:spcAft>
              <a:buSzPct val="100000"/>
              <a:buChar char="•"/>
            </a:pPr>
            <a:r>
              <a:rPr lang="en-US" sz="950" dirty="0">
                <a:solidFill>
                  <a:srgbClr val="3E3A35"/>
                </a:solidFill>
                <a:latin typeface="맑은 고딕" pitchFamily="34" charset="0"/>
                <a:ea typeface="맑은 고딕" pitchFamily="34" charset="-122"/>
                <a:cs typeface="맑은 고딕" pitchFamily="34" charset="-120"/>
              </a:rPr>
              <a:t>본태박물관 운영기획팀장 — 신관(안도 다다오 설계) 개관 준비 총괄</a:t>
            </a:r>
            <a:endParaRPr lang="en-US" sz="950" dirty="0"/>
          </a:p>
          <a:p>
            <a:pPr marL="342900" indent="-342900">
              <a:lnSpc>
                <a:spcPts val="1400"/>
              </a:lnSpc>
              <a:spcAft>
                <a:spcPts val="900"/>
              </a:spcAft>
              <a:buSzPct val="100000"/>
              <a:buChar char="•"/>
            </a:pPr>
            <a:r>
              <a:rPr lang="en-US" sz="950" dirty="0">
                <a:solidFill>
                  <a:srgbClr val="3E3A35"/>
                </a:solidFill>
                <a:latin typeface="맑은 고딕" pitchFamily="34" charset="0"/>
                <a:ea typeface="맑은 고딕" pitchFamily="34" charset="-122"/>
                <a:cs typeface="맑은 고딕" pitchFamily="34" charset="-120"/>
              </a:rPr>
              <a:t>국립강원전문과학관 전시운영팀 — 개관 준비·전시해설 기획</a:t>
            </a:r>
            <a:endParaRPr lang="en-US" sz="950" dirty="0"/>
          </a:p>
          <a:p>
            <a:pPr marL="342900" indent="-342900">
              <a:lnSpc>
                <a:spcPts val="1400"/>
              </a:lnSpc>
              <a:spcAft>
                <a:spcPts val="900"/>
              </a:spcAft>
              <a:buSzPct val="100000"/>
              <a:buChar char="•"/>
            </a:pPr>
            <a:r>
              <a:rPr lang="en-US" sz="950" dirty="0">
                <a:solidFill>
                  <a:srgbClr val="3E3A35"/>
                </a:solidFill>
                <a:latin typeface="맑은 고딕" pitchFamily="34" charset="0"/>
                <a:ea typeface="맑은 고딕" pitchFamily="34" charset="-122"/>
                <a:cs typeface="맑은 고딕" pitchFamily="34" charset="-120"/>
              </a:rPr>
              <a:t>오아르미술관 큐레이터실 실장 — 전시기획 3회·소장품전 기획</a:t>
            </a:r>
            <a:endParaRPr lang="en-US" sz="950" dirty="0"/>
          </a:p>
          <a:p>
            <a:pPr marL="342900" indent="-342900">
              <a:lnSpc>
                <a:spcPts val="1400"/>
              </a:lnSpc>
              <a:spcAft>
                <a:spcPts val="900"/>
              </a:spcAft>
              <a:buSzPct val="100000"/>
              <a:buChar char="•"/>
            </a:pPr>
            <a:r>
              <a:rPr lang="en-US" sz="950" dirty="0">
                <a:solidFill>
                  <a:srgbClr val="3E3A35"/>
                </a:solidFill>
                <a:latin typeface="맑은 고딕" pitchFamily="34" charset="0"/>
                <a:ea typeface="맑은 고딕" pitchFamily="34" charset="-122"/>
                <a:cs typeface="맑은 고딕" pitchFamily="34" charset="-120"/>
              </a:rPr>
              <a:t>대산미술관 학예연구실 실장 — 전시 10회·교육 24회·디지털 환경개선사업 수행</a:t>
            </a:r>
            <a:endParaRPr lang="en-US" sz="950" dirty="0"/>
          </a:p>
          <a:p>
            <a:pPr marL="342900" indent="-342900">
              <a:lnSpc>
                <a:spcPts val="1400"/>
              </a:lnSpc>
              <a:spcAft>
                <a:spcPts val="900"/>
              </a:spcAft>
              <a:buSzPct val="100000"/>
              <a:buChar char="•"/>
            </a:pPr>
            <a:r>
              <a:rPr lang="en-US" sz="950" dirty="0">
                <a:solidFill>
                  <a:srgbClr val="3E3A35"/>
                </a:solidFill>
                <a:latin typeface="맑은 고딕" pitchFamily="34" charset="0"/>
                <a:ea typeface="맑은 고딕" pitchFamily="34" charset="-122"/>
                <a:cs typeface="맑은 고딕" pitchFamily="34" charset="-120"/>
              </a:rPr>
              <a:t>거제박물관 / 오륜대 한국순교자박물관 / 이영미술관 / 을숙도문화회관</a:t>
            </a:r>
            <a:endParaRPr lang="en-US" sz="950" dirty="0"/>
          </a:p>
        </p:txBody>
      </p:sp>
      <p:sp>
        <p:nvSpPr>
          <p:cNvPr id="21" name="Shape 19"/>
          <p:cNvSpPr/>
          <p:nvPr/>
        </p:nvSpPr>
        <p:spPr>
          <a:xfrm>
            <a:off x="5943600" y="1783080"/>
            <a:ext cx="2743200" cy="475488"/>
          </a:xfrm>
          <a:prstGeom prst="rect">
            <a:avLst/>
          </a:prstGeom>
          <a:solidFill>
            <a:srgbClr val="2F4858"/>
          </a:solidFill>
          <a:ln/>
        </p:spPr>
      </p:sp>
      <p:sp>
        <p:nvSpPr>
          <p:cNvPr id="22" name="Text 20"/>
          <p:cNvSpPr/>
          <p:nvPr/>
        </p:nvSpPr>
        <p:spPr>
          <a:xfrm>
            <a:off x="6089904" y="1783080"/>
            <a:ext cx="2468880" cy="475488"/>
          </a:xfrm>
          <a:prstGeom prst="rect">
            <a:avLst/>
          </a:prstGeom>
          <a:noFill/>
          <a:ln/>
        </p:spPr>
        <p:txBody>
          <a:bodyPr wrap="square" lIns="0" tIns="0" rIns="0" bIns="0" rtlCol="0" anchor="ctr"/>
          <a:lstStyle/>
          <a:p>
            <a:pPr indent="0" marL="0">
              <a:lnSpc>
                <a:spcPts val="1300"/>
              </a:lnSpc>
              <a:buNone/>
            </a:pPr>
            <a:r>
              <a:rPr lang="en-US" sz="1050" b="1" dirty="0">
                <a:solidFill>
                  <a:srgbClr val="FFFFFF"/>
                </a:solidFill>
                <a:latin typeface="맑은 고딕" pitchFamily="34" charset="0"/>
                <a:ea typeface="맑은 고딕" pitchFamily="34" charset="-122"/>
                <a:cs typeface="맑은 고딕" pitchFamily="34" charset="-120"/>
              </a:rPr>
              <a:t>이 기획에 직접 쓰이는 역량</a:t>
            </a:r>
            <a:endParaRPr lang="en-US" sz="1050" dirty="0"/>
          </a:p>
        </p:txBody>
      </p:sp>
      <p:sp>
        <p:nvSpPr>
          <p:cNvPr id="23" name="Text 21"/>
          <p:cNvSpPr/>
          <p:nvPr/>
        </p:nvSpPr>
        <p:spPr>
          <a:xfrm>
            <a:off x="5989320" y="2395728"/>
            <a:ext cx="2651760" cy="2788920"/>
          </a:xfrm>
          <a:prstGeom prst="rect">
            <a:avLst/>
          </a:prstGeom>
          <a:noFill/>
          <a:ln/>
        </p:spPr>
        <p:txBody>
          <a:bodyPr wrap="square" lIns="0" tIns="0" rIns="0" bIns="0" rtlCol="0" anchor="t"/>
          <a:lstStyle/>
          <a:p>
            <a:pPr marL="342900" indent="-342900">
              <a:lnSpc>
                <a:spcPts val="1400"/>
              </a:lnSpc>
              <a:spcAft>
                <a:spcPts val="900"/>
              </a:spcAft>
              <a:buSzPct val="100000"/>
              <a:buChar char="•"/>
            </a:pPr>
            <a:r>
              <a:rPr lang="en-US" sz="950" dirty="0">
                <a:solidFill>
                  <a:srgbClr val="3E3A35"/>
                </a:solidFill>
                <a:latin typeface="맑은 고딕" pitchFamily="34" charset="0"/>
                <a:ea typeface="맑은 고딕" pitchFamily="34" charset="-122"/>
                <a:cs typeface="맑은 고딕" pitchFamily="34" charset="-120"/>
              </a:rPr>
              <a:t>장소·아카이브: 미술관 25년 약사 아카이브 및 백서 2권 구축, 표준관리시스템 유물 730여 점 등록</a:t>
            </a:r>
            <a:endParaRPr lang="en-US" sz="950" dirty="0"/>
          </a:p>
          <a:p>
            <a:pPr marL="342900" indent="-342900">
              <a:lnSpc>
                <a:spcPts val="1400"/>
              </a:lnSpc>
              <a:spcAft>
                <a:spcPts val="900"/>
              </a:spcAft>
              <a:buSzPct val="100000"/>
              <a:buChar char="•"/>
            </a:pPr>
            <a:r>
              <a:rPr lang="en-US" sz="950" dirty="0">
                <a:solidFill>
                  <a:srgbClr val="3E3A35"/>
                </a:solidFill>
                <a:latin typeface="맑은 고딕" pitchFamily="34" charset="0"/>
                <a:ea typeface="맑은 고딕" pitchFamily="34" charset="-122"/>
                <a:cs typeface="맑은 고딕" pitchFamily="34" charset="-120"/>
              </a:rPr>
              <a:t>지역 연결: 박물관–미술관–도서관을 하나의 문화콘텐츠로 잇는 프로그램 기획 실적</a:t>
            </a:r>
            <a:endParaRPr lang="en-US" sz="950" dirty="0"/>
          </a:p>
          <a:p>
            <a:pPr marL="342900" indent="-342900">
              <a:lnSpc>
                <a:spcPts val="1400"/>
              </a:lnSpc>
              <a:spcAft>
                <a:spcPts val="900"/>
              </a:spcAft>
              <a:buSzPct val="100000"/>
              <a:buChar char="•"/>
            </a:pPr>
            <a:r>
              <a:rPr lang="en-US" sz="950" dirty="0">
                <a:solidFill>
                  <a:srgbClr val="3E3A35"/>
                </a:solidFill>
                <a:latin typeface="맑은 고딕" pitchFamily="34" charset="0"/>
                <a:ea typeface="맑은 고딕" pitchFamily="34" charset="-122"/>
                <a:cs typeface="맑은 고딕" pitchFamily="34" charset="-120"/>
              </a:rPr>
              <a:t>참여·퍼실리테이션: 퍼실리테이터 1급, 주민 참여형 드로잉맵 프로젝트 진행</a:t>
            </a:r>
            <a:endParaRPr lang="en-US" sz="950" dirty="0"/>
          </a:p>
          <a:p>
            <a:pPr marL="342900" indent="-342900">
              <a:lnSpc>
                <a:spcPts val="1400"/>
              </a:lnSpc>
              <a:spcAft>
                <a:spcPts val="900"/>
              </a:spcAft>
              <a:buSzPct val="100000"/>
              <a:buChar char="•"/>
            </a:pPr>
            <a:r>
              <a:rPr lang="en-US" sz="950" dirty="0">
                <a:solidFill>
                  <a:srgbClr val="3E3A35"/>
                </a:solidFill>
                <a:latin typeface="맑은 고딕" pitchFamily="34" charset="0"/>
                <a:ea typeface="맑은 고딕" pitchFamily="34" charset="-122"/>
                <a:cs typeface="맑은 고딕" pitchFamily="34" charset="-120"/>
              </a:rPr>
              <a:t>해설·교육: 도슨트 운영 및 스크립트 기획, 문화예술교육사·평생교육사</a:t>
            </a:r>
            <a:endParaRPr lang="en-US" sz="950" dirty="0"/>
          </a:p>
          <a:p>
            <a:pPr marL="342900" indent="-342900">
              <a:lnSpc>
                <a:spcPts val="1400"/>
              </a:lnSpc>
              <a:spcAft>
                <a:spcPts val="900"/>
              </a:spcAft>
              <a:buSzPct val="100000"/>
              <a:buChar char="•"/>
            </a:pPr>
            <a:r>
              <a:rPr lang="en-US" sz="950" dirty="0">
                <a:solidFill>
                  <a:srgbClr val="3E3A35"/>
                </a:solidFill>
                <a:latin typeface="맑은 고딕" pitchFamily="34" charset="0"/>
                <a:ea typeface="맑은 고딕" pitchFamily="34" charset="-122"/>
                <a:cs typeface="맑은 고딕" pitchFamily="34" charset="-120"/>
              </a:rPr>
              <a:t>안전·행정: 소방안전관리자, 보조금 지원사업 수행 및 정산 경험</a:t>
            </a:r>
            <a:endParaRPr lang="en-US" sz="950" dirty="0"/>
          </a:p>
        </p:txBody>
      </p:sp>
      <p:sp>
        <p:nvSpPr>
          <p:cNvPr id="24" name="Shape 22"/>
          <p:cNvSpPr/>
          <p:nvPr/>
        </p:nvSpPr>
        <p:spPr>
          <a:xfrm>
            <a:off x="8823960" y="1783080"/>
            <a:ext cx="2743200" cy="475488"/>
          </a:xfrm>
          <a:prstGeom prst="rect">
            <a:avLst/>
          </a:prstGeom>
          <a:solidFill>
            <a:srgbClr val="7A4A45"/>
          </a:solidFill>
          <a:ln/>
        </p:spPr>
      </p:sp>
      <p:sp>
        <p:nvSpPr>
          <p:cNvPr id="25" name="Text 23"/>
          <p:cNvSpPr/>
          <p:nvPr/>
        </p:nvSpPr>
        <p:spPr>
          <a:xfrm>
            <a:off x="8970264" y="1783080"/>
            <a:ext cx="2468880" cy="475488"/>
          </a:xfrm>
          <a:prstGeom prst="rect">
            <a:avLst/>
          </a:prstGeom>
          <a:noFill/>
          <a:ln/>
        </p:spPr>
        <p:txBody>
          <a:bodyPr wrap="square" lIns="0" tIns="0" rIns="0" bIns="0" rtlCol="0" anchor="ctr"/>
          <a:lstStyle/>
          <a:p>
            <a:pPr indent="0" marL="0">
              <a:lnSpc>
                <a:spcPts val="1300"/>
              </a:lnSpc>
              <a:buNone/>
            </a:pPr>
            <a:r>
              <a:rPr lang="en-US" sz="1050" b="1" dirty="0">
                <a:solidFill>
                  <a:srgbClr val="FFFFFF"/>
                </a:solidFill>
                <a:latin typeface="맑은 고딕" pitchFamily="34" charset="0"/>
                <a:ea typeface="맑은 고딕" pitchFamily="34" charset="-122"/>
                <a:cs typeface="맑은 고딕" pitchFamily="34" charset="-120"/>
              </a:rPr>
              <a:t>학력 · 자격 · 수상</a:t>
            </a:r>
            <a:endParaRPr lang="en-US" sz="1050" dirty="0"/>
          </a:p>
        </p:txBody>
      </p:sp>
      <p:sp>
        <p:nvSpPr>
          <p:cNvPr id="26" name="Text 24"/>
          <p:cNvSpPr/>
          <p:nvPr/>
        </p:nvSpPr>
        <p:spPr>
          <a:xfrm>
            <a:off x="8869680" y="2395728"/>
            <a:ext cx="2651760" cy="2788920"/>
          </a:xfrm>
          <a:prstGeom prst="rect">
            <a:avLst/>
          </a:prstGeom>
          <a:noFill/>
          <a:ln/>
        </p:spPr>
        <p:txBody>
          <a:bodyPr wrap="square" lIns="0" tIns="0" rIns="0" bIns="0" rtlCol="0" anchor="t"/>
          <a:lstStyle/>
          <a:p>
            <a:pPr marL="342900" indent="-342900">
              <a:lnSpc>
                <a:spcPts val="1400"/>
              </a:lnSpc>
              <a:spcAft>
                <a:spcPts val="900"/>
              </a:spcAft>
              <a:buSzPct val="100000"/>
              <a:buChar char="•"/>
            </a:pPr>
            <a:r>
              <a:rPr lang="en-US" sz="950" dirty="0">
                <a:solidFill>
                  <a:srgbClr val="3E3A35"/>
                </a:solidFill>
                <a:latin typeface="맑은 고딕" pitchFamily="34" charset="0"/>
                <a:ea typeface="맑은 고딕" pitchFamily="34" charset="-122"/>
                <a:cs typeface="맑은 고딕" pitchFamily="34" charset="-120"/>
              </a:rPr>
              <a:t>홍익대학교 대학원 미학과 석사 — 「물질적 생성의 미학」(들뢰즈의 잠재성·표현성과 신유물론)</a:t>
            </a:r>
            <a:endParaRPr lang="en-US" sz="950" dirty="0"/>
          </a:p>
          <a:p>
            <a:pPr marL="342900" indent="-342900">
              <a:lnSpc>
                <a:spcPts val="1400"/>
              </a:lnSpc>
              <a:spcAft>
                <a:spcPts val="900"/>
              </a:spcAft>
              <a:buSzPct val="100000"/>
              <a:buChar char="•"/>
            </a:pPr>
            <a:r>
              <a:rPr lang="en-US" sz="950" dirty="0">
                <a:solidFill>
                  <a:srgbClr val="3E3A35"/>
                </a:solidFill>
                <a:latin typeface="맑은 고딕" pitchFamily="34" charset="0"/>
                <a:ea typeface="맑은 고딕" pitchFamily="34" charset="-122"/>
                <a:cs typeface="맑은 고딕" pitchFamily="34" charset="-120"/>
              </a:rPr>
              <a:t>베를린 자유대학교 FUBiS 철학·미학 프로그램 수료</a:t>
            </a:r>
            <a:endParaRPr lang="en-US" sz="950" dirty="0"/>
          </a:p>
          <a:p>
            <a:pPr marL="342900" indent="-342900">
              <a:lnSpc>
                <a:spcPts val="1400"/>
              </a:lnSpc>
              <a:spcAft>
                <a:spcPts val="900"/>
              </a:spcAft>
              <a:buSzPct val="100000"/>
              <a:buChar char="•"/>
            </a:pPr>
            <a:r>
              <a:rPr lang="en-US" sz="950" dirty="0">
                <a:solidFill>
                  <a:srgbClr val="3E3A35"/>
                </a:solidFill>
                <a:latin typeface="맑은 고딕" pitchFamily="34" charset="0"/>
                <a:ea typeface="맑은 고딕" pitchFamily="34" charset="-122"/>
                <a:cs typeface="맑은 고딕" pitchFamily="34" charset="-120"/>
              </a:rPr>
              <a:t>학예사 · 사서 · 평생교육사 · 문화예술교육사 · 사회복지사 · 갤러리스트 · 퍼실리테이터 1급</a:t>
            </a:r>
            <a:endParaRPr lang="en-US" sz="950" dirty="0"/>
          </a:p>
          <a:p>
            <a:pPr marL="342900" indent="-342900">
              <a:lnSpc>
                <a:spcPts val="1400"/>
              </a:lnSpc>
              <a:spcAft>
                <a:spcPts val="900"/>
              </a:spcAft>
              <a:buSzPct val="100000"/>
              <a:buChar char="•"/>
            </a:pPr>
            <a:r>
              <a:rPr lang="en-US" sz="950" dirty="0">
                <a:solidFill>
                  <a:srgbClr val="3E3A35"/>
                </a:solidFill>
                <a:latin typeface="맑은 고딕" pitchFamily="34" charset="0"/>
                <a:ea typeface="맑은 고딕" pitchFamily="34" charset="-122"/>
                <a:cs typeface="맑은 고딕" pitchFamily="34" charset="-120"/>
              </a:rPr>
              <a:t>북큐레이터 1급 · 그림책큐레이터 1급 · 한국화랑협회 시가감정 전문가과정(초급) 수료</a:t>
            </a:r>
            <a:endParaRPr lang="en-US" sz="950" dirty="0"/>
          </a:p>
          <a:p>
            <a:pPr marL="342900" indent="-342900">
              <a:lnSpc>
                <a:spcPts val="1400"/>
              </a:lnSpc>
              <a:spcAft>
                <a:spcPts val="900"/>
              </a:spcAft>
              <a:buSzPct val="100000"/>
              <a:buChar char="•"/>
            </a:pPr>
            <a:r>
              <a:rPr lang="en-US" sz="950" dirty="0">
                <a:solidFill>
                  <a:srgbClr val="3E3A35"/>
                </a:solidFill>
                <a:latin typeface="맑은 고딕" pitchFamily="34" charset="0"/>
                <a:ea typeface="맑은 고딕" pitchFamily="34" charset="-122"/>
                <a:cs typeface="맑은 고딕" pitchFamily="34" charset="-120"/>
              </a:rPr>
              <a:t>사회공헌 우수학예사(경남박물관협의회) · 문화분과 최우수상(경남청년정책네트워크)</a:t>
            </a:r>
            <a:endParaRPr lang="en-US" sz="950" dirty="0"/>
          </a:p>
        </p:txBody>
      </p:sp>
      <p:sp>
        <p:nvSpPr>
          <p:cNvPr id="27" name="Shape 25"/>
          <p:cNvSpPr/>
          <p:nvPr/>
        </p:nvSpPr>
        <p:spPr>
          <a:xfrm>
            <a:off x="3063240" y="5303520"/>
            <a:ext cx="8549640" cy="822960"/>
          </a:xfrm>
          <a:prstGeom prst="rect">
            <a:avLst/>
          </a:prstGeom>
          <a:solidFill>
            <a:srgbClr val="F3F1ED"/>
          </a:solidFill>
          <a:ln/>
        </p:spPr>
      </p:sp>
      <p:sp>
        <p:nvSpPr>
          <p:cNvPr id="28" name="Text 26"/>
          <p:cNvSpPr/>
          <p:nvPr/>
        </p:nvSpPr>
        <p:spPr>
          <a:xfrm>
            <a:off x="3291840" y="5303520"/>
            <a:ext cx="8092440" cy="822960"/>
          </a:xfrm>
          <a:prstGeom prst="rect">
            <a:avLst/>
          </a:prstGeom>
          <a:noFill/>
          <a:ln/>
        </p:spPr>
        <p:txBody>
          <a:bodyPr wrap="square" lIns="0" tIns="0" rIns="0" bIns="0" rtlCol="0" anchor="ctr"/>
          <a:lstStyle/>
          <a:p>
            <a:pPr indent="0" marL="0">
              <a:lnSpc>
                <a:spcPts val="1500"/>
              </a:lnSpc>
              <a:buNone/>
            </a:pPr>
            <a:r>
              <a:rPr lang="en-US" sz="1000" i="1" dirty="0">
                <a:solidFill>
                  <a:srgbClr val="3E3A35"/>
                </a:solidFill>
                <a:latin typeface="맑은 고딕" pitchFamily="34" charset="0"/>
                <a:ea typeface="맑은 고딕" pitchFamily="34" charset="-122"/>
                <a:cs typeface="맑은 고딕" pitchFamily="34" charset="-120"/>
              </a:rPr>
              <a:t>“ 저는 전시를 '설치'로 배우지 않고 '연결'로 배웠습니다. 유물 등록과 도슨트, 백서와 워크숍을 오가며 익힌 것은 하나의 자료가 서로 다른 층위에서 어떻게 다시 쓰이는가였습니다.</a:t>
            </a:r>
            <a:endParaRPr lang="en-US" sz="1000" dirty="0"/>
          </a:p>
          <a:p>
            <a:pPr indent="0" marL="0">
              <a:lnSpc>
                <a:spcPts val="1500"/>
              </a:lnSpc>
              <a:buNone/>
            </a:pPr>
            <a:r>
              <a:rPr lang="en-US" sz="1000" i="1" dirty="0">
                <a:solidFill>
                  <a:srgbClr val="3E3A35"/>
                </a:solidFill>
                <a:latin typeface="맑은 고딕" pitchFamily="34" charset="0"/>
                <a:ea typeface="맑은 고딕" pitchFamily="34" charset="-122"/>
                <a:cs typeface="맑은 고딕" pitchFamily="34" charset="-120"/>
              </a:rPr>
              <a:t>범일가옥은 그 훈련이 가장 정확하게 쓰일 수 있는 공간이라고 생각합니다. 부산에 거주하며 현장 상주가 가능합니다. ”</a:t>
            </a:r>
            <a:endParaRPr lang="en-US" sz="1000" dirty="0"/>
          </a:p>
        </p:txBody>
      </p:sp>
      <p:sp>
        <p:nvSpPr>
          <p:cNvPr id="29" name="Text 27"/>
          <p:cNvSpPr/>
          <p:nvPr/>
        </p:nvSpPr>
        <p:spPr>
          <a:xfrm>
            <a:off x="548640" y="6419088"/>
            <a:ext cx="7315200" cy="274320"/>
          </a:xfrm>
          <a:prstGeom prst="rect">
            <a:avLst/>
          </a:prstGeom>
          <a:noFill/>
          <a:ln/>
        </p:spPr>
        <p:txBody>
          <a:bodyPr wrap="square" lIns="0" tIns="0" rIns="0" bIns="0" rtlCol="0" anchor="ctr"/>
          <a:lstStyle/>
          <a:p>
            <a:pPr algn="l" indent="0" marL="0">
              <a:buNone/>
            </a:pPr>
            <a:r>
              <a:rPr lang="en-US" sz="800" dirty="0">
                <a:solidFill>
                  <a:srgbClr val="8A857E"/>
                </a:solidFill>
                <a:latin typeface="맑은 고딕" pitchFamily="34" charset="0"/>
                <a:ea typeface="맑은 고딕" pitchFamily="34" charset="-122"/>
                <a:cs typeface="맑은 고딕" pitchFamily="34" charset="-120"/>
              </a:rPr>
              <a:t>아이테르 문화예술기획제안서   ·   덮인 물, 남은 올   ·   기획 추병곤</a:t>
            </a:r>
            <a:endParaRPr lang="en-US" sz="800" dirty="0"/>
          </a:p>
        </p:txBody>
      </p:sp>
      <p:sp>
        <p:nvSpPr>
          <p:cNvPr id="30" name="Text 28"/>
          <p:cNvSpPr/>
          <p:nvPr/>
        </p:nvSpPr>
        <p:spPr>
          <a:xfrm>
            <a:off x="10972800" y="6419088"/>
            <a:ext cx="640080" cy="274320"/>
          </a:xfrm>
          <a:prstGeom prst="rect">
            <a:avLst/>
          </a:prstGeom>
          <a:noFill/>
          <a:ln/>
        </p:spPr>
        <p:txBody>
          <a:bodyPr wrap="square" lIns="0" tIns="0" rIns="0" bIns="0" rtlCol="0" anchor="ctr"/>
          <a:lstStyle/>
          <a:p>
            <a:pPr algn="r" indent="0" marL="0">
              <a:buNone/>
            </a:pPr>
            <a:r>
              <a:rPr lang="en-US" sz="900" dirty="0">
                <a:solidFill>
                  <a:srgbClr val="8A857E"/>
                </a:solidFill>
                <a:latin typeface="Cambria" pitchFamily="34" charset="0"/>
                <a:ea typeface="Cambria" pitchFamily="34" charset="-122"/>
                <a:cs typeface="Cambria"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7315200" cy="237744"/>
          </a:xfrm>
          <a:prstGeom prst="rect">
            <a:avLst/>
          </a:prstGeom>
          <a:noFill/>
          <a:ln/>
        </p:spPr>
        <p:txBody>
          <a:bodyPr wrap="square" lIns="0" tIns="0" rIns="0" bIns="0" rtlCol="0" anchor="ctr"/>
          <a:lstStyle/>
          <a:p>
            <a:pPr indent="0" marL="0">
              <a:buNone/>
            </a:pPr>
            <a:r>
              <a:rPr lang="en-US" sz="1050" spc="250" kern="0" dirty="0">
                <a:solidFill>
                  <a:srgbClr val="8A857E"/>
                </a:solidFill>
                <a:latin typeface="Cambria" pitchFamily="34" charset="0"/>
                <a:ea typeface="Cambria" pitchFamily="34" charset="-122"/>
                <a:cs typeface="Cambria" pitchFamily="34" charset="-120"/>
              </a:rPr>
              <a:t>24  APPENDIX</a:t>
            </a:r>
            <a:endParaRPr lang="en-US" sz="1050" dirty="0"/>
          </a:p>
        </p:txBody>
      </p:sp>
      <p:sp>
        <p:nvSpPr>
          <p:cNvPr id="3" name="Text 1"/>
          <p:cNvSpPr/>
          <p:nvPr/>
        </p:nvSpPr>
        <p:spPr>
          <a:xfrm>
            <a:off x="548640" y="694944"/>
            <a:ext cx="10058400" cy="502920"/>
          </a:xfrm>
          <a:prstGeom prst="rect">
            <a:avLst/>
          </a:prstGeom>
          <a:noFill/>
          <a:ln/>
        </p:spPr>
        <p:txBody>
          <a:bodyPr wrap="square" lIns="0" tIns="0" rIns="0" bIns="0" rtlCol="0" anchor="ctr"/>
          <a:lstStyle/>
          <a:p>
            <a:pPr indent="0" marL="0">
              <a:buNone/>
            </a:pPr>
            <a:r>
              <a:rPr lang="en-US" sz="2700" b="1" dirty="0">
                <a:solidFill>
                  <a:srgbClr val="1A1A1A"/>
                </a:solidFill>
                <a:latin typeface="맑은 고딕" pitchFamily="34" charset="0"/>
                <a:ea typeface="맑은 고딕" pitchFamily="34" charset="-122"/>
                <a:cs typeface="맑은 고딕" pitchFamily="34" charset="-120"/>
              </a:rPr>
              <a:t>부록 · 이미지 출처와 추가 촬영 리스트</a:t>
            </a:r>
            <a:endParaRPr lang="en-US" sz="2700" dirty="0"/>
          </a:p>
        </p:txBody>
      </p:sp>
      <p:sp>
        <p:nvSpPr>
          <p:cNvPr id="4" name="Text 2"/>
          <p:cNvSpPr/>
          <p:nvPr/>
        </p:nvSpPr>
        <p:spPr>
          <a:xfrm>
            <a:off x="548640" y="1225296"/>
            <a:ext cx="10607040" cy="310896"/>
          </a:xfrm>
          <a:prstGeom prst="rect">
            <a:avLst/>
          </a:prstGeom>
          <a:noFill/>
          <a:ln/>
        </p:spPr>
        <p:txBody>
          <a:bodyPr wrap="square" lIns="0" tIns="0" rIns="0" bIns="0" rtlCol="0" anchor="ctr"/>
          <a:lstStyle/>
          <a:p>
            <a:pPr indent="0" marL="0">
              <a:buNone/>
            </a:pPr>
            <a:r>
              <a:rPr lang="en-US" sz="1200" dirty="0">
                <a:solidFill>
                  <a:srgbClr val="8A857E"/>
                </a:solidFill>
                <a:latin typeface="맑은 고딕" pitchFamily="34" charset="0"/>
                <a:ea typeface="맑은 고딕" pitchFamily="34" charset="-122"/>
                <a:cs typeface="맑은 고딕" pitchFamily="34" charset="-120"/>
              </a:rPr>
              <a:t>본 제안서에 수록된 사진 20컷은 모두 아이테르가 제공한 자료에서 발췌했습니다</a:t>
            </a:r>
            <a:endParaRPr lang="en-US" sz="12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7223760" cy="914400"/>
        </p:xfrm>
        <a:graphic>
          <a:graphicData uri="http://schemas.openxmlformats.org/drawingml/2006/table">
            <a:tbl>
              <a:tblPr/>
              <a:tblGrid>
                <a:gridCol w="457200"/>
                <a:gridCol w="1737360"/>
                <a:gridCol w="3291840"/>
                <a:gridCol w="1737360"/>
              </a:tblGrid>
              <a:tr h="246888">
                <a:tc>
                  <a:txBody>
                    <a:bodyPr/>
                    <a:lstStyle/>
                    <a:p>
                      <a:pPr indent="0" marL="0">
                        <a:buNone/>
                      </a:pPr>
                      <a:r>
                        <a:rPr lang="en-US" sz="950" b="1" dirty="0">
                          <a:solidFill>
                            <a:srgbClr val="FFFFFF"/>
                          </a:solidFill>
                          <a:latin typeface="맑은 고딕" pitchFamily="34" charset="0"/>
                          <a:ea typeface="맑은 고딕" pitchFamily="34" charset="-122"/>
                          <a:cs typeface="맑은 고딕" pitchFamily="34" charset="-120"/>
                        </a:rPr>
                        <a:t>No</a:t>
                      </a:r>
                      <a:endParaRPr lang="en-US" sz="950" dirty="0">
                        <a:latin typeface="맑은 고딕" charset="0"/>
                        <a:ea typeface="맑은 고딕" charset="0"/>
                        <a:cs typeface="맑은 고딕" charset="0"/>
                      </a:endParaRPr>
                    </a:p>
                  </a:txBody>
                  <a:tcPr marL="88900" marR="88900" marT="12700" marB="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A1A1A"/>
                    </a:solidFill>
                  </a:tcPr>
                </a:tc>
                <a:tc>
                  <a:txBody>
                    <a:bodyPr/>
                    <a:lstStyle/>
                    <a:p>
                      <a:pPr indent="0" marL="0">
                        <a:buNone/>
                      </a:pPr>
                      <a:r>
                        <a:rPr lang="en-US" sz="950" b="1" dirty="0">
                          <a:solidFill>
                            <a:srgbClr val="FFFFFF"/>
                          </a:solidFill>
                          <a:latin typeface="맑은 고딕" pitchFamily="34" charset="0"/>
                          <a:ea typeface="맑은 고딕" pitchFamily="34" charset="-122"/>
                          <a:cs typeface="맑은 고딕" pitchFamily="34" charset="-120"/>
                        </a:rPr>
                        <a:t>수록 위치</a:t>
                      </a:r>
                      <a:endParaRPr lang="en-US" sz="950" dirty="0">
                        <a:latin typeface="맑은 고딕" charset="0"/>
                        <a:ea typeface="맑은 고딕" charset="0"/>
                        <a:cs typeface="맑은 고딕" charset="0"/>
                      </a:endParaRPr>
                    </a:p>
                  </a:txBody>
                  <a:tcPr marL="88900" marR="88900" marT="12700" marB="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A1A1A"/>
                    </a:solidFill>
                  </a:tcPr>
                </a:tc>
                <a:tc>
                  <a:txBody>
                    <a:bodyPr/>
                    <a:lstStyle/>
                    <a:p>
                      <a:pPr indent="0" marL="0">
                        <a:buNone/>
                      </a:pPr>
                      <a:r>
                        <a:rPr lang="en-US" sz="950" b="1" dirty="0">
                          <a:solidFill>
                            <a:srgbClr val="FFFFFF"/>
                          </a:solidFill>
                          <a:latin typeface="맑은 고딕" pitchFamily="34" charset="0"/>
                          <a:ea typeface="맑은 고딕" pitchFamily="34" charset="-122"/>
                          <a:cs typeface="맑은 고딕" pitchFamily="34" charset="-120"/>
                        </a:rPr>
                        <a:t>이미지 내용</a:t>
                      </a:r>
                      <a:endParaRPr lang="en-US" sz="950" dirty="0">
                        <a:latin typeface="맑은 고딕" charset="0"/>
                        <a:ea typeface="맑은 고딕" charset="0"/>
                        <a:cs typeface="맑은 고딕" charset="0"/>
                      </a:endParaRPr>
                    </a:p>
                  </a:txBody>
                  <a:tcPr marL="88900" marR="88900" marT="12700" marB="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A1A1A"/>
                    </a:solidFill>
                  </a:tcPr>
                </a:tc>
                <a:tc>
                  <a:txBody>
                    <a:bodyPr/>
                    <a:lstStyle/>
                    <a:p>
                      <a:pPr indent="0" marL="0">
                        <a:buNone/>
                      </a:pPr>
                      <a:r>
                        <a:rPr lang="en-US" sz="950" b="1" dirty="0">
                          <a:solidFill>
                            <a:srgbClr val="FFFFFF"/>
                          </a:solidFill>
                          <a:latin typeface="맑은 고딕" pitchFamily="34" charset="0"/>
                          <a:ea typeface="맑은 고딕" pitchFamily="34" charset="-122"/>
                          <a:cs typeface="맑은 고딕" pitchFamily="34" charset="-120"/>
                        </a:rPr>
                        <a:t>출처</a:t>
                      </a:r>
                      <a:endParaRPr lang="en-US" sz="950" dirty="0">
                        <a:latin typeface="맑은 고딕" charset="0"/>
                        <a:ea typeface="맑은 고딕" charset="0"/>
                        <a:cs typeface="맑은 고딕" charset="0"/>
                      </a:endParaRPr>
                    </a:p>
                  </a:txBody>
                  <a:tcPr marL="88900" marR="88900" marT="12700" marB="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A1A1A"/>
                    </a:solidFill>
                  </a:tcPr>
                </a:tc>
              </a:tr>
              <a:tr h="246888">
                <a:tc>
                  <a:txBody>
                    <a:bodyPr/>
                    <a:lstStyle/>
                    <a:p>
                      <a:pPr algn="ctr" indent="0" marL="0">
                        <a:buNone/>
                      </a:pPr>
                      <a:r>
                        <a:rPr lang="en-US" sz="850" dirty="0">
                          <a:solidFill>
                            <a:srgbClr val="8A857E"/>
                          </a:solidFill>
                          <a:latin typeface="Cambria" pitchFamily="34" charset="0"/>
                          <a:ea typeface="Cambria" pitchFamily="34" charset="-122"/>
                          <a:cs typeface="Cambria" pitchFamily="34" charset="-120"/>
                        </a:rPr>
                        <a:t>01</a:t>
                      </a:r>
                      <a:endParaRPr lang="en-US" sz="850" dirty="0">
                        <a:latin typeface="Cambria" charset="0"/>
                        <a:ea typeface="Cambria" charset="0"/>
                        <a:cs typeface="Cambria" charset="0"/>
                      </a:endParaRPr>
                    </a:p>
                  </a:txBody>
                  <a:tcPr marL="88900" marR="88900" marT="12700" marB="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1ED"/>
                    </a:solidFill>
                  </a:tcPr>
                </a:tc>
                <a:tc>
                  <a:txBody>
                    <a:bodyPr/>
                    <a:lstStyle/>
                    <a:p>
                      <a:pPr indent="0" marL="0">
                        <a:buNone/>
                      </a:pPr>
                      <a:r>
                        <a:rPr lang="en-US" sz="850" dirty="0">
                          <a:solidFill>
                            <a:srgbClr val="4A453F"/>
                          </a:solidFill>
                          <a:latin typeface="맑은 고딕" pitchFamily="34" charset="0"/>
                          <a:ea typeface="맑은 고딕" pitchFamily="34" charset="-122"/>
                          <a:cs typeface="맑은 고딕" pitchFamily="34" charset="-120"/>
                        </a:rPr>
                        <a:t>Ⅱ 장소 (표제)</a:t>
                      </a:r>
                      <a:endParaRPr lang="en-US" sz="850" dirty="0">
                        <a:latin typeface="맑은 고딕" charset="0"/>
                        <a:ea typeface="맑은 고딕" charset="0"/>
                        <a:cs typeface="맑은 고딕" charset="0"/>
                      </a:endParaRPr>
                    </a:p>
                  </a:txBody>
                  <a:tcPr marL="88900" marR="88900" marT="12700" marB="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1ED"/>
                    </a:solidFill>
                  </a:tcPr>
                </a:tc>
                <a:tc>
                  <a:txBody>
                    <a:bodyPr/>
                    <a:lstStyle/>
                    <a:p>
                      <a:pPr indent="0" marL="0">
                        <a:buNone/>
                      </a:pPr>
                      <a:r>
                        <a:rPr lang="en-US" sz="900" b="1" dirty="0">
                          <a:solidFill>
                            <a:srgbClr val="1A1A1A"/>
                          </a:solidFill>
                          <a:latin typeface="맑은 고딕" pitchFamily="34" charset="0"/>
                          <a:ea typeface="맑은 고딕" pitchFamily="34" charset="-122"/>
                          <a:cs typeface="맑은 고딕" pitchFamily="34" charset="-120"/>
                        </a:rPr>
                        <a:t>범일가옥 4F 전시실 전경</a:t>
                      </a:r>
                      <a:endParaRPr lang="en-US" sz="900" dirty="0">
                        <a:latin typeface="맑은 고딕" charset="0"/>
                        <a:ea typeface="맑은 고딕" charset="0"/>
                        <a:cs typeface="맑은 고딕" charset="0"/>
                      </a:endParaRPr>
                    </a:p>
                  </a:txBody>
                  <a:tcPr marL="88900" marR="88900" marT="12700" marB="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1ED"/>
                    </a:solidFill>
                  </a:tcPr>
                </a:tc>
                <a:tc>
                  <a:txBody>
                    <a:bodyPr/>
                    <a:lstStyle/>
                    <a:p>
                      <a:pPr indent="0" marL="0">
                        <a:buNone/>
                      </a:pPr>
                      <a:r>
                        <a:rPr lang="en-US" sz="850" dirty="0">
                          <a:solidFill>
                            <a:srgbClr val="4A453F"/>
                          </a:solidFill>
                          <a:latin typeface="맑은 고딕" pitchFamily="34" charset="0"/>
                          <a:ea typeface="맑은 고딕" pitchFamily="34" charset="-122"/>
                          <a:cs typeface="맑은 고딕" pitchFamily="34" charset="-120"/>
                        </a:rPr>
                        <a:t>회사소개서</a:t>
                      </a:r>
                      <a:endParaRPr lang="en-US" sz="850" dirty="0">
                        <a:latin typeface="맑은 고딕" charset="0"/>
                        <a:ea typeface="맑은 고딕" charset="0"/>
                        <a:cs typeface="맑은 고딕" charset="0"/>
                      </a:endParaRPr>
                    </a:p>
                  </a:txBody>
                  <a:tcPr marL="88900" marR="88900" marT="12700" marB="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1ED"/>
                    </a:solidFill>
                  </a:tcPr>
                </a:tc>
              </a:tr>
              <a:tr h="246888">
                <a:tc>
                  <a:txBody>
                    <a:bodyPr/>
                    <a:lstStyle/>
                    <a:p>
                      <a:pPr algn="ctr" indent="0" marL="0">
                        <a:buNone/>
                      </a:pPr>
                      <a:r>
                        <a:rPr lang="en-US" sz="850" dirty="0">
                          <a:solidFill>
                            <a:srgbClr val="8A857E"/>
                          </a:solidFill>
                          <a:latin typeface="Cambria" pitchFamily="34" charset="0"/>
                          <a:ea typeface="Cambria" pitchFamily="34" charset="-122"/>
                          <a:cs typeface="Cambria" pitchFamily="34" charset="-120"/>
                        </a:rPr>
                        <a:t>02</a:t>
                      </a:r>
                      <a:endParaRPr lang="en-US" sz="850" dirty="0">
                        <a:latin typeface="Cambria" charset="0"/>
                        <a:ea typeface="Cambria" charset="0"/>
                        <a:cs typeface="Cambria" charset="0"/>
                      </a:endParaRPr>
                    </a:p>
                  </a:txBody>
                  <a:tcPr marL="88900" marR="88900" marT="12700" marB="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1ED"/>
                    </a:solidFill>
                  </a:tcPr>
                </a:tc>
                <a:tc>
                  <a:txBody>
                    <a:bodyPr/>
                    <a:lstStyle/>
                    <a:p>
                      <a:pPr indent="0" marL="0">
                        <a:buNone/>
                      </a:pPr>
                      <a:r>
                        <a:rPr lang="en-US" sz="850" dirty="0">
                          <a:solidFill>
                            <a:srgbClr val="4A453F"/>
                          </a:solidFill>
                          <a:latin typeface="맑은 고딕" pitchFamily="34" charset="0"/>
                          <a:ea typeface="맑은 고딕" pitchFamily="34" charset="-122"/>
                          <a:cs typeface="맑은 고딕" pitchFamily="34" charset="-120"/>
                        </a:rPr>
                        <a:t>03 범일가옥</a:t>
                      </a:r>
                      <a:endParaRPr lang="en-US" sz="850" dirty="0">
                        <a:latin typeface="맑은 고딕" charset="0"/>
                        <a:ea typeface="맑은 고딕" charset="0"/>
                        <a:cs typeface="맑은 고딕" charset="0"/>
                      </a:endParaRPr>
                    </a:p>
                  </a:txBody>
                  <a:tcPr marL="88900" marR="88900" marT="12700" marB="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1ED"/>
                    </a:solidFill>
                  </a:tcPr>
                </a:tc>
                <a:tc>
                  <a:txBody>
                    <a:bodyPr/>
                    <a:lstStyle/>
                    <a:p>
                      <a:pPr indent="0" marL="0">
                        <a:buNone/>
                      </a:pPr>
                      <a:r>
                        <a:rPr lang="en-US" sz="900" b="1" dirty="0">
                          <a:solidFill>
                            <a:srgbClr val="1A1A1A"/>
                          </a:solidFill>
                          <a:latin typeface="맑은 고딕" pitchFamily="34" charset="0"/>
                          <a:ea typeface="맑은 고딕" pitchFamily="34" charset="-122"/>
                          <a:cs typeface="맑은 고딕" pitchFamily="34" charset="-120"/>
                        </a:rPr>
                        <a:t>4F 전시관 목재 복도</a:t>
                      </a:r>
                      <a:endParaRPr lang="en-US" sz="900" dirty="0">
                        <a:latin typeface="맑은 고딕" charset="0"/>
                        <a:ea typeface="맑은 고딕" charset="0"/>
                        <a:cs typeface="맑은 고딕" charset="0"/>
                      </a:endParaRPr>
                    </a:p>
                  </a:txBody>
                  <a:tcPr marL="88900" marR="88900" marT="12700" marB="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1ED"/>
                    </a:solidFill>
                  </a:tcPr>
                </a:tc>
                <a:tc>
                  <a:txBody>
                    <a:bodyPr/>
                    <a:lstStyle/>
                    <a:p>
                      <a:pPr indent="0" marL="0">
                        <a:buNone/>
                      </a:pPr>
                      <a:r>
                        <a:rPr lang="en-US" sz="850" dirty="0">
                          <a:solidFill>
                            <a:srgbClr val="4A453F"/>
                          </a:solidFill>
                          <a:latin typeface="맑은 고딕" pitchFamily="34" charset="0"/>
                          <a:ea typeface="맑은 고딕" pitchFamily="34" charset="-122"/>
                          <a:cs typeface="맑은 고딕" pitchFamily="34" charset="-120"/>
                        </a:rPr>
                        <a:t>회사소개서</a:t>
                      </a:r>
                      <a:endParaRPr lang="en-US" sz="850" dirty="0">
                        <a:latin typeface="맑은 고딕" charset="0"/>
                        <a:ea typeface="맑은 고딕" charset="0"/>
                        <a:cs typeface="맑은 고딕" charset="0"/>
                      </a:endParaRPr>
                    </a:p>
                  </a:txBody>
                  <a:tcPr marL="88900" marR="88900" marT="12700" marB="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1ED"/>
                    </a:solidFill>
                  </a:tcPr>
                </a:tc>
              </a:tr>
              <a:tr h="246888">
                <a:tc>
                  <a:txBody>
                    <a:bodyPr/>
                    <a:lstStyle/>
                    <a:p>
                      <a:pPr algn="ctr" indent="0" marL="0">
                        <a:buNone/>
                      </a:pPr>
                      <a:r>
                        <a:rPr lang="en-US" sz="850" dirty="0">
                          <a:solidFill>
                            <a:srgbClr val="8A857E"/>
                          </a:solidFill>
                          <a:latin typeface="Cambria" pitchFamily="34" charset="0"/>
                          <a:ea typeface="Cambria" pitchFamily="34" charset="-122"/>
                          <a:cs typeface="Cambria" pitchFamily="34" charset="-120"/>
                        </a:rPr>
                        <a:t>03</a:t>
                      </a:r>
                      <a:endParaRPr lang="en-US" sz="850" dirty="0">
                        <a:latin typeface="Cambria" charset="0"/>
                        <a:ea typeface="Cambria" charset="0"/>
                        <a:cs typeface="Cambria" charset="0"/>
                      </a:endParaRPr>
                    </a:p>
                  </a:txBody>
                  <a:tcPr marL="88900" marR="88900" marT="12700" marB="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1ED"/>
                    </a:solidFill>
                  </a:tcPr>
                </a:tc>
                <a:tc>
                  <a:txBody>
                    <a:bodyPr/>
                    <a:lstStyle/>
                    <a:p>
                      <a:pPr indent="0" marL="0">
                        <a:buNone/>
                      </a:pPr>
                      <a:r>
                        <a:rPr lang="en-US" sz="850" dirty="0">
                          <a:solidFill>
                            <a:srgbClr val="4A453F"/>
                          </a:solidFill>
                          <a:latin typeface="맑은 고딕" pitchFamily="34" charset="0"/>
                          <a:ea typeface="맑은 고딕" pitchFamily="34" charset="-122"/>
                          <a:cs typeface="맑은 고딕" pitchFamily="34" charset="-120"/>
                        </a:rPr>
                        <a:t>03 범일가옥</a:t>
                      </a:r>
                      <a:endParaRPr lang="en-US" sz="850" dirty="0">
                        <a:latin typeface="맑은 고딕" charset="0"/>
                        <a:ea typeface="맑은 고딕" charset="0"/>
                        <a:cs typeface="맑은 고딕" charset="0"/>
                      </a:endParaRPr>
                    </a:p>
                  </a:txBody>
                  <a:tcPr marL="88900" marR="88900" marT="12700" marB="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1ED"/>
                    </a:solidFill>
                  </a:tcPr>
                </a:tc>
                <a:tc>
                  <a:txBody>
                    <a:bodyPr/>
                    <a:lstStyle/>
                    <a:p>
                      <a:pPr indent="0" marL="0">
                        <a:buNone/>
                      </a:pPr>
                      <a:r>
                        <a:rPr lang="en-US" sz="900" b="1" dirty="0">
                          <a:solidFill>
                            <a:srgbClr val="1A1A1A"/>
                          </a:solidFill>
                          <a:latin typeface="맑은 고딕" pitchFamily="34" charset="0"/>
                          <a:ea typeface="맑은 고딕" pitchFamily="34" charset="-122"/>
                          <a:cs typeface="맑은 고딕" pitchFamily="34" charset="-120"/>
                        </a:rPr>
                        <a:t>문지방 너머의 방</a:t>
                      </a:r>
                      <a:endParaRPr lang="en-US" sz="900" dirty="0">
                        <a:latin typeface="맑은 고딕" charset="0"/>
                        <a:ea typeface="맑은 고딕" charset="0"/>
                        <a:cs typeface="맑은 고딕" charset="0"/>
                      </a:endParaRPr>
                    </a:p>
                  </a:txBody>
                  <a:tcPr marL="88900" marR="88900" marT="12700" marB="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1ED"/>
                    </a:solidFill>
                  </a:tcPr>
                </a:tc>
                <a:tc>
                  <a:txBody>
                    <a:bodyPr/>
                    <a:lstStyle/>
                    <a:p>
                      <a:pPr indent="0" marL="0">
                        <a:buNone/>
                      </a:pPr>
                      <a:r>
                        <a:rPr lang="en-US" sz="850" dirty="0">
                          <a:solidFill>
                            <a:srgbClr val="4A453F"/>
                          </a:solidFill>
                          <a:latin typeface="맑은 고딕" pitchFamily="34" charset="0"/>
                          <a:ea typeface="맑은 고딕" pitchFamily="34" charset="-122"/>
                          <a:cs typeface="맑은 고딕" pitchFamily="34" charset="-120"/>
                        </a:rPr>
                        <a:t>회사소개서</a:t>
                      </a:r>
                      <a:endParaRPr lang="en-US" sz="850" dirty="0">
                        <a:latin typeface="맑은 고딕" charset="0"/>
                        <a:ea typeface="맑은 고딕" charset="0"/>
                        <a:cs typeface="맑은 고딕" charset="0"/>
                      </a:endParaRPr>
                    </a:p>
                  </a:txBody>
                  <a:tcPr marL="88900" marR="88900" marT="12700" marB="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1ED"/>
                    </a:solidFill>
                  </a:tcPr>
                </a:tc>
              </a:tr>
              <a:tr h="246888">
                <a:tc>
                  <a:txBody>
                    <a:bodyPr/>
                    <a:lstStyle/>
                    <a:p>
                      <a:pPr algn="ctr" indent="0" marL="0">
                        <a:buNone/>
                      </a:pPr>
                      <a:r>
                        <a:rPr lang="en-US" sz="850" dirty="0">
                          <a:solidFill>
                            <a:srgbClr val="8A857E"/>
                          </a:solidFill>
                          <a:latin typeface="Cambria" pitchFamily="34" charset="0"/>
                          <a:ea typeface="Cambria" pitchFamily="34" charset="-122"/>
                          <a:cs typeface="Cambria" pitchFamily="34" charset="-120"/>
                        </a:rPr>
                        <a:t>04</a:t>
                      </a:r>
                      <a:endParaRPr lang="en-US" sz="850" dirty="0">
                        <a:latin typeface="Cambria" charset="0"/>
                        <a:ea typeface="Cambria" charset="0"/>
                        <a:cs typeface="Cambria" charset="0"/>
                      </a:endParaRPr>
                    </a:p>
                  </a:txBody>
                  <a:tcPr marL="88900" marR="88900" marT="12700" marB="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1ED"/>
                    </a:solidFill>
                  </a:tcPr>
                </a:tc>
                <a:tc>
                  <a:txBody>
                    <a:bodyPr/>
                    <a:lstStyle/>
                    <a:p>
                      <a:pPr indent="0" marL="0">
                        <a:buNone/>
                      </a:pPr>
                      <a:r>
                        <a:rPr lang="en-US" sz="850" dirty="0">
                          <a:solidFill>
                            <a:srgbClr val="4A453F"/>
                          </a:solidFill>
                          <a:latin typeface="맑은 고딕" pitchFamily="34" charset="0"/>
                          <a:ea typeface="맑은 고딕" pitchFamily="34" charset="-122"/>
                          <a:cs typeface="맑은 고딕" pitchFamily="34" charset="-120"/>
                        </a:rPr>
                        <a:t>04 기획 의도</a:t>
                      </a:r>
                      <a:endParaRPr lang="en-US" sz="850" dirty="0">
                        <a:latin typeface="맑은 고딕" charset="0"/>
                        <a:ea typeface="맑은 고딕" charset="0"/>
                        <a:cs typeface="맑은 고딕" charset="0"/>
                      </a:endParaRPr>
                    </a:p>
                  </a:txBody>
                  <a:tcPr marL="88900" marR="88900" marT="12700" marB="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1ED"/>
                    </a:solidFill>
                  </a:tcPr>
                </a:tc>
                <a:tc>
                  <a:txBody>
                    <a:bodyPr/>
                    <a:lstStyle/>
                    <a:p>
                      <a:pPr indent="0" marL="0">
                        <a:buNone/>
                      </a:pPr>
                      <a:r>
                        <a:rPr lang="en-US" sz="900" b="1" dirty="0">
                          <a:solidFill>
                            <a:srgbClr val="1A1A1A"/>
                          </a:solidFill>
                          <a:latin typeface="맑은 고딕" pitchFamily="34" charset="0"/>
                          <a:ea typeface="맑은 고딕" pitchFamily="34" charset="-122"/>
                          <a:cs typeface="맑은 고딕" pitchFamily="34" charset="-120"/>
                        </a:rPr>
                        <a:t>지우지 않은 벽에 걸린 작품</a:t>
                      </a:r>
                      <a:endParaRPr lang="en-US" sz="900" dirty="0">
                        <a:latin typeface="맑은 고딕" charset="0"/>
                        <a:ea typeface="맑은 고딕" charset="0"/>
                        <a:cs typeface="맑은 고딕" charset="0"/>
                      </a:endParaRPr>
                    </a:p>
                  </a:txBody>
                  <a:tcPr marL="88900" marR="88900" marT="12700" marB="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1ED"/>
                    </a:solidFill>
                  </a:tcPr>
                </a:tc>
                <a:tc>
                  <a:txBody>
                    <a:bodyPr/>
                    <a:lstStyle/>
                    <a:p>
                      <a:pPr indent="0" marL="0">
                        <a:buNone/>
                      </a:pPr>
                      <a:r>
                        <a:rPr lang="en-US" sz="850" dirty="0">
                          <a:solidFill>
                            <a:srgbClr val="4A453F"/>
                          </a:solidFill>
                          <a:latin typeface="맑은 고딕" pitchFamily="34" charset="0"/>
                          <a:ea typeface="맑은 고딕" pitchFamily="34" charset="-122"/>
                          <a:cs typeface="맑은 고딕" pitchFamily="34" charset="-120"/>
                        </a:rPr>
                        <a:t>회사소개서</a:t>
                      </a:r>
                      <a:endParaRPr lang="en-US" sz="850" dirty="0">
                        <a:latin typeface="맑은 고딕" charset="0"/>
                        <a:ea typeface="맑은 고딕" charset="0"/>
                        <a:cs typeface="맑은 고딕" charset="0"/>
                      </a:endParaRPr>
                    </a:p>
                  </a:txBody>
                  <a:tcPr marL="88900" marR="88900" marT="12700" marB="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1ED"/>
                    </a:solidFill>
                  </a:tcPr>
                </a:tc>
              </a:tr>
              <a:tr h="246888">
                <a:tc>
                  <a:txBody>
                    <a:bodyPr/>
                    <a:lstStyle/>
                    <a:p>
                      <a:pPr algn="ctr" indent="0" marL="0">
                        <a:buNone/>
                      </a:pPr>
                      <a:r>
                        <a:rPr lang="en-US" sz="850" dirty="0">
                          <a:solidFill>
                            <a:srgbClr val="8A857E"/>
                          </a:solidFill>
                          <a:latin typeface="Cambria" pitchFamily="34" charset="0"/>
                          <a:ea typeface="Cambria" pitchFamily="34" charset="-122"/>
                          <a:cs typeface="Cambria" pitchFamily="34" charset="-120"/>
                        </a:rPr>
                        <a:t>05</a:t>
                      </a:r>
                      <a:endParaRPr lang="en-US" sz="850" dirty="0">
                        <a:latin typeface="Cambria" charset="0"/>
                        <a:ea typeface="Cambria" charset="0"/>
                        <a:cs typeface="Cambria" charset="0"/>
                      </a:endParaRPr>
                    </a:p>
                  </a:txBody>
                  <a:tcPr marL="88900" marR="88900" marT="12700" marB="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1ED"/>
                    </a:solidFill>
                  </a:tcPr>
                </a:tc>
                <a:tc>
                  <a:txBody>
                    <a:bodyPr/>
                    <a:lstStyle/>
                    <a:p>
                      <a:pPr indent="0" marL="0">
                        <a:buNone/>
                      </a:pPr>
                      <a:r>
                        <a:rPr lang="en-US" sz="850" dirty="0">
                          <a:solidFill>
                            <a:srgbClr val="4A453F"/>
                          </a:solidFill>
                          <a:latin typeface="맑은 고딕" pitchFamily="34" charset="0"/>
                          <a:ea typeface="맑은 고딕" pitchFamily="34" charset="-122"/>
                          <a:cs typeface="맑은 고딕" pitchFamily="34" charset="-120"/>
                        </a:rPr>
                        <a:t>Ⅲ 기획 (표제)</a:t>
                      </a:r>
                      <a:endParaRPr lang="en-US" sz="850" dirty="0">
                        <a:latin typeface="맑은 고딕" charset="0"/>
                        <a:ea typeface="맑은 고딕" charset="0"/>
                        <a:cs typeface="맑은 고딕" charset="0"/>
                      </a:endParaRPr>
                    </a:p>
                  </a:txBody>
                  <a:tcPr marL="88900" marR="88900" marT="12700" marB="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1ED"/>
                    </a:solidFill>
                  </a:tcPr>
                </a:tc>
                <a:tc>
                  <a:txBody>
                    <a:bodyPr/>
                    <a:lstStyle/>
                    <a:p>
                      <a:pPr indent="0" marL="0">
                        <a:buNone/>
                      </a:pPr>
                      <a:r>
                        <a:rPr lang="en-US" sz="900" b="1" dirty="0">
                          <a:solidFill>
                            <a:srgbClr val="1A1A1A"/>
                          </a:solidFill>
                          <a:latin typeface="맑은 고딕" pitchFamily="34" charset="0"/>
                          <a:ea typeface="맑은 고딕" pitchFamily="34" charset="-122"/>
                          <a:cs typeface="맑은 고딕" pitchFamily="34" charset="-120"/>
                        </a:rPr>
                        <a:t>⑤실 마루 — 전통과 현대가 맞닿는 방</a:t>
                      </a:r>
                      <a:endParaRPr lang="en-US" sz="900" dirty="0">
                        <a:latin typeface="맑은 고딕" charset="0"/>
                        <a:ea typeface="맑은 고딕" charset="0"/>
                        <a:cs typeface="맑은 고딕" charset="0"/>
                      </a:endParaRPr>
                    </a:p>
                  </a:txBody>
                  <a:tcPr marL="88900" marR="88900" marT="12700" marB="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1ED"/>
                    </a:solidFill>
                  </a:tcPr>
                </a:tc>
                <a:tc>
                  <a:txBody>
                    <a:bodyPr/>
                    <a:lstStyle/>
                    <a:p>
                      <a:pPr indent="0" marL="0">
                        <a:buNone/>
                      </a:pPr>
                      <a:r>
                        <a:rPr lang="en-US" sz="850" dirty="0">
                          <a:solidFill>
                            <a:srgbClr val="4A453F"/>
                          </a:solidFill>
                          <a:latin typeface="맑은 고딕" pitchFamily="34" charset="0"/>
                          <a:ea typeface="맑은 고딕" pitchFamily="34" charset="-122"/>
                          <a:cs typeface="맑은 고딕" pitchFamily="34" charset="-120"/>
                        </a:rPr>
                        <a:t>회사소개서</a:t>
                      </a:r>
                      <a:endParaRPr lang="en-US" sz="850" dirty="0">
                        <a:latin typeface="맑은 고딕" charset="0"/>
                        <a:ea typeface="맑은 고딕" charset="0"/>
                        <a:cs typeface="맑은 고딕" charset="0"/>
                      </a:endParaRPr>
                    </a:p>
                  </a:txBody>
                  <a:tcPr marL="88900" marR="88900" marT="12700" marB="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1ED"/>
                    </a:solidFill>
                  </a:tcPr>
                </a:tc>
              </a:tr>
              <a:tr h="246888">
                <a:tc>
                  <a:txBody>
                    <a:bodyPr/>
                    <a:lstStyle/>
                    <a:p>
                      <a:pPr algn="ctr" indent="0" marL="0">
                        <a:buNone/>
                      </a:pPr>
                      <a:r>
                        <a:rPr lang="en-US" sz="850" dirty="0">
                          <a:solidFill>
                            <a:srgbClr val="8A857E"/>
                          </a:solidFill>
                          <a:latin typeface="Cambria" pitchFamily="34" charset="0"/>
                          <a:ea typeface="Cambria" pitchFamily="34" charset="-122"/>
                          <a:cs typeface="Cambria" pitchFamily="34" charset="-120"/>
                        </a:rPr>
                        <a:t>06</a:t>
                      </a:r>
                      <a:endParaRPr lang="en-US" sz="850" dirty="0">
                        <a:latin typeface="Cambria" charset="0"/>
                        <a:ea typeface="Cambria" charset="0"/>
                        <a:cs typeface="Cambria" charset="0"/>
                      </a:endParaRPr>
                    </a:p>
                  </a:txBody>
                  <a:tcPr marL="88900" marR="88900" marT="12700" marB="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1ED"/>
                    </a:solidFill>
                  </a:tcPr>
                </a:tc>
                <a:tc>
                  <a:txBody>
                    <a:bodyPr/>
                    <a:lstStyle/>
                    <a:p>
                      <a:pPr indent="0" marL="0">
                        <a:buNone/>
                      </a:pPr>
                      <a:r>
                        <a:rPr lang="en-US" sz="850" dirty="0">
                          <a:solidFill>
                            <a:srgbClr val="4A453F"/>
                          </a:solidFill>
                          <a:latin typeface="맑은 고딕" pitchFamily="34" charset="0"/>
                          <a:ea typeface="맑은 고딕" pitchFamily="34" charset="-122"/>
                          <a:cs typeface="맑은 고딕" pitchFamily="34" charset="-120"/>
                        </a:rPr>
                        <a:t>07 공간 구성도</a:t>
                      </a:r>
                      <a:endParaRPr lang="en-US" sz="850" dirty="0">
                        <a:latin typeface="맑은 고딕" charset="0"/>
                        <a:ea typeface="맑은 고딕" charset="0"/>
                        <a:cs typeface="맑은 고딕" charset="0"/>
                      </a:endParaRPr>
                    </a:p>
                  </a:txBody>
                  <a:tcPr marL="88900" marR="88900" marT="12700" marB="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1ED"/>
                    </a:solidFill>
                  </a:tcPr>
                </a:tc>
                <a:tc>
                  <a:txBody>
                    <a:bodyPr/>
                    <a:lstStyle/>
                    <a:p>
                      <a:pPr indent="0" marL="0">
                        <a:buNone/>
                      </a:pPr>
                      <a:r>
                        <a:rPr lang="en-US" sz="900" b="1" dirty="0">
                          <a:solidFill>
                            <a:srgbClr val="1A1A1A"/>
                          </a:solidFill>
                          <a:latin typeface="맑은 고딕" pitchFamily="34" charset="0"/>
                          <a:ea typeface="맑은 고딕" pitchFamily="34" charset="-122"/>
                          <a:cs typeface="맑은 고딕" pitchFamily="34" charset="-120"/>
                        </a:rPr>
                        <a:t>아이테르 제공 4F 실제 배치 도면</a:t>
                      </a:r>
                      <a:endParaRPr lang="en-US" sz="900" dirty="0">
                        <a:latin typeface="맑은 고딕" charset="0"/>
                        <a:ea typeface="맑은 고딕" charset="0"/>
                        <a:cs typeface="맑은 고딕" charset="0"/>
                      </a:endParaRPr>
                    </a:p>
                  </a:txBody>
                  <a:tcPr marL="88900" marR="88900" marT="12700" marB="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1ED"/>
                    </a:solidFill>
                  </a:tcPr>
                </a:tc>
                <a:tc>
                  <a:txBody>
                    <a:bodyPr/>
                    <a:lstStyle/>
                    <a:p>
                      <a:pPr indent="0" marL="0">
                        <a:buNone/>
                      </a:pPr>
                      <a:r>
                        <a:rPr lang="en-US" sz="850" dirty="0">
                          <a:solidFill>
                            <a:srgbClr val="4A453F"/>
                          </a:solidFill>
                          <a:latin typeface="맑은 고딕" pitchFamily="34" charset="0"/>
                          <a:ea typeface="맑은 고딕" pitchFamily="34" charset="-122"/>
                          <a:cs typeface="맑은 고딕" pitchFamily="34" charset="-120"/>
                        </a:rPr>
                        <a:t>회사소개서</a:t>
                      </a:r>
                      <a:endParaRPr lang="en-US" sz="850" dirty="0">
                        <a:latin typeface="맑은 고딕" charset="0"/>
                        <a:ea typeface="맑은 고딕" charset="0"/>
                        <a:cs typeface="맑은 고딕" charset="0"/>
                      </a:endParaRPr>
                    </a:p>
                  </a:txBody>
                  <a:tcPr marL="88900" marR="88900" marT="12700" marB="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1ED"/>
                    </a:solidFill>
                  </a:tcPr>
                </a:tc>
              </a:tr>
              <a:tr h="246888">
                <a:tc>
                  <a:txBody>
                    <a:bodyPr/>
                    <a:lstStyle/>
                    <a:p>
                      <a:pPr algn="ctr" indent="0" marL="0">
                        <a:buNone/>
                      </a:pPr>
                      <a:r>
                        <a:rPr lang="en-US" sz="850" dirty="0">
                          <a:solidFill>
                            <a:srgbClr val="8A857E"/>
                          </a:solidFill>
                          <a:latin typeface="Cambria" pitchFamily="34" charset="0"/>
                          <a:ea typeface="Cambria" pitchFamily="34" charset="-122"/>
                          <a:cs typeface="Cambria" pitchFamily="34" charset="-120"/>
                        </a:rPr>
                        <a:t>07</a:t>
                      </a:r>
                      <a:endParaRPr lang="en-US" sz="850" dirty="0">
                        <a:latin typeface="Cambria" charset="0"/>
                        <a:ea typeface="Cambria" charset="0"/>
                        <a:cs typeface="Cambria" charset="0"/>
                      </a:endParaRPr>
                    </a:p>
                  </a:txBody>
                  <a:tcPr marL="88900" marR="88900" marT="12700" marB="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1ED"/>
                    </a:solidFill>
                  </a:tcPr>
                </a:tc>
                <a:tc>
                  <a:txBody>
                    <a:bodyPr/>
                    <a:lstStyle/>
                    <a:p>
                      <a:pPr indent="0" marL="0">
                        <a:buNone/>
                      </a:pPr>
                      <a:r>
                        <a:rPr lang="en-US" sz="850" dirty="0">
                          <a:solidFill>
                            <a:srgbClr val="4A453F"/>
                          </a:solidFill>
                          <a:latin typeface="맑은 고딕" pitchFamily="34" charset="0"/>
                          <a:ea typeface="맑은 고딕" pitchFamily="34" charset="-122"/>
                          <a:cs typeface="맑은 고딕" pitchFamily="34" charset="-120"/>
                        </a:rPr>
                        <a:t>08 섹션 A</a:t>
                      </a:r>
                      <a:endParaRPr lang="en-US" sz="850" dirty="0">
                        <a:latin typeface="맑은 고딕" charset="0"/>
                        <a:ea typeface="맑은 고딕" charset="0"/>
                        <a:cs typeface="맑은 고딕" charset="0"/>
                      </a:endParaRPr>
                    </a:p>
                  </a:txBody>
                  <a:tcPr marL="88900" marR="88900" marT="12700" marB="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1ED"/>
                    </a:solidFill>
                  </a:tcPr>
                </a:tc>
                <a:tc>
                  <a:txBody>
                    <a:bodyPr/>
                    <a:lstStyle/>
                    <a:p>
                      <a:pPr indent="0" marL="0">
                        <a:buNone/>
                      </a:pPr>
                      <a:r>
                        <a:rPr lang="en-US" sz="900" b="1" dirty="0">
                          <a:solidFill>
                            <a:srgbClr val="1A1A1A"/>
                          </a:solidFill>
                          <a:latin typeface="맑은 고딕" pitchFamily="34" charset="0"/>
                          <a:ea typeface="맑은 고딕" pitchFamily="34" charset="-122"/>
                          <a:cs typeface="맑은 고딕" pitchFamily="34" charset="-120"/>
                        </a:rPr>
                        <a:t>③⑧실 욕조·세면대와 부엌 타일 바닥</a:t>
                      </a:r>
                      <a:endParaRPr lang="en-US" sz="900" dirty="0">
                        <a:latin typeface="맑은 고딕" charset="0"/>
                        <a:ea typeface="맑은 고딕" charset="0"/>
                        <a:cs typeface="맑은 고딕" charset="0"/>
                      </a:endParaRPr>
                    </a:p>
                  </a:txBody>
                  <a:tcPr marL="88900" marR="88900" marT="12700" marB="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1ED"/>
                    </a:solidFill>
                  </a:tcPr>
                </a:tc>
                <a:tc>
                  <a:txBody>
                    <a:bodyPr/>
                    <a:lstStyle/>
                    <a:p>
                      <a:pPr indent="0" marL="0">
                        <a:buNone/>
                      </a:pPr>
                      <a:r>
                        <a:rPr lang="en-US" sz="850" dirty="0">
                          <a:solidFill>
                            <a:srgbClr val="4A453F"/>
                          </a:solidFill>
                          <a:latin typeface="맑은 고딕" pitchFamily="34" charset="0"/>
                          <a:ea typeface="맑은 고딕" pitchFamily="34" charset="-122"/>
                          <a:cs typeface="맑은 고딕" pitchFamily="34" charset="-120"/>
                        </a:rPr>
                        <a:t>회사소개서</a:t>
                      </a:r>
                      <a:endParaRPr lang="en-US" sz="850" dirty="0">
                        <a:latin typeface="맑은 고딕" charset="0"/>
                        <a:ea typeface="맑은 고딕" charset="0"/>
                        <a:cs typeface="맑은 고딕" charset="0"/>
                      </a:endParaRPr>
                    </a:p>
                  </a:txBody>
                  <a:tcPr marL="88900" marR="88900" marT="12700" marB="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1ED"/>
                    </a:solidFill>
                  </a:tcPr>
                </a:tc>
              </a:tr>
              <a:tr h="246888">
                <a:tc>
                  <a:txBody>
                    <a:bodyPr/>
                    <a:lstStyle/>
                    <a:p>
                      <a:pPr algn="ctr" indent="0" marL="0">
                        <a:buNone/>
                      </a:pPr>
                      <a:r>
                        <a:rPr lang="en-US" sz="850" dirty="0">
                          <a:solidFill>
                            <a:srgbClr val="8A857E"/>
                          </a:solidFill>
                          <a:latin typeface="Cambria" pitchFamily="34" charset="0"/>
                          <a:ea typeface="Cambria" pitchFamily="34" charset="-122"/>
                          <a:cs typeface="Cambria" pitchFamily="34" charset="-120"/>
                        </a:rPr>
                        <a:t>08</a:t>
                      </a:r>
                      <a:endParaRPr lang="en-US" sz="850" dirty="0">
                        <a:latin typeface="Cambria" charset="0"/>
                        <a:ea typeface="Cambria" charset="0"/>
                        <a:cs typeface="Cambria" charset="0"/>
                      </a:endParaRPr>
                    </a:p>
                  </a:txBody>
                  <a:tcPr marL="88900" marR="88900" marT="12700" marB="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1ED"/>
                    </a:solidFill>
                  </a:tcPr>
                </a:tc>
                <a:tc>
                  <a:txBody>
                    <a:bodyPr/>
                    <a:lstStyle/>
                    <a:p>
                      <a:pPr indent="0" marL="0">
                        <a:buNone/>
                      </a:pPr>
                      <a:r>
                        <a:rPr lang="en-US" sz="850" dirty="0">
                          <a:solidFill>
                            <a:srgbClr val="4A453F"/>
                          </a:solidFill>
                          <a:latin typeface="맑은 고딕" pitchFamily="34" charset="0"/>
                          <a:ea typeface="맑은 고딕" pitchFamily="34" charset="-122"/>
                          <a:cs typeface="맑은 고딕" pitchFamily="34" charset="-120"/>
                        </a:rPr>
                        <a:t>09 섹션 B</a:t>
                      </a:r>
                      <a:endParaRPr lang="en-US" sz="850" dirty="0">
                        <a:latin typeface="맑은 고딕" charset="0"/>
                        <a:ea typeface="맑은 고딕" charset="0"/>
                        <a:cs typeface="맑은 고딕" charset="0"/>
                      </a:endParaRPr>
                    </a:p>
                  </a:txBody>
                  <a:tcPr marL="88900" marR="88900" marT="12700" marB="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1ED"/>
                    </a:solidFill>
                  </a:tcPr>
                </a:tc>
                <a:tc>
                  <a:txBody>
                    <a:bodyPr/>
                    <a:lstStyle/>
                    <a:p>
                      <a:pPr indent="0" marL="0">
                        <a:buNone/>
                      </a:pPr>
                      <a:r>
                        <a:rPr lang="en-US" sz="900" b="1" dirty="0">
                          <a:solidFill>
                            <a:srgbClr val="1A1A1A"/>
                          </a:solidFill>
                          <a:latin typeface="맑은 고딕" pitchFamily="34" charset="0"/>
                          <a:ea typeface="맑은 고딕" pitchFamily="34" charset="-122"/>
                          <a:cs typeface="맑은 고딕" pitchFamily="34" charset="-120"/>
                        </a:rPr>
                        <a:t>가옥의 방에 놓인 작품과 세간</a:t>
                      </a:r>
                      <a:endParaRPr lang="en-US" sz="900" dirty="0">
                        <a:latin typeface="맑은 고딕" charset="0"/>
                        <a:ea typeface="맑은 고딕" charset="0"/>
                        <a:cs typeface="맑은 고딕" charset="0"/>
                      </a:endParaRPr>
                    </a:p>
                  </a:txBody>
                  <a:tcPr marL="88900" marR="88900" marT="12700" marB="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1ED"/>
                    </a:solidFill>
                  </a:tcPr>
                </a:tc>
                <a:tc>
                  <a:txBody>
                    <a:bodyPr/>
                    <a:lstStyle/>
                    <a:p>
                      <a:pPr indent="0" marL="0">
                        <a:buNone/>
                      </a:pPr>
                      <a:r>
                        <a:rPr lang="en-US" sz="850" dirty="0">
                          <a:solidFill>
                            <a:srgbClr val="4A453F"/>
                          </a:solidFill>
                          <a:latin typeface="맑은 고딕" pitchFamily="34" charset="0"/>
                          <a:ea typeface="맑은 고딕" pitchFamily="34" charset="-122"/>
                          <a:cs typeface="맑은 고딕" pitchFamily="34" charset="-120"/>
                        </a:rPr>
                        <a:t>회사소개서</a:t>
                      </a:r>
                      <a:endParaRPr lang="en-US" sz="850" dirty="0">
                        <a:latin typeface="맑은 고딕" charset="0"/>
                        <a:ea typeface="맑은 고딕" charset="0"/>
                        <a:cs typeface="맑은 고딕" charset="0"/>
                      </a:endParaRPr>
                    </a:p>
                  </a:txBody>
                  <a:tcPr marL="88900" marR="88900" marT="12700" marB="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1ED"/>
                    </a:solidFill>
                  </a:tcPr>
                </a:tc>
              </a:tr>
              <a:tr h="246888">
                <a:tc>
                  <a:txBody>
                    <a:bodyPr/>
                    <a:lstStyle/>
                    <a:p>
                      <a:pPr algn="ctr" indent="0" marL="0">
                        <a:buNone/>
                      </a:pPr>
                      <a:r>
                        <a:rPr lang="en-US" sz="850" dirty="0">
                          <a:solidFill>
                            <a:srgbClr val="8A857E"/>
                          </a:solidFill>
                          <a:latin typeface="Cambria" pitchFamily="34" charset="0"/>
                          <a:ea typeface="Cambria" pitchFamily="34" charset="-122"/>
                          <a:cs typeface="Cambria" pitchFamily="34" charset="-120"/>
                        </a:rPr>
                        <a:t>09</a:t>
                      </a:r>
                      <a:endParaRPr lang="en-US" sz="850" dirty="0">
                        <a:latin typeface="Cambria" charset="0"/>
                        <a:ea typeface="Cambria" charset="0"/>
                        <a:cs typeface="Cambria" charset="0"/>
                      </a:endParaRPr>
                    </a:p>
                  </a:txBody>
                  <a:tcPr marL="88900" marR="88900" marT="12700" marB="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1ED"/>
                    </a:solidFill>
                  </a:tcPr>
                </a:tc>
                <a:tc>
                  <a:txBody>
                    <a:bodyPr/>
                    <a:lstStyle/>
                    <a:p>
                      <a:pPr indent="0" marL="0">
                        <a:buNone/>
                      </a:pPr>
                      <a:r>
                        <a:rPr lang="en-US" sz="850" dirty="0">
                          <a:solidFill>
                            <a:srgbClr val="4A453F"/>
                          </a:solidFill>
                          <a:latin typeface="맑은 고딕" pitchFamily="34" charset="0"/>
                          <a:ea typeface="맑은 고딕" pitchFamily="34" charset="-122"/>
                          <a:cs typeface="맑은 고딕" pitchFamily="34" charset="-120"/>
                        </a:rPr>
                        <a:t>10 섹션 C</a:t>
                      </a:r>
                      <a:endParaRPr lang="en-US" sz="850" dirty="0">
                        <a:latin typeface="맑은 고딕" charset="0"/>
                        <a:ea typeface="맑은 고딕" charset="0"/>
                        <a:cs typeface="맑은 고딕" charset="0"/>
                      </a:endParaRPr>
                    </a:p>
                  </a:txBody>
                  <a:tcPr marL="88900" marR="88900" marT="12700" marB="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1ED"/>
                    </a:solidFill>
                  </a:tcPr>
                </a:tc>
                <a:tc>
                  <a:txBody>
                    <a:bodyPr/>
                    <a:lstStyle/>
                    <a:p>
                      <a:pPr indent="0" marL="0">
                        <a:buNone/>
                      </a:pPr>
                      <a:r>
                        <a:rPr lang="en-US" sz="900" b="1" dirty="0">
                          <a:solidFill>
                            <a:srgbClr val="1A1A1A"/>
                          </a:solidFill>
                          <a:latin typeface="맑은 고딕" pitchFamily="34" charset="0"/>
                          <a:ea typeface="맑은 고딕" pitchFamily="34" charset="-122"/>
                          <a:cs typeface="맑은 고딕" pitchFamily="34" charset="-120"/>
                        </a:rPr>
                        <a:t>⑥실 창살 목창과 미디어 설치</a:t>
                      </a:r>
                      <a:endParaRPr lang="en-US" sz="900" dirty="0">
                        <a:latin typeface="맑은 고딕" charset="0"/>
                        <a:ea typeface="맑은 고딕" charset="0"/>
                        <a:cs typeface="맑은 고딕" charset="0"/>
                      </a:endParaRPr>
                    </a:p>
                  </a:txBody>
                  <a:tcPr marL="88900" marR="88900" marT="12700" marB="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1ED"/>
                    </a:solidFill>
                  </a:tcPr>
                </a:tc>
                <a:tc>
                  <a:txBody>
                    <a:bodyPr/>
                    <a:lstStyle/>
                    <a:p>
                      <a:pPr indent="0" marL="0">
                        <a:buNone/>
                      </a:pPr>
                      <a:r>
                        <a:rPr lang="en-US" sz="850" dirty="0">
                          <a:solidFill>
                            <a:srgbClr val="4A453F"/>
                          </a:solidFill>
                          <a:latin typeface="맑은 고딕" pitchFamily="34" charset="0"/>
                          <a:ea typeface="맑은 고딕" pitchFamily="34" charset="-122"/>
                          <a:cs typeface="맑은 고딕" pitchFamily="34" charset="-120"/>
                        </a:rPr>
                        <a:t>회사소개서</a:t>
                      </a:r>
                      <a:endParaRPr lang="en-US" sz="850" dirty="0">
                        <a:latin typeface="맑은 고딕" charset="0"/>
                        <a:ea typeface="맑은 고딕" charset="0"/>
                        <a:cs typeface="맑은 고딕" charset="0"/>
                      </a:endParaRPr>
                    </a:p>
                  </a:txBody>
                  <a:tcPr marL="88900" marR="88900" marT="12700" marB="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1ED"/>
                    </a:solidFill>
                  </a:tcPr>
                </a:tc>
              </a:tr>
              <a:tr h="246888">
                <a:tc>
                  <a:txBody>
                    <a:bodyPr/>
                    <a:lstStyle/>
                    <a:p>
                      <a:pPr algn="ctr" indent="0" marL="0">
                        <a:buNone/>
                      </a:pPr>
                      <a:r>
                        <a:rPr lang="en-US" sz="850" dirty="0">
                          <a:solidFill>
                            <a:srgbClr val="8A857E"/>
                          </a:solidFill>
                          <a:latin typeface="Cambria" pitchFamily="34" charset="0"/>
                          <a:ea typeface="Cambria" pitchFamily="34" charset="-122"/>
                          <a:cs typeface="Cambria" pitchFamily="34" charset="-120"/>
                        </a:rPr>
                        <a:t>10</a:t>
                      </a:r>
                      <a:endParaRPr lang="en-US" sz="850" dirty="0">
                        <a:latin typeface="Cambria" charset="0"/>
                        <a:ea typeface="Cambria" charset="0"/>
                        <a:cs typeface="Cambria" charset="0"/>
                      </a:endParaRPr>
                    </a:p>
                  </a:txBody>
                  <a:tcPr marL="88900" marR="88900" marT="12700" marB="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1ED"/>
                    </a:solidFill>
                  </a:tcPr>
                </a:tc>
                <a:tc>
                  <a:txBody>
                    <a:bodyPr/>
                    <a:lstStyle/>
                    <a:p>
                      <a:pPr indent="0" marL="0">
                        <a:buNone/>
                      </a:pPr>
                      <a:r>
                        <a:rPr lang="en-US" sz="850" dirty="0">
                          <a:solidFill>
                            <a:srgbClr val="4A453F"/>
                          </a:solidFill>
                          <a:latin typeface="맑은 고딕" pitchFamily="34" charset="0"/>
                          <a:ea typeface="맑은 고딕" pitchFamily="34" charset="-122"/>
                          <a:cs typeface="맑은 고딕" pitchFamily="34" charset="-120"/>
                        </a:rPr>
                        <a:t>13 미디어·기술</a:t>
                      </a:r>
                      <a:endParaRPr lang="en-US" sz="850" dirty="0">
                        <a:latin typeface="맑은 고딕" charset="0"/>
                        <a:ea typeface="맑은 고딕" charset="0"/>
                        <a:cs typeface="맑은 고딕" charset="0"/>
                      </a:endParaRPr>
                    </a:p>
                  </a:txBody>
                  <a:tcPr marL="88900" marR="88900" marT="12700" marB="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1ED"/>
                    </a:solidFill>
                  </a:tcPr>
                </a:tc>
                <a:tc>
                  <a:txBody>
                    <a:bodyPr/>
                    <a:lstStyle/>
                    <a:p>
                      <a:pPr indent="0" marL="0">
                        <a:buNone/>
                      </a:pPr>
                      <a:r>
                        <a:rPr lang="en-US" sz="900" b="1" dirty="0">
                          <a:solidFill>
                            <a:srgbClr val="1A1A1A"/>
                          </a:solidFill>
                          <a:latin typeface="맑은 고딕" pitchFamily="34" charset="0"/>
                          <a:ea typeface="맑은 고딕" pitchFamily="34" charset="-122"/>
                          <a:cs typeface="맑은 고딕" pitchFamily="34" charset="-120"/>
                        </a:rPr>
                        <a:t>미디어 전시 연출 사례</a:t>
                      </a:r>
                      <a:endParaRPr lang="en-US" sz="900" dirty="0">
                        <a:latin typeface="맑은 고딕" charset="0"/>
                        <a:ea typeface="맑은 고딕" charset="0"/>
                        <a:cs typeface="맑은 고딕" charset="0"/>
                      </a:endParaRPr>
                    </a:p>
                  </a:txBody>
                  <a:tcPr marL="88900" marR="88900" marT="12700" marB="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1ED"/>
                    </a:solidFill>
                  </a:tcPr>
                </a:tc>
                <a:tc>
                  <a:txBody>
                    <a:bodyPr/>
                    <a:lstStyle/>
                    <a:p>
                      <a:pPr indent="0" marL="0">
                        <a:buNone/>
                      </a:pPr>
                      <a:r>
                        <a:rPr lang="en-US" sz="850" dirty="0">
                          <a:solidFill>
                            <a:srgbClr val="4A453F"/>
                          </a:solidFill>
                          <a:latin typeface="맑은 고딕" pitchFamily="34" charset="0"/>
                          <a:ea typeface="맑은 고딕" pitchFamily="34" charset="-122"/>
                          <a:cs typeface="맑은 고딕" pitchFamily="34" charset="-120"/>
                        </a:rPr>
                        <a:t>미디어 전시 역량</a:t>
                      </a:r>
                      <a:endParaRPr lang="en-US" sz="850" dirty="0">
                        <a:latin typeface="맑은 고딕" charset="0"/>
                        <a:ea typeface="맑은 고딕" charset="0"/>
                        <a:cs typeface="맑은 고딕" charset="0"/>
                      </a:endParaRPr>
                    </a:p>
                  </a:txBody>
                  <a:tcPr marL="88900" marR="88900" marT="12700" marB="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1ED"/>
                    </a:solidFill>
                  </a:tcPr>
                </a:tc>
              </a:tr>
              <a:tr h="246888">
                <a:tc>
                  <a:txBody>
                    <a:bodyPr/>
                    <a:lstStyle/>
                    <a:p>
                      <a:pPr algn="ctr" indent="0" marL="0">
                        <a:buNone/>
                      </a:pPr>
                      <a:r>
                        <a:rPr lang="en-US" sz="850" dirty="0">
                          <a:solidFill>
                            <a:srgbClr val="8A857E"/>
                          </a:solidFill>
                          <a:latin typeface="Cambria" pitchFamily="34" charset="0"/>
                          <a:ea typeface="Cambria" pitchFamily="34" charset="-122"/>
                          <a:cs typeface="Cambria" pitchFamily="34" charset="-120"/>
                        </a:rPr>
                        <a:t>11</a:t>
                      </a:r>
                      <a:endParaRPr lang="en-US" sz="850" dirty="0">
                        <a:latin typeface="Cambria" charset="0"/>
                        <a:ea typeface="Cambria" charset="0"/>
                        <a:cs typeface="Cambria" charset="0"/>
                      </a:endParaRPr>
                    </a:p>
                  </a:txBody>
                  <a:tcPr marL="88900" marR="88900" marT="12700" marB="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1ED"/>
                    </a:solidFill>
                  </a:tcPr>
                </a:tc>
                <a:tc>
                  <a:txBody>
                    <a:bodyPr/>
                    <a:lstStyle/>
                    <a:p>
                      <a:pPr indent="0" marL="0">
                        <a:buNone/>
                      </a:pPr>
                      <a:r>
                        <a:rPr lang="en-US" sz="850" dirty="0">
                          <a:solidFill>
                            <a:srgbClr val="4A453F"/>
                          </a:solidFill>
                          <a:latin typeface="맑은 고딕" pitchFamily="34" charset="0"/>
                          <a:ea typeface="맑은 고딕" pitchFamily="34" charset="-122"/>
                          <a:cs typeface="맑은 고딕" pitchFamily="34" charset="-120"/>
                        </a:rPr>
                        <a:t>Ⅳ 운영 (표제)</a:t>
                      </a:r>
                      <a:endParaRPr lang="en-US" sz="850" dirty="0">
                        <a:latin typeface="맑은 고딕" charset="0"/>
                        <a:ea typeface="맑은 고딕" charset="0"/>
                        <a:cs typeface="맑은 고딕" charset="0"/>
                      </a:endParaRPr>
                    </a:p>
                  </a:txBody>
                  <a:tcPr marL="88900" marR="88900" marT="12700" marB="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1ED"/>
                    </a:solidFill>
                  </a:tcPr>
                </a:tc>
                <a:tc>
                  <a:txBody>
                    <a:bodyPr/>
                    <a:lstStyle/>
                    <a:p>
                      <a:pPr indent="0" marL="0">
                        <a:buNone/>
                      </a:pPr>
                      <a:r>
                        <a:rPr lang="en-US" sz="900" b="1" dirty="0">
                          <a:solidFill>
                            <a:srgbClr val="1A1A1A"/>
                          </a:solidFill>
                          <a:latin typeface="맑은 고딕" pitchFamily="34" charset="0"/>
                          <a:ea typeface="맑은 고딕" pitchFamily="34" charset="-122"/>
                          <a:cs typeface="맑은 고딕" pitchFamily="34" charset="-120"/>
                        </a:rPr>
                        <a:t>범일가옥 작가와의 만남</a:t>
                      </a:r>
                      <a:endParaRPr lang="en-US" sz="900" dirty="0">
                        <a:latin typeface="맑은 고딕" charset="0"/>
                        <a:ea typeface="맑은 고딕" charset="0"/>
                        <a:cs typeface="맑은 고딕" charset="0"/>
                      </a:endParaRPr>
                    </a:p>
                  </a:txBody>
                  <a:tcPr marL="88900" marR="88900" marT="12700" marB="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1ED"/>
                    </a:solidFill>
                  </a:tcPr>
                </a:tc>
                <a:tc>
                  <a:txBody>
                    <a:bodyPr/>
                    <a:lstStyle/>
                    <a:p>
                      <a:pPr indent="0" marL="0">
                        <a:buNone/>
                      </a:pPr>
                      <a:r>
                        <a:rPr lang="en-US" sz="850" dirty="0">
                          <a:solidFill>
                            <a:srgbClr val="4A453F"/>
                          </a:solidFill>
                          <a:latin typeface="맑은 고딕" pitchFamily="34" charset="0"/>
                          <a:ea typeface="맑은 고딕" pitchFamily="34" charset="-122"/>
                          <a:cs typeface="맑은 고딕" pitchFamily="34" charset="-120"/>
                        </a:rPr>
                        <a:t>회사소개서</a:t>
                      </a:r>
                      <a:endParaRPr lang="en-US" sz="850" dirty="0">
                        <a:latin typeface="맑은 고딕" charset="0"/>
                        <a:ea typeface="맑은 고딕" charset="0"/>
                        <a:cs typeface="맑은 고딕" charset="0"/>
                      </a:endParaRPr>
                    </a:p>
                  </a:txBody>
                  <a:tcPr marL="88900" marR="88900" marT="12700" marB="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1ED"/>
                    </a:solidFill>
                  </a:tcPr>
                </a:tc>
              </a:tr>
              <a:tr h="246888">
                <a:tc>
                  <a:txBody>
                    <a:bodyPr/>
                    <a:lstStyle/>
                    <a:p>
                      <a:pPr algn="ctr" indent="0" marL="0">
                        <a:buNone/>
                      </a:pPr>
                      <a:r>
                        <a:rPr lang="en-US" sz="850" dirty="0">
                          <a:solidFill>
                            <a:srgbClr val="8A857E"/>
                          </a:solidFill>
                          <a:latin typeface="Cambria" pitchFamily="34" charset="0"/>
                          <a:ea typeface="Cambria" pitchFamily="34" charset="-122"/>
                          <a:cs typeface="Cambria" pitchFamily="34" charset="-120"/>
                        </a:rPr>
                        <a:t>12</a:t>
                      </a:r>
                      <a:endParaRPr lang="en-US" sz="850" dirty="0">
                        <a:latin typeface="Cambria" charset="0"/>
                        <a:ea typeface="Cambria" charset="0"/>
                        <a:cs typeface="Cambria" charset="0"/>
                      </a:endParaRPr>
                    </a:p>
                  </a:txBody>
                  <a:tcPr marL="88900" marR="88900" marT="12700" marB="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1ED"/>
                    </a:solidFill>
                  </a:tcPr>
                </a:tc>
                <a:tc>
                  <a:txBody>
                    <a:bodyPr/>
                    <a:lstStyle/>
                    <a:p>
                      <a:pPr indent="0" marL="0">
                        <a:buNone/>
                      </a:pPr>
                      <a:r>
                        <a:rPr lang="en-US" sz="850" dirty="0">
                          <a:solidFill>
                            <a:srgbClr val="4A453F"/>
                          </a:solidFill>
                          <a:latin typeface="맑은 고딕" pitchFamily="34" charset="0"/>
                          <a:ea typeface="맑은 고딕" pitchFamily="34" charset="-122"/>
                          <a:cs typeface="맑은 고딕" pitchFamily="34" charset="-120"/>
                        </a:rPr>
                        <a:t>14 프로그램</a:t>
                      </a:r>
                      <a:endParaRPr lang="en-US" sz="850" dirty="0">
                        <a:latin typeface="맑은 고딕" charset="0"/>
                        <a:ea typeface="맑은 고딕" charset="0"/>
                        <a:cs typeface="맑은 고딕" charset="0"/>
                      </a:endParaRPr>
                    </a:p>
                  </a:txBody>
                  <a:tcPr marL="88900" marR="88900" marT="12700" marB="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1ED"/>
                    </a:solidFill>
                  </a:tcPr>
                </a:tc>
                <a:tc>
                  <a:txBody>
                    <a:bodyPr/>
                    <a:lstStyle/>
                    <a:p>
                      <a:pPr indent="0" marL="0">
                        <a:buNone/>
                      </a:pPr>
                      <a:r>
                        <a:rPr lang="en-US" sz="900" b="1" dirty="0">
                          <a:solidFill>
                            <a:srgbClr val="1A1A1A"/>
                          </a:solidFill>
                          <a:latin typeface="맑은 고딕" pitchFamily="34" charset="0"/>
                          <a:ea typeface="맑은 고딕" pitchFamily="34" charset="-122"/>
                          <a:cs typeface="맑은 고딕" pitchFamily="34" charset="-120"/>
                        </a:rPr>
                        <a:t>주민 참여 워크숍 (회의)</a:t>
                      </a:r>
                      <a:endParaRPr lang="en-US" sz="900" dirty="0">
                        <a:latin typeface="맑은 고딕" charset="0"/>
                        <a:ea typeface="맑은 고딕" charset="0"/>
                        <a:cs typeface="맑은 고딕" charset="0"/>
                      </a:endParaRPr>
                    </a:p>
                  </a:txBody>
                  <a:tcPr marL="88900" marR="88900" marT="12700" marB="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1ED"/>
                    </a:solidFill>
                  </a:tcPr>
                </a:tc>
                <a:tc>
                  <a:txBody>
                    <a:bodyPr/>
                    <a:lstStyle/>
                    <a:p>
                      <a:pPr indent="0" marL="0">
                        <a:buNone/>
                      </a:pPr>
                      <a:r>
                        <a:rPr lang="en-US" sz="850" dirty="0">
                          <a:solidFill>
                            <a:srgbClr val="4A453F"/>
                          </a:solidFill>
                          <a:latin typeface="맑은 고딕" pitchFamily="34" charset="0"/>
                          <a:ea typeface="맑은 고딕" pitchFamily="34" charset="-122"/>
                          <a:cs typeface="맑은 고딕" pitchFamily="34" charset="-120"/>
                        </a:rPr>
                        <a:t>회사소개서</a:t>
                      </a:r>
                      <a:endParaRPr lang="en-US" sz="850" dirty="0">
                        <a:latin typeface="맑은 고딕" charset="0"/>
                        <a:ea typeface="맑은 고딕" charset="0"/>
                        <a:cs typeface="맑은 고딕" charset="0"/>
                      </a:endParaRPr>
                    </a:p>
                  </a:txBody>
                  <a:tcPr marL="88900" marR="88900" marT="12700" marB="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1ED"/>
                    </a:solidFill>
                  </a:tcPr>
                </a:tc>
              </a:tr>
              <a:tr h="246888">
                <a:tc>
                  <a:txBody>
                    <a:bodyPr/>
                    <a:lstStyle/>
                    <a:p>
                      <a:pPr algn="ctr" indent="0" marL="0">
                        <a:buNone/>
                      </a:pPr>
                      <a:r>
                        <a:rPr lang="en-US" sz="850" dirty="0">
                          <a:solidFill>
                            <a:srgbClr val="8A857E"/>
                          </a:solidFill>
                          <a:latin typeface="Cambria" pitchFamily="34" charset="0"/>
                          <a:ea typeface="Cambria" pitchFamily="34" charset="-122"/>
                          <a:cs typeface="Cambria" pitchFamily="34" charset="-120"/>
                        </a:rPr>
                        <a:t>13</a:t>
                      </a:r>
                      <a:endParaRPr lang="en-US" sz="850" dirty="0">
                        <a:latin typeface="Cambria" charset="0"/>
                        <a:ea typeface="Cambria" charset="0"/>
                        <a:cs typeface="Cambria" charset="0"/>
                      </a:endParaRPr>
                    </a:p>
                  </a:txBody>
                  <a:tcPr marL="88900" marR="88900" marT="12700" marB="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1ED"/>
                    </a:solidFill>
                  </a:tcPr>
                </a:tc>
                <a:tc>
                  <a:txBody>
                    <a:bodyPr/>
                    <a:lstStyle/>
                    <a:p>
                      <a:pPr indent="0" marL="0">
                        <a:buNone/>
                      </a:pPr>
                      <a:r>
                        <a:rPr lang="en-US" sz="850" dirty="0">
                          <a:solidFill>
                            <a:srgbClr val="4A453F"/>
                          </a:solidFill>
                          <a:latin typeface="맑은 고딕" pitchFamily="34" charset="0"/>
                          <a:ea typeface="맑은 고딕" pitchFamily="34" charset="-122"/>
                          <a:cs typeface="맑은 고딕" pitchFamily="34" charset="-120"/>
                        </a:rPr>
                        <a:t>14 프로그램</a:t>
                      </a:r>
                      <a:endParaRPr lang="en-US" sz="850" dirty="0">
                        <a:latin typeface="맑은 고딕" charset="0"/>
                        <a:ea typeface="맑은 고딕" charset="0"/>
                        <a:cs typeface="맑은 고딕" charset="0"/>
                      </a:endParaRPr>
                    </a:p>
                  </a:txBody>
                  <a:tcPr marL="88900" marR="88900" marT="12700" marB="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1ED"/>
                    </a:solidFill>
                  </a:tcPr>
                </a:tc>
                <a:tc>
                  <a:txBody>
                    <a:bodyPr/>
                    <a:lstStyle/>
                    <a:p>
                      <a:pPr indent="0" marL="0">
                        <a:buNone/>
                      </a:pPr>
                      <a:r>
                        <a:rPr lang="en-US" sz="900" b="1" dirty="0">
                          <a:solidFill>
                            <a:srgbClr val="1A1A1A"/>
                          </a:solidFill>
                          <a:latin typeface="맑은 고딕" pitchFamily="34" charset="0"/>
                          <a:ea typeface="맑은 고딕" pitchFamily="34" charset="-122"/>
                          <a:cs typeface="맑은 고딕" pitchFamily="34" charset="-120"/>
                        </a:rPr>
                        <a:t>참여자 워크숍 현장</a:t>
                      </a:r>
                      <a:endParaRPr lang="en-US" sz="900" dirty="0">
                        <a:latin typeface="맑은 고딕" charset="0"/>
                        <a:ea typeface="맑은 고딕" charset="0"/>
                        <a:cs typeface="맑은 고딕" charset="0"/>
                      </a:endParaRPr>
                    </a:p>
                  </a:txBody>
                  <a:tcPr marL="88900" marR="88900" marT="12700" marB="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1ED"/>
                    </a:solidFill>
                  </a:tcPr>
                </a:tc>
                <a:tc>
                  <a:txBody>
                    <a:bodyPr/>
                    <a:lstStyle/>
                    <a:p>
                      <a:pPr indent="0" marL="0">
                        <a:buNone/>
                      </a:pPr>
                      <a:r>
                        <a:rPr lang="en-US" sz="850" dirty="0">
                          <a:solidFill>
                            <a:srgbClr val="4A453F"/>
                          </a:solidFill>
                          <a:latin typeface="맑은 고딕" pitchFamily="34" charset="0"/>
                          <a:ea typeface="맑은 고딕" pitchFamily="34" charset="-122"/>
                          <a:cs typeface="맑은 고딕" pitchFamily="34" charset="-120"/>
                        </a:rPr>
                        <a:t>회사소개서</a:t>
                      </a:r>
                      <a:endParaRPr lang="en-US" sz="850" dirty="0">
                        <a:latin typeface="맑은 고딕" charset="0"/>
                        <a:ea typeface="맑은 고딕" charset="0"/>
                        <a:cs typeface="맑은 고딕" charset="0"/>
                      </a:endParaRPr>
                    </a:p>
                  </a:txBody>
                  <a:tcPr marL="88900" marR="88900" marT="12700" marB="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1ED"/>
                    </a:solidFill>
                  </a:tcPr>
                </a:tc>
              </a:tr>
              <a:tr h="246888">
                <a:tc>
                  <a:txBody>
                    <a:bodyPr/>
                    <a:lstStyle/>
                    <a:p>
                      <a:pPr algn="ctr" indent="0" marL="0">
                        <a:buNone/>
                      </a:pPr>
                      <a:r>
                        <a:rPr lang="en-US" sz="850" dirty="0">
                          <a:solidFill>
                            <a:srgbClr val="8A857E"/>
                          </a:solidFill>
                          <a:latin typeface="Cambria" pitchFamily="34" charset="0"/>
                          <a:ea typeface="Cambria" pitchFamily="34" charset="-122"/>
                          <a:cs typeface="Cambria" pitchFamily="34" charset="-120"/>
                        </a:rPr>
                        <a:t>14</a:t>
                      </a:r>
                      <a:endParaRPr lang="en-US" sz="850" dirty="0">
                        <a:latin typeface="Cambria" charset="0"/>
                        <a:ea typeface="Cambria" charset="0"/>
                        <a:cs typeface="Cambria" charset="0"/>
                      </a:endParaRPr>
                    </a:p>
                  </a:txBody>
                  <a:tcPr marL="88900" marR="88900" marT="12700" marB="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1ED"/>
                    </a:solidFill>
                  </a:tcPr>
                </a:tc>
                <a:tc>
                  <a:txBody>
                    <a:bodyPr/>
                    <a:lstStyle/>
                    <a:p>
                      <a:pPr indent="0" marL="0">
                        <a:buNone/>
                      </a:pPr>
                      <a:r>
                        <a:rPr lang="en-US" sz="850" dirty="0">
                          <a:solidFill>
                            <a:srgbClr val="4A453F"/>
                          </a:solidFill>
                          <a:latin typeface="맑은 고딕" pitchFamily="34" charset="0"/>
                          <a:ea typeface="맑은 고딕" pitchFamily="34" charset="-122"/>
                          <a:cs typeface="맑은 고딕" pitchFamily="34" charset="-120"/>
                        </a:rPr>
                        <a:t>Ⅴ 성과·확장 (표제)</a:t>
                      </a:r>
                      <a:endParaRPr lang="en-US" sz="850" dirty="0">
                        <a:latin typeface="맑은 고딕" charset="0"/>
                        <a:ea typeface="맑은 고딕" charset="0"/>
                        <a:cs typeface="맑은 고딕" charset="0"/>
                      </a:endParaRPr>
                    </a:p>
                  </a:txBody>
                  <a:tcPr marL="88900" marR="88900" marT="12700" marB="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1ED"/>
                    </a:solidFill>
                  </a:tcPr>
                </a:tc>
                <a:tc>
                  <a:txBody>
                    <a:bodyPr/>
                    <a:lstStyle/>
                    <a:p>
                      <a:pPr indent="0" marL="0">
                        <a:buNone/>
                      </a:pPr>
                      <a:r>
                        <a:rPr lang="en-US" sz="900" b="1" dirty="0">
                          <a:solidFill>
                            <a:srgbClr val="1A1A1A"/>
                          </a:solidFill>
                          <a:latin typeface="맑은 고딕" pitchFamily="34" charset="0"/>
                          <a:ea typeface="맑은 고딕" pitchFamily="34" charset="-122"/>
                          <a:cs typeface="맑은 고딕" pitchFamily="34" charset="-120"/>
                        </a:rPr>
                        <a:t>가벽 기반 전시 운영 사례</a:t>
                      </a:r>
                      <a:endParaRPr lang="en-US" sz="900" dirty="0">
                        <a:latin typeface="맑은 고딕" charset="0"/>
                        <a:ea typeface="맑은 고딕" charset="0"/>
                        <a:cs typeface="맑은 고딕" charset="0"/>
                      </a:endParaRPr>
                    </a:p>
                  </a:txBody>
                  <a:tcPr marL="88900" marR="88900" marT="12700" marB="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1ED"/>
                    </a:solidFill>
                  </a:tcPr>
                </a:tc>
                <a:tc>
                  <a:txBody>
                    <a:bodyPr/>
                    <a:lstStyle/>
                    <a:p>
                      <a:pPr indent="0" marL="0">
                        <a:buNone/>
                      </a:pPr>
                      <a:r>
                        <a:rPr lang="en-US" sz="850" dirty="0">
                          <a:solidFill>
                            <a:srgbClr val="4A453F"/>
                          </a:solidFill>
                          <a:latin typeface="맑은 고딕" pitchFamily="34" charset="0"/>
                          <a:ea typeface="맑은 고딕" pitchFamily="34" charset="-122"/>
                          <a:cs typeface="맑은 고딕" pitchFamily="34" charset="-120"/>
                        </a:rPr>
                        <a:t>가벽 렌탈 안내</a:t>
                      </a:r>
                      <a:endParaRPr lang="en-US" sz="850" dirty="0">
                        <a:latin typeface="맑은 고딕" charset="0"/>
                        <a:ea typeface="맑은 고딕" charset="0"/>
                        <a:cs typeface="맑은 고딕" charset="0"/>
                      </a:endParaRPr>
                    </a:p>
                  </a:txBody>
                  <a:tcPr marL="88900" marR="88900" marT="12700" marB="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1ED"/>
                    </a:solidFill>
                  </a:tcPr>
                </a:tc>
              </a:tr>
              <a:tr h="246888">
                <a:tc>
                  <a:txBody>
                    <a:bodyPr/>
                    <a:lstStyle/>
                    <a:p>
                      <a:pPr algn="ctr" indent="0" marL="0">
                        <a:buNone/>
                      </a:pPr>
                      <a:r>
                        <a:rPr lang="en-US" sz="850" dirty="0">
                          <a:solidFill>
                            <a:srgbClr val="8A857E"/>
                          </a:solidFill>
                          <a:latin typeface="Cambria" pitchFamily="34" charset="0"/>
                          <a:ea typeface="Cambria" pitchFamily="34" charset="-122"/>
                          <a:cs typeface="Cambria" pitchFamily="34" charset="-120"/>
                        </a:rPr>
                        <a:t>15</a:t>
                      </a:r>
                      <a:endParaRPr lang="en-US" sz="850" dirty="0">
                        <a:latin typeface="Cambria" charset="0"/>
                        <a:ea typeface="Cambria" charset="0"/>
                        <a:cs typeface="Cambria" charset="0"/>
                      </a:endParaRPr>
                    </a:p>
                  </a:txBody>
                  <a:tcPr marL="88900" marR="88900" marT="12700" marB="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1ED"/>
                    </a:solidFill>
                  </a:tcPr>
                </a:tc>
                <a:tc>
                  <a:txBody>
                    <a:bodyPr/>
                    <a:lstStyle/>
                    <a:p>
                      <a:pPr indent="0" marL="0">
                        <a:buNone/>
                      </a:pPr>
                      <a:r>
                        <a:rPr lang="en-US" sz="850" dirty="0">
                          <a:solidFill>
                            <a:srgbClr val="4A453F"/>
                          </a:solidFill>
                          <a:latin typeface="맑은 고딕" pitchFamily="34" charset="0"/>
                          <a:ea typeface="맑은 고딕" pitchFamily="34" charset="-122"/>
                          <a:cs typeface="맑은 고딕" pitchFamily="34" charset="-120"/>
                        </a:rPr>
                        <a:t>22 확장 시나리오</a:t>
                      </a:r>
                      <a:endParaRPr lang="en-US" sz="850" dirty="0">
                        <a:latin typeface="맑은 고딕" charset="0"/>
                        <a:ea typeface="맑은 고딕" charset="0"/>
                        <a:cs typeface="맑은 고딕" charset="0"/>
                      </a:endParaRPr>
                    </a:p>
                  </a:txBody>
                  <a:tcPr marL="88900" marR="88900" marT="12700" marB="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1ED"/>
                    </a:solidFill>
                  </a:tcPr>
                </a:tc>
                <a:tc>
                  <a:txBody>
                    <a:bodyPr/>
                    <a:lstStyle/>
                    <a:p>
                      <a:pPr indent="0" marL="0">
                        <a:buNone/>
                      </a:pPr>
                      <a:r>
                        <a:rPr lang="en-US" sz="900" b="1" dirty="0">
                          <a:solidFill>
                            <a:srgbClr val="1A1A1A"/>
                          </a:solidFill>
                          <a:latin typeface="맑은 고딕" pitchFamily="34" charset="0"/>
                          <a:ea typeface="맑은 고딕" pitchFamily="34" charset="-122"/>
                          <a:cs typeface="맑은 고딕" pitchFamily="34" charset="-120"/>
                        </a:rPr>
                        <a:t>화이트큐브 전시 운영 사례</a:t>
                      </a:r>
                      <a:endParaRPr lang="en-US" sz="900" dirty="0">
                        <a:latin typeface="맑은 고딕" charset="0"/>
                        <a:ea typeface="맑은 고딕" charset="0"/>
                        <a:cs typeface="맑은 고딕" charset="0"/>
                      </a:endParaRPr>
                    </a:p>
                  </a:txBody>
                  <a:tcPr marL="88900" marR="88900" marT="12700" marB="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1ED"/>
                    </a:solidFill>
                  </a:tcPr>
                </a:tc>
                <a:tc>
                  <a:txBody>
                    <a:bodyPr/>
                    <a:lstStyle/>
                    <a:p>
                      <a:pPr indent="0" marL="0">
                        <a:buNone/>
                      </a:pPr>
                      <a:r>
                        <a:rPr lang="en-US" sz="850" dirty="0">
                          <a:solidFill>
                            <a:srgbClr val="4A453F"/>
                          </a:solidFill>
                          <a:latin typeface="맑은 고딕" pitchFamily="34" charset="0"/>
                          <a:ea typeface="맑은 고딕" pitchFamily="34" charset="-122"/>
                          <a:cs typeface="맑은 고딕" pitchFamily="34" charset="-120"/>
                        </a:rPr>
                        <a:t>회사소개서</a:t>
                      </a:r>
                      <a:endParaRPr lang="en-US" sz="850" dirty="0">
                        <a:latin typeface="맑은 고딕" charset="0"/>
                        <a:ea typeface="맑은 고딕" charset="0"/>
                        <a:cs typeface="맑은 고딕" charset="0"/>
                      </a:endParaRPr>
                    </a:p>
                  </a:txBody>
                  <a:tcPr marL="88900" marR="88900" marT="12700" marB="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1ED"/>
                    </a:solidFill>
                  </a:tcPr>
                </a:tc>
              </a:tr>
              <a:tr h="246888">
                <a:tc>
                  <a:txBody>
                    <a:bodyPr/>
                    <a:lstStyle/>
                    <a:p>
                      <a:pPr algn="ctr" indent="0" marL="0">
                        <a:buNone/>
                      </a:pPr>
                      <a:r>
                        <a:rPr lang="en-US" sz="850" dirty="0">
                          <a:solidFill>
                            <a:srgbClr val="8A857E"/>
                          </a:solidFill>
                          <a:latin typeface="Cambria" pitchFamily="34" charset="0"/>
                          <a:ea typeface="Cambria" pitchFamily="34" charset="-122"/>
                          <a:cs typeface="Cambria" pitchFamily="34" charset="-120"/>
                        </a:rPr>
                        <a:t>16</a:t>
                      </a:r>
                      <a:endParaRPr lang="en-US" sz="850" dirty="0">
                        <a:latin typeface="Cambria" charset="0"/>
                        <a:ea typeface="Cambria" charset="0"/>
                        <a:cs typeface="Cambria" charset="0"/>
                      </a:endParaRPr>
                    </a:p>
                  </a:txBody>
                  <a:tcPr marL="88900" marR="88900" marT="12700" marB="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1ED"/>
                    </a:solidFill>
                  </a:tcPr>
                </a:tc>
                <a:tc>
                  <a:txBody>
                    <a:bodyPr/>
                    <a:lstStyle/>
                    <a:p>
                      <a:pPr indent="0" marL="0">
                        <a:buNone/>
                      </a:pPr>
                      <a:r>
                        <a:rPr lang="en-US" sz="850" dirty="0">
                          <a:solidFill>
                            <a:srgbClr val="4A453F"/>
                          </a:solidFill>
                          <a:latin typeface="맑은 고딕" pitchFamily="34" charset="0"/>
                          <a:ea typeface="맑은 고딕" pitchFamily="34" charset="-122"/>
                          <a:cs typeface="맑은 고딕" pitchFamily="34" charset="-120"/>
                        </a:rPr>
                        <a:t>뒤표지</a:t>
                      </a:r>
                      <a:endParaRPr lang="en-US" sz="850" dirty="0">
                        <a:latin typeface="맑은 고딕" charset="0"/>
                        <a:ea typeface="맑은 고딕" charset="0"/>
                        <a:cs typeface="맑은 고딕" charset="0"/>
                      </a:endParaRPr>
                    </a:p>
                  </a:txBody>
                  <a:tcPr marL="88900" marR="88900" marT="12700" marB="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1ED"/>
                    </a:solidFill>
                  </a:tcPr>
                </a:tc>
                <a:tc>
                  <a:txBody>
                    <a:bodyPr/>
                    <a:lstStyle/>
                    <a:p>
                      <a:pPr indent="0" marL="0">
                        <a:buNone/>
                      </a:pPr>
                      <a:r>
                        <a:rPr lang="en-US" sz="900" b="1" dirty="0">
                          <a:solidFill>
                            <a:srgbClr val="1A1A1A"/>
                          </a:solidFill>
                          <a:latin typeface="맑은 고딕" pitchFamily="34" charset="0"/>
                          <a:ea typeface="맑은 고딕" pitchFamily="34" charset="-122"/>
                          <a:cs typeface="맑은 고딕" pitchFamily="34" charset="-120"/>
                        </a:rPr>
                        <a:t>⑤실 마루의 설치 작업</a:t>
                      </a:r>
                      <a:endParaRPr lang="en-US" sz="900" dirty="0">
                        <a:latin typeface="맑은 고딕" charset="0"/>
                        <a:ea typeface="맑은 고딕" charset="0"/>
                        <a:cs typeface="맑은 고딕" charset="0"/>
                      </a:endParaRPr>
                    </a:p>
                  </a:txBody>
                  <a:tcPr marL="88900" marR="88900" marT="12700" marB="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1ED"/>
                    </a:solidFill>
                  </a:tcPr>
                </a:tc>
                <a:tc>
                  <a:txBody>
                    <a:bodyPr/>
                    <a:lstStyle/>
                    <a:p>
                      <a:pPr indent="0" marL="0">
                        <a:buNone/>
                      </a:pPr>
                      <a:r>
                        <a:rPr lang="en-US" sz="850" dirty="0">
                          <a:solidFill>
                            <a:srgbClr val="4A453F"/>
                          </a:solidFill>
                          <a:latin typeface="맑은 고딕" pitchFamily="34" charset="0"/>
                          <a:ea typeface="맑은 고딕" pitchFamily="34" charset="-122"/>
                          <a:cs typeface="맑은 고딕" pitchFamily="34" charset="-120"/>
                        </a:rPr>
                        <a:t>회사소개서</a:t>
                      </a:r>
                      <a:endParaRPr lang="en-US" sz="850" dirty="0">
                        <a:latin typeface="맑은 고딕" charset="0"/>
                        <a:ea typeface="맑은 고딕" charset="0"/>
                        <a:cs typeface="맑은 고딕" charset="0"/>
                      </a:endParaRPr>
                    </a:p>
                  </a:txBody>
                  <a:tcPr marL="88900" marR="88900" marT="12700" marB="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1ED"/>
                    </a:solidFill>
                  </a:tcPr>
                </a:tc>
              </a:tr>
              <a:tr h="246888">
                <a:tc>
                  <a:txBody>
                    <a:bodyPr/>
                    <a:lstStyle/>
                    <a:p>
                      <a:pPr algn="ctr" indent="0" marL="0">
                        <a:buNone/>
                      </a:pPr>
                      <a:r>
                        <a:rPr lang="en-US" sz="850" dirty="0">
                          <a:solidFill>
                            <a:srgbClr val="8A857E"/>
                          </a:solidFill>
                          <a:latin typeface="Cambria" pitchFamily="34" charset="0"/>
                          <a:ea typeface="Cambria" pitchFamily="34" charset="-122"/>
                          <a:cs typeface="Cambria" pitchFamily="34" charset="-120"/>
                        </a:rPr>
                        <a:t>17–20</a:t>
                      </a:r>
                      <a:endParaRPr lang="en-US" sz="850" dirty="0">
                        <a:latin typeface="Cambria" charset="0"/>
                        <a:ea typeface="Cambria" charset="0"/>
                        <a:cs typeface="Cambria" charset="0"/>
                      </a:endParaRPr>
                    </a:p>
                  </a:txBody>
                  <a:tcPr marL="88900" marR="88900" marT="12700" marB="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1ED"/>
                    </a:solidFill>
                  </a:tcPr>
                </a:tc>
                <a:tc>
                  <a:txBody>
                    <a:bodyPr/>
                    <a:lstStyle/>
                    <a:p>
                      <a:pPr indent="0" marL="0">
                        <a:buNone/>
                      </a:pPr>
                      <a:r>
                        <a:rPr lang="en-US" sz="850" dirty="0">
                          <a:solidFill>
                            <a:srgbClr val="4A453F"/>
                          </a:solidFill>
                          <a:latin typeface="맑은 고딕" pitchFamily="34" charset="0"/>
                          <a:ea typeface="맑은 고딕" pitchFamily="34" charset="-122"/>
                          <a:cs typeface="맑은 고딕" pitchFamily="34" charset="-120"/>
                        </a:rPr>
                        <a:t>11 아카이브 / 22 확장</a:t>
                      </a:r>
                      <a:endParaRPr lang="en-US" sz="850" dirty="0">
                        <a:latin typeface="맑은 고딕" charset="0"/>
                        <a:ea typeface="맑은 고딕" charset="0"/>
                        <a:cs typeface="맑은 고딕" charset="0"/>
                      </a:endParaRPr>
                    </a:p>
                  </a:txBody>
                  <a:tcPr marL="88900" marR="88900" marT="12700" marB="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1ED"/>
                    </a:solidFill>
                  </a:tcPr>
                </a:tc>
                <a:tc>
                  <a:txBody>
                    <a:bodyPr/>
                    <a:lstStyle/>
                    <a:p>
                      <a:pPr indent="0" marL="0">
                        <a:buNone/>
                      </a:pPr>
                      <a:r>
                        <a:rPr lang="en-US" sz="900" b="1" dirty="0">
                          <a:solidFill>
                            <a:srgbClr val="1A1A1A"/>
                          </a:solidFill>
                          <a:latin typeface="맑은 고딕" pitchFamily="34" charset="0"/>
                          <a:ea typeface="맑은 고딕" pitchFamily="34" charset="-122"/>
                          <a:cs typeface="맑은 고딕" pitchFamily="34" charset="-120"/>
                        </a:rPr>
                        <a:t>열람·순회·기업 패키지 참고 이미지 4컷</a:t>
                      </a:r>
                      <a:endParaRPr lang="en-US" sz="900" dirty="0">
                        <a:latin typeface="맑은 고딕" charset="0"/>
                        <a:ea typeface="맑은 고딕" charset="0"/>
                        <a:cs typeface="맑은 고딕" charset="0"/>
                      </a:endParaRPr>
                    </a:p>
                  </a:txBody>
                  <a:tcPr marL="88900" marR="88900" marT="12700" marB="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1ED"/>
                    </a:solidFill>
                  </a:tcPr>
                </a:tc>
                <a:tc>
                  <a:txBody>
                    <a:bodyPr/>
                    <a:lstStyle/>
                    <a:p>
                      <a:pPr indent="0" marL="0">
                        <a:buNone/>
                      </a:pPr>
                      <a:r>
                        <a:rPr lang="en-US" sz="850" dirty="0">
                          <a:solidFill>
                            <a:srgbClr val="4A453F"/>
                          </a:solidFill>
                          <a:latin typeface="맑은 고딕" pitchFamily="34" charset="0"/>
                          <a:ea typeface="맑은 고딕" pitchFamily="34" charset="-122"/>
                          <a:cs typeface="맑은 고딕" pitchFamily="34" charset="-120"/>
                        </a:rPr>
                        <a:t>회사소개서</a:t>
                      </a:r>
                      <a:endParaRPr lang="en-US" sz="850" dirty="0">
                        <a:latin typeface="맑은 고딕" charset="0"/>
                        <a:ea typeface="맑은 고딕" charset="0"/>
                        <a:cs typeface="맑은 고딕" charset="0"/>
                      </a:endParaRPr>
                    </a:p>
                  </a:txBody>
                  <a:tcPr marL="88900" marR="88900" marT="12700" marB="127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1ED"/>
                    </a:solidFill>
                  </a:tcPr>
                </a:tc>
              </a:tr>
            </a:tbl>
          </a:graphicData>
        </a:graphic>
      </p:graphicFrame>
      <p:sp>
        <p:nvSpPr>
          <p:cNvPr id="6" name="Text 3"/>
          <p:cNvSpPr/>
          <p:nvPr/>
        </p:nvSpPr>
        <p:spPr>
          <a:xfrm>
            <a:off x="548640" y="5961888"/>
            <a:ext cx="7223760" cy="274320"/>
          </a:xfrm>
          <a:prstGeom prst="rect">
            <a:avLst/>
          </a:prstGeom>
          <a:noFill/>
          <a:ln/>
        </p:spPr>
        <p:txBody>
          <a:bodyPr wrap="square" lIns="0" tIns="0" rIns="0" bIns="0" rtlCol="0" anchor="ctr"/>
          <a:lstStyle/>
          <a:p>
            <a:pPr indent="0" marL="0">
              <a:buNone/>
            </a:pPr>
            <a:r>
              <a:rPr lang="en-US" sz="850" dirty="0">
                <a:solidFill>
                  <a:srgbClr val="8A857E"/>
                </a:solidFill>
                <a:latin typeface="맑은 고딕" pitchFamily="34" charset="0"/>
                <a:ea typeface="맑은 고딕" pitchFamily="34" charset="-122"/>
                <a:cs typeface="맑은 고딕" pitchFamily="34" charset="-120"/>
              </a:rPr>
              <a:t>※ 모든 이미지의 저작권은 아이테르에 있으며, 본 제안 목적으로만 사용했습니다. 대외 공개용 최종본에서는 신규 촬영분으로 교체합니다.</a:t>
            </a:r>
            <a:endParaRPr lang="en-US" sz="850" dirty="0"/>
          </a:p>
        </p:txBody>
      </p:sp>
      <p:sp>
        <p:nvSpPr>
          <p:cNvPr id="7" name="Shape 4"/>
          <p:cNvSpPr/>
          <p:nvPr/>
        </p:nvSpPr>
        <p:spPr>
          <a:xfrm>
            <a:off x="8046720" y="1737360"/>
            <a:ext cx="3566160" cy="2514600"/>
          </a:xfrm>
          <a:prstGeom prst="rect">
            <a:avLst/>
          </a:prstGeom>
          <a:solidFill>
            <a:srgbClr val="F3F1ED"/>
          </a:solidFill>
          <a:ln/>
        </p:spPr>
      </p:sp>
      <p:sp>
        <p:nvSpPr>
          <p:cNvPr id="8" name="Text 5"/>
          <p:cNvSpPr/>
          <p:nvPr/>
        </p:nvSpPr>
        <p:spPr>
          <a:xfrm>
            <a:off x="8275320" y="1901952"/>
            <a:ext cx="3108960" cy="274320"/>
          </a:xfrm>
          <a:prstGeom prst="rect">
            <a:avLst/>
          </a:prstGeom>
          <a:noFill/>
          <a:ln/>
        </p:spPr>
        <p:txBody>
          <a:bodyPr wrap="square" lIns="0" tIns="0" rIns="0" bIns="0" rtlCol="0" anchor="ctr"/>
          <a:lstStyle/>
          <a:p>
            <a:pPr indent="0" marL="0">
              <a:buNone/>
            </a:pPr>
            <a:r>
              <a:rPr lang="en-US" sz="1200" b="1" dirty="0">
                <a:solidFill>
                  <a:srgbClr val="1A1A1A"/>
                </a:solidFill>
                <a:latin typeface="맑은 고딕" pitchFamily="34" charset="0"/>
                <a:ea typeface="맑은 고딕" pitchFamily="34" charset="-122"/>
                <a:cs typeface="맑은 고딕" pitchFamily="34" charset="-120"/>
              </a:rPr>
              <a:t>계약 후 추가 촬영 리스트</a:t>
            </a:r>
            <a:endParaRPr lang="en-US" sz="1200" dirty="0"/>
          </a:p>
        </p:txBody>
      </p:sp>
      <p:sp>
        <p:nvSpPr>
          <p:cNvPr id="9" name="Text 6"/>
          <p:cNvSpPr/>
          <p:nvPr/>
        </p:nvSpPr>
        <p:spPr>
          <a:xfrm>
            <a:off x="8275320" y="2267712"/>
            <a:ext cx="320040" cy="256032"/>
          </a:xfrm>
          <a:prstGeom prst="rect">
            <a:avLst/>
          </a:prstGeom>
          <a:noFill/>
          <a:ln/>
        </p:spPr>
        <p:txBody>
          <a:bodyPr wrap="square" lIns="0" tIns="0" rIns="0" bIns="0" rtlCol="0" anchor="ctr"/>
          <a:lstStyle/>
          <a:p>
            <a:pPr indent="0" marL="0">
              <a:buNone/>
            </a:pPr>
            <a:r>
              <a:rPr lang="en-US" sz="900" b="1" dirty="0">
                <a:solidFill>
                  <a:srgbClr val="9C6B3C"/>
                </a:solidFill>
                <a:latin typeface="Cambria" pitchFamily="34" charset="0"/>
                <a:ea typeface="Cambria" pitchFamily="34" charset="-122"/>
                <a:cs typeface="Cambria" pitchFamily="34" charset="-120"/>
              </a:rPr>
              <a:t>01</a:t>
            </a:r>
            <a:endParaRPr lang="en-US" sz="900" dirty="0"/>
          </a:p>
        </p:txBody>
      </p:sp>
      <p:sp>
        <p:nvSpPr>
          <p:cNvPr id="10" name="Text 7"/>
          <p:cNvSpPr/>
          <p:nvPr/>
        </p:nvSpPr>
        <p:spPr>
          <a:xfrm>
            <a:off x="8613648" y="2267712"/>
            <a:ext cx="2834640" cy="274320"/>
          </a:xfrm>
          <a:prstGeom prst="rect">
            <a:avLst/>
          </a:prstGeom>
          <a:noFill/>
          <a:ln/>
        </p:spPr>
        <p:txBody>
          <a:bodyPr wrap="square" lIns="0" tIns="0" rIns="0" bIns="0" rtlCol="0" anchor="ctr"/>
          <a:lstStyle/>
          <a:p>
            <a:pPr indent="0" marL="0">
              <a:buNone/>
            </a:pPr>
            <a:r>
              <a:rPr lang="en-US" sz="950" dirty="0">
                <a:solidFill>
                  <a:srgbClr val="3E3A35"/>
                </a:solidFill>
                <a:latin typeface="맑은 고딕" pitchFamily="34" charset="0"/>
                <a:ea typeface="맑은 고딕" pitchFamily="34" charset="-122"/>
                <a:cs typeface="맑은 고딕" pitchFamily="34" charset="-120"/>
              </a:rPr>
              <a:t>조방 터 · 조방로 일대 현재 전경</a:t>
            </a:r>
            <a:endParaRPr lang="en-US" sz="950" dirty="0"/>
          </a:p>
        </p:txBody>
      </p:sp>
      <p:sp>
        <p:nvSpPr>
          <p:cNvPr id="11" name="Text 8"/>
          <p:cNvSpPr/>
          <p:nvPr/>
        </p:nvSpPr>
        <p:spPr>
          <a:xfrm>
            <a:off x="8275320" y="2578608"/>
            <a:ext cx="320040" cy="256032"/>
          </a:xfrm>
          <a:prstGeom prst="rect">
            <a:avLst/>
          </a:prstGeom>
          <a:noFill/>
          <a:ln/>
        </p:spPr>
        <p:txBody>
          <a:bodyPr wrap="square" lIns="0" tIns="0" rIns="0" bIns="0" rtlCol="0" anchor="ctr"/>
          <a:lstStyle/>
          <a:p>
            <a:pPr indent="0" marL="0">
              <a:buNone/>
            </a:pPr>
            <a:r>
              <a:rPr lang="en-US" sz="900" b="1" dirty="0">
                <a:solidFill>
                  <a:srgbClr val="9C6B3C"/>
                </a:solidFill>
                <a:latin typeface="Cambria" pitchFamily="34" charset="0"/>
                <a:ea typeface="Cambria" pitchFamily="34" charset="-122"/>
                <a:cs typeface="Cambria" pitchFamily="34" charset="-120"/>
              </a:rPr>
              <a:t>02</a:t>
            </a:r>
            <a:endParaRPr lang="en-US" sz="900" dirty="0"/>
          </a:p>
        </p:txBody>
      </p:sp>
      <p:sp>
        <p:nvSpPr>
          <p:cNvPr id="12" name="Text 9"/>
          <p:cNvSpPr/>
          <p:nvPr/>
        </p:nvSpPr>
        <p:spPr>
          <a:xfrm>
            <a:off x="8613648" y="2578608"/>
            <a:ext cx="2834640" cy="274320"/>
          </a:xfrm>
          <a:prstGeom prst="rect">
            <a:avLst/>
          </a:prstGeom>
          <a:noFill/>
          <a:ln/>
        </p:spPr>
        <p:txBody>
          <a:bodyPr wrap="square" lIns="0" tIns="0" rIns="0" bIns="0" rtlCol="0" anchor="ctr"/>
          <a:lstStyle/>
          <a:p>
            <a:pPr indent="0" marL="0">
              <a:buNone/>
            </a:pPr>
            <a:r>
              <a:rPr lang="en-US" sz="950" dirty="0">
                <a:solidFill>
                  <a:srgbClr val="3E3A35"/>
                </a:solidFill>
                <a:latin typeface="맑은 고딕" pitchFamily="34" charset="0"/>
                <a:ea typeface="맑은 고딕" pitchFamily="34" charset="-122"/>
                <a:cs typeface="맑은 고딕" pitchFamily="34" charset="-120"/>
              </a:rPr>
              <a:t>복개된 범내 구간 · 범내골 교차로</a:t>
            </a:r>
            <a:endParaRPr lang="en-US" sz="950" dirty="0"/>
          </a:p>
        </p:txBody>
      </p:sp>
      <p:sp>
        <p:nvSpPr>
          <p:cNvPr id="13" name="Text 10"/>
          <p:cNvSpPr/>
          <p:nvPr/>
        </p:nvSpPr>
        <p:spPr>
          <a:xfrm>
            <a:off x="8275320" y="2889504"/>
            <a:ext cx="320040" cy="256032"/>
          </a:xfrm>
          <a:prstGeom prst="rect">
            <a:avLst/>
          </a:prstGeom>
          <a:noFill/>
          <a:ln/>
        </p:spPr>
        <p:txBody>
          <a:bodyPr wrap="square" lIns="0" tIns="0" rIns="0" bIns="0" rtlCol="0" anchor="ctr"/>
          <a:lstStyle/>
          <a:p>
            <a:pPr indent="0" marL="0">
              <a:buNone/>
            </a:pPr>
            <a:r>
              <a:rPr lang="en-US" sz="900" b="1" dirty="0">
                <a:solidFill>
                  <a:srgbClr val="9C6B3C"/>
                </a:solidFill>
                <a:latin typeface="Cambria" pitchFamily="34" charset="0"/>
                <a:ea typeface="Cambria" pitchFamily="34" charset="-122"/>
                <a:cs typeface="Cambria" pitchFamily="34" charset="-120"/>
              </a:rPr>
              <a:t>03</a:t>
            </a:r>
            <a:endParaRPr lang="en-US" sz="900" dirty="0"/>
          </a:p>
        </p:txBody>
      </p:sp>
      <p:sp>
        <p:nvSpPr>
          <p:cNvPr id="14" name="Text 11"/>
          <p:cNvSpPr/>
          <p:nvPr/>
        </p:nvSpPr>
        <p:spPr>
          <a:xfrm>
            <a:off x="8613648" y="2889504"/>
            <a:ext cx="2834640" cy="274320"/>
          </a:xfrm>
          <a:prstGeom prst="rect">
            <a:avLst/>
          </a:prstGeom>
          <a:noFill/>
          <a:ln/>
        </p:spPr>
        <p:txBody>
          <a:bodyPr wrap="square" lIns="0" tIns="0" rIns="0" bIns="0" rtlCol="0" anchor="ctr"/>
          <a:lstStyle/>
          <a:p>
            <a:pPr indent="0" marL="0">
              <a:buNone/>
            </a:pPr>
            <a:r>
              <a:rPr lang="en-US" sz="950" dirty="0">
                <a:solidFill>
                  <a:srgbClr val="3E3A35"/>
                </a:solidFill>
                <a:latin typeface="맑은 고딕" pitchFamily="34" charset="0"/>
                <a:ea typeface="맑은 고딕" pitchFamily="34" charset="-122"/>
                <a:cs typeface="맑은 고딕" pitchFamily="34" charset="-120"/>
              </a:rPr>
              <a:t>부산진시장 원단·혼수 매장 내부</a:t>
            </a:r>
            <a:endParaRPr lang="en-US" sz="950" dirty="0"/>
          </a:p>
        </p:txBody>
      </p:sp>
      <p:sp>
        <p:nvSpPr>
          <p:cNvPr id="15" name="Text 12"/>
          <p:cNvSpPr/>
          <p:nvPr/>
        </p:nvSpPr>
        <p:spPr>
          <a:xfrm>
            <a:off x="8275320" y="3200400"/>
            <a:ext cx="320040" cy="256032"/>
          </a:xfrm>
          <a:prstGeom prst="rect">
            <a:avLst/>
          </a:prstGeom>
          <a:noFill/>
          <a:ln/>
        </p:spPr>
        <p:txBody>
          <a:bodyPr wrap="square" lIns="0" tIns="0" rIns="0" bIns="0" rtlCol="0" anchor="ctr"/>
          <a:lstStyle/>
          <a:p>
            <a:pPr indent="0" marL="0">
              <a:buNone/>
            </a:pPr>
            <a:r>
              <a:rPr lang="en-US" sz="900" b="1" dirty="0">
                <a:solidFill>
                  <a:srgbClr val="9C6B3C"/>
                </a:solidFill>
                <a:latin typeface="Cambria" pitchFamily="34" charset="0"/>
                <a:ea typeface="Cambria" pitchFamily="34" charset="-122"/>
                <a:cs typeface="Cambria" pitchFamily="34" charset="-120"/>
              </a:rPr>
              <a:t>04</a:t>
            </a:r>
            <a:endParaRPr lang="en-US" sz="900" dirty="0"/>
          </a:p>
        </p:txBody>
      </p:sp>
      <p:sp>
        <p:nvSpPr>
          <p:cNvPr id="16" name="Text 13"/>
          <p:cNvSpPr/>
          <p:nvPr/>
        </p:nvSpPr>
        <p:spPr>
          <a:xfrm>
            <a:off x="8613648" y="3200400"/>
            <a:ext cx="2834640" cy="274320"/>
          </a:xfrm>
          <a:prstGeom prst="rect">
            <a:avLst/>
          </a:prstGeom>
          <a:noFill/>
          <a:ln/>
        </p:spPr>
        <p:txBody>
          <a:bodyPr wrap="square" lIns="0" tIns="0" rIns="0" bIns="0" rtlCol="0" anchor="ctr"/>
          <a:lstStyle/>
          <a:p>
            <a:pPr indent="0" marL="0">
              <a:buNone/>
            </a:pPr>
            <a:r>
              <a:rPr lang="en-US" sz="950" dirty="0">
                <a:solidFill>
                  <a:srgbClr val="3E3A35"/>
                </a:solidFill>
                <a:latin typeface="맑은 고딕" pitchFamily="34" charset="0"/>
                <a:ea typeface="맑은 고딕" pitchFamily="34" charset="-122"/>
                <a:cs typeface="맑은 고딕" pitchFamily="34" charset="-120"/>
              </a:rPr>
              <a:t>매축지마을 골목과 벽면</a:t>
            </a:r>
            <a:endParaRPr lang="en-US" sz="950" dirty="0"/>
          </a:p>
        </p:txBody>
      </p:sp>
      <p:sp>
        <p:nvSpPr>
          <p:cNvPr id="17" name="Text 14"/>
          <p:cNvSpPr/>
          <p:nvPr/>
        </p:nvSpPr>
        <p:spPr>
          <a:xfrm>
            <a:off x="8275320" y="3511296"/>
            <a:ext cx="320040" cy="256032"/>
          </a:xfrm>
          <a:prstGeom prst="rect">
            <a:avLst/>
          </a:prstGeom>
          <a:noFill/>
          <a:ln/>
        </p:spPr>
        <p:txBody>
          <a:bodyPr wrap="square" lIns="0" tIns="0" rIns="0" bIns="0" rtlCol="0" anchor="ctr"/>
          <a:lstStyle/>
          <a:p>
            <a:pPr indent="0" marL="0">
              <a:buNone/>
            </a:pPr>
            <a:r>
              <a:rPr lang="en-US" sz="900" b="1" dirty="0">
                <a:solidFill>
                  <a:srgbClr val="9C6B3C"/>
                </a:solidFill>
                <a:latin typeface="Cambria" pitchFamily="34" charset="0"/>
                <a:ea typeface="Cambria" pitchFamily="34" charset="-122"/>
                <a:cs typeface="Cambria" pitchFamily="34" charset="-120"/>
              </a:rPr>
              <a:t>05</a:t>
            </a:r>
            <a:endParaRPr lang="en-US" sz="900" dirty="0"/>
          </a:p>
        </p:txBody>
      </p:sp>
      <p:sp>
        <p:nvSpPr>
          <p:cNvPr id="18" name="Text 15"/>
          <p:cNvSpPr/>
          <p:nvPr/>
        </p:nvSpPr>
        <p:spPr>
          <a:xfrm>
            <a:off x="8613648" y="3511296"/>
            <a:ext cx="2834640" cy="274320"/>
          </a:xfrm>
          <a:prstGeom prst="rect">
            <a:avLst/>
          </a:prstGeom>
          <a:noFill/>
          <a:ln/>
        </p:spPr>
        <p:txBody>
          <a:bodyPr wrap="square" lIns="0" tIns="0" rIns="0" bIns="0" rtlCol="0" anchor="ctr"/>
          <a:lstStyle/>
          <a:p>
            <a:pPr indent="0" marL="0">
              <a:buNone/>
            </a:pPr>
            <a:r>
              <a:rPr lang="en-US" sz="950" dirty="0">
                <a:solidFill>
                  <a:srgbClr val="3E3A35"/>
                </a:solidFill>
                <a:latin typeface="맑은 고딕" pitchFamily="34" charset="0"/>
                <a:ea typeface="맑은 고딕" pitchFamily="34" charset="-122"/>
                <a:cs typeface="맑은 고딕" pitchFamily="34" charset="-120"/>
              </a:rPr>
              <a:t>범일가옥 외관 · 진입 골목 야경</a:t>
            </a:r>
            <a:endParaRPr lang="en-US" sz="950" dirty="0"/>
          </a:p>
        </p:txBody>
      </p:sp>
      <p:sp>
        <p:nvSpPr>
          <p:cNvPr id="19" name="Text 16"/>
          <p:cNvSpPr/>
          <p:nvPr/>
        </p:nvSpPr>
        <p:spPr>
          <a:xfrm>
            <a:off x="8275320" y="3822192"/>
            <a:ext cx="320040" cy="256032"/>
          </a:xfrm>
          <a:prstGeom prst="rect">
            <a:avLst/>
          </a:prstGeom>
          <a:noFill/>
          <a:ln/>
        </p:spPr>
        <p:txBody>
          <a:bodyPr wrap="square" lIns="0" tIns="0" rIns="0" bIns="0" rtlCol="0" anchor="ctr"/>
          <a:lstStyle/>
          <a:p>
            <a:pPr indent="0" marL="0">
              <a:buNone/>
            </a:pPr>
            <a:r>
              <a:rPr lang="en-US" sz="900" b="1" dirty="0">
                <a:solidFill>
                  <a:srgbClr val="9C6B3C"/>
                </a:solidFill>
                <a:latin typeface="Cambria" pitchFamily="34" charset="0"/>
                <a:ea typeface="Cambria" pitchFamily="34" charset="-122"/>
                <a:cs typeface="Cambria" pitchFamily="34" charset="-120"/>
              </a:rPr>
              <a:t>06</a:t>
            </a:r>
            <a:endParaRPr lang="en-US" sz="900" dirty="0"/>
          </a:p>
        </p:txBody>
      </p:sp>
      <p:sp>
        <p:nvSpPr>
          <p:cNvPr id="20" name="Text 17"/>
          <p:cNvSpPr/>
          <p:nvPr/>
        </p:nvSpPr>
        <p:spPr>
          <a:xfrm>
            <a:off x="8613648" y="3822192"/>
            <a:ext cx="2834640" cy="274320"/>
          </a:xfrm>
          <a:prstGeom prst="rect">
            <a:avLst/>
          </a:prstGeom>
          <a:noFill/>
          <a:ln/>
        </p:spPr>
        <p:txBody>
          <a:bodyPr wrap="square" lIns="0" tIns="0" rIns="0" bIns="0" rtlCol="0" anchor="ctr"/>
          <a:lstStyle/>
          <a:p>
            <a:pPr indent="0" marL="0">
              <a:buNone/>
            </a:pPr>
            <a:r>
              <a:rPr lang="en-US" sz="950" dirty="0">
                <a:solidFill>
                  <a:srgbClr val="3E3A35"/>
                </a:solidFill>
                <a:latin typeface="맑은 고딕" pitchFamily="34" charset="0"/>
                <a:ea typeface="맑은 고딕" pitchFamily="34" charset="-122"/>
                <a:cs typeface="맑은 고딕" pitchFamily="34" charset="-120"/>
              </a:rPr>
              <a:t>8개 전시실 현황 정밀 실측 촬영</a:t>
            </a:r>
            <a:endParaRPr lang="en-US" sz="950" dirty="0"/>
          </a:p>
        </p:txBody>
      </p:sp>
      <p:sp>
        <p:nvSpPr>
          <p:cNvPr id="21" name="Shape 18"/>
          <p:cNvSpPr/>
          <p:nvPr/>
        </p:nvSpPr>
        <p:spPr>
          <a:xfrm>
            <a:off x="8046720" y="4434840"/>
            <a:ext cx="3566160" cy="1801368"/>
          </a:xfrm>
          <a:prstGeom prst="rect">
            <a:avLst/>
          </a:prstGeom>
          <a:solidFill>
            <a:srgbClr val="1A1A1A"/>
          </a:solidFill>
          <a:ln/>
        </p:spPr>
      </p:sp>
      <p:sp>
        <p:nvSpPr>
          <p:cNvPr id="22" name="Text 19"/>
          <p:cNvSpPr/>
          <p:nvPr/>
        </p:nvSpPr>
        <p:spPr>
          <a:xfrm>
            <a:off x="8275320" y="4590288"/>
            <a:ext cx="3108960" cy="274320"/>
          </a:xfrm>
          <a:prstGeom prst="rect">
            <a:avLst/>
          </a:prstGeom>
          <a:noFill/>
          <a:ln/>
        </p:spPr>
        <p:txBody>
          <a:bodyPr wrap="square" lIns="0" tIns="0" rIns="0" bIns="0" rtlCol="0" anchor="ctr"/>
          <a:lstStyle/>
          <a:p>
            <a:pPr indent="0" marL="0">
              <a:buNone/>
            </a:pPr>
            <a:r>
              <a:rPr lang="en-US" sz="1200" b="1" dirty="0">
                <a:solidFill>
                  <a:srgbClr val="FFFFFF"/>
                </a:solidFill>
                <a:latin typeface="맑은 고딕" pitchFamily="34" charset="0"/>
                <a:ea typeface="맑은 고딕" pitchFamily="34" charset="-122"/>
                <a:cs typeface="맑은 고딕" pitchFamily="34" charset="-120"/>
              </a:rPr>
              <a:t>제출 요건 대조</a:t>
            </a:r>
            <a:endParaRPr lang="en-US" sz="1200" dirty="0"/>
          </a:p>
        </p:txBody>
      </p:sp>
      <p:sp>
        <p:nvSpPr>
          <p:cNvPr id="23" name="Text 20"/>
          <p:cNvSpPr/>
          <p:nvPr/>
        </p:nvSpPr>
        <p:spPr>
          <a:xfrm>
            <a:off x="8275320" y="4919472"/>
            <a:ext cx="3108960" cy="1234440"/>
          </a:xfrm>
          <a:prstGeom prst="rect">
            <a:avLst/>
          </a:prstGeom>
          <a:noFill/>
          <a:ln/>
        </p:spPr>
        <p:txBody>
          <a:bodyPr wrap="square" lIns="0" tIns="0" rIns="0" bIns="0" rtlCol="0" anchor="t"/>
          <a:lstStyle/>
          <a:p>
            <a:pPr indent="0" marL="0">
              <a:lnSpc>
                <a:spcPts val="1500"/>
              </a:lnSpc>
              <a:buNone/>
            </a:pPr>
            <a:r>
              <a:rPr lang="en-US" sz="900" dirty="0">
                <a:solidFill>
                  <a:srgbClr val="CFC8BE"/>
                </a:solidFill>
                <a:latin typeface="맑은 고딕" pitchFamily="34" charset="0"/>
                <a:ea typeface="맑은 고딕" pitchFamily="34" charset="-122"/>
                <a:cs typeface="맑은 고딕" pitchFamily="34" charset="-120"/>
              </a:rPr>
              <a:t>✓ 제목  [아이테르 문화예술기획제안서] 덮인 물, 남은 올</a:t>
            </a:r>
            <a:endParaRPr lang="en-US" sz="900" dirty="0"/>
          </a:p>
          <a:p>
            <a:pPr indent="0" marL="0">
              <a:lnSpc>
                <a:spcPts val="1500"/>
              </a:lnSpc>
              <a:buNone/>
            </a:pPr>
            <a:r>
              <a:rPr lang="en-US" sz="900" dirty="0">
                <a:solidFill>
                  <a:srgbClr val="CFC8BE"/>
                </a:solidFill>
                <a:latin typeface="맑은 고딕" pitchFamily="34" charset="0"/>
                <a:ea typeface="맑은 고딕" pitchFamily="34" charset="-122"/>
                <a:cs typeface="맑은 고딕" pitchFamily="34" charset="-120"/>
              </a:rPr>
              <a:t>✓ 사진 10장 이상  →  20컷 수록</a:t>
            </a:r>
            <a:endParaRPr lang="en-US" sz="900" dirty="0"/>
          </a:p>
          <a:p>
            <a:pPr indent="0" marL="0">
              <a:lnSpc>
                <a:spcPts val="1500"/>
              </a:lnSpc>
              <a:buNone/>
            </a:pPr>
            <a:r>
              <a:rPr lang="en-US" sz="900" dirty="0">
                <a:solidFill>
                  <a:srgbClr val="CFC8BE"/>
                </a:solidFill>
                <a:latin typeface="맑은 고딕" pitchFamily="34" charset="0"/>
                <a:ea typeface="맑은 고딕" pitchFamily="34" charset="-122"/>
                <a:cs typeface="맑은 고딕" pitchFamily="34" charset="-120"/>
              </a:rPr>
              <a:t>✓ 도식 4개 이상  →  8개 수록</a:t>
            </a:r>
            <a:endParaRPr lang="en-US" sz="900" dirty="0"/>
          </a:p>
          <a:p>
            <a:pPr indent="0" marL="0">
              <a:lnSpc>
                <a:spcPts val="1500"/>
              </a:lnSpc>
              <a:buNone/>
            </a:pPr>
            <a:r>
              <a:rPr lang="en-US" sz="900" dirty="0">
                <a:solidFill>
                  <a:srgbClr val="CFC8BE"/>
                </a:solidFill>
                <a:latin typeface="맑은 고딕" pitchFamily="34" charset="0"/>
                <a:ea typeface="맑은 고딕" pitchFamily="34" charset="-122"/>
                <a:cs typeface="맑은 고딕" pitchFamily="34" charset="-120"/>
              </a:rPr>
              <a:t>✓ 페이지  31p</a:t>
            </a:r>
            <a:endParaRPr lang="en-US" sz="900" dirty="0"/>
          </a:p>
          <a:p>
            <a:pPr indent="0" marL="0">
              <a:lnSpc>
                <a:spcPts val="1500"/>
              </a:lnSpc>
              <a:buNone/>
            </a:pPr>
            <a:r>
              <a:rPr lang="en-US" sz="900" dirty="0">
                <a:solidFill>
                  <a:srgbClr val="CFC8BE"/>
                </a:solidFill>
                <a:latin typeface="맑은 고딕" pitchFamily="34" charset="0"/>
                <a:ea typeface="맑은 고딕" pitchFamily="34" charset="-122"/>
                <a:cs typeface="맑은 고딕" pitchFamily="34" charset="-120"/>
              </a:rPr>
              <a:t>✓ 제출  sck02145@naver.com</a:t>
            </a:r>
            <a:endParaRPr lang="en-US" sz="900" dirty="0"/>
          </a:p>
        </p:txBody>
      </p:sp>
      <p:sp>
        <p:nvSpPr>
          <p:cNvPr id="24" name="Text 21"/>
          <p:cNvSpPr/>
          <p:nvPr/>
        </p:nvSpPr>
        <p:spPr>
          <a:xfrm>
            <a:off x="548640" y="6419088"/>
            <a:ext cx="7315200" cy="274320"/>
          </a:xfrm>
          <a:prstGeom prst="rect">
            <a:avLst/>
          </a:prstGeom>
          <a:noFill/>
          <a:ln/>
        </p:spPr>
        <p:txBody>
          <a:bodyPr wrap="square" lIns="0" tIns="0" rIns="0" bIns="0" rtlCol="0" anchor="ctr"/>
          <a:lstStyle/>
          <a:p>
            <a:pPr algn="l" indent="0" marL="0">
              <a:buNone/>
            </a:pPr>
            <a:r>
              <a:rPr lang="en-US" sz="800" dirty="0">
                <a:solidFill>
                  <a:srgbClr val="8A857E"/>
                </a:solidFill>
                <a:latin typeface="맑은 고딕" pitchFamily="34" charset="0"/>
                <a:ea typeface="맑은 고딕" pitchFamily="34" charset="-122"/>
                <a:cs typeface="맑은 고딕" pitchFamily="34" charset="-120"/>
              </a:rPr>
              <a:t>아이테르 문화예술기획제안서   ·   덮인 물, 남은 올   ·   기획 추병곤</a:t>
            </a:r>
            <a:endParaRPr lang="en-US" sz="800" dirty="0"/>
          </a:p>
        </p:txBody>
      </p:sp>
      <p:sp>
        <p:nvSpPr>
          <p:cNvPr id="25" name="Text 22"/>
          <p:cNvSpPr/>
          <p:nvPr/>
        </p:nvSpPr>
        <p:spPr>
          <a:xfrm>
            <a:off x="10972800" y="6419088"/>
            <a:ext cx="640080" cy="274320"/>
          </a:xfrm>
          <a:prstGeom prst="rect">
            <a:avLst/>
          </a:prstGeom>
          <a:noFill/>
          <a:ln/>
        </p:spPr>
        <p:txBody>
          <a:bodyPr wrap="square" lIns="0" tIns="0" rIns="0" bIns="0" rtlCol="0" anchor="ctr"/>
          <a:lstStyle/>
          <a:p>
            <a:pPr algn="r" indent="0" marL="0">
              <a:buNone/>
            </a:pPr>
            <a:r>
              <a:rPr lang="en-US" sz="900" dirty="0">
                <a:solidFill>
                  <a:srgbClr val="8A857E"/>
                </a:solidFill>
                <a:latin typeface="Cambria" pitchFamily="34" charset="0"/>
                <a:ea typeface="Cambria" pitchFamily="34" charset="-122"/>
                <a:cs typeface="Cambria"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A1A1A"/>
        </a:solidFill>
      </p:bgPr>
    </p:bg>
    <p:spTree>
      <p:nvGrpSpPr>
        <p:cNvPr id="1" name=""/>
        <p:cNvGrpSpPr/>
        <p:nvPr/>
      </p:nvGrpSpPr>
      <p:grpSpPr>
        <a:xfrm>
          <a:off x="0" y="0"/>
          <a:ext cx="0" cy="0"/>
          <a:chOff x="0" y="0"/>
          <a:chExt cx="0" cy="0"/>
        </a:xfrm>
      </p:grpSpPr>
      <p:pic>
        <p:nvPicPr>
          <p:cNvPr id="2" name="Image 0" descr="/home/claude/aither/img/A36_1.jpeg">    </p:cNvPr>
          <p:cNvPicPr>
            <a:picLocks noChangeAspect="1"/>
          </p:cNvPicPr>
          <p:nvPr/>
        </p:nvPicPr>
        <p:blipFill>
          <a:blip r:embed="rId1"/>
          <a:srcRect l="0" r="0" t="0" b="0"/>
          <a:stretch/>
        </p:blipFill>
        <p:spPr>
          <a:xfrm>
            <a:off x="7315200" y="0"/>
            <a:ext cx="4846320" cy="6858000"/>
          </a:xfrm>
          <a:prstGeom prst="rect">
            <a:avLst/>
          </a:prstGeom>
        </p:spPr>
      </p:pic>
      <p:sp>
        <p:nvSpPr>
          <p:cNvPr id="3" name="Shape 0"/>
          <p:cNvSpPr/>
          <p:nvPr/>
        </p:nvSpPr>
        <p:spPr>
          <a:xfrm>
            <a:off x="7315200" y="6291072"/>
            <a:ext cx="4873752" cy="594360"/>
          </a:xfrm>
          <a:prstGeom prst="rect">
            <a:avLst/>
          </a:prstGeom>
          <a:solidFill>
            <a:srgbClr val="1A1A1A"/>
          </a:solidFill>
          <a:ln/>
        </p:spPr>
      </p:sp>
      <p:sp>
        <p:nvSpPr>
          <p:cNvPr id="4" name="Text 1"/>
          <p:cNvSpPr/>
          <p:nvPr/>
        </p:nvSpPr>
        <p:spPr>
          <a:xfrm>
            <a:off x="7543800" y="6309360"/>
            <a:ext cx="4389120" cy="548640"/>
          </a:xfrm>
          <a:prstGeom prst="rect">
            <a:avLst/>
          </a:prstGeom>
          <a:noFill/>
          <a:ln/>
        </p:spPr>
        <p:txBody>
          <a:bodyPr wrap="square" lIns="0" tIns="0" rIns="0" bIns="0" rtlCol="0" anchor="ctr"/>
          <a:lstStyle/>
          <a:p>
            <a:pPr indent="0" marL="0">
              <a:buNone/>
            </a:pPr>
            <a:r>
              <a:rPr lang="en-US" sz="850" dirty="0">
                <a:solidFill>
                  <a:srgbClr val="6E6A65"/>
                </a:solidFill>
                <a:latin typeface="맑은 고딕" pitchFamily="34" charset="0"/>
                <a:ea typeface="맑은 고딕" pitchFamily="34" charset="-122"/>
                <a:cs typeface="맑은 고딕" pitchFamily="34" charset="-120"/>
              </a:rPr>
              <a:t>⑤실 마루에 놓인 설치 작업  ·  아이테르 제공</a:t>
            </a:r>
            <a:endParaRPr lang="en-US" sz="850" dirty="0"/>
          </a:p>
        </p:txBody>
      </p:sp>
      <p:sp>
        <p:nvSpPr>
          <p:cNvPr id="5" name="Text 2"/>
          <p:cNvSpPr/>
          <p:nvPr/>
        </p:nvSpPr>
        <p:spPr>
          <a:xfrm>
            <a:off x="868680" y="1417320"/>
            <a:ext cx="6035040" cy="1371600"/>
          </a:xfrm>
          <a:prstGeom prst="rect">
            <a:avLst/>
          </a:prstGeom>
          <a:noFill/>
          <a:ln/>
        </p:spPr>
        <p:txBody>
          <a:bodyPr wrap="square" lIns="0" tIns="0" rIns="0" bIns="0" rtlCol="0" anchor="ctr"/>
          <a:lstStyle/>
          <a:p>
            <a:pPr indent="0" marL="0">
              <a:lnSpc>
                <a:spcPts val="4200"/>
              </a:lnSpc>
              <a:buNone/>
            </a:pPr>
            <a:r>
              <a:rPr lang="en-US" sz="2700" b="1" dirty="0">
                <a:solidFill>
                  <a:srgbClr val="FFFFFF"/>
                </a:solidFill>
                <a:latin typeface="바탕" pitchFamily="34" charset="0"/>
                <a:ea typeface="바탕" pitchFamily="34" charset="-122"/>
                <a:cs typeface="바탕" pitchFamily="34" charset="-120"/>
              </a:rPr>
              <a:t>덮인 것은 사라진 것이 아니다.</a:t>
            </a:r>
            <a:endParaRPr lang="en-US" sz="2700" dirty="0"/>
          </a:p>
          <a:p>
            <a:pPr indent="0" marL="0">
              <a:lnSpc>
                <a:spcPts val="4200"/>
              </a:lnSpc>
              <a:buNone/>
            </a:pPr>
            <a:r>
              <a:rPr lang="en-US" sz="2700" b="1" dirty="0">
                <a:solidFill>
                  <a:srgbClr val="FFFFFF"/>
                </a:solidFill>
                <a:latin typeface="바탕" pitchFamily="34" charset="0"/>
                <a:ea typeface="바탕" pitchFamily="34" charset="-122"/>
                <a:cs typeface="바탕" pitchFamily="34" charset="-120"/>
              </a:rPr>
              <a:t>남은 올에 한 겹을 덧댄다.</a:t>
            </a:r>
            <a:endParaRPr lang="en-US" sz="2700" dirty="0"/>
          </a:p>
        </p:txBody>
      </p:sp>
      <p:sp>
        <p:nvSpPr>
          <p:cNvPr id="6" name="Shape 3"/>
          <p:cNvSpPr/>
          <p:nvPr/>
        </p:nvSpPr>
        <p:spPr>
          <a:xfrm>
            <a:off x="868680" y="3017520"/>
            <a:ext cx="5852160" cy="0"/>
          </a:xfrm>
          <a:prstGeom prst="line">
            <a:avLst/>
          </a:prstGeom>
          <a:noFill/>
          <a:ln w="12700">
            <a:solidFill>
              <a:srgbClr val="3C3833"/>
            </a:solidFill>
            <a:prstDash val="solid"/>
          </a:ln>
        </p:spPr>
      </p:sp>
      <p:sp>
        <p:nvSpPr>
          <p:cNvPr id="7" name="Text 4"/>
          <p:cNvSpPr/>
          <p:nvPr/>
        </p:nvSpPr>
        <p:spPr>
          <a:xfrm>
            <a:off x="868680" y="3291840"/>
            <a:ext cx="3657600" cy="237744"/>
          </a:xfrm>
          <a:prstGeom prst="rect">
            <a:avLst/>
          </a:prstGeom>
          <a:noFill/>
          <a:ln/>
        </p:spPr>
        <p:txBody>
          <a:bodyPr wrap="square" lIns="0" tIns="0" rIns="0" bIns="0" rtlCol="0" anchor="ctr"/>
          <a:lstStyle/>
          <a:p>
            <a:pPr indent="0" marL="0">
              <a:buNone/>
            </a:pPr>
            <a:r>
              <a:rPr lang="en-US" sz="950" dirty="0">
                <a:solidFill>
                  <a:srgbClr val="77726B"/>
                </a:solidFill>
                <a:latin typeface="맑은 고딕" pitchFamily="34" charset="0"/>
                <a:ea typeface="맑은 고딕" pitchFamily="34" charset="-122"/>
                <a:cs typeface="맑은 고딕" pitchFamily="34" charset="-120"/>
              </a:rPr>
              <a:t>기획 · 문의</a:t>
            </a:r>
            <a:endParaRPr lang="en-US" sz="950" dirty="0"/>
          </a:p>
        </p:txBody>
      </p:sp>
      <p:sp>
        <p:nvSpPr>
          <p:cNvPr id="8" name="Text 5"/>
          <p:cNvSpPr/>
          <p:nvPr/>
        </p:nvSpPr>
        <p:spPr>
          <a:xfrm>
            <a:off x="868680" y="3566160"/>
            <a:ext cx="5852160" cy="640080"/>
          </a:xfrm>
          <a:prstGeom prst="rect">
            <a:avLst/>
          </a:prstGeom>
          <a:noFill/>
          <a:ln/>
        </p:spPr>
        <p:txBody>
          <a:bodyPr wrap="square" lIns="0" tIns="0" rIns="0" bIns="0" rtlCol="0" anchor="ctr"/>
          <a:lstStyle/>
          <a:p>
            <a:pPr indent="0" marL="0">
              <a:lnSpc>
                <a:spcPts val="1800"/>
              </a:lnSpc>
              <a:buNone/>
            </a:pPr>
            <a:r>
              <a:rPr lang="en-US" sz="1100" dirty="0">
                <a:solidFill>
                  <a:srgbClr val="DCD6CC"/>
                </a:solidFill>
                <a:latin typeface="맑은 고딕" pitchFamily="34" charset="0"/>
                <a:ea typeface="맑은 고딕" pitchFamily="34" charset="-122"/>
                <a:cs typeface="맑은 고딕" pitchFamily="34" charset="-120"/>
              </a:rPr>
              <a:t>추병곤  秋炳坤   ·   학예사 · 미학 연구자</a:t>
            </a:r>
            <a:endParaRPr lang="en-US" sz="1100" dirty="0"/>
          </a:p>
          <a:p>
            <a:pPr indent="0" marL="0">
              <a:lnSpc>
                <a:spcPts val="1800"/>
              </a:lnSpc>
              <a:buNone/>
            </a:pPr>
            <a:r>
              <a:rPr lang="en-US" sz="1100" dirty="0">
                <a:solidFill>
                  <a:srgbClr val="DCD6CC"/>
                </a:solidFill>
                <a:latin typeface="맑은 고딕" pitchFamily="34" charset="0"/>
                <a:ea typeface="맑은 고딕" pitchFamily="34" charset="-122"/>
                <a:cs typeface="맑은 고딕" pitchFamily="34" charset="-120"/>
              </a:rPr>
              <a:t>010-3910-3588  |  utopiz@naver.com</a:t>
            </a:r>
            <a:endParaRPr lang="en-US" sz="1100" dirty="0"/>
          </a:p>
        </p:txBody>
      </p:sp>
      <p:sp>
        <p:nvSpPr>
          <p:cNvPr id="9" name="Text 6"/>
          <p:cNvSpPr/>
          <p:nvPr/>
        </p:nvSpPr>
        <p:spPr>
          <a:xfrm>
            <a:off x="868680" y="4343400"/>
            <a:ext cx="3657600" cy="237744"/>
          </a:xfrm>
          <a:prstGeom prst="rect">
            <a:avLst/>
          </a:prstGeom>
          <a:noFill/>
          <a:ln/>
        </p:spPr>
        <p:txBody>
          <a:bodyPr wrap="square" lIns="0" tIns="0" rIns="0" bIns="0" rtlCol="0" anchor="ctr"/>
          <a:lstStyle/>
          <a:p>
            <a:pPr indent="0" marL="0">
              <a:buNone/>
            </a:pPr>
            <a:r>
              <a:rPr lang="en-US" sz="950" dirty="0">
                <a:solidFill>
                  <a:srgbClr val="77726B"/>
                </a:solidFill>
                <a:latin typeface="맑은 고딕" pitchFamily="34" charset="0"/>
                <a:ea typeface="맑은 고딕" pitchFamily="34" charset="-122"/>
                <a:cs typeface="맑은 고딕" pitchFamily="34" charset="-120"/>
              </a:rPr>
              <a:t>주관</a:t>
            </a:r>
            <a:endParaRPr lang="en-US" sz="950" dirty="0"/>
          </a:p>
        </p:txBody>
      </p:sp>
      <p:sp>
        <p:nvSpPr>
          <p:cNvPr id="10" name="Text 7"/>
          <p:cNvSpPr/>
          <p:nvPr/>
        </p:nvSpPr>
        <p:spPr>
          <a:xfrm>
            <a:off x="868680" y="4617720"/>
            <a:ext cx="5852160" cy="1188720"/>
          </a:xfrm>
          <a:prstGeom prst="rect">
            <a:avLst/>
          </a:prstGeom>
          <a:noFill/>
          <a:ln/>
        </p:spPr>
        <p:txBody>
          <a:bodyPr wrap="square" lIns="0" tIns="0" rIns="0" bIns="0" rtlCol="0" anchor="ctr"/>
          <a:lstStyle/>
          <a:p>
            <a:pPr indent="0" marL="0">
              <a:lnSpc>
                <a:spcPts val="1700"/>
              </a:lnSpc>
              <a:buNone/>
            </a:pPr>
            <a:r>
              <a:rPr lang="en-US" sz="1050" dirty="0">
                <a:solidFill>
                  <a:srgbClr val="DCD6CC"/>
                </a:solidFill>
                <a:latin typeface="맑은 고딕" pitchFamily="34" charset="0"/>
                <a:ea typeface="맑은 고딕" pitchFamily="34" charset="-122"/>
                <a:cs typeface="맑은 고딕" pitchFamily="34" charset="-120"/>
              </a:rPr>
              <a:t>예술협회 아이테르 AITHER  ·  범일가옥</a:t>
            </a:r>
            <a:endParaRPr lang="en-US" sz="1050" dirty="0"/>
          </a:p>
          <a:p>
            <a:pPr indent="0" marL="0">
              <a:lnSpc>
                <a:spcPts val="1700"/>
              </a:lnSpc>
              <a:buNone/>
            </a:pPr>
            <a:r>
              <a:rPr lang="en-US" sz="1050" dirty="0">
                <a:solidFill>
                  <a:srgbClr val="DCD6CC"/>
                </a:solidFill>
                <a:latin typeface="맑은 고딕" pitchFamily="34" charset="0"/>
                <a:ea typeface="맑은 고딕" pitchFamily="34" charset="-122"/>
                <a:cs typeface="맑은 고딕" pitchFamily="34" charset="-120"/>
              </a:rPr>
              <a:t>(48737) 부산광역시 동구 범일로65번길 21</a:t>
            </a:r>
            <a:endParaRPr lang="en-US" sz="1050" dirty="0"/>
          </a:p>
          <a:p>
            <a:pPr indent="0" marL="0">
              <a:lnSpc>
                <a:spcPts val="1700"/>
              </a:lnSpc>
              <a:buNone/>
            </a:pPr>
            <a:r>
              <a:rPr lang="en-US" sz="1050" dirty="0">
                <a:solidFill>
                  <a:srgbClr val="DCD6CC"/>
                </a:solidFill>
                <a:latin typeface="맑은 고딕" pitchFamily="34" charset="0"/>
                <a:ea typeface="맑은 고딕" pitchFamily="34" charset="-122"/>
                <a:cs typeface="맑은 고딕" pitchFamily="34" charset="-120"/>
              </a:rPr>
              <a:t>4F 전시관 / 5F 라운지 / 6F 창고</a:t>
            </a:r>
            <a:endParaRPr lang="en-US" sz="1050" dirty="0"/>
          </a:p>
          <a:p>
            <a:pPr indent="0" marL="0">
              <a:lnSpc>
                <a:spcPts val="1700"/>
              </a:lnSpc>
              <a:buNone/>
            </a:pPr>
            <a:r>
              <a:rPr lang="en-US" sz="1050" dirty="0">
                <a:solidFill>
                  <a:srgbClr val="DCD6CC"/>
                </a:solidFill>
                <a:latin typeface="맑은 고딕" pitchFamily="34" charset="0"/>
                <a:ea typeface="맑은 고딕" pitchFamily="34" charset="-122"/>
                <a:cs typeface="맑은 고딕" pitchFamily="34" charset="-120"/>
              </a:rPr>
              <a:t>051-977-5272  |  sck02145@naver.com  |  https://aither.kr</a:t>
            </a:r>
            <a:endParaRPr lang="en-US" sz="1050" dirty="0"/>
          </a:p>
        </p:txBody>
      </p:sp>
      <p:sp>
        <p:nvSpPr>
          <p:cNvPr id="11" name="Text 8"/>
          <p:cNvSpPr/>
          <p:nvPr/>
        </p:nvSpPr>
        <p:spPr>
          <a:xfrm>
            <a:off x="4846320" y="5870448"/>
            <a:ext cx="1920240" cy="320040"/>
          </a:xfrm>
          <a:prstGeom prst="rect">
            <a:avLst/>
          </a:prstGeom>
          <a:noFill/>
          <a:ln/>
        </p:spPr>
        <p:txBody>
          <a:bodyPr wrap="square" lIns="0" tIns="0" rIns="0" bIns="0" rtlCol="0" anchor="ctr"/>
          <a:lstStyle/>
          <a:p>
            <a:pPr algn="r" indent="0" marL="0">
              <a:buNone/>
            </a:pPr>
            <a:r>
              <a:rPr lang="en-US" sz="1500" spc="500" kern="0" dirty="0">
                <a:solidFill>
                  <a:srgbClr val="6E6A65"/>
                </a:solidFill>
                <a:latin typeface="Cambria" pitchFamily="34" charset="0"/>
                <a:ea typeface="Cambria" pitchFamily="34" charset="-122"/>
                <a:cs typeface="Cambria" pitchFamily="34" charset="-120"/>
              </a:rPr>
              <a:t>AITHER</a:t>
            </a:r>
            <a:endParaRPr lang="en-US" sz="1500" dirty="0"/>
          </a:p>
        </p:txBody>
      </p:sp>
      <p:sp>
        <p:nvSpPr>
          <p:cNvPr id="12" name="Text 9"/>
          <p:cNvSpPr/>
          <p:nvPr/>
        </p:nvSpPr>
        <p:spPr>
          <a:xfrm>
            <a:off x="868680" y="6263640"/>
            <a:ext cx="6400800" cy="274320"/>
          </a:xfrm>
          <a:prstGeom prst="rect">
            <a:avLst/>
          </a:prstGeom>
          <a:noFill/>
          <a:ln/>
        </p:spPr>
        <p:txBody>
          <a:bodyPr wrap="square" lIns="0" tIns="0" rIns="0" bIns="0" rtlCol="0" anchor="ctr"/>
          <a:lstStyle/>
          <a:p>
            <a:pPr indent="0" marL="0">
              <a:buNone/>
            </a:pPr>
            <a:r>
              <a:rPr lang="en-US" sz="850" dirty="0">
                <a:solidFill>
                  <a:srgbClr val="5A5651"/>
                </a:solidFill>
                <a:latin typeface="맑은 고딕" pitchFamily="34" charset="0"/>
                <a:ea typeface="맑은 고딕" pitchFamily="34" charset="-122"/>
                <a:cs typeface="맑은 고딕" pitchFamily="34" charset="-120"/>
              </a:rPr>
              <a:t>본 제안서의 내용은 제안 목적으로 작성되었으며, 협의 및 계약 체결 시 확정됩니다.</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예술협회 아이테르 AITHER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[아이테르 문화예술기획제안서] 덮인 물, 남은 올</dc:title>
  <dc:subject>PptxGenJS Presentation</dc:subject>
  <dc:creator>추병곤</dc:creator>
  <cp:lastModifiedBy>추병곤</cp:lastModifiedBy>
  <cp:revision>1</cp:revision>
  <dcterms:created xsi:type="dcterms:W3CDTF">2026-08-25T19:56:41Z</dcterms:created>
  <dcterms:modified xsi:type="dcterms:W3CDTF">2026-08-25T19:56:41Z</dcterms:modified>
</cp:coreProperties>
</file>