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04004309464031" /><Relationship Type="http://schemas.openxmlformats.org/officeDocument/2006/relationships/extended-properties" Target="/docProps/app.xml" Id="R14d6a77ad25a4e6b" /><Relationship Type="http://schemas.openxmlformats.org/officeDocument/2006/relationships/officeDocument" Target="/ppt/presentation.xml" Id="R58fcd84c813040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cb5c4dad2646d9"/>
  </p:sldMasterIdLst>
  <p:notesMasterIdLst>
    <p:notesMasterId xmlns:r="http://schemas.openxmlformats.org/officeDocument/2006/relationships" r:id="R104c5be1d6c84c35"/>
  </p:notesMasterIdLst>
  <p:sldIdLst>
    <p:sldId xmlns:r="http://schemas.openxmlformats.org/officeDocument/2006/relationships" id="256" r:id="Rbc266f09b74d41ad"/>
    <p:sldId xmlns:r="http://schemas.openxmlformats.org/officeDocument/2006/relationships" id="257" r:id="R837aa935f1884592"/>
    <p:sldId xmlns:r="http://schemas.openxmlformats.org/officeDocument/2006/relationships" id="258" r:id="R1459e6b3e9ca414d"/>
    <p:sldId xmlns:r="http://schemas.openxmlformats.org/officeDocument/2006/relationships" id="259" r:id="R3ba5f32c850a4061"/>
    <p:sldId xmlns:r="http://schemas.openxmlformats.org/officeDocument/2006/relationships" id="260" r:id="R5bdfbf672b2a43d3"/>
    <p:sldId xmlns:r="http://schemas.openxmlformats.org/officeDocument/2006/relationships" id="261" r:id="R99c788b3f53b47be"/>
    <p:sldId xmlns:r="http://schemas.openxmlformats.org/officeDocument/2006/relationships" id="262" r:id="Re811c2d35a5a49f0"/>
    <p:sldId xmlns:r="http://schemas.openxmlformats.org/officeDocument/2006/relationships" id="263" r:id="Rbd5a3e9994054fb7"/>
    <p:sldId xmlns:r="http://schemas.openxmlformats.org/officeDocument/2006/relationships" id="264" r:id="R95d28810e56f42cc"/>
    <p:sldId xmlns:r="http://schemas.openxmlformats.org/officeDocument/2006/relationships" id="265" r:id="R496bd2434f754e9e"/>
    <p:sldId xmlns:r="http://schemas.openxmlformats.org/officeDocument/2006/relationships" id="266" r:id="R97217a4d05024509"/>
    <p:sldId xmlns:r="http://schemas.openxmlformats.org/officeDocument/2006/relationships" id="267" r:id="Rcbf4e0d89f0449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05befbbb734e98" /><Relationship Type="http://schemas.openxmlformats.org/officeDocument/2006/relationships/slideMaster" Target="/ppt/slideMasters/slideMaster1.xml" Id="R2dcb5c4dad2646d9" /><Relationship Type="http://schemas.openxmlformats.org/officeDocument/2006/relationships/notesMaster" Target="/ppt/notesMasters/notesMaster1.xml" Id="R104c5be1d6c84c35" /><Relationship Type="http://schemas.openxmlformats.org/officeDocument/2006/relationships/presProps" Target="/ppt/presProps.xml" Id="R153abcc14f884fbe" /><Relationship Type="http://schemas.openxmlformats.org/officeDocument/2006/relationships/tableStyles" Target="/ppt/tableStyles.xml" Id="R733b503ed6aa478a" /><Relationship Type="http://schemas.openxmlformats.org/officeDocument/2006/relationships/slide" Target="/ppt/slides/slide1.xml" Id="Rbc266f09b74d41ad" /><Relationship Type="http://schemas.openxmlformats.org/officeDocument/2006/relationships/slide" Target="/ppt/slides/slide2.xml" Id="R837aa935f1884592" /><Relationship Type="http://schemas.openxmlformats.org/officeDocument/2006/relationships/slide" Target="/ppt/slides/slide3.xml" Id="R1459e6b3e9ca414d" /><Relationship Type="http://schemas.openxmlformats.org/officeDocument/2006/relationships/slide" Target="/ppt/slides/slide4.xml" Id="R3ba5f32c850a4061" /><Relationship Type="http://schemas.openxmlformats.org/officeDocument/2006/relationships/slide" Target="/ppt/slides/slide5.xml" Id="R5bdfbf672b2a43d3" /><Relationship Type="http://schemas.openxmlformats.org/officeDocument/2006/relationships/slide" Target="/ppt/slides/slide6.xml" Id="R99c788b3f53b47be" /><Relationship Type="http://schemas.openxmlformats.org/officeDocument/2006/relationships/slide" Target="/ppt/slides/slide7.xml" Id="Re811c2d35a5a49f0" /><Relationship Type="http://schemas.openxmlformats.org/officeDocument/2006/relationships/slide" Target="/ppt/slides/slide8.xml" Id="Rbd5a3e9994054fb7" /><Relationship Type="http://schemas.openxmlformats.org/officeDocument/2006/relationships/slide" Target="/ppt/slides/slide9.xml" Id="R95d28810e56f42cc" /><Relationship Type="http://schemas.openxmlformats.org/officeDocument/2006/relationships/slide" Target="/ppt/slides/slide10.xml" Id="R496bd2434f754e9e" /><Relationship Type="http://schemas.openxmlformats.org/officeDocument/2006/relationships/slide" Target="/ppt/slides/slide11.xml" Id="R97217a4d05024509" /><Relationship Type="http://schemas.openxmlformats.org/officeDocument/2006/relationships/slide" Target="/ppt/slides/slide12.xml" Id="Rcbf4e0d89f0449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a707895377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95f06e1ed647a3" /><Relationship Type="http://schemas.openxmlformats.org/officeDocument/2006/relationships/notesMaster" Target="/ppt/notesMasters/notesMaster1.xml" Id="R65c706f1d3cd4d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8aaec3dcca4e33" /><Relationship Type="http://schemas.openxmlformats.org/officeDocument/2006/relationships/notesMaster" Target="/ppt/notesMasters/notesMaster1.xml" Id="Rffad276eb74248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d161b5ee2944c5" /><Relationship Type="http://schemas.openxmlformats.org/officeDocument/2006/relationships/notesMaster" Target="/ppt/notesMasters/notesMaster1.xml" Id="R46a6df7eca694c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4aa603589a4778" /><Relationship Type="http://schemas.openxmlformats.org/officeDocument/2006/relationships/notesMaster" Target="/ppt/notesMasters/notesMaster1.xml" Id="Rc0a6cf97680c40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a433dc6bc3432e" /><Relationship Type="http://schemas.openxmlformats.org/officeDocument/2006/relationships/notesMaster" Target="/ppt/notesMasters/notesMaster1.xml" Id="R48c28cb9519c46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f32a214e594a2e" /><Relationship Type="http://schemas.openxmlformats.org/officeDocument/2006/relationships/notesMaster" Target="/ppt/notesMasters/notesMaster1.xml" Id="R150ecead60764f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73c050da7f4947" /><Relationship Type="http://schemas.openxmlformats.org/officeDocument/2006/relationships/notesMaster" Target="/ppt/notesMasters/notesMaster1.xml" Id="R6636174e9fb44b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7c76ae4ba34dd4" /><Relationship Type="http://schemas.openxmlformats.org/officeDocument/2006/relationships/notesMaster" Target="/ppt/notesMasters/notesMaster1.xml" Id="R0692a46200494c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8adec27b1a4679" /><Relationship Type="http://schemas.openxmlformats.org/officeDocument/2006/relationships/notesMaster" Target="/ppt/notesMasters/notesMaster1.xml" Id="R1704bea7408f44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e61839c71f488b" /><Relationship Type="http://schemas.openxmlformats.org/officeDocument/2006/relationships/notesMaster" Target="/ppt/notesMasters/notesMaster1.xml" Id="R35bbd35ca44c4f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5bdfcee6bd4cc9" /><Relationship Type="http://schemas.openxmlformats.org/officeDocument/2006/relationships/notesMaster" Target="/ppt/notesMasters/notesMaster1.xml" Id="R3a3aaf9dba4946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57cc7b44a047b6" /><Relationship Type="http://schemas.openxmlformats.org/officeDocument/2006/relationships/notesMaster" Target="/ppt/notesMasters/notesMaster1.xml" Id="Rd56d4f3f5b96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0:00-1:00. 혼자 보는 날과 아이와 보는 날은 같은 사람의 다른 감상이라는 장면에서 시작합니다.</a:t>
            </a:r>
          </a:p>
          <a:p xmlns:a="http://schemas.openxmlformats.org/drawingml/2006/main">
            <a:r>
              <a:t>출처: 사용자 제공 통합 마스터, 중간논문 v3, SDU 포스터.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1:00-2:00. 문제는 검색 언어입니다. 관람객이 말하는 감각과 기관이 저장한 메타데이터가 다릅니다.</a:t>
            </a:r>
          </a:p>
          <a:p xmlns:a="http://schemas.openxmlformats.org/drawingml/2006/main">
            <a:r>
              <a:t>SOURCE: arthemis_interim_v3.pdf, ARTHÉMIS_SDU_Business_Competition_제출용_완성본.pdf.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2:00-3:00. 장기 기억이 많다고 좋은 것이 아닙니다. 다른 맥락이 섞이면 개인화가 오히려 나빠질 수 있습니다.</a:t>
            </a:r>
          </a:p>
          <a:p xmlns:a="http://schemas.openxmlformats.org/drawingml/2006/main">
            <a:r>
              <a:t>SOURCE: 중간논문 v3의 context contamination 문제 정의.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3:00-4:15. 연구 용어를 고객 언어로 번역합니다. Session Node는 기록, Taste Cluster는 패턴, Context Router는 오늘의 선택입니다.</a:t>
            </a:r>
          </a:p>
          <a:p xmlns:a="http://schemas.openxmlformats.org/drawingml/2006/main">
            <a:r>
              <a:t>SOURCE: 통합 마스터 4장, 사업계획서 6장.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4:15-5:15. 사용자는 미술사 용어를 새로 배울 필요 없이 감각과 상황으로 말하면 됩니다.</a:t>
            </a:r>
          </a:p>
          <a:p xmlns:a="http://schemas.openxmlformats.org/drawingml/2006/main">
            <a:r>
              <a:t>SOURCE: 중간논문 v3 4.2, 통합 마스터 4.2·4.5.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5:15-6:15. 작품을 왜 추천하는지와 실제 어디서 볼 수 있는지를 분리합니다. 확인되지 않은 기간·장소·요금은 말하지 않습니다.</a:t>
            </a:r>
          </a:p>
          <a:p xmlns:a="http://schemas.openxmlformats.org/drawingml/2006/main">
            <a:r>
              <a:t>SOURCE: 통합 마스터 4.6, 중간논문 v3의 claim 제약.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6:15-7:45. 60초 시연은 입력, JSON, 추천, 맥락 전환, audit 라벨 순서로 진행합니다.</a:t>
            </a:r>
          </a:p>
          <a:p xmlns:a="http://schemas.openxmlformats.org/drawingml/2006/main">
            <a:r>
              <a:t>DEMO STATUS: 실측 전 수치 없음. 화면에서 PLAN/MEASURED를 분리.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7:45-8:45. 글로벌 플랫폼과 규모 경쟁을 하지 않습니다. 한국어 감각대화, 맥락 분리형 기억, 감사 가능한 claim 통제를 제안합니다.</a:t>
            </a:r>
          </a:p>
          <a:p xmlns:a="http://schemas.openxmlformats.org/drawingml/2006/main">
            <a:r>
              <a:t>시장·경쟁사 사실은 기존 사업계획서가 WEB-VERIFIED로 표시한 출처를 보존한 것. 제출 직전 공식 페이지 재확인.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8:45-10:00. 누가 돈을 내고 누가 쓰는지 구분합니다. 가격과 12개월 목표는 PROPOSED 사업 가설입니다.</a:t>
            </a:r>
          </a:p>
          <a:p xmlns:a="http://schemas.openxmlformats.org/drawingml/2006/main">
            <a:r>
              <a:t>SOURCE: 사업계획서 8장, 통합 마스터 11장.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10:00-11:30. 학술 정본의 B1/B2/B3/B4/B4-U를 사업 언어로 설명합니다. 기존 문서의 0.842, UCR 0 등 성과형 수치는 사용하지 않습니다.</a:t>
            </a:r>
          </a:p>
          <a:p xmlns:a="http://schemas.openxmlformats.org/drawingml/2006/main">
            <a:r>
              <a:t>SOURCE: 중간논문 v3, 통합 마스터 3·6장. 모든 값은 TO-MEASURE.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11:30-13:30. 6주 실행 로드맵과 실패 시 축소 규칙을 제시합니다. 네 조건이 충족되기 전에는 확장 모듈을 복귀시키지 않습니다.</a:t>
            </a:r>
          </a:p>
          <a:p xmlns:a="http://schemas.openxmlformats.org/drawingml/2006/main">
            <a:r>
              <a:t>SOURCE: 통합 마스터 8·9·14·15장.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13:30-15:00. 기관 1곳과 실제 데이터로 6주 파일럿을 요청합니다. 포스터의 접수 예정일과 이메일은 제공된 이미지 기준이며 최종 공지 재확인이 필요합니다.</a:t>
            </a:r>
          </a:p>
          <a:p xmlns:a="http://schemas.openxmlformats.org/drawingml/2006/main">
            <a:r>
              <a:t>마지막 문장: ARTHÉMIS의 경쟁력은 AI가 더 많이 아는 데 있지 않습니다. 관람객의 말에 근거를 남기고, 서로 다른 감상 맥락을 섞지 않으며, 실제 방문정보에는 확인의 선을 긋는 데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869d43a4d41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39835930134ba7" /><Relationship Type="http://schemas.openxmlformats.org/officeDocument/2006/relationships/slideLayout" Target="/ppt/slideLayouts/slideLayout1.xml" Id="R6352b2ec1ece4a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52b2ec1ece4a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b2ca8351a44de" /><Relationship Type="http://schemas.openxmlformats.org/officeDocument/2006/relationships/notesSlide" Target="/ppt/notesSlides/notesSlide1.xml" Id="R8b9563c461dd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6430f2afa4b94" /><Relationship Type="http://schemas.openxmlformats.org/officeDocument/2006/relationships/notesSlide" Target="/ppt/notesSlides/notesSlide2.xml" Id="R661feca355434c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cd8dba6a44c77" /><Relationship Type="http://schemas.openxmlformats.org/officeDocument/2006/relationships/notesSlide" Target="/ppt/notesSlides/notesSlide3.xml" Id="R53716309c66544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83fec26a34641" /><Relationship Type="http://schemas.openxmlformats.org/officeDocument/2006/relationships/notesSlide" Target="/ppt/notesSlides/notesSlide4.xml" Id="Ra71cf23ae63d43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54c4a298841fa" /><Relationship Type="http://schemas.openxmlformats.org/officeDocument/2006/relationships/notesSlide" Target="/ppt/notesSlides/notesSlide5.xml" Id="R1e31034d868a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7dcee08ff4f54" /><Relationship Type="http://schemas.openxmlformats.org/officeDocument/2006/relationships/notesSlide" Target="/ppt/notesSlides/notesSlide6.xml" Id="R8d402971117e46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02902dca3438e" /><Relationship Type="http://schemas.openxmlformats.org/officeDocument/2006/relationships/notesSlide" Target="/ppt/notesSlides/notesSlide7.xml" Id="R4a4cb8a19f8d48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00afd85444e3e" /><Relationship Type="http://schemas.openxmlformats.org/officeDocument/2006/relationships/notesSlide" Target="/ppt/notesSlides/notesSlide8.xml" Id="Re514cd3fc91941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e47432594441d" /><Relationship Type="http://schemas.openxmlformats.org/officeDocument/2006/relationships/notesSlide" Target="/ppt/notesSlides/notesSlide9.xml" Id="R70018cec1c2245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c2f1191d84cb3" /><Relationship Type="http://schemas.openxmlformats.org/officeDocument/2006/relationships/notesSlide" Target="/ppt/notesSlides/notesSlide10.xml" Id="R206d61a41e8c4d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3b230d8144fb3" /><Relationship Type="http://schemas.openxmlformats.org/officeDocument/2006/relationships/notesSlide" Target="/ppt/notesSlides/notesSlide11.xml" Id="R2596330d43ba4b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c6c5e514445c9" /><Relationship Type="http://schemas.openxmlformats.org/officeDocument/2006/relationships/notesSlide" Target="/ppt/notesSlides/notesSlide12.xml" Id="R558e1c52d1064d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4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165E9-AE52-476E-92CB-B20646CA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76200" cy="455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93D"/>
          </a:solidFill>
          <a:ln xmlns:a="http://schemas.openxmlformats.org/drawingml/2006/main" w="9525">
            <a:solidFill>
              <a:srgbClr val="FFC9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A89D5-BCC1-4680-AAC3-E5185676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9D7F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9D7F4"/>
                </a:solidFill>
                <a:latin typeface="Malgun Gothic"/>
                <a:ea typeface="Malgun Gothic"/>
                <a:cs typeface="Malgun Gothic"/>
              </a:rPr>
              <a:t>SDU BUSINESS 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22B94-99B5-4D38-B7C7-FB1062C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ARTHÉMIS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6D173-7FF8-410A-B69B-76A8EE53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나의 감상 맥락을 기억하는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아트 큐레이터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04FC0-488D-429D-A496-11264A10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7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D9E7FF"/>
                </a:solidFill>
                <a:latin typeface="Malgun Gothic"/>
                <a:ea typeface="Malgun Gothic"/>
                <a:cs typeface="Malgun Gothic"/>
              </a:rPr>
              <a:t>관람객의 말을 기억하되, 오늘의 맥락만 선택하고, 방문정보는 확인된 사실만 말합니다.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2559C-5064-4C1A-B60B-DB70DC75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7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9E7FF"/>
                </a:solidFill>
                <a:latin typeface="Malgun Gothic"/>
                <a:ea typeface="Malgun Gothic"/>
                <a:cs typeface="Malgun Gothic"/>
              </a:rPr>
              <a:t>15분 발표용 | 2026년 9월 23일 기준 | 추병곤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99CA2-48F4-40EF-BC7F-FDE7A0E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C9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C93D"/>
                </a:solidFill>
                <a:latin typeface="Malgun Gothic"/>
                <a:ea typeface="Malgun Gothic"/>
                <a:cs typeface="Malgun Gothic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461684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9F84A-C90A-41C4-A618-0168ACA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01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13DA8-A4EA-487B-B50A-1A586456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미술관은 전문어로 검색하고, 사람은 감각과 상황으로 말합니다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44DD7-E78C-4346-9B99-85E79C8B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관람객의 말과 기관의 데이터 사이에 번역 계층이 없습니다.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2AA40-8D1F-4F71-B855-18841D33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762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52E1F-351E-4A22-9172-8E4490A3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rPr>
              <a:t>관람객의 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EFDDB-DE22-4E32-91C1-2D63B571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“색이 요란하지 않고</a:t>
            </a:r>
          </a:p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표면의 물질감이 묵직한</a:t>
            </a:r>
          </a:p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그림 앞에 잠깐 있고 싶어요.”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1FE42-D305-420E-B813-A0508EAF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43125"/>
            <a:ext cx="4762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D85DD-C324-4AC9-8604-EFAF6BF5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9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기관의 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35070-0ED4-4900-B6E9-323203BC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작가명</a:t>
            </a:r>
          </a:p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제작연도</a:t>
            </a:r>
          </a:p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재료·사조·메타데이터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58440-F5D3-4FFF-99D3-56C0ED70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8137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C9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5451A-1F24-4E1C-AD6E-24C4AFC2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62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C9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C93D"/>
                </a:solidFill>
                <a:latin typeface="Malgun Gothic"/>
                <a:ea typeface="Malgun Gothic"/>
                <a:cs typeface="Malgun Gothic"/>
              </a:rPr>
              <a:t>번역 공백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9FCED-A7BA-458B-B4F2-42EDDC44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24A0B-F198-4AB5-8983-0338E91B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C1277-DC69-4F03-9F30-5F276091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9382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CDA97-0D46-4B12-8C6B-55ED63F8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02 기억의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BA82F-9487-41D8-B525-1FCC866D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기억을 많이 넣는 것만으로는 개인화가 되지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A363A-AE37-4721-9868-ED555EBC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같은 사람 안에서도 감상 맥락은 바뀝니다.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1416E-6570-41B7-947B-F043F152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476750" cy="2238375"/>
          </a:xfrm>
          <a:prstGeom xmlns:a="http://schemas.openxmlformats.org/drawingml/2006/main" prst="roundRect">
            <a:avLst>
              <a:gd name="adj" fmla="val 10213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51605-D021-4733-B7DD-98CB6F99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rPr>
              <a:t>평일 저녁 · 혼자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D666F-4987-425B-91AC-34D851DD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낮은 채도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묵직한 질감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조용히 머물기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3A12F-C4AF-4731-BFBC-7E188D4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4476750" cy="2238375"/>
          </a:xfrm>
          <a:prstGeom xmlns:a="http://schemas.openxmlformats.org/drawingml/2006/main" prst="roundRect">
            <a:avLst>
              <a:gd name="adj" fmla="val 10213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47CD0-F98E-4BA0-A1B5-1AF78C4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288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주말 · 아이와 함께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C0C36-E5C0-4B7A-A8A5-9BBCD54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짧은 설명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관찰 포인트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움직임과 체험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89A60-CE8F-4725-8A54-A7C96926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28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3B4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43B45"/>
                </a:solidFill>
                <a:latin typeface="Malgun Gothic"/>
                <a:ea typeface="Malgun Gothic"/>
                <a:cs typeface="Malgun Gothic"/>
              </a:rPr>
              <a:t>섞이면</a:t>
            </a:r>
          </a:p>
          <a:p xmlns:a="http://schemas.openxmlformats.org/drawingml/2006/main">
            <a:pPr algn="ctr">
              <a:defRPr sz="1500" b="1">
                <a:solidFill>
                  <a:srgbClr val="B43B4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43B45"/>
                </a:solidFill>
                <a:latin typeface="Malgun Gothic"/>
                <a:ea typeface="Malgun Gothic"/>
                <a:cs typeface="Malgun Gothic"/>
              </a:rPr>
              <a:t>추천이 흐려짐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72F72-6AB7-4B64-BB8E-51AE479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957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43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D223C-B7B1-423D-A961-B90D14E8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핵심 질문  |  어떤 기억을 언제 활성화해야 오늘의 감상을 돕는가?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42E38-5F4E-4F72-943E-6E0DA6E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3B779-5245-4D94-AC00-2102BEB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71822-2FE1-472B-AF31-0394377F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6021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15D6C-D579-4FE3-A599-C6885740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03 해결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1DD82-E498-46A5-BC59-2978EAAF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Session Node, Taste Cluster, Context Router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4DFAF-F788-44D0-B0EB-6DD2875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기록하고, 패턴을 묶고, 오늘 필요한 취향만 선택합니다.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661C7-E708-4F4E-BCC7-10826E9F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1907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rPr>
              <a:t>Session Node</a:t>
            </a:r>
          </a:p>
          <a:p xmlns:a="http://schemas.openxmlformats.org/drawingml/2006/main">
            <a:pPr algn="ctr">
              <a:defRPr sz="16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rPr>
              <a:t>회차별 근거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BDA24-7B39-4427-A362-28B7C9C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1907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Taste Cluster</a:t>
            </a:r>
          </a:p>
          <a:p xmlns:a="http://schemas.openxmlformats.org/drawingml/2006/main">
            <a:pPr algn="ctr">
              <a:defRPr sz="16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반복되는 취향 패턴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52F85-316B-4913-B044-050E3E28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1907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15245A"/>
          </a:solidFill>
          <a:ln xmlns:a="http://schemas.openxmlformats.org/drawingml/2006/main" w="9525">
            <a:solidFill>
              <a:srgbClr val="15245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Context Router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오늘의 맥락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8B29B-D884-4A83-AA8D-DA62BD87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8003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FFC93D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프로필 블록 Phi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질의 재작성에 한 슬롯으로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2AF3B-CCE3-4574-A24D-4D5A396D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718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BFE92-73A9-4FDE-8D0A-4C2C318D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718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93749-22D8-4E65-AFB6-5B96FFDD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635B4-4A94-4E54-917E-E7156D0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Session Node는 원문 근거를 보존하고, Taste Cluster는 tentative / active / suppressed 상태를 갖습니다. Router가 불확실하면 추천보다 확인 질문을 우선합니다.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F4723-D1B4-4E86-8538-DF83C212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2F8E3-E6E7-4BB0-882D-D13996FB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E29C9-07E5-4871-B999-224C14C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221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377B9-A693-4F8C-8185-F043EFF3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04 사용자 여정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BA827-D212-4874-B357-9E4B465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말한 취향을 검색 가능한 작품 언어로 번역합니다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B5D86-DFA8-4540-88D6-F3B70422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AI는 생성보다 구조화를 먼저 수행합니다.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6AA5B-F5AF-4E13-B200-2DD60172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38125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rPr>
              <a:t>발화</a:t>
            </a:r>
          </a:p>
          <a:p xmlns:a="http://schemas.openxmlformats.org/drawingml/2006/main">
            <a:pPr algn="ctr">
              <a:defRPr sz="1725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rPr>
              <a:t>‘거친 질감, 조용한 그림’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F7C7F-9F75-400B-92DE-6075830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38125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Agent A</a:t>
            </a:r>
          </a:p>
          <a:p xmlns:a="http://schemas.openxmlformats.org/drawingml/2006/main">
            <a:pPr algn="ctr">
              <a:defRPr sz="1725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JSON + evidence span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848D4-094C-4EFF-A951-A0358CD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238125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15245A"/>
          </a:solidFill>
          <a:ln xmlns:a="http://schemas.openxmlformats.org/drawingml/2006/main" w="9525">
            <a:solidFill>
              <a:srgbClr val="15245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BM25 + dense + RRF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769D7-EC0B-44F7-8785-F5A95656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211455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FFC93D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추천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Top-10 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CE0C3-AA3E-488D-A158-B834FC32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82979-D394-4663-B7C3-CB6A50B9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EF145-FA15-4FE5-8F15-9D52AA42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71AAF-4C5C-4E2B-A330-32F85005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근거 span이 원문에 없으면 해당 신호를 저장하지 않습니다. 검색기·코퍼스·seed는 비교 조건 전체에서 고정합니다.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B34EF-97A7-4E04-ACF8-29DB80FB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D0060-34D8-4C1E-9BA3-7F6F1FC3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F74CC-E66B-4518-9ABF-19DFE3B0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8828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C1469-CDBF-4536-9295-5A53A8BC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05 2층 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56250-BF08-48FD-BBFD-78F6952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왜 맞는지와 어디서 볼 수 있는지를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8221D-7F00-4480-AA38-A7A70CC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작품 적합성과 실제 방문정보는 서로 다른 책임입니다.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1DCD4-8FB1-4382-927C-D7B13C54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953000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9E50F-A880-4711-BE28-C619445B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rPr>
              <a:t>Artwork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EEC05-537D-40B7-A796-051D250A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왜 이 작품인가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색·질감·재료·작품 해설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근거 기반 추천 이유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EB2D1-B524-451E-959B-E84490E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4953000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9992E-21C9-4151-9651-61B86DFF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Exhibition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90DE8-66CE-4178-BEB1-E7CDBD18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어디서 볼 수 있는가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기간·장소·요금·상태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snapshot 필드만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A6CAD-0D60-4628-A8DB-24AC8538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81625"/>
            <a:ext cx="60198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5245A"/>
          </a:solidFill>
          <a:ln xmlns:a="http://schemas.openxmlformats.org/drawingml/2006/main" w="9525">
            <a:solidFill>
              <a:srgbClr val="15245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6928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VERIFIED / CACHED / UNVERIFIED  |  미지지 claim은 제거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5C806-373E-41FE-9E37-98329F5F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BA846-48D9-4D1E-A8C9-37DE6BC6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C0AC1-8154-48A7-9332-B20E53EC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3642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86E10-6883-449C-9E91-FC7BF4B5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06 60초 데모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15E7F-A5B2-46CF-8A49-56DCE849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같은 사용자가 맥락을 바꾸면 추천 기준도 바뀝니다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44260-002C-4A3F-94AA-EC786AC0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화면에서 Agent A, 추천 카드, grounding 상태를 한 번에 보여줍니다.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8026A-2FF4-4FAD-8D5C-0DEC477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8096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  ‘머리가 복잡해서 묵직한 질감의 그림 앞에 혼자 있고 싶어요.’  -&gt;  사유형 cluster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D519C-B4FA-41F2-8581-714D60B8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8096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2  Agent A JSON + evidence span + active cluster  -&gt;  Top-10 작품 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63BCA-0261-4626-B7C3-56609BB1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8096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FFC93D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  ‘이번 주말에는 아이와 가요.’  -&gt;  가족 체험형 cluster로 전환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EA199-1D4E-4C77-AB8A-04973CED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화면 표기 규칙: PLAN과 MEASURED를 분리하고, audit expander로 제거된 문장과 근거 상태를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837FF-719B-4F6E-A97F-154D627B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34E62-BE46-4B98-BB3C-13ABE336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C7540-83ED-40AB-9EF6-9B91E1F5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5912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14CC5D-00F0-4371-94C9-57AD3A34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07 차별화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EFC0B-C411-4FE3-899F-B176389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규모가 아니라 맥락 분리와 근거 통제가 차별점입니다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9EF00-C32A-4DA1-AF35-6CA81C92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경쟁 서비스의 강점을 인정하고, ARTHÉMIS가 좁고 측정 가능하게 잡는 빈틈을 보여줍니다.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254FC-80FE-46F9-A404-2B8ECC5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8E9A7-CE4F-4401-AE5F-42DC5E58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1866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Google A&amp;C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3DFEB-6366-4859-BDAA-38B18227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95500"/>
            <a:ext cx="1866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Smartify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4D3E5-E331-4AEA-A00A-078E2987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1866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Artsy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6E41D-69EF-4919-8071-4C6D0BD6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66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245A"/>
          </a:solidFill>
          <a:ln xmlns:a="http://schemas.openxmlformats.org/drawingml/2006/main" w="9525">
            <a:solidFill>
              <a:srgbClr val="15245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ARTHÉMIS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5C1FA-FD18-45DD-B471-1ED6B0C2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809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글로벌 규모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D833E-8063-408B-863F-60E33504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B719F-257C-460B-A2B9-D99205F0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670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2A4E8-2B61-4368-B704-A8426D92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82BE7-8B1D-47AF-8562-45EE7D6B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초기 코퍼스부터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13F24-96D8-4D5C-BB1F-ECA65415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809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감각·상황 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FC823-FD3B-4398-AF82-88B8915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5755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CB821-ECFA-476D-9BC0-E83E64BA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5755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906CA-A7EF-49F7-8746-5303428B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7A7A9-A5A3-431B-9810-C3730EA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448AF-959E-4A06-B087-150929E1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809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장기 취향 기억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5E657-7E3F-4A37-8DCE-AA6BB0E3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약/비공개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F2DC6-078D-484C-A13E-7A1CA37A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기능 있음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E4F19-1F6B-410E-8940-C889A1FA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저장·팔로우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8F443-3E02-4714-81E1-E819026D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481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Cluster + Router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C4754-9FD9-4664-8334-52873F4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809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전시 claim 통제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2AFB7-4087-4D3F-8F2F-117429FA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3865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기관별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0672B-A418-4A4B-B7FF-E508CB50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3865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콘텐츠 중심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94003-669E-43D1-B843-EB92785B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거래 중심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34E76-8D4E-442B-9A31-B350F438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3865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55336-71A0-4B42-B9AE-BCA621E2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809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재현 평가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0D5CA-DC27-4BD8-B917-CCF95D54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서비스 목적 아님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9A522-05A0-4D3C-80E0-7F25926E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292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서비스 목적 아님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17CEB-6771-4DB9-A3B4-2F338901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292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서비스 목적 아님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05FB7-E6F1-49F8-9D44-F8B55132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1866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D9E0EE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NDCG·CR·Srec·UCR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D9128C-69B0-41D2-AC04-679C5E0A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67787C-48FE-4A43-A35D-9286FB56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DAB3A1-CFA4-4DD9-B4F6-A9D9E550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1765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C35F1-7821-4235-9555-297697F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08 고객과 수익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8A9E7-56F8-41B6-8D44-A2A6AB03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첫 고객은 관람객 경험을 개선하려는 기관입니다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C808A-B225-4143-A2D5-3A75D4BD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기관은 경험 레이어를 사고, 관람객은 기본 추천을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FD1B-892E-4191-9061-BF9912A6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85775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245A"/>
          </a:solidFill>
          <a:ln xmlns:a="http://schemas.openxmlformats.org/drawingml/2006/main" w="9525">
            <a:solidFill>
              <a:srgbClr val="15245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기관 담당자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관람 전환 · 교육 참여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재사용 · 민원 리스크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E6C9E-0B01-4594-821E-04C63D3A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43125"/>
            <a:ext cx="485775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최종 관람객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미술 초보 · 혼자 보는 직장인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가족 관람객 · 재방문 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C7DE9-5C9B-484C-937C-5CD97903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42D6"/>
                </a:solidFill>
                <a:latin typeface="Malgun Gothic"/>
                <a:ea typeface="Malgun Gothic"/>
                <a:cs typeface="Malgun Gothic"/>
              </a:rPr>
              <a:t>6주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B6B3E-987F-41B6-82E5-99598CB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Starter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FE586-C4F6-4113-9BBC-1180428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Growth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0CE81-F4D9-4DF0-BF94-8C77539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625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3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43B45"/>
                </a:solidFill>
                <a:latin typeface="Malgun Gothic"/>
                <a:ea typeface="Malgun Gothic"/>
                <a:cs typeface="Malgun Gothic"/>
              </a:rPr>
              <a:t>Enterprise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E5E88-F7AB-4D5A-924A-5E77401D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CBD6C-B64B-476F-AD1E-565EC98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가격은 PROPOSED 가설: Pilot 500만원 내외 | Starter 월 49만원 | Growth 월 149만원 | Enterprise 별도 견적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8F441-4AF7-4ADF-ACA5-91EB0D7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76F92-E4D2-4D8C-8CEA-74609159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8E465-525D-4DBE-9DC0-FBFB576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62656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D499E-DD3F-4889-8E98-D54780D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09 검증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16F95-292A-4DD8-ABB9-3BDD89F5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같은 검색기에서 기억과 grounding의 효과를 분리해 측정합니다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8A9EF-00DB-4C6D-AC2C-07381B6B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성과 수치가 아니라 실측 가능한 비교를 먼저 약속합니다.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B5D92-7F79-4C77-88ED-988660D9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52625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65718A"/>
          </a:solidFill>
          <a:ln xmlns:a="http://schemas.openxmlformats.org/drawingml/2006/main" w="9525">
            <a:solidFill>
              <a:srgbClr val="65718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B1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무기억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C531D-8A16-41D0-BDFC-2C6212BE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1952625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5B42D6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전체 이력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59112-C8F2-41F3-888F-014DFCFA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52625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F5BDB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B3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세션 요약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1A2A4-329A-468C-8437-2644530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1952625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5245A"/>
          </a:solidFill>
          <a:ln xmlns:a="http://schemas.openxmlformats.org/drawingml/2006/main" w="9525">
            <a:solidFill>
              <a:srgbClr val="15245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B4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구조화+라우터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BF717-5DFF-4850-83CC-D4F55D78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1952625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B43B45"/>
          </a:solidFill>
          <a:ln xmlns:a="http://schemas.openxmlformats.org/drawingml/2006/main" w="9525">
            <a:solidFill>
              <a:srgbClr val="B43B45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B4-U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grounding 감사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7A296-D024-491C-B411-85A7BF8C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NDCG@10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맞는 작품을 위에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높을수록 좋음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6E793-886C-47EE-BA79-37D316ED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62375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CR@10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타맥락 작품 혼입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낮을수록 좋음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5E14A-6BF4-4CDE-BDA7-59F9D376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Srec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취향 전환 회복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낮을수록 좋음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1C2C4-9771-4F5A-A2DD-08063F8D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762375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UCR / VCC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방문 claim 근거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UCR 낮고 VCC 높게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66E56-2384-40D2-BE71-D264B2E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H1: B2 -&gt; B4에서 CR@10 감소  |  H2: B1 -&gt; B4에서 NDCG@10 증가  |  실측 전 결과칸은 TO-MEASURE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A5B83-60B5-4819-B67C-53BB8413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C4EB6-C751-41D0-B556-CFA1609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57DED-C476-4D6D-8D16-D1EE615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75669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824C3-DDC1-4828-83C8-87639EA8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5BDB"/>
                </a:solidFill>
                <a:latin typeface="Malgun Gothic"/>
                <a:ea typeface="Malgun Gothic"/>
                <a:cs typeface="Malgun Gothic"/>
              </a:rPr>
              <a:t>10 실행과 안전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D07F5-B93F-424A-AD43-530D3330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6주 안에 만들 것과 하지 않을 것을 함께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F65DE-A432-4C38-95D0-D7CFC84A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구현 가능성과 통제 가능성을 같은 로드맵으로 보여줍니다.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95E7A-678C-413E-B17D-27916D03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571625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W1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1D747-AB5E-4132-B4FF-021ADB2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47875"/>
            <a:ext cx="1571625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W2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8EB41-FA52-4853-87BA-904DE9DF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47875"/>
            <a:ext cx="1571625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W3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E708A-E11D-40B2-A045-16DD232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47875"/>
            <a:ext cx="1571625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W4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Grounding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E4C81-4954-48AE-849C-46628659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47875"/>
            <a:ext cx="1571625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5B42D6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W5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실험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74E7A-AF8A-4AC5-A462-C3196A4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47875"/>
            <a:ext cx="1571625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C93D"/>
          </a:solidFill>
          <a:ln xmlns:a="http://schemas.openxmlformats.org/drawingml/2006/main" w="9525">
            <a:solidFill>
              <a:srgbClr val="FFC93D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W6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2112F-1B9A-4E0D-A3C0-ECBEC7B6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953000" cy="16668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FFC93D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안전장치</a:t>
            </a:r>
          </a:p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- raw emotion 장기 저장 금지</a:t>
            </a:r>
          </a:p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- claim whitelist + snapshot</a:t>
            </a:r>
          </a:p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- 기억 열람·수정·삭제</a:t>
            </a:r>
          </a:p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- 원본 이미지 비저장 원칙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D7C0D-825E-4D68-AA94-B46E2232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4953000" cy="16668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5BD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Go / No-Go</a:t>
            </a:r>
          </a:p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B1이 안 되면 기능을 늘리지 않음</a:t>
            </a:r>
          </a:p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CR이 높으면 Router부터 수정</a:t>
            </a:r>
          </a:p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UCR이 높으면 자유생성 금지</a:t>
            </a:r>
          </a:p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Gate 전 멀티모달·생성기 FT 유보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98A0D-7816-4FE7-B46A-B7CBA6D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A144F-344B-4BAA-A37E-7B8CFF94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ARTHÉMIS | SDU Business Competition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E8A86-AE5F-426C-8EBC-1EC74CDB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5718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13355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24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26385-7731-456B-9BDE-FB43E8D9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9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C93D"/>
                </a:solidFill>
                <a:latin typeface="Malgun Gothic"/>
                <a:ea typeface="Malgun Gothic"/>
                <a:cs typeface="Malgun Gothic"/>
              </a:rPr>
              <a:t>11 요청과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55822-BD35-4FF1-B4A8-A95C1C1E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AI가 감상을 대신하지 않고,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감상을 더 잘 만나게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64090-08FD-400B-AED3-58ADDA0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한 기관 · 한 코퍼스 · 한 전시 API로 6주 파일럿</a:t>
            </a:r>
          </a:p>
          <a:p xmlns:a="http://schemas.openxmlformats.org/drawingml/2006/main">
            <a:pPr algn="ctr">
              <a:defRPr sz="1875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245A"/>
                </a:solidFill>
                <a:latin typeface="Malgun Gothic"/>
                <a:ea typeface="Malgun Gothic"/>
                <a:cs typeface="Malgun Gothic"/>
              </a:rPr>
              <a:t>관람객 인터뷰, 큐레이터 검수, 네 지표와 실패 사례 공개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436F6-3FD0-46BB-8F86-B983A46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7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9E7FF"/>
                </a:solidFill>
                <a:latin typeface="Malgun Gothic"/>
                <a:ea typeface="Malgun Gothic"/>
                <a:cs typeface="Malgun Gothic"/>
              </a:rPr>
              <a:t>SDU 포스터 기준 접수 예정 2026.10.12-11.15 | biz@sdu.ac.kr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997A8-6937-4364-B446-A29C8BBB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9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C93D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25218-B313-4D0E-B1E6-162054B2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C93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C93D"/>
                </a:solidFill>
                <a:latin typeface="Malgun Gothic"/>
                <a:ea typeface="Malgun Gothic"/>
                <a:cs typeface="Malgun Gothic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909448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2026-09-23T09:33:45.3920000Z</dcterms:created>
  <dcterms:modified xsi:type="dcterms:W3CDTF">2026-09-23T09:33:45.3920000Z</dcterms:modified>
</coreProperties>
</file>