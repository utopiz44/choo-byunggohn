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2B3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B3A82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 아이펠톤 발표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관리비 투명화 legal-tech MVP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멀티 에이전트 파이프라인으로 관리비 부당 전가 항목을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속도로 법률 검증하고 소명·내용증명 보고서를 자동 생성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01168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· Vision Parser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· Legal/Tax Classifier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· DB/RAG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· Report Synthesizer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Agent Preview · Secure Linux Sandbox 기반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'깜깜이 관리비'가 임차인의 제2의 월세가 되는가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문제의 본질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오피스텔·원룸 시장에서 임대인의 법적 수선의무(CAPEX)와 자산 관리 비용이 '관리비'라는 명목으로 임차인에게 편법 전가되는 불투명한 부과 관행이 지속됨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EEF2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 비대칭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임차인은 법률 지식 부족으로 수선유지비·화재보험료·기획 관리비 등이 정당한 항목인지 판별하지 못하고 '제2의 월세' 형태로 부당 지출을 감수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EEF2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시장의 병목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내용증명 작성·분쟁조정위 신청 등 기존 권리구제 절차가 복잡하고, 소액 분쟁 특성상 법률 전문가의 도움을 받기 어려워 포기하는 경우가 다수 (민법상 처리)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솔루션 가치 — 영수증 한 장으로 즉시 법률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가치
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서비스는 AI 멀티 에이전트 파이프라인을 통해 관리비 영수증 한 장만으로 부당 전가 항목을 법률 검증하고, 즉시 활용 가능한 소명 및 내용증명 보고서를 자동 생성합니다.
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궁극적 지향점
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약자인 임차인의 불필요한 현금 유출을 '사전에' 방지하여 주거 안정을 도모하고, 깜깜이 관리비 시장을 법적·회계적 기준에 맞게 투명화하는 사회적·경제적 가치를 창출합니다.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96596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2423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85800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상수 시간 처리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21040" y="4389120"/>
            <a:ext cx="192024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46177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고지서 항목이 5개든 50개든, 복잡한 표 형태이든 상관없이 멀티 에이전트 파이프라인이 거의 지연 없이 단 몇 초 만에 결과를 산출한다는 의미를 시각적으로 강조한 표현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문제 해결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방법론 / 알고리즘 채택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'Agent 조합형' 설계인가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모델을 직접 선택·조합해 만들지 않고, 이미 만들어져 있는 Agent 소프트웨어를 결과 산출에 집중하도록 활용했습니다. 그 대신 시스템 아키텍처의 Gate 로직(도메인 판별 규칙)을 명확히 설계하는 데 주력했습니다.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48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'RAG 구조'를 채택했는가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법률·세무 도메인은 할루시네이션이 발생하면 안 되므로, 국가법령정보센터·대법원 판례에서 관련 항목을 직접 발췌해 Agent에게 제공하고, Agent가 이를 정리해 DB를 구축하도록 했습니다.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소스 — 직접 발췌 후 Agent가 DB화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8006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국가법령정보센터 (law.go.kr)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394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주택임대차분쟁조정위원회 사례, 대법원 판례·법령을 발췌해 법률 근거 DB 구축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461772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48006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정부24 / 세움터 (seum.go.kr)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5394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건축물대장 데이터를 선별 입력해 적용 법률을 구분할 건물 유형 DB 구축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4617720"/>
            <a:ext cx="361188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48006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K-apt / 공공데이터포털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53949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공동주택 관리비 세부 내역 데이터를 입력, OPEX 항목 비교 분석에 활용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방법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프로젝트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— 시스템 / 프레임워크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717036" y="1417320"/>
            <a:ext cx="4754880" cy="365760"/>
          </a:xfrm>
          <a:prstGeom prst="roundRect">
            <a:avLst>
              <a:gd name="adj" fmla="val 15000"/>
            </a:avLst>
          </a:prstGeom>
          <a:solidFill>
            <a:srgbClr val="2B3A82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08476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: 관리비 영수증 이미지 + 건물 메타데이터(등기부)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94476" y="1783080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42716" y="1947672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2B3A82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4156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Router — 워크플로우 오케스트레이션 &amp; 비용 최적화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4476" y="2313432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76956" y="2478024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2B3A82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8396" y="247802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· Vision Parser (Gemini 1.5 Flash-Lite)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전처리(≤800px, Grayscale) → 항목·금액·부과유형 JSON 추출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4476" y="2916936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17036" y="3081528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233385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8476" y="3081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 판단 : 단순 항목(전기·수도) vs 의심 항목(CAPEX·적립금)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4476" y="3465576"/>
            <a:ext cx="0" cy="20116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33956" y="3666744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2B3A82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5396" y="3666744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· Legal / Tax Classifier (Gemini 1.5 Pro)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 건물유형 → Gate 2·3 CAPEX/OPEX → Gate 4 세금·보험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Gate 5 정액제 과다청구 → Gate 6 관리주체(직영/위탁)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80276" y="3666744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2B3A82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1716" y="366674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· Data Manager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분쟁사례·판례 크롤링 → SQLite 정규화 저장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MCP Server로 RAG 컨텍스트 제공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97396" y="4192524"/>
            <a:ext cx="182880" cy="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076956" y="474573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D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단순 항목은 Gate 검증 없이 아래 Agent 4로 즉시 전달됩니다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94476" y="4965192"/>
            <a:ext cx="0" cy="1828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76956" y="5148072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2B3A82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8396" y="51480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· Report Synthesizer (Gemini 1.5 Pro) — 체크리스트 · 내용증명 초안 · 우회 사례 경고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94476" y="5532120"/>
            <a:ext cx="0" cy="14630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51276" y="5678424"/>
            <a:ext cx="5486400" cy="384048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2716" y="56784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: 총 초과청구액 · 임차인 체크리스트 · 숨은비용 리포트 · 액션 가이드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소개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프로젝트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/ User Scenario — 유저 인터랙션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2084832" cy="2834640"/>
          </a:xfrm>
          <a:prstGeom prst="roundRect">
            <a:avLst>
              <a:gd name="adj" fmla="val 307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업로드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31546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임차인이 관리비 영수증 사진과 건물 등기 정보를 업로드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42032" y="3246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60904" y="2057400"/>
            <a:ext cx="2084832" cy="2834640"/>
          </a:xfrm>
          <a:prstGeom prst="roundRect">
            <a:avLst>
              <a:gd name="adj" fmla="val 3070"/>
            </a:avLst>
          </a:prstGeom>
          <a:solidFill>
            <a:srgbClr val="2B3A82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25496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25496" y="31546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1이 이미지를 해석해 항목·금액·부과 방식을 구조화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45736" y="3246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64608" y="2057400"/>
            <a:ext cx="2084832" cy="2834640"/>
          </a:xfrm>
          <a:prstGeom prst="roundRect">
            <a:avLst>
              <a:gd name="adj" fmla="val 307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정형 항목은 즉시 통과, 법적 판단 필요 항목만 Agent 2로 전달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0" y="3246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68312" y="2057400"/>
            <a:ext cx="2084832" cy="2834640"/>
          </a:xfrm>
          <a:prstGeom prst="roundRect">
            <a:avLst>
              <a:gd name="adj" fmla="val 3070"/>
            </a:avLst>
          </a:prstGeom>
          <a:solidFill>
            <a:srgbClr val="2B3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2904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32904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32904" y="31546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2가 Gate 0~6으로 판정하고 Agent 3의 RAG로 유사 분쟁사례를 근거로 결합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53144" y="3246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72016" y="2057400"/>
            <a:ext cx="2084832" cy="2834640"/>
          </a:xfrm>
          <a:prstGeom prst="roundRect">
            <a:avLst>
              <a:gd name="adj" fmla="val 307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436608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436608" y="2743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생성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36608" y="315468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4가 체크리스트·내용증명 초안·경고 리포트를 종합해 반환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1663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 수(5개~50개)와 무관하게 수 초 내 일정한 응답 시간(O(1) 체감) · MVP는 '장기수선충당금' 항목 법률 DB 구축에 집중, 향후 다른 항목으로 확장 예정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소개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평가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양적평가 (Quantitatively)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 대상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판정 정확도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Gold-standard 라벨셋(전문가 판정) vs Agent 2 VERDICT 대조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Precision/Recall/F1, Confusion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오분류 위험 가중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B→A 오분류(False Negative)는 실제 피해로 직결 → Recall 우선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F2-score (Recall 가중)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추출 정확도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1 추출 항목명·금액을 원본 영수증과 대조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CER/WER, 금액 추출 오류율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초과청구액 추정 오차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5 추정 초과금액과 전문가 추정액 비교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처리시간 검증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 수(5~50개)별 응답 지연시간 측정 후 회귀분석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회귀계수 유의성 t-test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단계별 기여도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0~6 중 특정 게이트 제거 시 성능 변화 측정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Study (Gate별 F1 변화량)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평가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질적평가 (Qualitatively)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65960"/>
            <a:ext cx="73152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전문가 검수 (Expert Review)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공인중개사·법률 자문 인력이 Agent 2 판정 근거(REASON, LEGAL_BASIS)를 3단계(타당/불충분/오류)로 평가 → 전문가 동의율 산출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965960"/>
            <a:ext cx="73152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94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사용자 이해도·실행가능성 평가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임차인 대상 사용성 테스트로 '결과 이해도'와 '체크리스트·내용증명 초안 활용 의사'를 리커트 척도로 측정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206240"/>
            <a:ext cx="73152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348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사례 재현 연구 (Case Study)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공개된 관리비 분쟁조정 사례 3~5건을 재현 입력해 Agent 판정과 실제 조정위/판례 결과를 비교, 시사점 도출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206240"/>
            <a:ext cx="73152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4348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우회(꼼수) 탐지력 평가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4983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HIDDEN_FEE_REPORT가 실무의 알려진 관리비 꼼수 유형을 얼마나 커버하는지 체크리스트 기반으로 정성 평가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평가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비교 우수성 / 차별점 제시 방법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표준화된 '관리비 판별 AI' 벤치마크가 없는 신규 도메인이므로, 다음 두 축으로 비교 우위를 제시합니다.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Baseline 비교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법률 비전문가(일반 임차인)가 동일한 영수증을 수작업으로 판별했을 때의 정확도·소요시간을 baseline으로 설정하고, Agent 파이프라인의 정확도·소요시간과 비교합니다.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'전문가 도움 없이 사람이 직접 하면 vs AI가 하면'의 차이를 정량적으로 제시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2B3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권리구제 절차 대비 효율성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내용증명 작성·분쟁조정위 신청 등 기존 절차의 평균 소요기간(수일~수주)·비용(유상 법률상담료)과, 본 서비스의 처리시간(초 단위)·비용(무료/저비용)을 비교표로 제시합니다.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'더 정확하다'보다 '동일 판단에 도달하는 시간·비용을 극적으로 줄였다'는 차별점 — O(1) 강조 서사와 자연스럽게 연결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평가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Recall(재현율)과 F2-score가 핵심인가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법률·회계·금융 도메인에서는 '오답의 종류에 따른 비대칭적 리스크'가 존재합니다.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 — 리스크 작음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임차인 부담 항목인데 '불법 꼼수'라고 잘못 판정한 경우 → 세입자가 집주인·중개사에게 확인 후 "소모성 수선비 맞네요"로 쉽게 해소됨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457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Negative — 리스크 치명적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560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임대인 편법 전가인데 '정상'이라 놓치고 통과시킨 경우 → 세입자가 매달 억울하게 남의 건물 보수비를 부담 (서비스 신뢰도 치명상, 실제 금전 피해)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False Negative를 최소화하는 것이 최우선이므로 Precision보다 Recall(및 Recall 가중 F2-score)을 핵심 지표로 채택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916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480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 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 에이전트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지표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인식/파싱 평가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1 (Vision/OCR)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 / WER, extraction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법률/추론 평가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2 (Classifier)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Recall, Precision, F2-score,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시스템/성능 평가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파이프라인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(O(1) t-test), Ablation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평가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평가 실행 방법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방식 1 · 평가 전담 샌드박스 스크립트로 자동화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Gold-Standard 데이터셋 준비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감정평가·법률 지식으로 라벨링한 테스트 영수증 30~50건을 test_dataset.json으로 구성 (입력 + 전문가 정답 VERDICT)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평가 실행 (Batched Evaluation)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에이전트가 샌드박스 내에서 code_execution으로 Agent 2 로직을 데이터셋만큼 순회 호출하고, Recall·Precision·F2-score를 계산한 eval_report.json을 생성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94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방식 2 · 외부 파이썬 테스트 스크립트 (개발자용 정석)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에이전트 지시서 유지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앞서 세팅한 순수 파이프라인(Agent 1~4) 지시서를 그대로 유지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테스트 데이터 세팅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꼼수 영수증(Class B) 20건, 정상 영수증(Class A) 10건으로 테스트 세트 구성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평가 실행
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/ scikit-learn으로 API를 N회 호출해 혼동행렬과 Recall(적발률)을 자동 산출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FUTURE WORK 및 팀 회고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KPT 회고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40280"/>
            <a:ext cx="594360" cy="5943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감정평가사·세무회계·부동산 거래 지식을 바탕으로, 추가 학습을 거쳐 보다 정교하게 만들어진 지시서(Gate 로직)를 완성했다.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9659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2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24028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760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301752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모델을 깊이 이해하고 파인튜닝한 경험이 아니라 전체 flow 설계·관리에 그쳤다. 법률 해석의 비중이 큰데 사례 정리와 해석을 뒷받침하기엔 부족해 향후 전문가 검토가 필요하다.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2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2240280"/>
            <a:ext cx="594360" cy="5943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89136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7616" y="301752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파이프라인을 돌려 검증이 필요하다. 아키텍처가 다소 하드코딩되어 있어 자연스러운 대화형 디코딩이 아닌 한정된 내용만 작성되는 한계를 개선할 방법을 시도해볼 것.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및 팀 회고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2B3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기타. 레퍼런스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개인이 직접 창작했습니다.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3566160"/>
            <a:ext cx="201168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관리비 투명화 legal-tech MVP · Antigravity Multi-Agent Pipeline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2026-08-19T02:33:03Z</dcterms:created>
  <dcterms:modified xsi:type="dcterms:W3CDTF">2026-08-19T02:33:03Z</dcterms:modified>
</cp:coreProperties>
</file>