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81" r:id="rId2"/>
    <p:sldId id="338" r:id="rId3"/>
    <p:sldId id="258" r:id="rId4"/>
    <p:sldId id="339" r:id="rId5"/>
    <p:sldId id="340" r:id="rId6"/>
    <p:sldId id="347" r:id="rId7"/>
    <p:sldId id="341" r:id="rId8"/>
    <p:sldId id="342" r:id="rId9"/>
    <p:sldId id="343" r:id="rId10"/>
    <p:sldId id="346" r:id="rId11"/>
    <p:sldId id="349" r:id="rId12"/>
  </p:sldIdLst>
  <p:sldSz cx="12192000" cy="6858000"/>
  <p:notesSz cx="6858000" cy="9144000"/>
  <p:embeddedFontLst>
    <p:embeddedFont>
      <p:font typeface="Arial Black" panose="020B0A04020102020204" pitchFamily="34" charset="0"/>
      <p:bold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Lato Black" panose="020F0502020204030203" pitchFamily="34" charset="0"/>
      <p:bold r:id="rId23"/>
      <p:boldItalic r:id="rId24"/>
    </p:embeddedFont>
    <p:embeddedFont>
      <p:font typeface="맑은 고딕" panose="020B0503020000020004" pitchFamily="50" charset="-127"/>
      <p:regular r:id="rId25"/>
      <p:bold r:id="rId26"/>
    </p:embeddedFont>
    <p:embeddedFont>
      <p:font typeface="맑은 고딕" panose="020B0503020000020004" pitchFamily="50" charset="-127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273">
          <p15:clr>
            <a:srgbClr val="A4A3A4"/>
          </p15:clr>
        </p15:guide>
        <p15:guide id="4" orient="horz" pos="236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i+ersv8PcazWWcze3mvvXb8hE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D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A5E9372-258E-4909-98E1-6046A5434DE0}">
  <a:tblStyle styleId="{8A5E9372-258E-4909-98E1-6046A5434DE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rgbClr val="E6E6E6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6E6E6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Calibri"/>
          <a:ea typeface="Calibri"/>
          <a:cs typeface="Calibri"/>
        </a:font>
        <a:schemeClr val="dk1"/>
      </a:tcTxStyle>
      <a:tcStyle>
        <a:tcBdr/>
      </a:tcStyle>
    </a:seCell>
    <a:swCell>
      <a:tcTxStyle b="on" i="off">
        <a:font>
          <a:latin typeface="Calibri"/>
          <a:ea typeface="Calibri"/>
          <a:cs typeface="Calibri"/>
        </a:font>
        <a:schemeClr val="dk1"/>
      </a:tcTxStyle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A5AF8BC-F756-4954-B74A-01204142176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412" autoAdjust="0"/>
  </p:normalViewPr>
  <p:slideViewPr>
    <p:cSldViewPr snapToGrid="0">
      <p:cViewPr varScale="1">
        <p:scale>
          <a:sx n="99" d="100"/>
          <a:sy n="99" d="100"/>
        </p:scale>
        <p:origin x="996" y="90"/>
      </p:cViewPr>
      <p:guideLst>
        <p:guide orient="horz" pos="2160"/>
        <p:guide pos="3840"/>
        <p:guide orient="horz" pos="2273"/>
        <p:guide orient="horz" pos="23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C0D4F4-D202-4046-AC90-B9F2B28A3ACB}" type="doc">
      <dgm:prSet loTypeId="urn:microsoft.com/office/officeart/2009/layout/CircleArrow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FCE2B9B3-5839-4633-9DDC-3F88FD05EB1C}">
      <dgm:prSet phldrT="[텍스트]" custT="1"/>
      <dgm:spPr/>
      <dgm:t>
        <a:bodyPr/>
        <a:lstStyle/>
        <a:p>
          <a:pPr latinLnBrk="1"/>
          <a:r>
            <a:rPr lang="ko-KR" altLang="en-US" sz="1400" dirty="0"/>
            <a:t>문단과 질의간</a:t>
          </a:r>
          <a:endParaRPr lang="en-US" altLang="ko-KR" sz="1400" dirty="0"/>
        </a:p>
        <a:p>
          <a:pPr latinLnBrk="1"/>
          <a:r>
            <a:rPr lang="ko-KR" altLang="en-US" sz="1400" dirty="0"/>
            <a:t> 유사도 측정</a:t>
          </a:r>
          <a:endParaRPr lang="en-US" altLang="ko-KR" sz="1400" dirty="0"/>
        </a:p>
        <a:p>
          <a:pPr latinLnBrk="1"/>
          <a:r>
            <a:rPr lang="en-US" altLang="ko-KR" sz="1400" dirty="0"/>
            <a:t>(</a:t>
          </a:r>
          <a:r>
            <a:rPr lang="ko-KR" altLang="en-US" sz="1400" dirty="0"/>
            <a:t>모델 학습</a:t>
          </a:r>
          <a:r>
            <a:rPr lang="en-US" altLang="ko-KR" sz="1400" dirty="0"/>
            <a:t>)</a:t>
          </a:r>
        </a:p>
      </dgm:t>
    </dgm:pt>
    <dgm:pt modelId="{3352EDB2-1A05-40DB-B30C-CC98DE54BD66}" type="parTrans" cxnId="{C43DB9C8-C4BC-40EA-B856-FDF33A96E9EE}">
      <dgm:prSet/>
      <dgm:spPr/>
      <dgm:t>
        <a:bodyPr/>
        <a:lstStyle/>
        <a:p>
          <a:pPr latinLnBrk="1"/>
          <a:endParaRPr lang="ko-KR" altLang="en-US"/>
        </a:p>
      </dgm:t>
    </dgm:pt>
    <dgm:pt modelId="{F46956F1-8138-4CFE-8639-198587CC3422}" type="sibTrans" cxnId="{C43DB9C8-C4BC-40EA-B856-FDF33A96E9EE}">
      <dgm:prSet/>
      <dgm:spPr/>
      <dgm:t>
        <a:bodyPr/>
        <a:lstStyle/>
        <a:p>
          <a:pPr latinLnBrk="1"/>
          <a:endParaRPr lang="ko-KR" altLang="en-US"/>
        </a:p>
      </dgm:t>
    </dgm:pt>
    <dgm:pt modelId="{36707158-2A7F-4470-8614-D2441D89B8CC}">
      <dgm:prSet phldrT="[텍스트]" custT="1"/>
      <dgm:spPr/>
      <dgm:t>
        <a:bodyPr/>
        <a:lstStyle/>
        <a:p>
          <a:pPr latinLnBrk="1"/>
          <a:r>
            <a:rPr lang="ko-KR" altLang="en-US" sz="1400" dirty="0"/>
            <a:t>신규 질문 입력</a:t>
          </a:r>
        </a:p>
      </dgm:t>
    </dgm:pt>
    <dgm:pt modelId="{4EFA4F70-896C-4CA5-A09B-466B6E504898}" type="parTrans" cxnId="{96906AC7-7F8B-468C-9BD7-C3DABE97B889}">
      <dgm:prSet/>
      <dgm:spPr/>
      <dgm:t>
        <a:bodyPr/>
        <a:lstStyle/>
        <a:p>
          <a:pPr latinLnBrk="1"/>
          <a:endParaRPr lang="ko-KR" altLang="en-US"/>
        </a:p>
      </dgm:t>
    </dgm:pt>
    <dgm:pt modelId="{91A5F8D8-3FE3-4D01-8378-915C11054DA2}" type="sibTrans" cxnId="{96906AC7-7F8B-468C-9BD7-C3DABE97B889}">
      <dgm:prSet/>
      <dgm:spPr/>
      <dgm:t>
        <a:bodyPr/>
        <a:lstStyle/>
        <a:p>
          <a:pPr latinLnBrk="1"/>
          <a:endParaRPr lang="ko-KR" altLang="en-US"/>
        </a:p>
      </dgm:t>
    </dgm:pt>
    <dgm:pt modelId="{95092794-8EB8-4866-8BC4-19AB699FD825}">
      <dgm:prSet phldrT="[텍스트]" custT="1"/>
      <dgm:spPr/>
      <dgm:t>
        <a:bodyPr/>
        <a:lstStyle/>
        <a:p>
          <a:pPr latinLnBrk="1"/>
          <a:r>
            <a:rPr lang="ko-KR" altLang="en-US" sz="1400" dirty="0"/>
            <a:t>유사도 측정</a:t>
          </a:r>
          <a:endParaRPr lang="en-US" altLang="ko-KR" sz="1400" dirty="0"/>
        </a:p>
        <a:p>
          <a:pPr latinLnBrk="1"/>
          <a:r>
            <a:rPr lang="en-US" altLang="ko-KR" sz="1400" dirty="0"/>
            <a:t>(</a:t>
          </a:r>
          <a:r>
            <a:rPr lang="ko-KR" altLang="en-US" sz="1400" dirty="0"/>
            <a:t>해당 문단 제시</a:t>
          </a:r>
          <a:r>
            <a:rPr lang="en-US" altLang="ko-KR" sz="1400" dirty="0"/>
            <a:t>)</a:t>
          </a:r>
          <a:endParaRPr lang="ko-KR" altLang="en-US" sz="1400" dirty="0"/>
        </a:p>
      </dgm:t>
    </dgm:pt>
    <dgm:pt modelId="{EFEF8832-0B33-43B0-A1C7-D1A8062E965F}" type="parTrans" cxnId="{5B9A1BD0-C5F3-4E28-98BA-4E08BB81764E}">
      <dgm:prSet/>
      <dgm:spPr/>
      <dgm:t>
        <a:bodyPr/>
        <a:lstStyle/>
        <a:p>
          <a:pPr latinLnBrk="1"/>
          <a:endParaRPr lang="ko-KR" altLang="en-US"/>
        </a:p>
      </dgm:t>
    </dgm:pt>
    <dgm:pt modelId="{99B373BD-ED5E-4E00-B551-F4E545897374}" type="sibTrans" cxnId="{5B9A1BD0-C5F3-4E28-98BA-4E08BB81764E}">
      <dgm:prSet/>
      <dgm:spPr/>
      <dgm:t>
        <a:bodyPr/>
        <a:lstStyle/>
        <a:p>
          <a:pPr latinLnBrk="1"/>
          <a:endParaRPr lang="ko-KR" altLang="en-US"/>
        </a:p>
      </dgm:t>
    </dgm:pt>
    <dgm:pt modelId="{C4CC960A-5D7A-4DB8-8237-ABDAA6AF78B8}" type="pres">
      <dgm:prSet presAssocID="{40C0D4F4-D202-4046-AC90-B9F2B28A3ACB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FDA340C9-AC86-4436-A9B3-206541B62C7F}" type="pres">
      <dgm:prSet presAssocID="{FCE2B9B3-5839-4633-9DDC-3F88FD05EB1C}" presName="Accent1" presStyleCnt="0"/>
      <dgm:spPr/>
    </dgm:pt>
    <dgm:pt modelId="{A7B6F021-9AEB-45D4-9BAE-06BB7CBFD746}" type="pres">
      <dgm:prSet presAssocID="{FCE2B9B3-5839-4633-9DDC-3F88FD05EB1C}" presName="Accent" presStyleLbl="node1" presStyleIdx="0" presStyleCnt="3"/>
      <dgm:spPr/>
    </dgm:pt>
    <dgm:pt modelId="{547C904A-46B4-45FF-8979-DF14C85D56EE}" type="pres">
      <dgm:prSet presAssocID="{FCE2B9B3-5839-4633-9DDC-3F88FD05EB1C}" presName="Parent1" presStyleLbl="revTx" presStyleIdx="0" presStyleCnt="3" custScaleX="283993" custLinFactX="-28566" custLinFactNeighborX="-100000" custLinFactNeighborY="-46532">
        <dgm:presLayoutVars>
          <dgm:chMax val="1"/>
          <dgm:chPref val="1"/>
          <dgm:bulletEnabled val="1"/>
        </dgm:presLayoutVars>
      </dgm:prSet>
      <dgm:spPr/>
    </dgm:pt>
    <dgm:pt modelId="{45920A26-5F2E-4456-A023-EBCE81E761C6}" type="pres">
      <dgm:prSet presAssocID="{36707158-2A7F-4470-8614-D2441D89B8CC}" presName="Accent2" presStyleCnt="0"/>
      <dgm:spPr/>
    </dgm:pt>
    <dgm:pt modelId="{F05EFFE1-642B-473D-B68D-61BCC1B6F565}" type="pres">
      <dgm:prSet presAssocID="{36707158-2A7F-4470-8614-D2441D89B8CC}" presName="Accent" presStyleLbl="node1" presStyleIdx="1" presStyleCnt="3"/>
      <dgm:spPr/>
    </dgm:pt>
    <dgm:pt modelId="{B9307846-3968-4351-B217-FDF007BAED2E}" type="pres">
      <dgm:prSet presAssocID="{36707158-2A7F-4470-8614-D2441D89B8CC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C10C2065-26FA-431E-BD65-750695532E6C}" type="pres">
      <dgm:prSet presAssocID="{95092794-8EB8-4866-8BC4-19AB699FD825}" presName="Accent3" presStyleCnt="0"/>
      <dgm:spPr/>
    </dgm:pt>
    <dgm:pt modelId="{34A81F7B-05B1-4FAA-A8B3-A2B91728F572}" type="pres">
      <dgm:prSet presAssocID="{95092794-8EB8-4866-8BC4-19AB699FD825}" presName="Accent" presStyleLbl="node1" presStyleIdx="2" presStyleCnt="3"/>
      <dgm:spPr/>
    </dgm:pt>
    <dgm:pt modelId="{DDA678BF-1C7B-4ACE-B0E0-9CFC49D0B901}" type="pres">
      <dgm:prSet presAssocID="{95092794-8EB8-4866-8BC4-19AB699FD825}" presName="Parent3" presStyleLbl="revTx" presStyleIdx="2" presStyleCnt="3" custScaleX="214495" custLinFactX="40368" custLinFactNeighborX="100000" custLinFactNeighborY="31880">
        <dgm:presLayoutVars>
          <dgm:chMax val="1"/>
          <dgm:chPref val="1"/>
          <dgm:bulletEnabled val="1"/>
        </dgm:presLayoutVars>
      </dgm:prSet>
      <dgm:spPr/>
    </dgm:pt>
  </dgm:ptLst>
  <dgm:cxnLst>
    <dgm:cxn modelId="{DE151355-14E1-452E-A737-D44F39230893}" type="presOf" srcId="{36707158-2A7F-4470-8614-D2441D89B8CC}" destId="{B9307846-3968-4351-B217-FDF007BAED2E}" srcOrd="0" destOrd="0" presId="urn:microsoft.com/office/officeart/2009/layout/CircleArrowProcess"/>
    <dgm:cxn modelId="{96906AC7-7F8B-468C-9BD7-C3DABE97B889}" srcId="{40C0D4F4-D202-4046-AC90-B9F2B28A3ACB}" destId="{36707158-2A7F-4470-8614-D2441D89B8CC}" srcOrd="1" destOrd="0" parTransId="{4EFA4F70-896C-4CA5-A09B-466B6E504898}" sibTransId="{91A5F8D8-3FE3-4D01-8378-915C11054DA2}"/>
    <dgm:cxn modelId="{C43DB9C8-C4BC-40EA-B856-FDF33A96E9EE}" srcId="{40C0D4F4-D202-4046-AC90-B9F2B28A3ACB}" destId="{FCE2B9B3-5839-4633-9DDC-3F88FD05EB1C}" srcOrd="0" destOrd="0" parTransId="{3352EDB2-1A05-40DB-B30C-CC98DE54BD66}" sibTransId="{F46956F1-8138-4CFE-8639-198587CC3422}"/>
    <dgm:cxn modelId="{5B9A1BD0-C5F3-4E28-98BA-4E08BB81764E}" srcId="{40C0D4F4-D202-4046-AC90-B9F2B28A3ACB}" destId="{95092794-8EB8-4866-8BC4-19AB699FD825}" srcOrd="2" destOrd="0" parTransId="{EFEF8832-0B33-43B0-A1C7-D1A8062E965F}" sibTransId="{99B373BD-ED5E-4E00-B551-F4E545897374}"/>
    <dgm:cxn modelId="{A41C0DDB-9FE0-4BA9-9FF7-35F56BED49CF}" type="presOf" srcId="{40C0D4F4-D202-4046-AC90-B9F2B28A3ACB}" destId="{C4CC960A-5D7A-4DB8-8237-ABDAA6AF78B8}" srcOrd="0" destOrd="0" presId="urn:microsoft.com/office/officeart/2009/layout/CircleArrowProcess"/>
    <dgm:cxn modelId="{2DB76FE0-623A-4CBB-B812-0D199BFBC86A}" type="presOf" srcId="{FCE2B9B3-5839-4633-9DDC-3F88FD05EB1C}" destId="{547C904A-46B4-45FF-8979-DF14C85D56EE}" srcOrd="0" destOrd="0" presId="urn:microsoft.com/office/officeart/2009/layout/CircleArrowProcess"/>
    <dgm:cxn modelId="{019A69F5-93E8-4054-A429-CC05F675103D}" type="presOf" srcId="{95092794-8EB8-4866-8BC4-19AB699FD825}" destId="{DDA678BF-1C7B-4ACE-B0E0-9CFC49D0B901}" srcOrd="0" destOrd="0" presId="urn:microsoft.com/office/officeart/2009/layout/CircleArrowProcess"/>
    <dgm:cxn modelId="{3B011010-047B-4E98-925B-ADC462542974}" type="presParOf" srcId="{C4CC960A-5D7A-4DB8-8237-ABDAA6AF78B8}" destId="{FDA340C9-AC86-4436-A9B3-206541B62C7F}" srcOrd="0" destOrd="0" presId="urn:microsoft.com/office/officeart/2009/layout/CircleArrowProcess"/>
    <dgm:cxn modelId="{1A53849B-35C7-4C24-B8FB-C5FE567044E0}" type="presParOf" srcId="{FDA340C9-AC86-4436-A9B3-206541B62C7F}" destId="{A7B6F021-9AEB-45D4-9BAE-06BB7CBFD746}" srcOrd="0" destOrd="0" presId="urn:microsoft.com/office/officeart/2009/layout/CircleArrowProcess"/>
    <dgm:cxn modelId="{28183D85-2E51-4F49-B39C-48359D75C129}" type="presParOf" srcId="{C4CC960A-5D7A-4DB8-8237-ABDAA6AF78B8}" destId="{547C904A-46B4-45FF-8979-DF14C85D56EE}" srcOrd="1" destOrd="0" presId="urn:microsoft.com/office/officeart/2009/layout/CircleArrowProcess"/>
    <dgm:cxn modelId="{FA106E21-01CA-4E8C-8A7D-746C76396809}" type="presParOf" srcId="{C4CC960A-5D7A-4DB8-8237-ABDAA6AF78B8}" destId="{45920A26-5F2E-4456-A023-EBCE81E761C6}" srcOrd="2" destOrd="0" presId="urn:microsoft.com/office/officeart/2009/layout/CircleArrowProcess"/>
    <dgm:cxn modelId="{7B44915F-0693-4D80-A17E-5707674A99CA}" type="presParOf" srcId="{45920A26-5F2E-4456-A023-EBCE81E761C6}" destId="{F05EFFE1-642B-473D-B68D-61BCC1B6F565}" srcOrd="0" destOrd="0" presId="urn:microsoft.com/office/officeart/2009/layout/CircleArrowProcess"/>
    <dgm:cxn modelId="{CB880C79-394E-4719-9454-6FBABFE16A97}" type="presParOf" srcId="{C4CC960A-5D7A-4DB8-8237-ABDAA6AF78B8}" destId="{B9307846-3968-4351-B217-FDF007BAED2E}" srcOrd="3" destOrd="0" presId="urn:microsoft.com/office/officeart/2009/layout/CircleArrowProcess"/>
    <dgm:cxn modelId="{561555E9-CFF9-4E7D-BAC9-FBABA6DCCDD2}" type="presParOf" srcId="{C4CC960A-5D7A-4DB8-8237-ABDAA6AF78B8}" destId="{C10C2065-26FA-431E-BD65-750695532E6C}" srcOrd="4" destOrd="0" presId="urn:microsoft.com/office/officeart/2009/layout/CircleArrowProcess"/>
    <dgm:cxn modelId="{678BB4B0-24FB-44A5-9EAF-C40D2D6DFB7D}" type="presParOf" srcId="{C10C2065-26FA-431E-BD65-750695532E6C}" destId="{34A81F7B-05B1-4FAA-A8B3-A2B91728F572}" srcOrd="0" destOrd="0" presId="urn:microsoft.com/office/officeart/2009/layout/CircleArrowProcess"/>
    <dgm:cxn modelId="{B2082703-A20E-4012-A52D-5005BFC5F4AC}" type="presParOf" srcId="{C4CC960A-5D7A-4DB8-8237-ABDAA6AF78B8}" destId="{DDA678BF-1C7B-4ACE-B0E0-9CFC49D0B901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B6F021-9AEB-45D4-9BAE-06BB7CBFD746}">
      <dsp:nvSpPr>
        <dsp:cNvPr id="0" name=""/>
        <dsp:cNvSpPr/>
      </dsp:nvSpPr>
      <dsp:spPr>
        <a:xfrm>
          <a:off x="2404255" y="0"/>
          <a:ext cx="1748155" cy="1748421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7C904A-46B4-45FF-8979-DF14C85D56EE}">
      <dsp:nvSpPr>
        <dsp:cNvPr id="0" name=""/>
        <dsp:cNvSpPr/>
      </dsp:nvSpPr>
      <dsp:spPr>
        <a:xfrm>
          <a:off x="648075" y="405277"/>
          <a:ext cx="2758754" cy="485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문단과 질의간</a:t>
          </a:r>
          <a:endParaRPr lang="en-US" altLang="ko-KR" sz="1400" kern="1200" dirty="0"/>
        </a:p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 유사도 측정</a:t>
          </a:r>
          <a:endParaRPr lang="en-US" altLang="ko-KR" sz="1400" kern="1200" dirty="0"/>
        </a:p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/>
            <a:t>(</a:t>
          </a:r>
          <a:r>
            <a:rPr lang="ko-KR" altLang="en-US" sz="1400" kern="1200" dirty="0"/>
            <a:t>모델 학습</a:t>
          </a:r>
          <a:r>
            <a:rPr lang="en-US" altLang="ko-KR" sz="1400" kern="1200" dirty="0"/>
            <a:t>)</a:t>
          </a:r>
        </a:p>
      </dsp:txBody>
      <dsp:txXfrm>
        <a:off x="648075" y="405277"/>
        <a:ext cx="2758754" cy="485591"/>
      </dsp:txXfrm>
    </dsp:sp>
    <dsp:sp modelId="{F05EFFE1-642B-473D-B68D-61BCC1B6F565}">
      <dsp:nvSpPr>
        <dsp:cNvPr id="0" name=""/>
        <dsp:cNvSpPr/>
      </dsp:nvSpPr>
      <dsp:spPr>
        <a:xfrm>
          <a:off x="1918711" y="1004597"/>
          <a:ext cx="1748155" cy="1748421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307846-3968-4351-B217-FDF007BAED2E}">
      <dsp:nvSpPr>
        <dsp:cNvPr id="0" name=""/>
        <dsp:cNvSpPr/>
      </dsp:nvSpPr>
      <dsp:spPr>
        <a:xfrm>
          <a:off x="2307081" y="1641642"/>
          <a:ext cx="971416" cy="485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신규 질문 입력</a:t>
          </a:r>
        </a:p>
      </dsp:txBody>
      <dsp:txXfrm>
        <a:off x="2307081" y="1641642"/>
        <a:ext cx="971416" cy="485591"/>
      </dsp:txXfrm>
    </dsp:sp>
    <dsp:sp modelId="{34A81F7B-05B1-4FAA-A8B3-A2B91728F572}">
      <dsp:nvSpPr>
        <dsp:cNvPr id="0" name=""/>
        <dsp:cNvSpPr/>
      </dsp:nvSpPr>
      <dsp:spPr>
        <a:xfrm>
          <a:off x="2528678" y="2129413"/>
          <a:ext cx="1501936" cy="1502538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A678BF-1C7B-4ACE-B0E0-9CFC49D0B901}">
      <dsp:nvSpPr>
        <dsp:cNvPr id="0" name=""/>
        <dsp:cNvSpPr/>
      </dsp:nvSpPr>
      <dsp:spPr>
        <a:xfrm>
          <a:off x="3600400" y="2808310"/>
          <a:ext cx="2083639" cy="485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유사도 측정</a:t>
          </a:r>
          <a:endParaRPr lang="en-US" altLang="ko-KR" sz="1400" kern="1200" dirty="0"/>
        </a:p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/>
            <a:t>(</a:t>
          </a:r>
          <a:r>
            <a:rPr lang="ko-KR" altLang="en-US" sz="1400" kern="1200" dirty="0"/>
            <a:t>해당 문단 제시</a:t>
          </a:r>
          <a:r>
            <a:rPr lang="en-US" altLang="ko-KR" sz="1400" kern="1200" dirty="0"/>
            <a:t>)</a:t>
          </a:r>
          <a:endParaRPr lang="ko-KR" altLang="en-US" sz="1400" kern="1200" dirty="0"/>
        </a:p>
      </dsp:txBody>
      <dsp:txXfrm>
        <a:off x="3600400" y="2808310"/>
        <a:ext cx="2083639" cy="4855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9460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962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1615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91318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4405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33933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7082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제목 슬라이드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/>
          <p:nvPr/>
        </p:nvSpPr>
        <p:spPr>
          <a:xfrm rot="-5400000">
            <a:off x="11796713" y="6462713"/>
            <a:ext cx="334962" cy="455612"/>
          </a:xfrm>
          <a:prstGeom prst="rtTriangle">
            <a:avLst/>
          </a:prstGeom>
          <a:solidFill>
            <a:srgbClr val="44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슬라이드">
  <p:cSld name="2_제목 슬라이드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/>
          <p:nvPr/>
        </p:nvSpPr>
        <p:spPr>
          <a:xfrm rot="-5400000">
            <a:off x="11796713" y="6462713"/>
            <a:ext cx="334962" cy="45561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>
  <p:cSld name="1_제목 슬라이드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/>
          <p:nvPr/>
        </p:nvSpPr>
        <p:spPr>
          <a:xfrm rot="-5400000">
            <a:off x="11796713" y="6462713"/>
            <a:ext cx="334962" cy="45561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dex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2">
            <a:extLst>
              <a:ext uri="{FF2B5EF4-FFF2-40B4-BE49-F238E27FC236}">
                <a16:creationId xmlns:a16="http://schemas.microsoft.com/office/drawing/2014/main" id="{13F1B7E7-4F0F-45D1-B714-FA52F0C858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964536" y="1086084"/>
            <a:ext cx="1853645" cy="566868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4200">
                <a:latin typeface="Lato" panose="020F0502020204030203" pitchFamily="34" charset="0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INDEX</a:t>
            </a:r>
            <a:endParaRPr lang="ko-KR" altLang="en-US" dirty="0"/>
          </a:p>
        </p:txBody>
      </p:sp>
      <p:sp>
        <p:nvSpPr>
          <p:cNvPr id="11" name="텍스트 개체 틀 24">
            <a:extLst>
              <a:ext uri="{FF2B5EF4-FFF2-40B4-BE49-F238E27FC236}">
                <a16:creationId xmlns:a16="http://schemas.microsoft.com/office/drawing/2014/main" id="{103F8B7A-76C9-473E-BDA5-88871271DE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89008" y="2598925"/>
            <a:ext cx="4374106" cy="293743"/>
          </a:xfrm>
        </p:spPr>
        <p:txBody>
          <a:bodyPr>
            <a:normAutofit/>
          </a:bodyPr>
          <a:lstStyle>
            <a:lvl1pPr marL="0" indent="0">
              <a:lnSpc>
                <a:spcPct val="60000"/>
              </a:lnSpc>
              <a:buNone/>
              <a:defRPr sz="1200" spc="-70" baseline="0">
                <a:solidFill>
                  <a:srgbClr val="333333"/>
                </a:solidFill>
                <a:latin typeface="Arial Black" panose="020B0A04020102020204" pitchFamily="34" charset="0"/>
                <a:ea typeface="SpoqaHanSansJP-Light" panose="020B0300000000000000" pitchFamily="50" charset="-127"/>
              </a:defRPr>
            </a:lvl1pPr>
          </a:lstStyle>
          <a:p>
            <a:pPr lvl="0"/>
            <a:r>
              <a:rPr lang="ko-KR" altLang="en-US" dirty="0"/>
              <a:t>간략한 설명을 적어주세요</a:t>
            </a:r>
            <a:endParaRPr lang="en-US" altLang="ko-KR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4493F03B-52DE-4CC9-8657-04DDCFF7EE6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99708" y="2163936"/>
            <a:ext cx="728229" cy="56686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rgbClr val="FFBC11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6" name="텍스트 개체 틀 14">
            <a:extLst>
              <a:ext uri="{FF2B5EF4-FFF2-40B4-BE49-F238E27FC236}">
                <a16:creationId xmlns:a16="http://schemas.microsoft.com/office/drawing/2014/main" id="{9CB7B446-45E3-48A1-96F6-3C34AE00D1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73079" y="2175665"/>
            <a:ext cx="4374105" cy="410136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rgbClr val="000000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7" name="텍스트 개체 틀 24">
            <a:extLst>
              <a:ext uri="{FF2B5EF4-FFF2-40B4-BE49-F238E27FC236}">
                <a16:creationId xmlns:a16="http://schemas.microsoft.com/office/drawing/2014/main" id="{ABCDC3DD-F9B8-43DA-BCDB-D100F6D7E9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91938" y="3718481"/>
            <a:ext cx="4374106" cy="293743"/>
          </a:xfrm>
        </p:spPr>
        <p:txBody>
          <a:bodyPr>
            <a:normAutofit/>
          </a:bodyPr>
          <a:lstStyle>
            <a:lvl1pPr marL="0" indent="0">
              <a:lnSpc>
                <a:spcPct val="60000"/>
              </a:lnSpc>
              <a:buNone/>
              <a:defRPr sz="1200" spc="-70" baseline="0">
                <a:solidFill>
                  <a:srgbClr val="333333"/>
                </a:solidFill>
                <a:latin typeface="Arial Black" panose="020B0A04020102020204" pitchFamily="34" charset="0"/>
                <a:ea typeface="SpoqaHanSansJP-Light" panose="020B0300000000000000" pitchFamily="50" charset="-127"/>
              </a:defRPr>
            </a:lvl1pPr>
          </a:lstStyle>
          <a:p>
            <a:pPr lvl="0"/>
            <a:r>
              <a:rPr lang="ko-KR" altLang="en-US" dirty="0"/>
              <a:t>간략한 설명을 적어주세요</a:t>
            </a:r>
            <a:endParaRPr lang="en-US" altLang="ko-KR" dirty="0"/>
          </a:p>
        </p:txBody>
      </p:sp>
      <p:sp>
        <p:nvSpPr>
          <p:cNvPr id="18" name="텍스트 개체 틀 14">
            <a:extLst>
              <a:ext uri="{FF2B5EF4-FFF2-40B4-BE49-F238E27FC236}">
                <a16:creationId xmlns:a16="http://schemas.microsoft.com/office/drawing/2014/main" id="{A83E8A88-CB41-471C-98F1-D0E26411F4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02638" y="3283492"/>
            <a:ext cx="728229" cy="56686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rgbClr val="FFBC11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19" name="텍스트 개체 틀 14">
            <a:extLst>
              <a:ext uri="{FF2B5EF4-FFF2-40B4-BE49-F238E27FC236}">
                <a16:creationId xmlns:a16="http://schemas.microsoft.com/office/drawing/2014/main" id="{61210870-DFD1-4507-835F-D3551CF0EE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76009" y="3295221"/>
            <a:ext cx="4374105" cy="410136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rgbClr val="000000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23" name="텍스트 개체 틀 24">
            <a:extLst>
              <a:ext uri="{FF2B5EF4-FFF2-40B4-BE49-F238E27FC236}">
                <a16:creationId xmlns:a16="http://schemas.microsoft.com/office/drawing/2014/main" id="{2E2C37D0-807B-4B8E-8781-BD3EB50AE58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03666" y="4846827"/>
            <a:ext cx="4374106" cy="293743"/>
          </a:xfrm>
        </p:spPr>
        <p:txBody>
          <a:bodyPr>
            <a:normAutofit/>
          </a:bodyPr>
          <a:lstStyle>
            <a:lvl1pPr marL="0" indent="0">
              <a:lnSpc>
                <a:spcPct val="60000"/>
              </a:lnSpc>
              <a:buNone/>
              <a:defRPr sz="1200" spc="-70" baseline="0">
                <a:solidFill>
                  <a:srgbClr val="333333"/>
                </a:solidFill>
                <a:latin typeface="Arial Black" panose="020B0A04020102020204" pitchFamily="34" charset="0"/>
                <a:ea typeface="SpoqaHanSansJP-Light" panose="020B0300000000000000" pitchFamily="50" charset="-127"/>
              </a:defRPr>
            </a:lvl1pPr>
          </a:lstStyle>
          <a:p>
            <a:pPr lvl="0"/>
            <a:r>
              <a:rPr lang="ko-KR" altLang="en-US" dirty="0"/>
              <a:t>간략한 설명을 적어주세요</a:t>
            </a:r>
            <a:endParaRPr lang="en-US" altLang="ko-KR" dirty="0"/>
          </a:p>
        </p:txBody>
      </p:sp>
      <p:sp>
        <p:nvSpPr>
          <p:cNvPr id="24" name="텍스트 개체 틀 14">
            <a:extLst>
              <a:ext uri="{FF2B5EF4-FFF2-40B4-BE49-F238E27FC236}">
                <a16:creationId xmlns:a16="http://schemas.microsoft.com/office/drawing/2014/main" id="{F54E1ADF-6BEE-40D2-A504-6E3473D9815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012712" y="4410976"/>
            <a:ext cx="728229" cy="56686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rgbClr val="FFBC11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25" name="텍스트 개체 틀 14">
            <a:extLst>
              <a:ext uri="{FF2B5EF4-FFF2-40B4-BE49-F238E27FC236}">
                <a16:creationId xmlns:a16="http://schemas.microsoft.com/office/drawing/2014/main" id="{C69E5AE6-DEDC-4D9A-BC3A-C921BF099B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86083" y="4422705"/>
            <a:ext cx="4374105" cy="410136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rgbClr val="000000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A395907-EB43-442A-80DE-CF58BA3C0AAC}"/>
              </a:ext>
            </a:extLst>
          </p:cNvPr>
          <p:cNvSpPr/>
          <p:nvPr userDrawn="1"/>
        </p:nvSpPr>
        <p:spPr>
          <a:xfrm>
            <a:off x="0" y="0"/>
            <a:ext cx="12192000" cy="252000"/>
          </a:xfrm>
          <a:prstGeom prst="rect">
            <a:avLst/>
          </a:prstGeom>
          <a:solidFill>
            <a:srgbClr val="FFBC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976D254-BEBC-4D91-A229-5A9BD043B408}"/>
              </a:ext>
            </a:extLst>
          </p:cNvPr>
          <p:cNvSpPr/>
          <p:nvPr userDrawn="1"/>
        </p:nvSpPr>
        <p:spPr>
          <a:xfrm>
            <a:off x="0" y="6609621"/>
            <a:ext cx="12192000" cy="252000"/>
          </a:xfrm>
          <a:prstGeom prst="rect">
            <a:avLst/>
          </a:prstGeom>
          <a:solidFill>
            <a:srgbClr val="FFBC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0767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세로 텍스트">
    <p:bg>
      <p:bgPr>
        <a:blipFill dpi="0"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7CB6348-5209-4E0F-882E-CAD9D4E9A213}"/>
              </a:ext>
            </a:extLst>
          </p:cNvPr>
          <p:cNvSpPr/>
          <p:nvPr userDrawn="1"/>
        </p:nvSpPr>
        <p:spPr>
          <a:xfrm>
            <a:off x="0" y="1882487"/>
            <a:ext cx="12192000" cy="30930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66E0B06-93CB-452E-B720-69CB1268DA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97382" y="2888676"/>
            <a:ext cx="5597236" cy="639618"/>
          </a:xfrm>
        </p:spPr>
        <p:txBody>
          <a:bodyPr>
            <a:normAutofit/>
          </a:bodyPr>
          <a:lstStyle>
            <a:lvl1pPr marL="0" indent="0" algn="ctr">
              <a:buNone/>
              <a:defRPr sz="4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선지원 </a:t>
            </a:r>
            <a:r>
              <a:rPr lang="ko-KR" altLang="en-US" dirty="0" err="1"/>
              <a:t>후고민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E92EA9A-DA93-4158-A700-5D4F190A20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925" y="2227259"/>
            <a:ext cx="438150" cy="36195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E812508-2280-4C87-9747-3C807CC76EC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925" y="4314097"/>
            <a:ext cx="438150" cy="361950"/>
          </a:xfrm>
          <a:prstGeom prst="rect">
            <a:avLst/>
          </a:prstGeom>
        </p:spPr>
      </p:pic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AF0F98E9-18C2-42EE-A0AF-5A5E745371A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97238" y="3571239"/>
            <a:ext cx="5597525" cy="585788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solidFill>
                  <a:srgbClr val="333333"/>
                </a:solidFill>
                <a:latin typeface="Arial Black" panose="020B0A04020102020204" pitchFamily="34" charset="0"/>
                <a:ea typeface="맑은 고딕" panose="020B0503020000020004" pitchFamily="50" charset="-127"/>
              </a:defRPr>
            </a:lvl1pPr>
            <a:lvl2pPr algn="ctr">
              <a:defRPr sz="1800">
                <a:solidFill>
                  <a:srgbClr val="333333"/>
                </a:solidFill>
                <a:latin typeface="돋움체" panose="020B0300000000000000" pitchFamily="50" charset="-127"/>
                <a:ea typeface="돋움체" panose="020B0300000000000000" pitchFamily="50" charset="-127"/>
              </a:defRPr>
            </a:lvl2pPr>
            <a:lvl3pPr algn="ctr">
              <a:defRPr sz="1800">
                <a:solidFill>
                  <a:srgbClr val="333333"/>
                </a:solidFill>
                <a:latin typeface="돋움체" panose="020B0300000000000000" pitchFamily="50" charset="-127"/>
                <a:ea typeface="돋움체" panose="020B0300000000000000" pitchFamily="50" charset="-127"/>
              </a:defRPr>
            </a:lvl3pPr>
            <a:lvl4pPr algn="ctr">
              <a:defRPr sz="1800">
                <a:solidFill>
                  <a:srgbClr val="333333"/>
                </a:solidFill>
                <a:latin typeface="돋움체" panose="020B0300000000000000" pitchFamily="50" charset="-127"/>
                <a:ea typeface="돋움체" panose="020B0300000000000000" pitchFamily="50" charset="-127"/>
              </a:defRPr>
            </a:lvl4pPr>
            <a:lvl5pPr algn="ctr">
              <a:defRPr sz="1800">
                <a:solidFill>
                  <a:srgbClr val="333333"/>
                </a:solidFill>
                <a:latin typeface="돋움체" panose="020B0300000000000000" pitchFamily="50" charset="-127"/>
                <a:ea typeface="돋움체" panose="020B0300000000000000" pitchFamily="50" charset="-127"/>
              </a:defRPr>
            </a:lvl5pPr>
          </a:lstStyle>
          <a:p>
            <a:pPr lvl="0"/>
            <a:r>
              <a:rPr lang="ko-KR" altLang="en-US" dirty="0"/>
              <a:t>추가 설명을 넣어주세요</a:t>
            </a:r>
          </a:p>
        </p:txBody>
      </p:sp>
    </p:spTree>
    <p:extLst>
      <p:ext uri="{BB962C8B-B14F-4D97-AF65-F5344CB8AC3E}">
        <p14:creationId xmlns:p14="http://schemas.microsoft.com/office/powerpoint/2010/main" val="2579775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/>
          <p:nvPr/>
        </p:nvSpPr>
        <p:spPr>
          <a:xfrm rot="-5400000">
            <a:off x="11796713" y="6462713"/>
            <a:ext cx="334962" cy="45561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828D115-61A7-47AD-967D-D66C2D591A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+mj-lt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+mj-lt"/>
              </a:rPr>
              <a:t>제목</a:t>
            </a:r>
            <a:r>
              <a:rPr lang="en-US" altLang="ko-KR" dirty="0">
                <a:solidFill>
                  <a:schemeClr val="tx1"/>
                </a:solidFill>
                <a:latin typeface="+mj-lt"/>
              </a:rPr>
              <a:t>)</a:t>
            </a:r>
            <a:endParaRPr lang="ko-KR" alt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53F711C-93BA-48D4-88AB-A5325AEC76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 dirty="0">
              <a:latin typeface="+mj-lt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0E0361-E64E-4445-B75E-0B4FCA87F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10299929" y="119466"/>
            <a:ext cx="1448774" cy="56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AI 혁신학교 AIFFEL">
            <a:extLst>
              <a:ext uri="{FF2B5EF4-FFF2-40B4-BE49-F238E27FC236}">
                <a16:creationId xmlns:a16="http://schemas.microsoft.com/office/drawing/2014/main" id="{077FE409-592D-47A4-930F-097365A4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297" y="379846"/>
            <a:ext cx="1481475" cy="303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1;p1">
            <a:extLst>
              <a:ext uri="{FF2B5EF4-FFF2-40B4-BE49-F238E27FC236}">
                <a16:creationId xmlns:a16="http://schemas.microsoft.com/office/drawing/2014/main" id="{8F4AEA5C-71BA-4081-B779-89B8D480769B}"/>
              </a:ext>
            </a:extLst>
          </p:cNvPr>
          <p:cNvSpPr txBox="1"/>
          <p:nvPr/>
        </p:nvSpPr>
        <p:spPr>
          <a:xfrm>
            <a:off x="8406064" y="5520651"/>
            <a:ext cx="2916292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200" b="1" i="0" u="none" strike="noStrike" cap="none" dirty="0">
                <a:solidFill>
                  <a:schemeClr val="tx1"/>
                </a:solidFill>
                <a:latin typeface="+mj-lt"/>
                <a:ea typeface="맑은 고딕" panose="020B0503020000020004" pitchFamily="50" charset="-127"/>
                <a:cs typeface="Calibri"/>
                <a:sym typeface="Calibri"/>
              </a:rPr>
              <a:t>(</a:t>
            </a:r>
            <a:r>
              <a:rPr lang="ko-KR" altLang="en-US" sz="2200" b="1" dirty="0">
                <a:solidFill>
                  <a:schemeClr val="tx1"/>
                </a:solidFill>
                <a:latin typeface="+mj-lt"/>
                <a:ea typeface="맑은 고딕" panose="020B0503020000020004" pitchFamily="50" charset="-127"/>
                <a:cs typeface="Calibri"/>
                <a:sym typeface="Calibri"/>
              </a:rPr>
              <a:t>팀 이름</a:t>
            </a:r>
            <a:r>
              <a:rPr lang="en-US" altLang="ko-KR" sz="2200" b="1" dirty="0">
                <a:solidFill>
                  <a:schemeClr val="tx1"/>
                </a:solidFill>
                <a:latin typeface="+mj-lt"/>
                <a:ea typeface="맑은 고딕" panose="020B0503020000020004" pitchFamily="50" charset="-127"/>
                <a:cs typeface="Calibri"/>
                <a:sym typeface="Calibri"/>
              </a:rPr>
              <a:t>)</a:t>
            </a:r>
            <a:endParaRPr sz="1200" b="1" i="0" u="none" strike="noStrike" cap="none" dirty="0">
              <a:solidFill>
                <a:schemeClr val="tx1"/>
              </a:solidFill>
              <a:latin typeface="+mj-lt"/>
              <a:ea typeface="맑은 고딕" panose="020B0503020000020004" pitchFamily="50" charset="-127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200" b="1" dirty="0">
                <a:solidFill>
                  <a:schemeClr val="tx1"/>
                </a:solidFill>
                <a:latin typeface="+mj-lt"/>
                <a:ea typeface="맑은 고딕" panose="020B0503020000020004" pitchFamily="50" charset="-127"/>
                <a:cs typeface="Calibri"/>
                <a:sym typeface="Calibri"/>
              </a:rPr>
              <a:t>(</a:t>
            </a:r>
            <a:r>
              <a:rPr lang="ko-KR" altLang="en-US" sz="2200" b="1" dirty="0">
                <a:solidFill>
                  <a:schemeClr val="tx1"/>
                </a:solidFill>
                <a:latin typeface="+mj-lt"/>
                <a:ea typeface="맑은 고딕" panose="020B0503020000020004" pitchFamily="50" charset="-127"/>
                <a:cs typeface="Calibri"/>
                <a:sym typeface="Calibri"/>
              </a:rPr>
              <a:t>팀원 이름</a:t>
            </a:r>
            <a:r>
              <a:rPr lang="en-US" altLang="ko-KR" sz="2200" b="1" dirty="0">
                <a:solidFill>
                  <a:schemeClr val="tx1"/>
                </a:solidFill>
                <a:latin typeface="+mj-lt"/>
                <a:ea typeface="맑은 고딕" panose="020B0503020000020004" pitchFamily="50" charset="-127"/>
                <a:cs typeface="Calibri"/>
                <a:sym typeface="Calibri"/>
              </a:rPr>
              <a:t>)</a:t>
            </a:r>
            <a:endParaRPr sz="2200" b="1" i="0" u="none" strike="noStrike" cap="none" dirty="0">
              <a:solidFill>
                <a:schemeClr val="tx1"/>
              </a:solidFill>
              <a:latin typeface="+mj-lt"/>
              <a:ea typeface="맑은 고딕" panose="020B0503020000020004" pitchFamily="50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9675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BCA065E-A58B-41AE-8ED2-C753FCB87AD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ko-KR" dirty="0">
                <a:latin typeface="+mj-lt"/>
              </a:rPr>
              <a:t>INDEX</a:t>
            </a:r>
            <a:endParaRPr lang="ko-KR" altLang="en-US" dirty="0">
              <a:latin typeface="+mj-lt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8583FD-5471-4D90-B344-57D23ED271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>
                <a:latin typeface="+mj-lt"/>
              </a:rPr>
              <a:t>01</a:t>
            </a:r>
            <a:endParaRPr lang="ko-KR" altLang="en-US" dirty="0">
              <a:latin typeface="+mj-lt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DE3306D-DE5C-4301-830D-423ABF21B1F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>
                <a:latin typeface="+mj-lt"/>
                <a:ea typeface="맑은 고딕" panose="020B0503020000020004" pitchFamily="50" charset="-127"/>
              </a:rPr>
              <a:t>프로젝트 배경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CEB0DBB-B15C-4D22-9E64-78BA4DF5F8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002638" y="2880328"/>
            <a:ext cx="728229" cy="566869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>
                <a:latin typeface="+mj-lt"/>
              </a:rPr>
              <a:t>02</a:t>
            </a:r>
            <a:endParaRPr lang="ko-KR" altLang="en-US" dirty="0">
              <a:latin typeface="+mj-lt"/>
            </a:endParaRP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084C9DB-FA9C-4EA1-8C44-D110C63494A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76009" y="2894915"/>
            <a:ext cx="4374105" cy="410136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latin typeface="+mj-lt"/>
                <a:ea typeface="맑은 고딕" panose="020B0503020000020004" pitchFamily="50" charset="-127"/>
              </a:rPr>
              <a:t>프로젝트 팀 구성 및 역할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4A33CBFA-6720-452E-872C-467013BF0C5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999708" y="3596720"/>
            <a:ext cx="728229" cy="566869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>
                <a:latin typeface="+mj-lt"/>
              </a:rPr>
              <a:t>03</a:t>
            </a:r>
            <a:endParaRPr lang="ko-KR" altLang="en-US" dirty="0">
              <a:latin typeface="+mj-lt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3D17D75A-E893-4DA8-94BE-8A6EF470320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86083" y="3614165"/>
            <a:ext cx="4374105" cy="410136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latin typeface="+mj-lt"/>
                <a:ea typeface="맑은 고딕" panose="020B0503020000020004" pitchFamily="50" charset="-127"/>
              </a:rPr>
              <a:t>프로젝트 수행 절차 및 방법</a:t>
            </a:r>
          </a:p>
        </p:txBody>
      </p:sp>
      <p:sp>
        <p:nvSpPr>
          <p:cNvPr id="12" name="텍스트 개체 틀 9">
            <a:extLst>
              <a:ext uri="{FF2B5EF4-FFF2-40B4-BE49-F238E27FC236}">
                <a16:creationId xmlns:a16="http://schemas.microsoft.com/office/drawing/2014/main" id="{F1384FD1-CDCF-45B2-88A1-FE6DBB78E6EE}"/>
              </a:ext>
            </a:extLst>
          </p:cNvPr>
          <p:cNvSpPr txBox="1">
            <a:spLocks/>
          </p:cNvSpPr>
          <p:nvPr/>
        </p:nvSpPr>
        <p:spPr>
          <a:xfrm>
            <a:off x="2999708" y="4313112"/>
            <a:ext cx="728229" cy="566869"/>
          </a:xfrm>
        </p:spPr>
        <p:txBody>
          <a:bodyPr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3600" b="0" i="0" u="none" strike="noStrike" cap="none">
                <a:solidFill>
                  <a:srgbClr val="FFBC11"/>
                </a:solidFill>
                <a:latin typeface="Lato Black" panose="020F0A02020204030203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ko-KR" dirty="0">
                <a:latin typeface="+mj-lt"/>
              </a:rPr>
              <a:t>04</a:t>
            </a:r>
            <a:endParaRPr lang="ko-KR" altLang="en-US" dirty="0">
              <a:latin typeface="+mj-lt"/>
            </a:endParaRPr>
          </a:p>
        </p:txBody>
      </p:sp>
      <p:sp>
        <p:nvSpPr>
          <p:cNvPr id="14" name="텍스트 개체 틀 9">
            <a:extLst>
              <a:ext uri="{FF2B5EF4-FFF2-40B4-BE49-F238E27FC236}">
                <a16:creationId xmlns:a16="http://schemas.microsoft.com/office/drawing/2014/main" id="{A4B50C97-2FE9-4CB8-9B37-BA633D0313E8}"/>
              </a:ext>
            </a:extLst>
          </p:cNvPr>
          <p:cNvSpPr txBox="1">
            <a:spLocks/>
          </p:cNvSpPr>
          <p:nvPr/>
        </p:nvSpPr>
        <p:spPr>
          <a:xfrm>
            <a:off x="2999708" y="5029504"/>
            <a:ext cx="728229" cy="566869"/>
          </a:xfrm>
        </p:spPr>
        <p:txBody>
          <a:bodyPr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3600" b="0" i="0" u="none" strike="noStrike" cap="none">
                <a:solidFill>
                  <a:srgbClr val="FFBC11"/>
                </a:solidFill>
                <a:latin typeface="Lato Black" panose="020F0A02020204030203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ko-KR" dirty="0">
                <a:latin typeface="+mj-lt"/>
              </a:rPr>
              <a:t>05</a:t>
            </a:r>
            <a:endParaRPr lang="ko-KR" altLang="en-US" dirty="0">
              <a:latin typeface="+mj-lt"/>
            </a:endParaRPr>
          </a:p>
        </p:txBody>
      </p:sp>
      <p:sp>
        <p:nvSpPr>
          <p:cNvPr id="16" name="텍스트 개체 틀 9">
            <a:extLst>
              <a:ext uri="{FF2B5EF4-FFF2-40B4-BE49-F238E27FC236}">
                <a16:creationId xmlns:a16="http://schemas.microsoft.com/office/drawing/2014/main" id="{00AC2DCA-9FAA-4F79-B902-14025DFD91F0}"/>
              </a:ext>
            </a:extLst>
          </p:cNvPr>
          <p:cNvSpPr txBox="1">
            <a:spLocks/>
          </p:cNvSpPr>
          <p:nvPr/>
        </p:nvSpPr>
        <p:spPr>
          <a:xfrm>
            <a:off x="2999708" y="5745896"/>
            <a:ext cx="728229" cy="566869"/>
          </a:xfrm>
        </p:spPr>
        <p:txBody>
          <a:bodyPr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3600" b="0" i="0" u="none" strike="noStrike" cap="none">
                <a:solidFill>
                  <a:srgbClr val="FFBC11"/>
                </a:solidFill>
                <a:latin typeface="Lato Black" panose="020F0A02020204030203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ko-KR" dirty="0">
                <a:latin typeface="+mj-lt"/>
              </a:rPr>
              <a:t>06</a:t>
            </a:r>
            <a:endParaRPr lang="ko-KR" altLang="en-US" dirty="0">
              <a:latin typeface="+mj-lt"/>
            </a:endParaRPr>
          </a:p>
        </p:txBody>
      </p:sp>
      <p:sp>
        <p:nvSpPr>
          <p:cNvPr id="18" name="텍스트 개체 틀 10">
            <a:extLst>
              <a:ext uri="{FF2B5EF4-FFF2-40B4-BE49-F238E27FC236}">
                <a16:creationId xmlns:a16="http://schemas.microsoft.com/office/drawing/2014/main" id="{A5A809EA-3F49-41D2-BEE5-1F29DA5FED78}"/>
              </a:ext>
            </a:extLst>
          </p:cNvPr>
          <p:cNvSpPr txBox="1">
            <a:spLocks/>
          </p:cNvSpPr>
          <p:nvPr/>
        </p:nvSpPr>
        <p:spPr>
          <a:xfrm>
            <a:off x="3886083" y="4333415"/>
            <a:ext cx="4374105" cy="410136"/>
          </a:xfr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Lato Black" panose="020F0A02020204030203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sz="2000" dirty="0">
                <a:latin typeface="+mj-lt"/>
                <a:ea typeface="맑은 고딕" panose="020B0503020000020004" pitchFamily="50" charset="-127"/>
              </a:rPr>
              <a:t>프로젝트 수행 과정</a:t>
            </a:r>
          </a:p>
        </p:txBody>
      </p:sp>
      <p:sp>
        <p:nvSpPr>
          <p:cNvPr id="19" name="텍스트 개체 틀 10">
            <a:extLst>
              <a:ext uri="{FF2B5EF4-FFF2-40B4-BE49-F238E27FC236}">
                <a16:creationId xmlns:a16="http://schemas.microsoft.com/office/drawing/2014/main" id="{B03C7699-F480-41BF-9112-C2872CFF0874}"/>
              </a:ext>
            </a:extLst>
          </p:cNvPr>
          <p:cNvSpPr txBox="1">
            <a:spLocks/>
          </p:cNvSpPr>
          <p:nvPr/>
        </p:nvSpPr>
        <p:spPr>
          <a:xfrm>
            <a:off x="3886083" y="5052665"/>
            <a:ext cx="4374105" cy="410136"/>
          </a:xfr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Lato Black" panose="020F0A02020204030203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sz="2000" dirty="0">
                <a:latin typeface="+mj-lt"/>
                <a:ea typeface="맑은 고딕" panose="020B0503020000020004" pitchFamily="50" charset="-127"/>
              </a:rPr>
              <a:t>프로젝트 예상 결과</a:t>
            </a:r>
          </a:p>
        </p:txBody>
      </p:sp>
      <p:sp>
        <p:nvSpPr>
          <p:cNvPr id="20" name="텍스트 개체 틀 10">
            <a:extLst>
              <a:ext uri="{FF2B5EF4-FFF2-40B4-BE49-F238E27FC236}">
                <a16:creationId xmlns:a16="http://schemas.microsoft.com/office/drawing/2014/main" id="{DEEFFDAC-79A1-451B-AA80-C07E127EF973}"/>
              </a:ext>
            </a:extLst>
          </p:cNvPr>
          <p:cNvSpPr txBox="1">
            <a:spLocks/>
          </p:cNvSpPr>
          <p:nvPr/>
        </p:nvSpPr>
        <p:spPr>
          <a:xfrm>
            <a:off x="3886083" y="5771916"/>
            <a:ext cx="4374105" cy="410136"/>
          </a:xfr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Lato Black" panose="020F0A02020204030203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sz="2000" dirty="0">
                <a:latin typeface="+mj-lt"/>
                <a:ea typeface="맑은 고딕" panose="020B0503020000020004" pitchFamily="50" charset="-127"/>
              </a:rPr>
              <a:t>느낀 점 </a:t>
            </a:r>
            <a:r>
              <a:rPr lang="en-US" altLang="ko-KR" sz="2000" dirty="0">
                <a:latin typeface="+mj-lt"/>
                <a:ea typeface="맑은 고딕" panose="020B0503020000020004" pitchFamily="50" charset="-127"/>
              </a:rPr>
              <a:t>&amp; </a:t>
            </a:r>
            <a:r>
              <a:rPr lang="ko-KR" altLang="en-US" sz="2000" dirty="0">
                <a:latin typeface="+mj-lt"/>
                <a:ea typeface="맑은 고딕" panose="020B0503020000020004" pitchFamily="50" charset="-127"/>
              </a:rPr>
              <a:t>추후 계획</a:t>
            </a:r>
          </a:p>
        </p:txBody>
      </p:sp>
    </p:spTree>
    <p:extLst>
      <p:ext uri="{BB962C8B-B14F-4D97-AF65-F5344CB8AC3E}">
        <p14:creationId xmlns:p14="http://schemas.microsoft.com/office/powerpoint/2010/main" val="1695914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 txBox="1"/>
          <p:nvPr/>
        </p:nvSpPr>
        <p:spPr>
          <a:xfrm>
            <a:off x="17463" y="-27384"/>
            <a:ext cx="1160462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600" b="1" dirty="0">
                <a:solidFill>
                  <a:srgbClr val="FFBD11"/>
                </a:solidFill>
                <a:latin typeface="+mj-lt"/>
                <a:ea typeface="Arial"/>
                <a:cs typeface="Arial"/>
                <a:sym typeface="Arial"/>
              </a:rPr>
              <a:t>01</a:t>
            </a:r>
            <a:r>
              <a:rPr lang="ko-KR" sz="4000" b="1" dirty="0">
                <a:solidFill>
                  <a:srgbClr val="445569"/>
                </a:solidFill>
                <a:latin typeface="+mj-lt"/>
                <a:ea typeface="Arial"/>
                <a:cs typeface="Arial"/>
                <a:sym typeface="Arial"/>
              </a:rPr>
              <a:t> </a:t>
            </a:r>
            <a:endParaRPr sz="4000" b="1" dirty="0">
              <a:solidFill>
                <a:srgbClr val="445569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984110" y="126483"/>
            <a:ext cx="181331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프로젝트 배경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46" name="Google Shape;46;p4"/>
          <p:cNvCxnSpPr>
            <a:cxnSpLocks/>
          </p:cNvCxnSpPr>
          <p:nvPr/>
        </p:nvCxnSpPr>
        <p:spPr>
          <a:xfrm flipV="1">
            <a:off x="1107936" y="526593"/>
            <a:ext cx="10827390" cy="13164"/>
          </a:xfrm>
          <a:prstGeom prst="straightConnector1">
            <a:avLst/>
          </a:prstGeom>
          <a:noFill/>
          <a:ln w="31750" cap="flat" cmpd="sng">
            <a:solidFill>
              <a:srgbClr val="FFBD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81BF86EF-7294-4973-BD69-A64583348926}"/>
              </a:ext>
            </a:extLst>
          </p:cNvPr>
          <p:cNvSpPr/>
          <p:nvPr/>
        </p:nvSpPr>
        <p:spPr>
          <a:xfrm>
            <a:off x="2942723" y="1770146"/>
            <a:ext cx="68263" cy="504825"/>
          </a:xfrm>
          <a:prstGeom prst="rect">
            <a:avLst/>
          </a:prstGeom>
          <a:solidFill>
            <a:srgbClr val="FFBD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EB7A06-72AA-45CA-9997-1B1F1DECE99B}"/>
              </a:ext>
            </a:extLst>
          </p:cNvPr>
          <p:cNvSpPr txBox="1"/>
          <p:nvPr/>
        </p:nvSpPr>
        <p:spPr>
          <a:xfrm>
            <a:off x="3088773" y="1852696"/>
            <a:ext cx="741680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[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프로젝트 배경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]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은 아래와 같은 내용 등으로 구성하여 작성한다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36F2DC-CCBA-43B9-96B8-8C396AE2AF64}"/>
              </a:ext>
            </a:extLst>
          </p:cNvPr>
          <p:cNvSpPr txBox="1"/>
          <p:nvPr/>
        </p:nvSpPr>
        <p:spPr>
          <a:xfrm>
            <a:off x="3231648" y="2641684"/>
            <a:ext cx="6335713" cy="25545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◾ 프로젝트 주제 및 선정 배경</a:t>
            </a:r>
            <a:endParaRPr lang="en-US" altLang="ko-KR" sz="1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defRPr/>
            </a:pPr>
            <a:endParaRPr lang="en-US" altLang="ko-KR" sz="1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defRPr/>
            </a:pP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◾ 프로젝트 목적</a:t>
            </a:r>
            <a:endParaRPr lang="en-US" altLang="ko-KR" sz="1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defRPr/>
            </a:pPr>
            <a:endParaRPr lang="en-US" altLang="ko-KR" sz="1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defRPr/>
            </a:pP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◾ 프로젝트 개요 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(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컨셉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, 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훈련 내용과의 관련성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, 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개발 환경 등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)</a:t>
            </a:r>
          </a:p>
          <a:p>
            <a:pPr>
              <a:defRPr/>
            </a:pPr>
            <a:endParaRPr lang="en-US" altLang="ko-KR" sz="1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defRPr/>
            </a:pP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◾ 프로젝트 구조</a:t>
            </a:r>
            <a:endParaRPr lang="en-US" altLang="ko-KR" sz="1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defRPr/>
            </a:pPr>
            <a:endParaRPr lang="en-US" altLang="ko-KR" sz="1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defRPr/>
            </a:pP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◾ 기대 효과</a:t>
            </a:r>
            <a:endParaRPr lang="en-US" altLang="ko-KR" sz="1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defRPr/>
            </a:pPr>
            <a:endParaRPr lang="ko-KR" altLang="en-US" sz="1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 txBox="1"/>
          <p:nvPr/>
        </p:nvSpPr>
        <p:spPr>
          <a:xfrm>
            <a:off x="17463" y="-27384"/>
            <a:ext cx="1160462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600" b="1" dirty="0">
                <a:solidFill>
                  <a:srgbClr val="FFBD11"/>
                </a:solidFill>
                <a:latin typeface="+mj-lt"/>
                <a:ea typeface="Arial"/>
                <a:cs typeface="Arial"/>
                <a:sym typeface="Arial"/>
              </a:rPr>
              <a:t>0</a:t>
            </a:r>
            <a:r>
              <a:rPr lang="en-US" altLang="ko-KR" sz="6600" b="1" dirty="0">
                <a:solidFill>
                  <a:srgbClr val="FFBD11"/>
                </a:solidFill>
                <a:latin typeface="+mj-lt"/>
                <a:ea typeface="Arial"/>
                <a:cs typeface="Arial"/>
                <a:sym typeface="Arial"/>
              </a:rPr>
              <a:t>2</a:t>
            </a:r>
            <a:r>
              <a:rPr lang="ko-KR" sz="4000" b="1" dirty="0">
                <a:solidFill>
                  <a:srgbClr val="445569"/>
                </a:solidFill>
                <a:latin typeface="+mj-lt"/>
                <a:ea typeface="Arial"/>
                <a:cs typeface="Arial"/>
                <a:sym typeface="Arial"/>
              </a:rPr>
              <a:t> </a:t>
            </a:r>
            <a:endParaRPr sz="4000" b="1" dirty="0">
              <a:solidFill>
                <a:srgbClr val="445569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984110" y="126483"/>
            <a:ext cx="406915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프로젝트 </a:t>
            </a:r>
            <a:r>
              <a:rPr lang="ko-KR" altLang="en-US" sz="2000" b="1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팀 구성 및 역할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5" name="Google Shape;46;p4">
            <a:extLst>
              <a:ext uri="{FF2B5EF4-FFF2-40B4-BE49-F238E27FC236}">
                <a16:creationId xmlns:a16="http://schemas.microsoft.com/office/drawing/2014/main" id="{942E6844-4D7D-42A5-B16C-7E1F4E6C1C7E}"/>
              </a:ext>
            </a:extLst>
          </p:cNvPr>
          <p:cNvCxnSpPr>
            <a:cxnSpLocks/>
          </p:cNvCxnSpPr>
          <p:nvPr/>
        </p:nvCxnSpPr>
        <p:spPr>
          <a:xfrm flipV="1">
            <a:off x="1107936" y="526593"/>
            <a:ext cx="10827390" cy="13164"/>
          </a:xfrm>
          <a:prstGeom prst="straightConnector1">
            <a:avLst/>
          </a:prstGeom>
          <a:noFill/>
          <a:ln w="31750" cap="flat" cmpd="sng">
            <a:solidFill>
              <a:srgbClr val="FFBD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E77F7252-1DC4-4922-B638-113A8F4CBB03}"/>
              </a:ext>
            </a:extLst>
          </p:cNvPr>
          <p:cNvSpPr/>
          <p:nvPr/>
        </p:nvSpPr>
        <p:spPr>
          <a:xfrm>
            <a:off x="1162050" y="1197260"/>
            <a:ext cx="68263" cy="504825"/>
          </a:xfrm>
          <a:prstGeom prst="rect">
            <a:avLst/>
          </a:prstGeom>
          <a:solidFill>
            <a:srgbClr val="445569"/>
          </a:solidFill>
          <a:ln>
            <a:solidFill>
              <a:srgbClr val="4455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2424B6-B4FD-4C2B-BD03-67372AE1FCA4}"/>
              </a:ext>
            </a:extLst>
          </p:cNvPr>
          <p:cNvSpPr txBox="1"/>
          <p:nvPr/>
        </p:nvSpPr>
        <p:spPr>
          <a:xfrm>
            <a:off x="1362882" y="1004245"/>
            <a:ext cx="9144000" cy="7833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[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프로젝트 팀 구성 및 역할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]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은 프로젝트를 기본 단위로 작성하며 팀원의 수에 따라 칸을 추가하거나 삭제할 수 있다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5E1444-FD41-46A8-A5AF-511D894662CC}"/>
              </a:ext>
            </a:extLst>
          </p:cNvPr>
          <p:cNvSpPr txBox="1"/>
          <p:nvPr/>
        </p:nvSpPr>
        <p:spPr>
          <a:xfrm>
            <a:off x="1230313" y="1974322"/>
            <a:ext cx="90011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◾ 역할 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: 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훈련생 별로 해당 프로젝트를 진행하면서 주도적으로 참여한 부분을 중심으로 작성</a:t>
            </a:r>
            <a:endParaRPr lang="en-US" altLang="ko-KR" sz="1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617420C-CBDF-441F-9409-A9D7E4B74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996439"/>
              </p:ext>
            </p:extLst>
          </p:nvPr>
        </p:nvGraphicFramePr>
        <p:xfrm>
          <a:off x="1362882" y="2420888"/>
          <a:ext cx="9593658" cy="3943481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864570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7729088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</a:tblGrid>
              <a:tr h="4144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훈련생</a:t>
                      </a:r>
                    </a:p>
                  </a:txBody>
                  <a:tcPr marT="45741" marB="4574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역할</a:t>
                      </a:r>
                    </a:p>
                  </a:txBody>
                  <a:tcPr marT="45741" marB="45741" anchor="ctr"/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882247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김○○</a:t>
                      </a:r>
                      <a:endParaRPr kumimoji="0" lang="en-US" altLang="ko-KR" sz="1600" i="1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algn="ctr" latinLnBrk="1"/>
                      <a:r>
                        <a:rPr kumimoji="0" lang="en-US" altLang="ko-KR" sz="1600" i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(</a:t>
                      </a:r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팀 리더</a:t>
                      </a:r>
                      <a:r>
                        <a:rPr kumimoji="0" lang="en-US" altLang="ko-KR" sz="1600" i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)</a:t>
                      </a:r>
                      <a:endParaRPr lang="ko-KR" altLang="en-US" sz="1800" b="0" i="1" u="none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marT="45741" marB="45741"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데이터 정제 및 정규화</a:t>
                      </a:r>
                      <a:endParaRPr kumimoji="0" lang="en-US" altLang="ko-KR" sz="1600" i="1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kumimoji="0" lang="ko-KR" altLang="en-US" sz="160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모바일 서비스 </a:t>
                      </a:r>
                      <a:r>
                        <a:rPr kumimoji="0" lang="ko-KR" altLang="en-US" sz="1600" i="1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테스팅</a:t>
                      </a:r>
                      <a:endParaRPr kumimoji="0" lang="ko-KR" altLang="en-US" sz="1600" i="1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41" marB="45741" anchor="ctr"/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8822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박○○</a:t>
                      </a:r>
                      <a:endParaRPr kumimoji="0" lang="en-US" altLang="ko-KR" sz="1600" i="1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i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(</a:t>
                      </a:r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팀원</a:t>
                      </a:r>
                      <a:r>
                        <a:rPr kumimoji="0" lang="en-US" altLang="ko-KR" sz="1600" i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)</a:t>
                      </a:r>
                      <a:endParaRPr lang="ko-KR" altLang="en-US" sz="1800" b="0" i="1" u="none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marT="45741" marB="45741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모바일 플랫폼 구현</a:t>
                      </a:r>
                      <a:endParaRPr kumimoji="0" lang="en-US" altLang="ko-KR" sz="1600" i="1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외부 데이터 수집</a:t>
                      </a:r>
                      <a:endParaRPr kumimoji="0" lang="en-US" altLang="ko-KR" sz="1600" i="1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marT="45741" marB="45741" anchor="ctr"/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8822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정○○</a:t>
                      </a:r>
                      <a:endParaRPr kumimoji="0" lang="en-US" altLang="ko-KR" sz="1600" i="1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i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(</a:t>
                      </a:r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팀원</a:t>
                      </a:r>
                      <a:r>
                        <a:rPr kumimoji="0" lang="en-US" altLang="ko-KR" sz="1600" i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)</a:t>
                      </a:r>
                      <a:endParaRPr kumimoji="0" lang="ko-KR" alt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41" marB="45741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서비스 시스템 설계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텍스트 </a:t>
                      </a:r>
                      <a:r>
                        <a:rPr kumimoji="0" lang="ko-KR" altLang="en-US" sz="16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마이닝</a:t>
                      </a:r>
                      <a:endParaRPr kumimoji="0" lang="ko-KR" altLang="en-US" sz="1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T="45741" marB="45741" anchor="ctr"/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8822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41" marB="45741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0" lang="ko-KR" altLang="en-US" sz="1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T="45741" marB="45741" anchor="ctr"/>
                </a:tc>
                <a:extLst>
                  <a:ext uri="{0D108BD9-81ED-4DB2-BD59-A6C34878D82A}">
                    <a16:rowId xmlns:a16="http://schemas.microsoft.com/office/drawing/2014/main" val="671680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0912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 txBox="1"/>
          <p:nvPr/>
        </p:nvSpPr>
        <p:spPr>
          <a:xfrm>
            <a:off x="17463" y="-27384"/>
            <a:ext cx="1160462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600" b="1" dirty="0">
                <a:solidFill>
                  <a:srgbClr val="FFBD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altLang="ko-KR" sz="6600" b="1" dirty="0">
                <a:solidFill>
                  <a:srgbClr val="FFBD1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ko-KR" sz="4000" b="1" dirty="0">
                <a:solidFill>
                  <a:srgbClr val="4455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4000" b="1" dirty="0">
              <a:solidFill>
                <a:srgbClr val="44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984110" y="126483"/>
            <a:ext cx="3844564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프로젝트 </a:t>
            </a:r>
            <a:r>
              <a:rPr lang="ko-KR" altLang="en-US" sz="2000" b="1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수행 절차 및 방법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46" name="Google Shape;46;p4"/>
          <p:cNvCxnSpPr>
            <a:cxnSpLocks/>
          </p:cNvCxnSpPr>
          <p:nvPr/>
        </p:nvCxnSpPr>
        <p:spPr>
          <a:xfrm flipV="1">
            <a:off x="1107936" y="526593"/>
            <a:ext cx="10827390" cy="13164"/>
          </a:xfrm>
          <a:prstGeom prst="straightConnector1">
            <a:avLst/>
          </a:prstGeom>
          <a:noFill/>
          <a:ln w="31750" cap="flat" cmpd="sng">
            <a:solidFill>
              <a:srgbClr val="FFBD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584654A5-B32F-4E64-A856-065418F911FD}"/>
              </a:ext>
            </a:extLst>
          </p:cNvPr>
          <p:cNvSpPr/>
          <p:nvPr/>
        </p:nvSpPr>
        <p:spPr>
          <a:xfrm>
            <a:off x="1147365" y="759828"/>
            <a:ext cx="79782" cy="1018665"/>
          </a:xfrm>
          <a:prstGeom prst="rect">
            <a:avLst/>
          </a:prstGeom>
          <a:solidFill>
            <a:srgbClr val="445569"/>
          </a:solidFill>
          <a:ln>
            <a:solidFill>
              <a:srgbClr val="4455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08C772-8512-4458-9FA6-D582670BE487}"/>
              </a:ext>
            </a:extLst>
          </p:cNvPr>
          <p:cNvSpPr txBox="1"/>
          <p:nvPr/>
        </p:nvSpPr>
        <p:spPr>
          <a:xfrm>
            <a:off x="1358626" y="625805"/>
            <a:ext cx="9576432" cy="115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[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프로젝트 수행 절차 및 방법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]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은 프로젝트의 사전 기획과 프로젝트 수행 및 완료 과정으로 나누어서 작성한다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. (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프로젝트 수행 절차를 도식화하여 제시하거나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, 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더 효과적으로 전달하는 방법 등이 있다면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, 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기본적인 구성요소를 포함하여 보다 창의적으로 수정하여 작성 가능함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2FF291-8046-4C27-881C-8EA98821D9C1}"/>
              </a:ext>
            </a:extLst>
          </p:cNvPr>
          <p:cNvSpPr txBox="1"/>
          <p:nvPr/>
        </p:nvSpPr>
        <p:spPr>
          <a:xfrm>
            <a:off x="1177924" y="1871026"/>
            <a:ext cx="103906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◾ 기획 단계에서 도출된 주제와 아이디어를 기반으로 실제 프로젝트를 수행한 세부적인 기간과 활동 내용 작성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9D5E84B-6DD9-42E7-AA1F-8572A5715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228858"/>
              </p:ext>
            </p:extLst>
          </p:nvPr>
        </p:nvGraphicFramePr>
        <p:xfrm>
          <a:off x="1170220" y="2464551"/>
          <a:ext cx="9953244" cy="3916778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4433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2317352">
                  <a:extLst>
                    <a:ext uri="{9D8B030D-6E8A-4147-A177-3AD203B41FA5}">
                      <a16:colId xmlns:a16="http://schemas.microsoft.com/office/drawing/2014/main" val="2457702995"/>
                    </a:ext>
                  </a:extLst>
                </a:gridCol>
                <a:gridCol w="374905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2142510">
                  <a:extLst>
                    <a:ext uri="{9D8B030D-6E8A-4147-A177-3AD203B41FA5}">
                      <a16:colId xmlns:a16="http://schemas.microsoft.com/office/drawing/2014/main" val="1146148137"/>
                    </a:ext>
                  </a:extLst>
                </a:gridCol>
              </a:tblGrid>
              <a:tr h="4264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구분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marT="45741" marB="4574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기간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marT="45741" marB="4574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활동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marT="45741" marB="4574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비고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marT="45741" marB="45741" anchor="ctr"/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58172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kumimoji="0" lang="ko-KR" altLang="en-US" sz="1400" i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사전 기획</a:t>
                      </a:r>
                      <a:endParaRPr lang="ko-KR" altLang="en-US" sz="1400" b="1" i="1" u="none" dirty="0">
                        <a:solidFill>
                          <a:schemeClr val="tx2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45741" marB="45741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400" i="1" u="none" dirty="0"/>
                        <a:t>O/O(</a:t>
                      </a:r>
                      <a:r>
                        <a:rPr lang="ko-KR" altLang="en-US" sz="1400" i="1" u="none" dirty="0"/>
                        <a:t>월</a:t>
                      </a:r>
                      <a:r>
                        <a:rPr lang="en-US" altLang="ko-KR" sz="1400" i="1" u="none" dirty="0"/>
                        <a:t>) ~ O/O(</a:t>
                      </a:r>
                      <a:r>
                        <a:rPr lang="ko-KR" altLang="en-US" sz="1400" i="1" u="none" dirty="0"/>
                        <a:t>금</a:t>
                      </a:r>
                      <a:r>
                        <a:rPr lang="en-US" altLang="ko-KR" sz="1400" i="1" u="none" dirty="0"/>
                        <a:t>)</a:t>
                      </a:r>
                      <a:endParaRPr lang="en-US" altLang="ko-KR" sz="1400" b="0" i="1" u="none" dirty="0">
                        <a:solidFill>
                          <a:schemeClr val="tx2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4215" marT="4215" marB="0" anchor="ctr"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i="1" u="none" dirty="0"/>
                        <a:t>프로젝트 기획 및 주제 선정</a:t>
                      </a:r>
                      <a:endParaRPr lang="en-US" altLang="ko-KR" sz="1400" i="1" u="none" dirty="0"/>
                    </a:p>
                    <a:p>
                      <a:pPr marL="171450" marR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i="1" u="none" dirty="0" err="1"/>
                        <a:t>기획안</a:t>
                      </a:r>
                      <a:r>
                        <a:rPr lang="ko-KR" altLang="en-US" sz="1400" i="1" u="none" dirty="0"/>
                        <a:t> 작성</a:t>
                      </a:r>
                      <a:endParaRPr lang="en-US" altLang="ko-KR" sz="1400" b="0" i="1" u="none" dirty="0">
                        <a:solidFill>
                          <a:schemeClr val="tx2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4215" marT="4215" marB="0" anchor="ctr"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i="1" u="none" dirty="0"/>
                        <a:t>아이디어 선정</a:t>
                      </a:r>
                      <a:endParaRPr lang="en-US" altLang="ko-KR" sz="1400" b="0" i="1" u="none" dirty="0">
                        <a:solidFill>
                          <a:schemeClr val="tx2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4215" marT="4215" marB="0" anchor="ctr"/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58172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kumimoji="0" lang="ko-KR" altLang="en-US" sz="140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데이터 수집</a:t>
                      </a:r>
                    </a:p>
                  </a:txBody>
                  <a:tcPr marT="45741" marB="45741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400" i="1" u="none" dirty="0"/>
                        <a:t>O/O(</a:t>
                      </a:r>
                      <a:r>
                        <a:rPr lang="ko-KR" altLang="en-US" sz="1400" i="1" u="none" dirty="0"/>
                        <a:t>월</a:t>
                      </a:r>
                      <a:r>
                        <a:rPr lang="en-US" altLang="ko-KR" sz="1400" i="1" u="none" dirty="0"/>
                        <a:t>) ~ O/O(</a:t>
                      </a:r>
                      <a:r>
                        <a:rPr lang="ko-KR" altLang="en-US" sz="1400" i="1" u="none" dirty="0"/>
                        <a:t>금</a:t>
                      </a:r>
                      <a:r>
                        <a:rPr lang="en-US" altLang="ko-KR" sz="1400" i="1" u="none" dirty="0"/>
                        <a:t>)</a:t>
                      </a:r>
                      <a:endParaRPr lang="en-US" altLang="ko-KR" sz="1400" b="0" i="1" u="none" dirty="0">
                        <a:solidFill>
                          <a:schemeClr val="tx2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4215" marT="4215" marB="0" anchor="ctr"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0" i="1" u="none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필요 데이터  및 수집 절차 정의</a:t>
                      </a:r>
                      <a:endParaRPr lang="en-US" altLang="ko-KR" sz="1400" b="0" i="1" u="none" dirty="0">
                        <a:solidFill>
                          <a:schemeClr val="tx2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0" i="1" u="none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외부 데이터 수집</a:t>
                      </a:r>
                      <a:endParaRPr lang="en-US" altLang="ko-KR" sz="1400" b="0" i="1" u="none" dirty="0">
                        <a:solidFill>
                          <a:schemeClr val="tx2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4215" marT="4215" marB="0" anchor="ctr"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0" i="1" u="none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협약기업</a:t>
                      </a:r>
                      <a:r>
                        <a:rPr lang="ko-KR" altLang="en-US" sz="1400" b="0" i="1" u="none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 데이터 협조</a:t>
                      </a:r>
                      <a:endParaRPr lang="en-US" altLang="ko-KR" sz="1400" b="0" i="1" u="none" dirty="0">
                        <a:solidFill>
                          <a:schemeClr val="tx2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4215" marT="4215" marB="0" anchor="ctr"/>
                </a:tc>
                <a:extLst>
                  <a:ext uri="{0D108BD9-81ED-4DB2-BD59-A6C34878D82A}">
                    <a16:rowId xmlns:a16="http://schemas.microsoft.com/office/drawing/2014/main" val="1733585898"/>
                  </a:ext>
                </a:extLst>
              </a:tr>
              <a:tr h="58172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kumimoji="0" lang="ko-KR" altLang="en-US" sz="140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데이터 전처리</a:t>
                      </a:r>
                    </a:p>
                  </a:txBody>
                  <a:tcPr marT="45741" marB="45741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400" i="1" u="none" dirty="0"/>
                        <a:t>O/O(</a:t>
                      </a:r>
                      <a:r>
                        <a:rPr lang="ko-KR" altLang="en-US" sz="1400" i="1" u="none" dirty="0"/>
                        <a:t>월</a:t>
                      </a:r>
                      <a:r>
                        <a:rPr lang="en-US" altLang="ko-KR" sz="1400" i="1" u="none" dirty="0"/>
                        <a:t>) ~ O/O(</a:t>
                      </a:r>
                      <a:r>
                        <a:rPr lang="ko-KR" altLang="en-US" sz="1400" i="1" u="none" dirty="0"/>
                        <a:t>금</a:t>
                      </a:r>
                      <a:r>
                        <a:rPr lang="en-US" altLang="ko-KR" sz="1400" i="1" u="none" dirty="0"/>
                        <a:t>)</a:t>
                      </a:r>
                      <a:endParaRPr lang="en-US" altLang="ko-KR" sz="1400" b="0" i="1" u="none" dirty="0">
                        <a:solidFill>
                          <a:schemeClr val="tx2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4215" marT="4215" marB="0" anchor="ctr"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0" i="1" u="none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데이터 정제 및 정규화</a:t>
                      </a:r>
                      <a:endParaRPr lang="en-US" altLang="ko-KR" sz="1400" b="0" i="1" u="none" dirty="0">
                        <a:solidFill>
                          <a:schemeClr val="tx2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4215" marT="4215" marB="0" anchor="ctr"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400" b="0" i="1" u="none" dirty="0">
                        <a:solidFill>
                          <a:schemeClr val="tx2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4215" marT="4215" marB="0" anchor="ctr"/>
                </a:tc>
                <a:extLst>
                  <a:ext uri="{0D108BD9-81ED-4DB2-BD59-A6C34878D82A}">
                    <a16:rowId xmlns:a16="http://schemas.microsoft.com/office/drawing/2014/main" val="93487332"/>
                  </a:ext>
                </a:extLst>
              </a:tr>
              <a:tr h="5817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모델링</a:t>
                      </a:r>
                      <a:endParaRPr lang="ko-KR" altLang="en-US" sz="1400" b="1" i="1" u="none" dirty="0">
                        <a:solidFill>
                          <a:schemeClr val="tx2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45741" marB="45741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400" i="1" u="none" dirty="0"/>
                        <a:t>O/O(</a:t>
                      </a:r>
                      <a:r>
                        <a:rPr lang="ko-KR" altLang="en-US" sz="1400" i="1" u="none" dirty="0"/>
                        <a:t>월</a:t>
                      </a:r>
                      <a:r>
                        <a:rPr lang="en-US" altLang="ko-KR" sz="1400" i="1" u="none" dirty="0"/>
                        <a:t>) ~ O/O(</a:t>
                      </a:r>
                      <a:r>
                        <a:rPr lang="ko-KR" altLang="en-US" sz="1400" i="1" u="none" dirty="0"/>
                        <a:t>금</a:t>
                      </a:r>
                      <a:r>
                        <a:rPr lang="en-US" altLang="ko-KR" sz="1400" i="1" u="none" dirty="0"/>
                        <a:t>)</a:t>
                      </a:r>
                      <a:endParaRPr lang="en-US" altLang="ko-KR" sz="1400" b="0" i="1" u="none" dirty="0">
                        <a:solidFill>
                          <a:schemeClr val="tx2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4215" marT="4215" marB="0" anchor="ctr"/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i="1" u="none" strike="noStrike" dirty="0">
                          <a:effectLst/>
                        </a:rPr>
                        <a:t>모형 구현</a:t>
                      </a:r>
                      <a:endParaRPr lang="ko-KR" altLang="en-US" sz="1400" b="0" i="1" u="none" strike="noStrike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4215" marT="4215" marB="0" anchor="ctr"/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i="1" u="none" strike="noStrike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팀별</a:t>
                      </a:r>
                      <a:r>
                        <a:rPr lang="ko-KR" altLang="en-US" sz="1400" b="0" i="1" u="none" strike="noStrike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중간보고 실시</a:t>
                      </a:r>
                    </a:p>
                  </a:txBody>
                  <a:tcPr marL="36000" marR="4215" marT="4215" marB="0" anchor="ctr"/>
                </a:tc>
                <a:extLst>
                  <a:ext uri="{0D108BD9-81ED-4DB2-BD59-A6C34878D82A}">
                    <a16:rowId xmlns:a16="http://schemas.microsoft.com/office/drawing/2014/main" val="1876716193"/>
                  </a:ext>
                </a:extLst>
              </a:tr>
              <a:tr h="5817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서비스 구축</a:t>
                      </a:r>
                      <a:endParaRPr kumimoji="0" lang="ko-KR" altLang="en-US" sz="1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5741" marB="45741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400" i="1" u="none" dirty="0"/>
                        <a:t>O/O(</a:t>
                      </a:r>
                      <a:r>
                        <a:rPr lang="ko-KR" altLang="en-US" sz="1400" i="1" u="none" dirty="0"/>
                        <a:t>월</a:t>
                      </a:r>
                      <a:r>
                        <a:rPr lang="en-US" altLang="ko-KR" sz="1400" i="1" u="none" dirty="0"/>
                        <a:t>) ~ O/O(</a:t>
                      </a:r>
                      <a:r>
                        <a:rPr lang="ko-KR" altLang="en-US" sz="1400" i="1" u="none" dirty="0"/>
                        <a:t>금</a:t>
                      </a:r>
                      <a:r>
                        <a:rPr lang="en-US" altLang="ko-KR" sz="1400" i="1" u="none" dirty="0"/>
                        <a:t>)</a:t>
                      </a:r>
                      <a:endParaRPr lang="en-US" altLang="ko-KR" sz="1400" b="0" i="1" u="none" dirty="0">
                        <a:solidFill>
                          <a:schemeClr val="tx2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4215" marT="4215" marB="0" anchor="ctr"/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i="1" u="none" strike="noStrike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모바일 서비스 시스템 설계</a:t>
                      </a:r>
                      <a:endParaRPr lang="en-US" altLang="ko-KR" sz="1400" b="0" i="1" u="none" strike="noStrike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i="1" u="none" strike="noStrike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모바일 플랫폼 구현</a:t>
                      </a:r>
                    </a:p>
                  </a:txBody>
                  <a:tcPr marL="36000" marR="4215" marT="4215" marB="0" anchor="ctr"/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i="1" u="none" strike="noStrike" dirty="0">
                          <a:effectLst/>
                        </a:rPr>
                        <a:t>최적화</a:t>
                      </a:r>
                      <a:r>
                        <a:rPr lang="en-US" altLang="ko-KR" sz="1400" i="1" u="none" strike="noStrike" dirty="0">
                          <a:effectLst/>
                        </a:rPr>
                        <a:t>,</a:t>
                      </a:r>
                      <a:r>
                        <a:rPr lang="en-US" altLang="ko-KR" sz="1400" i="1" u="none" strike="noStrike" baseline="0" dirty="0">
                          <a:effectLst/>
                        </a:rPr>
                        <a:t> </a:t>
                      </a:r>
                      <a:r>
                        <a:rPr lang="ko-KR" altLang="en-US" sz="1400" i="1" u="none" strike="noStrike" baseline="0" dirty="0">
                          <a:effectLst/>
                        </a:rPr>
                        <a:t>오류 수정</a:t>
                      </a:r>
                      <a:endParaRPr lang="ko-KR" altLang="en-US" sz="1400" b="0" i="1" u="none" strike="noStrike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4215" marT="4215" marB="0" anchor="ctr"/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5817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i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총 개발기간</a:t>
                      </a:r>
                      <a:endParaRPr kumimoji="0" lang="ko-KR" altLang="en-US" sz="1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5741" marB="45741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400" i="1" u="none" dirty="0"/>
                        <a:t>O/O(</a:t>
                      </a:r>
                      <a:r>
                        <a:rPr lang="ko-KR" altLang="en-US" sz="1400" i="1" u="none" dirty="0"/>
                        <a:t>월</a:t>
                      </a:r>
                      <a:r>
                        <a:rPr lang="en-US" altLang="ko-KR" sz="1400" i="1" u="none" dirty="0"/>
                        <a:t>) ~ O/O(</a:t>
                      </a:r>
                      <a:r>
                        <a:rPr lang="ko-KR" altLang="en-US" sz="1400" i="1" u="none" dirty="0"/>
                        <a:t>금</a:t>
                      </a:r>
                      <a:r>
                        <a:rPr lang="en-US" altLang="ko-KR" sz="1400" i="1" u="none" dirty="0"/>
                        <a:t>)(</a:t>
                      </a:r>
                      <a:r>
                        <a:rPr lang="ko-KR" altLang="en-US" sz="1400" i="1" u="none" dirty="0"/>
                        <a:t>총 </a:t>
                      </a:r>
                      <a:r>
                        <a:rPr lang="en-US" altLang="ko-KR" sz="1400" i="1" u="none" dirty="0"/>
                        <a:t>7</a:t>
                      </a:r>
                      <a:r>
                        <a:rPr lang="ko-KR" altLang="en-US" sz="1400" i="1" u="none" dirty="0"/>
                        <a:t>주</a:t>
                      </a:r>
                      <a:r>
                        <a:rPr lang="en-US" altLang="ko-KR" sz="1400" i="1" u="none" dirty="0"/>
                        <a:t>)</a:t>
                      </a:r>
                      <a:endParaRPr lang="en-US" altLang="ko-KR" sz="1400" b="0" i="1" u="none" dirty="0">
                        <a:solidFill>
                          <a:schemeClr val="tx2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4215" marT="4215" marB="0" anchor="ctr"/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400" i="1" u="none" strike="noStrike" dirty="0">
                          <a:effectLst/>
                        </a:rPr>
                        <a:t>-</a:t>
                      </a:r>
                      <a:endParaRPr lang="ko-KR" altLang="en-US" sz="1400" b="0" i="1" u="none" strike="noStrike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4215" marT="4215" marB="0" anchor="ctr"/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400" i="1" u="none" strike="noStrike" dirty="0">
                          <a:effectLst/>
                        </a:rPr>
                        <a:t>-</a:t>
                      </a:r>
                      <a:endParaRPr lang="ko-KR" altLang="en-US" sz="1400" b="0" i="1" u="none" strike="noStrike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4215" marT="4215" marB="0" anchor="ctr"/>
                </a:tc>
                <a:extLst>
                  <a:ext uri="{0D108BD9-81ED-4DB2-BD59-A6C34878D82A}">
                    <a16:rowId xmlns:a16="http://schemas.microsoft.com/office/drawing/2014/main" val="4266947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032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 txBox="1"/>
          <p:nvPr/>
        </p:nvSpPr>
        <p:spPr>
          <a:xfrm>
            <a:off x="17463" y="-27384"/>
            <a:ext cx="1160462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600" b="1" dirty="0">
                <a:solidFill>
                  <a:srgbClr val="FFBD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altLang="ko-KR" sz="6600" b="1" dirty="0">
                <a:solidFill>
                  <a:srgbClr val="FFBD1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ko-KR" sz="4000" b="1" dirty="0">
                <a:solidFill>
                  <a:srgbClr val="4455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4000" b="1" dirty="0">
              <a:solidFill>
                <a:srgbClr val="44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984110" y="126483"/>
            <a:ext cx="3844564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프로젝트 </a:t>
            </a:r>
            <a:r>
              <a:rPr lang="ko-KR" altLang="en-US" sz="2000" b="1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수행 결과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46" name="Google Shape;46;p4"/>
          <p:cNvCxnSpPr>
            <a:cxnSpLocks/>
          </p:cNvCxnSpPr>
          <p:nvPr/>
        </p:nvCxnSpPr>
        <p:spPr>
          <a:xfrm flipV="1">
            <a:off x="1107936" y="526593"/>
            <a:ext cx="10827390" cy="13164"/>
          </a:xfrm>
          <a:prstGeom prst="straightConnector1">
            <a:avLst/>
          </a:prstGeom>
          <a:noFill/>
          <a:ln w="31750" cap="flat" cmpd="sng">
            <a:solidFill>
              <a:srgbClr val="FFBD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D088FEC9-C299-463A-A1E0-2362430107C9}"/>
              </a:ext>
            </a:extLst>
          </p:cNvPr>
          <p:cNvSpPr/>
          <p:nvPr/>
        </p:nvSpPr>
        <p:spPr>
          <a:xfrm>
            <a:off x="1160729" y="1213726"/>
            <a:ext cx="74731" cy="927618"/>
          </a:xfrm>
          <a:prstGeom prst="rect">
            <a:avLst/>
          </a:prstGeom>
          <a:solidFill>
            <a:srgbClr val="FFBD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D02A6E-5C71-4008-A0E6-BE0B9D1519D2}"/>
              </a:ext>
            </a:extLst>
          </p:cNvPr>
          <p:cNvSpPr txBox="1"/>
          <p:nvPr/>
        </p:nvSpPr>
        <p:spPr>
          <a:xfrm>
            <a:off x="1309972" y="1138926"/>
            <a:ext cx="9181020" cy="103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[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프로젝트 수행 결과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]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는 프로젝트 결과물이 도출된 과정을 세부적으로 기록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.</a:t>
            </a:r>
            <a:endParaRPr lang="ko-KR" altLang="en-US" sz="1600" b="1" dirty="0">
              <a:solidFill>
                <a:schemeClr val="tx2">
                  <a:lumMod val="75000"/>
                </a:schemeClr>
              </a:solidFill>
              <a:latin typeface="+mj-lt"/>
              <a:ea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 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- 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예시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(10~13p)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는 하나의 사례로 간단하게 제시한 것이므로 프로젝트의 성격에 따라 보다 자세하게 기록하며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, 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결과를 서술하는 과정에서는 논리성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, 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창의성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, 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완결성이 잘 드러나도록 한다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85AAC5-EC1F-494D-A8B6-4342839E390A}"/>
              </a:ext>
            </a:extLst>
          </p:cNvPr>
          <p:cNvSpPr txBox="1"/>
          <p:nvPr/>
        </p:nvSpPr>
        <p:spPr>
          <a:xfrm>
            <a:off x="1309972" y="2521059"/>
            <a:ext cx="9811090" cy="3370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※ 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논리성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: 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프로젝트의 결과물을 도출하기 위해 논리적인 과정으로 구성된 정도를 의미</a:t>
            </a:r>
            <a:b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</a:b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          (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예를 들어 산업 분야 및 연구 문헌 검토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, 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선진사례 및 문헌 활용 등이 있음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)</a:t>
            </a:r>
            <a:endParaRPr lang="ko-KR" altLang="en-US" sz="1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※ 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창의성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: 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프로젝트의 결과물이 이전의 결과물과 달리 획기적인 주제나 아이디어로 만들어진 정도를 의미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※ 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완결성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: 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프로젝트의 결과물이 실습 주제와 과정에 맞게 완결성 있게 도출된 정도를 의미</a:t>
            </a:r>
          </a:p>
          <a:p>
            <a:pPr>
              <a:lnSpc>
                <a:spcPct val="150000"/>
              </a:lnSpc>
              <a:defRPr/>
            </a:pPr>
            <a:endParaRPr lang="en-US" altLang="ko-KR" sz="1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◾ 프로젝트의 결과는 그 과정이 잘 드러날 수 있도록 데이터 가공 과정부터 활용까지 전체적인 프로세스를 확인할 수 있도록 단계별로 작성</a:t>
            </a:r>
            <a:endParaRPr lang="en-US" altLang="ko-KR" sz="1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  <a:defRPr/>
            </a:pPr>
            <a:endParaRPr lang="ko-KR" altLang="en-US" sz="1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◾ 첨부 자료 예시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: 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결과물 사진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, 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시연 동영상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, 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소스코드 등 프로젝트의 우수성이 들어날 수 있는 자료</a:t>
            </a:r>
          </a:p>
        </p:txBody>
      </p:sp>
    </p:spTree>
    <p:extLst>
      <p:ext uri="{BB962C8B-B14F-4D97-AF65-F5344CB8AC3E}">
        <p14:creationId xmlns:p14="http://schemas.microsoft.com/office/powerpoint/2010/main" val="3526986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 txBox="1"/>
          <p:nvPr/>
        </p:nvSpPr>
        <p:spPr>
          <a:xfrm>
            <a:off x="17463" y="-27384"/>
            <a:ext cx="1160462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600" b="1" dirty="0">
                <a:solidFill>
                  <a:srgbClr val="FFBD11"/>
                </a:solidFill>
                <a:latin typeface="+mj-lt"/>
                <a:ea typeface="Arial"/>
                <a:cs typeface="Arial"/>
                <a:sym typeface="Arial"/>
              </a:rPr>
              <a:t>0</a:t>
            </a:r>
            <a:r>
              <a:rPr lang="en-US" altLang="ko-KR" sz="6600" b="1" dirty="0">
                <a:solidFill>
                  <a:srgbClr val="FFBD11"/>
                </a:solidFill>
                <a:latin typeface="+mj-lt"/>
                <a:ea typeface="Arial"/>
                <a:cs typeface="Arial"/>
                <a:sym typeface="Arial"/>
              </a:rPr>
              <a:t>4</a:t>
            </a:r>
            <a:r>
              <a:rPr lang="ko-KR" sz="4000" b="1" dirty="0">
                <a:solidFill>
                  <a:srgbClr val="445569"/>
                </a:solidFill>
                <a:latin typeface="+mj-lt"/>
                <a:ea typeface="Arial"/>
                <a:cs typeface="Arial"/>
                <a:sym typeface="Arial"/>
              </a:rPr>
              <a:t> </a:t>
            </a:r>
            <a:endParaRPr sz="4000" b="1" dirty="0">
              <a:solidFill>
                <a:srgbClr val="445569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984110" y="126483"/>
            <a:ext cx="3844564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프로젝트 </a:t>
            </a:r>
            <a:r>
              <a:rPr lang="ko-KR" altLang="en-US" sz="2000" b="1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수행 결과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46" name="Google Shape;46;p4"/>
          <p:cNvCxnSpPr>
            <a:cxnSpLocks/>
          </p:cNvCxnSpPr>
          <p:nvPr/>
        </p:nvCxnSpPr>
        <p:spPr>
          <a:xfrm flipV="1">
            <a:off x="1107936" y="526593"/>
            <a:ext cx="10827390" cy="13164"/>
          </a:xfrm>
          <a:prstGeom prst="straightConnector1">
            <a:avLst/>
          </a:prstGeom>
          <a:noFill/>
          <a:ln w="31750" cap="flat" cmpd="sng">
            <a:solidFill>
              <a:srgbClr val="FFBD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" name="Google Shape;124;p8">
            <a:extLst>
              <a:ext uri="{FF2B5EF4-FFF2-40B4-BE49-F238E27FC236}">
                <a16:creationId xmlns:a16="http://schemas.microsoft.com/office/drawing/2014/main" id="{043106DF-ECD6-42C2-8B7A-2D53A210501B}"/>
              </a:ext>
            </a:extLst>
          </p:cNvPr>
          <p:cNvSpPr txBox="1"/>
          <p:nvPr/>
        </p:nvSpPr>
        <p:spPr>
          <a:xfrm>
            <a:off x="1075852" y="615955"/>
            <a:ext cx="324132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결과 제시 1.  탐색적 분석 및 </a:t>
            </a:r>
            <a:r>
              <a:rPr lang="ko-KR" sz="1400" b="1" dirty="0" err="1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전처리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05434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 txBox="1"/>
          <p:nvPr/>
        </p:nvSpPr>
        <p:spPr>
          <a:xfrm>
            <a:off x="17463" y="-27384"/>
            <a:ext cx="1160462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600" b="1" dirty="0">
                <a:solidFill>
                  <a:srgbClr val="FFBD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altLang="ko-KR" sz="6600" b="1" dirty="0">
                <a:solidFill>
                  <a:srgbClr val="FFBD1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ko-KR" sz="4000" b="1" dirty="0">
                <a:solidFill>
                  <a:srgbClr val="4455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4000" b="1" dirty="0">
              <a:solidFill>
                <a:srgbClr val="44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984110" y="126483"/>
            <a:ext cx="3844564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프로젝트 </a:t>
            </a:r>
            <a:r>
              <a:rPr lang="ko-KR" altLang="en-US" sz="2000" b="1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수행 결과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46" name="Google Shape;46;p4"/>
          <p:cNvCxnSpPr>
            <a:cxnSpLocks/>
          </p:cNvCxnSpPr>
          <p:nvPr/>
        </p:nvCxnSpPr>
        <p:spPr>
          <a:xfrm flipV="1">
            <a:off x="1107936" y="526593"/>
            <a:ext cx="10827390" cy="13164"/>
          </a:xfrm>
          <a:prstGeom prst="straightConnector1">
            <a:avLst/>
          </a:prstGeom>
          <a:noFill/>
          <a:ln w="31750" cap="flat" cmpd="sng">
            <a:solidFill>
              <a:srgbClr val="FFBD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" name="Google Shape;124;p8">
            <a:extLst>
              <a:ext uri="{FF2B5EF4-FFF2-40B4-BE49-F238E27FC236}">
                <a16:creationId xmlns:a16="http://schemas.microsoft.com/office/drawing/2014/main" id="{043106DF-ECD6-42C2-8B7A-2D53A210501B}"/>
              </a:ext>
            </a:extLst>
          </p:cNvPr>
          <p:cNvSpPr txBox="1"/>
          <p:nvPr/>
        </p:nvSpPr>
        <p:spPr>
          <a:xfrm>
            <a:off x="1075852" y="615955"/>
            <a:ext cx="324132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결과 제시 </a:t>
            </a:r>
            <a:r>
              <a:rPr lang="en-US" altLang="ko-KR" sz="1400" b="1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2</a:t>
            </a:r>
            <a:r>
              <a:rPr lang="ko-KR" sz="1400" b="1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.  </a:t>
            </a:r>
            <a:r>
              <a:rPr lang="ko-KR" altLang="en-US" sz="1400" b="1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모델 개요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4007B5B-A710-46FD-A847-00FFE2143673}"/>
              </a:ext>
            </a:extLst>
          </p:cNvPr>
          <p:cNvSpPr/>
          <p:nvPr/>
        </p:nvSpPr>
        <p:spPr>
          <a:xfrm>
            <a:off x="788071" y="992955"/>
            <a:ext cx="68263" cy="504825"/>
          </a:xfrm>
          <a:prstGeom prst="rect">
            <a:avLst/>
          </a:prstGeom>
          <a:solidFill>
            <a:srgbClr val="445569"/>
          </a:solidFill>
          <a:ln>
            <a:solidFill>
              <a:srgbClr val="4455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499EB0-ABFD-471C-AF59-5B7224872435}"/>
              </a:ext>
            </a:extLst>
          </p:cNvPr>
          <p:cNvSpPr txBox="1"/>
          <p:nvPr/>
        </p:nvSpPr>
        <p:spPr>
          <a:xfrm>
            <a:off x="863942" y="1028762"/>
            <a:ext cx="8256393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LSTM(Long short-term memory)</a:t>
            </a:r>
          </a:p>
          <a:p>
            <a:pPr>
              <a:defRPr/>
            </a:pP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	</a:t>
            </a: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피드백 루프를 순환하면서 주어진 입력에 관한 신경망 출력을   </a:t>
            </a:r>
          </a:p>
          <a:p>
            <a:pPr>
              <a:defRPr/>
            </a:pPr>
            <a:r>
              <a:rPr lang="ko-KR" altLang="en-US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	방지하기 위해 고안된 순환 신경망</a:t>
            </a: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(RNN: Recurrent Neural Network) </a:t>
            </a:r>
          </a:p>
          <a:p>
            <a:pPr>
              <a:defRPr/>
            </a:pPr>
            <a:endParaRPr lang="en-US" altLang="ko-KR" sz="1600" b="1" dirty="0">
              <a:solidFill>
                <a:schemeClr val="tx2">
                  <a:lumMod val="75000"/>
                </a:schemeClr>
              </a:solidFill>
              <a:latin typeface="+mj-lt"/>
              <a:ea typeface="+mn-ea"/>
            </a:endParaRPr>
          </a:p>
          <a:p>
            <a:pPr>
              <a:defRPr/>
            </a:pPr>
            <a:endParaRPr lang="en-US" altLang="ko-KR" sz="1600" b="1" dirty="0">
              <a:solidFill>
                <a:schemeClr val="tx2">
                  <a:lumMod val="75000"/>
                </a:schemeClr>
              </a:solidFill>
              <a:latin typeface="+mj-lt"/>
              <a:ea typeface="+mn-ea"/>
            </a:endParaRPr>
          </a:p>
          <a:p>
            <a:pPr>
              <a:defRPr/>
            </a:pPr>
            <a:endParaRPr lang="en-US" altLang="ko-KR" sz="1600" b="1" dirty="0">
              <a:solidFill>
                <a:schemeClr val="tx2">
                  <a:lumMod val="75000"/>
                </a:schemeClr>
              </a:solidFill>
              <a:latin typeface="+mj-lt"/>
              <a:ea typeface="+mn-ea"/>
            </a:endParaRPr>
          </a:p>
        </p:txBody>
      </p:sp>
      <p:graphicFrame>
        <p:nvGraphicFramePr>
          <p:cNvPr id="8" name="다이어그램 7">
            <a:extLst>
              <a:ext uri="{FF2B5EF4-FFF2-40B4-BE49-F238E27FC236}">
                <a16:creationId xmlns:a16="http://schemas.microsoft.com/office/drawing/2014/main" id="{1CC85778-AF9E-4AB6-AB43-0513D91FDF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9201205"/>
              </p:ext>
            </p:extLst>
          </p:nvPr>
        </p:nvGraphicFramePr>
        <p:xfrm>
          <a:off x="2819636" y="2245320"/>
          <a:ext cx="6552728" cy="3631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33814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 txBox="1"/>
          <p:nvPr/>
        </p:nvSpPr>
        <p:spPr>
          <a:xfrm>
            <a:off x="17463" y="-27384"/>
            <a:ext cx="1160462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600" b="1" dirty="0">
                <a:solidFill>
                  <a:srgbClr val="FFBD11"/>
                </a:solidFill>
                <a:latin typeface="+mj-lt"/>
                <a:ea typeface="Arial"/>
                <a:cs typeface="Arial"/>
                <a:sym typeface="Arial"/>
              </a:rPr>
              <a:t>0</a:t>
            </a:r>
            <a:r>
              <a:rPr lang="en-US" altLang="ko-KR" sz="6600" b="1" dirty="0">
                <a:solidFill>
                  <a:srgbClr val="FFBD11"/>
                </a:solidFill>
                <a:latin typeface="+mj-lt"/>
                <a:ea typeface="Arial"/>
                <a:cs typeface="Arial"/>
                <a:sym typeface="Arial"/>
              </a:rPr>
              <a:t>5</a:t>
            </a:r>
            <a:r>
              <a:rPr lang="ko-KR" sz="4000" b="1" dirty="0">
                <a:solidFill>
                  <a:srgbClr val="445569"/>
                </a:solidFill>
                <a:latin typeface="+mj-lt"/>
                <a:ea typeface="Arial"/>
                <a:cs typeface="Arial"/>
                <a:sym typeface="Arial"/>
              </a:rPr>
              <a:t> </a:t>
            </a:r>
            <a:endParaRPr sz="4000" b="1" dirty="0">
              <a:solidFill>
                <a:srgbClr val="445569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984110" y="126483"/>
            <a:ext cx="3844564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프로젝트 </a:t>
            </a:r>
            <a:r>
              <a:rPr lang="ko-KR" altLang="en-US" sz="2000" b="1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최종 예상 결과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46" name="Google Shape;46;p4"/>
          <p:cNvCxnSpPr>
            <a:cxnSpLocks/>
          </p:cNvCxnSpPr>
          <p:nvPr/>
        </p:nvCxnSpPr>
        <p:spPr>
          <a:xfrm flipV="1">
            <a:off x="1107936" y="526593"/>
            <a:ext cx="10827390" cy="13164"/>
          </a:xfrm>
          <a:prstGeom prst="straightConnector1">
            <a:avLst/>
          </a:prstGeom>
          <a:noFill/>
          <a:ln w="31750" cap="flat" cmpd="sng">
            <a:solidFill>
              <a:srgbClr val="FFBD1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904531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 txBox="1"/>
          <p:nvPr/>
        </p:nvSpPr>
        <p:spPr>
          <a:xfrm>
            <a:off x="17463" y="-27384"/>
            <a:ext cx="1160462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600" b="1" dirty="0">
                <a:solidFill>
                  <a:srgbClr val="FFBD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altLang="ko-KR" sz="6600" b="1" dirty="0">
                <a:solidFill>
                  <a:srgbClr val="FFBD1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ko-KR" sz="4000" b="1" dirty="0">
                <a:solidFill>
                  <a:srgbClr val="4455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4000" b="1" dirty="0">
              <a:solidFill>
                <a:srgbClr val="44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984110" y="126483"/>
            <a:ext cx="3844564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chemeClr val="tx1"/>
                </a:solidFill>
                <a:latin typeface="+mn-lt"/>
                <a:ea typeface="Calibri"/>
                <a:cs typeface="Calibri"/>
                <a:sym typeface="Calibri"/>
              </a:rPr>
              <a:t>느낀 점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cxnSp>
        <p:nvCxnSpPr>
          <p:cNvPr id="46" name="Google Shape;46;p4"/>
          <p:cNvCxnSpPr>
            <a:cxnSpLocks/>
          </p:cNvCxnSpPr>
          <p:nvPr/>
        </p:nvCxnSpPr>
        <p:spPr>
          <a:xfrm flipV="1">
            <a:off x="1107936" y="526593"/>
            <a:ext cx="10827390" cy="13164"/>
          </a:xfrm>
          <a:prstGeom prst="straightConnector1">
            <a:avLst/>
          </a:prstGeom>
          <a:noFill/>
          <a:ln w="31750" cap="flat" cmpd="sng">
            <a:solidFill>
              <a:srgbClr val="FFBD11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E74A7BD-8B0B-4A12-AC2F-BE5DD8A103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338438"/>
              </p:ext>
            </p:extLst>
          </p:nvPr>
        </p:nvGraphicFramePr>
        <p:xfrm>
          <a:off x="597694" y="2359544"/>
          <a:ext cx="11011415" cy="4371973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90821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9103203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</a:tblGrid>
              <a:tr h="3251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T="45741" marB="4574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marT="45741" marB="45741" anchor="ctr"/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1388348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6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프로젝트 </a:t>
                      </a:r>
                      <a:endParaRPr kumimoji="0" lang="en-US" altLang="ko-KR" sz="16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kumimoji="0" lang="ko-KR" altLang="en-US" sz="16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수행상 어려움 </a:t>
                      </a:r>
                      <a:endParaRPr kumimoji="0" lang="en-US" altLang="ko-KR" sz="16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kumimoji="0" lang="ko-KR" altLang="en-US" sz="16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극복 사례</a:t>
                      </a:r>
                      <a:endParaRPr lang="ko-KR" altLang="en-US" sz="1600" b="1" i="0" u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45741" marB="45741" anchor="ctr"/>
                </a:tc>
                <a:tc>
                  <a:txBody>
                    <a:bodyPr/>
                    <a:lstStyle/>
                    <a:p>
                      <a:pPr marL="285750" lvl="0" indent="-285750" fontAlgn="base" latinLnBrk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ko-KR" altLang="en-US" sz="130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4215" marT="4215" marB="0" anchor="ctr"/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11778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프로젝트에서 </a:t>
                      </a:r>
                      <a:endParaRPr kumimoji="0" lang="en-US" altLang="ko-KR" sz="16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잘한 부분</a:t>
                      </a:r>
                      <a:endParaRPr lang="ko-KR" altLang="en-US" sz="1600" b="1" i="0" u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45741" marB="45741"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130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4215" marT="4215" marB="0" anchor="ctr"/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14400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프로젝트에서 </a:t>
                      </a:r>
                      <a:endParaRPr kumimoji="0" lang="en-US" altLang="ko-KR" sz="16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아쉬운 부분</a:t>
                      </a:r>
                      <a:endParaRPr kumimoji="0" lang="ko-KR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5741" marB="45741" anchor="ctr"/>
                </a:tc>
                <a:tc>
                  <a:txBody>
                    <a:bodyPr/>
                    <a:lstStyle/>
                    <a:p>
                      <a:pPr marL="285750" indent="-285750" latinLnBrk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ko-KR" altLang="en-US" sz="130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4215" marT="4215" marB="0" anchor="ctr"/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7628885-5150-4A42-9BCF-07FD3BCA7849}"/>
              </a:ext>
            </a:extLst>
          </p:cNvPr>
          <p:cNvSpPr txBox="1"/>
          <p:nvPr/>
        </p:nvSpPr>
        <p:spPr>
          <a:xfrm>
            <a:off x="869791" y="715809"/>
            <a:ext cx="10657184" cy="697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b="1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[</a:t>
            </a:r>
            <a:r>
              <a:rPr lang="ko-KR" altLang="en-US" b="1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느낀 점</a:t>
            </a:r>
            <a:r>
              <a:rPr lang="en-US" altLang="ko-KR" b="1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]</a:t>
            </a:r>
            <a:r>
              <a:rPr lang="ko-KR" altLang="en-US" b="1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은 프로젝트를 수행하면서 느끼거나 경험한 성찰이나 반성</a:t>
            </a:r>
            <a:r>
              <a:rPr lang="en-US" altLang="ko-KR" b="1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, </a:t>
            </a:r>
            <a:r>
              <a:rPr lang="ko-KR" altLang="en-US" b="1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성과</a:t>
            </a:r>
            <a:r>
              <a:rPr lang="en-US" altLang="ko-KR" b="1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, </a:t>
            </a:r>
            <a:r>
              <a:rPr lang="ko-KR" altLang="en-US" b="1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자신의 경력 계획 등과 연관시켜 팀 별 공통 의견 또는 개인 의견을 작성할 수 있다</a:t>
            </a:r>
            <a:r>
              <a:rPr lang="en-US" altLang="ko-KR" b="1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. </a:t>
            </a:r>
            <a:r>
              <a:rPr lang="ko-KR" altLang="en-US" b="1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프로젝트를 마치고 수행상 어려움</a:t>
            </a:r>
            <a:r>
              <a:rPr lang="en-US" altLang="ko-KR" b="1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, </a:t>
            </a:r>
            <a:r>
              <a:rPr lang="ko-KR" altLang="en-US" b="1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갈등 요소 등을 작성하고 이를 해결한 방법을 작성한다</a:t>
            </a:r>
            <a:r>
              <a:rPr lang="en-US" altLang="ko-KR" b="1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latin typeface="+mj-lt"/>
                <a:ea typeface="+mn-ea"/>
              </a:rPr>
              <a:t>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45A328-BF98-4DFA-98FA-9100FA59AD38}"/>
              </a:ext>
            </a:extLst>
          </p:cNvPr>
          <p:cNvSpPr txBox="1"/>
          <p:nvPr/>
        </p:nvSpPr>
        <p:spPr>
          <a:xfrm>
            <a:off x="869791" y="1377427"/>
            <a:ext cx="10854779" cy="698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◾ </a:t>
            </a:r>
            <a:r>
              <a:rPr lang="ko-KR" altLang="en-US" b="1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latin typeface="+mj-lt"/>
              </a:rPr>
              <a:t>프로젝트 수행에서 개인</a:t>
            </a:r>
            <a:r>
              <a:rPr lang="en-US" altLang="ko-KR" b="1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latin typeface="+mj-lt"/>
              </a:rPr>
              <a:t>, </a:t>
            </a:r>
            <a:r>
              <a:rPr lang="ko-KR" altLang="en-US" b="1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latin typeface="+mj-lt"/>
              </a:rPr>
              <a:t>우리 팀이 잘한 부분과 아쉬운 점 작성</a:t>
            </a:r>
            <a:endParaRPr lang="en-US" altLang="ko-KR" b="1" dirty="0">
              <a:ln>
                <a:solidFill>
                  <a:schemeClr val="bg1">
                    <a:lumMod val="95000"/>
                    <a:alpha val="20000"/>
                  </a:schemeClr>
                </a:solidFill>
              </a:ln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◾ </a:t>
            </a:r>
            <a:r>
              <a:rPr lang="ko-KR" altLang="en-US" b="1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latin typeface="+mj-lt"/>
              </a:rPr>
              <a:t>프로젝트 수행을 통해 자신의 진로 설계와 취업분야 탐색 및 의사결정 등 도움된 사항이 있었다면 구체적으로 작성</a:t>
            </a:r>
            <a:endParaRPr lang="en-US" altLang="ko-KR" b="1" dirty="0">
              <a:ln>
                <a:solidFill>
                  <a:schemeClr val="bg1">
                    <a:lumMod val="95000"/>
                    <a:alpha val="20000"/>
                  </a:schemeClr>
                </a:solidFill>
              </a:ln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2BB6B6-6C41-45B5-9125-265A4BD7793D}"/>
              </a:ext>
            </a:extLst>
          </p:cNvPr>
          <p:cNvSpPr/>
          <p:nvPr/>
        </p:nvSpPr>
        <p:spPr>
          <a:xfrm>
            <a:off x="688940" y="864228"/>
            <a:ext cx="82204" cy="927618"/>
          </a:xfrm>
          <a:prstGeom prst="rect">
            <a:avLst/>
          </a:prstGeom>
          <a:solidFill>
            <a:srgbClr val="FFBD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8987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9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1">
            <a:extLst>
              <a:ext uri="{FF2B5EF4-FFF2-40B4-BE49-F238E27FC236}">
                <a16:creationId xmlns:a16="http://schemas.microsoft.com/office/drawing/2014/main" id="{20F1DDE9-EA62-44F8-B7BA-7AC13784145D}"/>
              </a:ext>
            </a:extLst>
          </p:cNvPr>
          <p:cNvSpPr txBox="1">
            <a:spLocks/>
          </p:cNvSpPr>
          <p:nvPr/>
        </p:nvSpPr>
        <p:spPr>
          <a:xfrm>
            <a:off x="4841960" y="2632937"/>
            <a:ext cx="2535384" cy="376594"/>
          </a:xfr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dist"/>
            <a:r>
              <a:rPr lang="en-US" altLang="ko-KR" dirty="0">
                <a:latin typeface="+mj-lt"/>
                <a:ea typeface="Lato Light" panose="020F0502020204030203" pitchFamily="34" charset="0"/>
                <a:cs typeface="Lato Light" panose="020F0502020204030203" pitchFamily="34" charset="0"/>
              </a:rPr>
              <a:t>THANKYOU</a:t>
            </a:r>
            <a:endParaRPr lang="ko-KR" altLang="en-US" dirty="0">
              <a:latin typeface="+mj-lt"/>
              <a:cs typeface="Lato Light" panose="020F0502020204030203" pitchFamily="34" charset="0"/>
            </a:endParaRPr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A02BC95A-DF0B-493E-8FEE-5464DDA3BC04}"/>
              </a:ext>
            </a:extLst>
          </p:cNvPr>
          <p:cNvSpPr txBox="1">
            <a:spLocks/>
          </p:cNvSpPr>
          <p:nvPr/>
        </p:nvSpPr>
        <p:spPr>
          <a:xfrm>
            <a:off x="4591050" y="3096092"/>
            <a:ext cx="3009900" cy="760095"/>
          </a:xfr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ko-KR" altLang="en-US" sz="4400" dirty="0">
                <a:latin typeface="+mj-lt"/>
              </a:rPr>
              <a:t>감사합니다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FF1F707-3A42-4853-A463-73C0998FC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9652" y="4147929"/>
            <a:ext cx="1009852" cy="39272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29215FA-5AE7-4A99-AB0D-8AF6E5B10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960" y="4346195"/>
            <a:ext cx="942876" cy="19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948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김당근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E431E"/>
      </a:accent1>
      <a:accent2>
        <a:srgbClr val="E41A00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682</Words>
  <Application>Microsoft Office PowerPoint</Application>
  <PresentationFormat>와이드스크린</PresentationFormat>
  <Paragraphs>125</Paragraphs>
  <Slides>11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1" baseType="lpstr">
      <vt:lpstr>맑은 고딕</vt:lpstr>
      <vt:lpstr>Lato</vt:lpstr>
      <vt:lpstr>Arial</vt:lpstr>
      <vt:lpstr>Lato Black</vt:lpstr>
      <vt:lpstr>Wingdings</vt:lpstr>
      <vt:lpstr>돋움체</vt:lpstr>
      <vt:lpstr>Arial Black</vt:lpstr>
      <vt:lpstr>맑은 고딕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김다은</dc:creator>
  <cp:lastModifiedBy>유현지</cp:lastModifiedBy>
  <cp:revision>11</cp:revision>
  <dcterms:created xsi:type="dcterms:W3CDTF">2014-04-29T00:37:20Z</dcterms:created>
  <dcterms:modified xsi:type="dcterms:W3CDTF">2023-03-08T05:57:45Z</dcterms:modified>
</cp:coreProperties>
</file>